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9CD2B"/>
                </a:solidFill>
                <a:latin typeface="Poppins"/>
              </a:rPr>
              <a:t>LAW FIRM GROWTH AUDIT  ·  GOURJIAN LAW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 i="0">
                <a:solidFill>
                  <a:srgbClr val="FFFFFF"/>
                </a:solidFill>
                <a:latin typeface="Poppins"/>
              </a:rPr>
              <a:t>Where Gourjian Law Stands Today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46304" cy="3867912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1005840"/>
            <a:ext cx="1298448" cy="841248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" y="1005840"/>
            <a:ext cx="1298448" cy="56692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 i="0">
                <a:solidFill>
                  <a:srgbClr val="FFFFFF"/>
                </a:solidFill>
                <a:latin typeface="Poppins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" y="1572768"/>
            <a:ext cx="1298448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600" b="1" i="0">
                <a:solidFill>
                  <a:srgbClr val="FFFFFF"/>
                </a:solidFill>
                <a:latin typeface="Poppins"/>
              </a:rPr>
              <a:t>COMPETITIVE URGENCY</a:t>
            </a:r>
          </a:p>
        </p:txBody>
      </p:sp>
      <p:sp>
        <p:nvSpPr>
          <p:cNvPr id="9" name="Rectangle 8"/>
          <p:cNvSpPr/>
          <p:nvPr/>
        </p:nvSpPr>
        <p:spPr>
          <a:xfrm>
            <a:off x="1682496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682496" y="1170432"/>
            <a:ext cx="804672" cy="676656"/>
          </a:xfrm>
          <a:prstGeom prst="rect">
            <a:avLst/>
          </a:prstGeom>
          <a:solidFill>
            <a:srgbClr val="26587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0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Poppins"/>
              </a:rPr>
              <a:t>Lead Generation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C0392B"/>
                </a:solidFill>
                <a:latin typeface="Poppins"/>
              </a:rPr>
              <a:t>CRITICAL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Poppins"/>
              </a:rPr>
              <a:t>100% referrals only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42032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42032" y="1170432"/>
            <a:ext cx="804672" cy="676656"/>
          </a:xfrm>
          <a:prstGeom prst="rect">
            <a:avLst/>
          </a:prstGeom>
          <a:solidFill>
            <a:srgbClr val="26587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96896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Poppins"/>
              </a:rPr>
              <a:t>Intake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96896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C0392B"/>
                </a:solidFill>
                <a:latin typeface="Poppins"/>
              </a:rPr>
              <a:t>CRITICAL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96896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Poppins"/>
              </a:rPr>
              <a:t>1 untracked inbox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01568" y="1005840"/>
            <a:ext cx="804672" cy="164592"/>
          </a:xfrm>
          <a:prstGeom prst="rect">
            <a:avLst/>
          </a:prstGeom>
          <a:solidFill>
            <a:srgbClr val="D9770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01568" y="1170432"/>
            <a:ext cx="804672" cy="676656"/>
          </a:xfrm>
          <a:prstGeom prst="rect">
            <a:avLst/>
          </a:prstGeom>
          <a:solidFill>
            <a:srgbClr val="26587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56432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Poppins"/>
              </a:rPr>
              <a:t>Team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56432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D97706"/>
                </a:solidFill>
                <a:latin typeface="Poppins"/>
              </a:rPr>
              <a:t>AMBER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56432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Poppins"/>
              </a:rPr>
              <a:t>No ops layer yet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61104" y="1005840"/>
            <a:ext cx="804672" cy="164592"/>
          </a:xfrm>
          <a:prstGeom prst="rect">
            <a:avLst/>
          </a:prstGeom>
          <a:solidFill>
            <a:srgbClr val="D9770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61104" y="1170432"/>
            <a:ext cx="804672" cy="676656"/>
          </a:xfrm>
          <a:prstGeom prst="rect">
            <a:avLst/>
          </a:prstGeom>
          <a:solidFill>
            <a:srgbClr val="26587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15968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Poppins"/>
              </a:rPr>
              <a:t>Profit Plan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15968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D97706"/>
                </a:solidFill>
                <a:latin typeface="Poppins"/>
              </a:rPr>
              <a:t>AMBER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15968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Poppins"/>
              </a:rPr>
              <a:t>No reinvest plan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6032" y="1956816"/>
            <a:ext cx="484632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9CD2B"/>
                </a:solidFill>
                <a:latin typeface="Poppins"/>
              </a:rPr>
              <a:t>KEY FINDINGS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6032" y="2212848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" y="2386584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2368296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Poppins"/>
              </a:rPr>
              <a:t>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" y="2286000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Poppins"/>
              </a:rPr>
              <a:t>Babachanian already outranks Gourjian Law in GC search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6032" y="2834640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65760" y="3008376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2990088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Poppins"/>
              </a:rPr>
              <a:t>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" y="2907792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Poppins"/>
              </a:rPr>
              <a:t>Every inquiry funnels through one untracked email inbox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56032" y="3456432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65760" y="3630168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3611879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Poppins"/>
              </a:rPr>
              <a:t>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6656" y="3529584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Poppins"/>
              </a:rPr>
              <a:t>Growth depends entirely on referrals and personal hiring effort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56032" y="4078224"/>
            <a:ext cx="4846320" cy="566928"/>
          </a:xfrm>
          <a:prstGeom prst="rect">
            <a:avLst/>
          </a:prstGeom>
          <a:solidFill>
            <a:srgbClr val="0C281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65760" y="4251960"/>
            <a:ext cx="219456" cy="219456"/>
          </a:xfrm>
          <a:prstGeom prst="rect">
            <a:avLst/>
          </a:prstGeom>
          <a:solidFill>
            <a:srgbClr val="16A34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5760" y="4233672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Poppins"/>
              </a:rPr>
              <a:t>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6656" y="4151376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86EFAC"/>
                </a:solidFill>
                <a:latin typeface="Poppins"/>
              </a:rPr>
              <a:t>60% profit margin, 20%+ annual growth — exceptional clarity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257800" y="960120"/>
            <a:ext cx="3886200" cy="386791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257800" y="1024128"/>
            <a:ext cx="3886200" cy="694944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257800" y="1024128"/>
            <a:ext cx="128016" cy="694944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86400" y="1042415"/>
            <a:ext cx="34747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9CD2B"/>
                </a:solidFill>
                <a:latin typeface="Poppins"/>
              </a:rPr>
              <a:t>YOU ARE HERE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0" y="1243584"/>
            <a:ext cx="347472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Poppins"/>
              </a:rPr>
              <a:t>Stage 3: Solo Practitioner  →  Goal: Stage 6, Law Firm Owner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394960" y="1920240"/>
            <a:ext cx="356616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4748B"/>
                </a:solidFill>
                <a:latin typeface="Poppins"/>
              </a:rPr>
              <a:t>COMPETITOR LANDSCAPE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257800" y="2176272"/>
            <a:ext cx="3886200" cy="310896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413248" y="2221991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Babachanian | Legal Counsel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260336" y="2221991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Poppins"/>
              </a:rPr>
              <a:t>Outranks in search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93024" y="2240279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Poppins"/>
              </a:rPr>
              <a:t>Dedicated GC service pages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257800" y="2523744"/>
            <a:ext cx="3886200" cy="31089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413248" y="2569463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KAASS Law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260336" y="2569463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Poppins"/>
              </a:rPr>
              <a:t>Highest visibility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193024" y="2587751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Poppins"/>
              </a:rPr>
              <a:t>Active digital marketing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257800" y="2871216"/>
            <a:ext cx="3886200" cy="310896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413248" y="2916936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Lurie &amp; Associates / Macias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260336" y="2916936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Poppins"/>
              </a:rPr>
              <a:t>Ranks ahead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193024" y="2935224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Poppins"/>
              </a:rPr>
              <a:t>Basic SEO Gourjian lacks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257800" y="3218688"/>
            <a:ext cx="3886200" cy="310896"/>
          </a:xfrm>
          <a:prstGeom prst="rect">
            <a:avLst/>
          </a:prstGeom>
          <a:solidFill>
            <a:srgbClr val="FFF0F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257800" y="3218688"/>
            <a:ext cx="91440" cy="31089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413248" y="3264408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C0392B"/>
                </a:solidFill>
                <a:latin typeface="Poppins"/>
              </a:rPr>
              <a:t>Gourjian Law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260336" y="3264408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C0392B"/>
                </a:solidFill>
                <a:latin typeface="Poppins"/>
              </a:rPr>
              <a:t>No search presence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193024" y="3282696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Poppins"/>
              </a:rPr>
              <a:t>← You are here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0" name="Picture 69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4837176"/>
            <a:ext cx="1170432" cy="237744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Poppins"/>
              </a:rPr>
              <a:t>CONFIDENTIAL  ·  Prepared by Nick Holderman | SMB Team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Poppins"/>
              </a:rPr>
              <a:t>1 /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9CD2B"/>
                </a:solidFill>
                <a:latin typeface="Poppins"/>
              </a:rPr>
              <a:t>LAW FIRM GROWTH AUDIT  ·  GOURJIAN LAW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Poppins"/>
              </a:rPr>
              <a:t>Your Growth Plan: 3 Priorities to Scale Beyond Referrals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1024128"/>
            <a:ext cx="2487168" cy="3639312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" y="1042415"/>
            <a:ext cx="2487168" cy="18288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" y="1097280"/>
            <a:ext cx="2267712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9CD2B"/>
                </a:solidFill>
                <a:latin typeface="Poppins"/>
              </a:rPr>
              <a:t>THE SMB TEAM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335024"/>
            <a:ext cx="2267712" cy="15727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A8BFDA"/>
                </a:solidFill>
                <a:latin typeface="Poppins"/>
              </a:rPr>
              <a:t>All four pillars — leads, intake, team, and profit — have to work together for growth to compound. When they do, Gourjian Law's reputation can finally reach clients beyond Varand's personal network.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2999232"/>
            <a:ext cx="2487168" cy="749808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" y="301752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03A59"/>
                </a:solidFill>
                <a:latin typeface="Poppins"/>
              </a:rPr>
              <a:t>$3M+ → More Attorneys, More Reach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" y="3291840"/>
            <a:ext cx="228600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03A59"/>
                </a:solidFill>
                <a:latin typeface="Poppins"/>
              </a:rPr>
              <a:t>The firm grows without depending only on referrals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16352" y="1024128"/>
            <a:ext cx="2048256" cy="841248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80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Poppins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Poppins"/>
              </a:rPr>
              <a:t>Build the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Poppins"/>
              </a:rPr>
              <a:t>Marketing Engine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16352" y="1865376"/>
            <a:ext cx="2048256" cy="566928"/>
          </a:xfrm>
          <a:prstGeom prst="rect">
            <a:avLst/>
          </a:prstGeom>
          <a:solidFill>
            <a:srgbClr val="E3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07792" y="2084832"/>
            <a:ext cx="91440" cy="9144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54096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Fix directory listings across every platform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16352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907792" y="2688336"/>
            <a:ext cx="91440" cy="9144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54096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Build local SEO for GC, real estate, litigation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16352" y="3072384"/>
            <a:ext cx="2048256" cy="566928"/>
          </a:xfrm>
          <a:prstGeom prst="rect">
            <a:avLst/>
          </a:prstGeom>
          <a:solidFill>
            <a:srgbClr val="E3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907792" y="3291839"/>
            <a:ext cx="91440" cy="9144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54096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Launch firm-authored content, not syndicated news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16352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07792" y="3895344"/>
            <a:ext cx="91440" cy="9144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54096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Test targeted paid visibility at low cost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816352" y="4279392"/>
            <a:ext cx="2048256" cy="566928"/>
          </a:xfrm>
          <a:prstGeom prst="rect">
            <a:avLst/>
          </a:prstGeom>
          <a:solidFill>
            <a:srgbClr val="E3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907792" y="4498848"/>
            <a:ext cx="91440" cy="9144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54096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Own search terms competitors haven't claimed yet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937760" y="1024128"/>
            <a:ext cx="2048256" cy="841248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47488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003A59"/>
                </a:solidFill>
                <a:latin typeface="Poppins"/>
              </a:rPr>
              <a:t>02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47488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03A59"/>
                </a:solidFill>
                <a:latin typeface="Poppins"/>
              </a:rPr>
              <a:t>Fix Intake &amp;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47488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03A59"/>
                </a:solidFill>
                <a:latin typeface="Poppins"/>
              </a:rPr>
              <a:t>Protect Every Inquiry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937760" y="1865376"/>
            <a:ext cx="2048256" cy="566928"/>
          </a:xfrm>
          <a:prstGeom prst="rect">
            <a:avLst/>
          </a:prstGeom>
          <a:solidFill>
            <a:srgbClr val="EDF9E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029200" y="2084832"/>
            <a:ext cx="91440" cy="91440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75504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Add a real contact form — not just email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937760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029200" y="2688336"/>
            <a:ext cx="91440" cy="91440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75504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Track every inquiry so none get missed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937760" y="3072384"/>
            <a:ext cx="2048256" cy="566928"/>
          </a:xfrm>
          <a:prstGeom prst="rect">
            <a:avLst/>
          </a:prstGeom>
          <a:solidFill>
            <a:srgbClr val="EDF9E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029200" y="3291839"/>
            <a:ext cx="91440" cy="91440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175504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Build a fast-response process for referrals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937760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029200" y="3895344"/>
            <a:ext cx="91440" cy="91440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175504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Protect the reputation referrals depend on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937760" y="4279392"/>
            <a:ext cx="2048256" cy="566928"/>
          </a:xfrm>
          <a:prstGeom prst="rect">
            <a:avLst/>
          </a:prstGeom>
          <a:solidFill>
            <a:srgbClr val="EDF9E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029200" y="4498848"/>
            <a:ext cx="91440" cy="91440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175504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Turn inquiries into a process, not luck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059168" y="1024128"/>
            <a:ext cx="2048256" cy="84124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168896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Poppins"/>
              </a:rPr>
              <a:t>03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68896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Poppins"/>
              </a:rPr>
              <a:t>Install Team &amp;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68896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Poppins"/>
              </a:rPr>
              <a:t>Profit Systems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059168" y="1865376"/>
            <a:ext cx="2048256" cy="566928"/>
          </a:xfrm>
          <a:prstGeom prst="rect">
            <a:avLst/>
          </a:prstGeom>
          <a:solidFill>
            <a:srgbClr val="E0E7E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150607" y="2084832"/>
            <a:ext cx="91440" cy="914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296912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Build a repeatable attorney hiring system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059168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150607" y="2688336"/>
            <a:ext cx="91440" cy="914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296912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Add ops leadership so hiring isn't all on you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059168" y="3072384"/>
            <a:ext cx="2048256" cy="566928"/>
          </a:xfrm>
          <a:prstGeom prst="rect">
            <a:avLst/>
          </a:prstGeom>
          <a:solidFill>
            <a:srgbClr val="E0E7E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150607" y="3291839"/>
            <a:ext cx="91440" cy="914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296912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Turn the 20% reinvestment idea into a real budget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059168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150607" y="3895344"/>
            <a:ext cx="91440" cy="914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296912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Free up billable hours spent managing growth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059168" y="4279392"/>
            <a:ext cx="2048256" cy="566928"/>
          </a:xfrm>
          <a:prstGeom prst="rect">
            <a:avLst/>
          </a:prstGeom>
          <a:solidFill>
            <a:srgbClr val="E0E7E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150607" y="4498848"/>
            <a:ext cx="91440" cy="914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296912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A firm that grows without your constant oversight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0" name="Picture 69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4837176"/>
            <a:ext cx="1170432" cy="237744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Poppins"/>
              </a:rPr>
              <a:t>CONFIDENTIAL  ·  Prepared by Nick Holderman | SMB Team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Poppins"/>
              </a:rPr>
              <a:t>2 /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9CD2B"/>
                </a:solidFill>
                <a:latin typeface="Poppins"/>
              </a:rPr>
              <a:t>LAW FIRM GROWTH AUDIT  ·  GOURJIAN LAW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Poppins"/>
              </a:rPr>
              <a:t>Your Investment &amp; What Happens Next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1024128"/>
            <a:ext cx="4133087" cy="10241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" y="1024128"/>
            <a:ext cx="182880" cy="1024128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115568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091C9"/>
                </a:solidFill>
                <a:latin typeface="Poppins"/>
              </a:rPr>
              <a:t>FULL SERVICE MARKETING — DOMINATE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1298448"/>
            <a:ext cx="18288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003A59"/>
                </a:solidFill>
                <a:latin typeface="Poppins"/>
              </a:rPr>
              <a:t>$12,497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65376" y="1408176"/>
            <a:ext cx="42062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4748B"/>
                </a:solidFill>
                <a:latin typeface="Poppins"/>
              </a:rPr>
              <a:t>/mo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22576" y="1426464"/>
            <a:ext cx="9144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34155"/>
                </a:solidFill>
                <a:latin typeface="Poppins"/>
              </a:rPr>
              <a:t>$12,497/mo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22576" y="1527048"/>
            <a:ext cx="804672" cy="9144"/>
          </a:xfrm>
          <a:prstGeom prst="rect">
            <a:avLst/>
          </a:prstGeom>
          <a:solidFill>
            <a:srgbClr val="33415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1792224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Poppins"/>
              </a:rPr>
              <a:t>Content, local SEO, directory cleanup, targeted ads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1168" y="3255264"/>
            <a:ext cx="4133087" cy="65836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4048" y="3291840"/>
            <a:ext cx="164592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7CA0C0"/>
                </a:solidFill>
                <a:latin typeface="Poppins"/>
              </a:rPr>
              <a:t>BUNDLE TOTAL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" y="3493008"/>
            <a:ext cx="21945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0091C9"/>
                </a:solidFill>
                <a:latin typeface="Poppins"/>
              </a:rPr>
              <a:t>$12,497 / mo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70048" y="3493008"/>
            <a:ext cx="17373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7CA0C0"/>
                </a:solidFill>
                <a:latin typeface="Poppins"/>
              </a:rPr>
              <a:t>Single-service engagement — no bundling savings apply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01168" y="3968496"/>
            <a:ext cx="4133087" cy="402336"/>
          </a:xfrm>
          <a:prstGeom prst="rect">
            <a:avLst/>
          </a:prstGeom>
          <a:solidFill>
            <a:srgbClr val="EEF2F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9184" y="3995928"/>
            <a:ext cx="39319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Poppins"/>
              </a:rPr>
              <a:t>+ Recommended ad spend: $4,500–$18,000/mo paid directly to Google/Meta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35424" y="1024128"/>
            <a:ext cx="4407408" cy="1316736"/>
          </a:xfrm>
          <a:prstGeom prst="rect">
            <a:avLst/>
          </a:prstGeom>
          <a:solidFill>
            <a:srgbClr val="ECFD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00016" y="1078992"/>
            <a:ext cx="4133087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65F46"/>
                </a:solidFill>
                <a:latin typeface="Poppins"/>
              </a:rPr>
              <a:t>PROJECTED RETURN ON AD SPEND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0016" y="1335024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Poppins"/>
              </a:rPr>
              <a:t>Average case value: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9984" y="1335024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65F46"/>
                </a:solidFill>
                <a:latin typeface="Poppins"/>
              </a:rPr>
              <a:t>$5,000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645152" y="1609344"/>
            <a:ext cx="4187952" cy="310896"/>
          </a:xfrm>
          <a:prstGeom prst="rect">
            <a:avLst/>
          </a:prstGeom>
          <a:solidFill>
            <a:srgbClr val="D1FAE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00016" y="1645920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Poppins"/>
              </a:rPr>
              <a:t>Conservative (5–6 inquiries/mo):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29984" y="1645920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65F46"/>
                </a:solidFill>
                <a:latin typeface="Poppins"/>
              </a:rPr>
              <a:t>$25,500 revenue · 5.7× ROAS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00016" y="1956816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Poppins"/>
              </a:rPr>
              <a:t>Aggressive ($18K/mo spend):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29984" y="1956816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65F46"/>
                </a:solidFill>
                <a:latin typeface="Poppins"/>
              </a:rPr>
              <a:t>$45,000 revenue · 2.5× ROAS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35424" y="2468880"/>
            <a:ext cx="4407408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WHAT HAPPENS IN THE FIRST 90 DAYS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90288" y="2724912"/>
            <a:ext cx="256032" cy="256032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937760" y="2734056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Day 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15584" y="2734056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Kick off directory &amp; NAP cleanup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90288" y="3081528"/>
            <a:ext cx="256032" cy="256032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937760" y="3090672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Day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15584" y="3090672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Local SEO &amp; GBP work underway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90288" y="3438144"/>
            <a:ext cx="256032" cy="256032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937760" y="3447287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Week 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15584" y="3447287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First firm-authored content published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90288" y="3794760"/>
            <a:ext cx="256032" cy="256032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937760" y="3803904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Week 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15584" y="3803904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Contact form &amp; inquiry tracking live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90288" y="4151376"/>
            <a:ext cx="256032" cy="256032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937760" y="4160520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Month 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15584" y="4160520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Targeted paid presence testing visibility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4425696"/>
            <a:ext cx="9144000" cy="402336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74320" y="4425696"/>
            <a:ext cx="8595360" cy="40233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 i="1">
                <a:solidFill>
                  <a:srgbClr val="8BADD0"/>
                </a:solidFill>
                <a:latin typeface="Poppins"/>
              </a:rPr>
              <a:t>"My reputation built this firm — now it's time to let it be found by more than the people who already know me."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4837176"/>
            <a:ext cx="1170432" cy="237744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Poppins"/>
              </a:rPr>
              <a:t>CONFIDENTIAL  ·  Prepared by Nick Holderman | SMB Team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Poppins"/>
              </a:rPr>
              <a:t>3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