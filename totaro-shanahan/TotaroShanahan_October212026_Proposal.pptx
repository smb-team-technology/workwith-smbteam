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fntdata" ContentType="application/x-fontdata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 embedTrueTypeFonts="1">
  <p:sldMasterIdLst>
    <p:sldMasterId id="2147483648" r:id="rId1"/>
  </p:sldMasterIdLst>
  <p:sldIdLst>
    <p:sldId id="256" r:id="rId7"/>
    <p:sldId id="257" r:id="rId8"/>
    <p:sldId id="258" r:id="rId9"/>
  </p:sldIdLst>
  <p:sldSz cx="9144000" cy="5143500" type="screen4x3"/>
  <p:notesSz cx="6858000" cy="9144000"/>
  <p:embeddedFontLst>
    <p:embeddedFont>
      <p:font typeface="Poppins"/>
      <p:regular r:id="rIdEmbedFont1"/>
      <p:bold r:id="rIdEmbedFont2"/>
      <p:italic r:id="rIdEmbedFont3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EmbedFont1" Type="http://schemas.openxmlformats.org/officeDocument/2006/relationships/font" Target="fonts/font1.fntdata"/><Relationship Id="rIdEmbedFont2" Type="http://schemas.openxmlformats.org/officeDocument/2006/relationships/font" Target="fonts/font2.fntdata"/><Relationship Id="rIdEmbedFont3" Type="http://schemas.openxmlformats.org/officeDocument/2006/relationships/font" Target="fonts/font3.fntdata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7F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182880"/>
            <a:ext cx="8503920" cy="16459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750" b="1" i="0">
                <a:solidFill>
                  <a:srgbClr val="69CD2B"/>
                </a:solidFill>
                <a:latin typeface="Poppins"/>
              </a:rPr>
              <a:t>LAW FIRM GROWTH AUDIT  ·  TOTARO &amp; SHANAHAN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384048"/>
            <a:ext cx="8503920" cy="40233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Poppins"/>
              </a:rPr>
              <a:t>Where Totaro &amp; Shanahan Stands Today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987552"/>
            <a:ext cx="4572000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750" b="1" i="0">
                <a:solidFill>
                  <a:srgbClr val="003A59"/>
                </a:solidFill>
                <a:latin typeface="Poppins"/>
              </a:rPr>
              <a:t>WHAT YOU TOLD US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207008"/>
            <a:ext cx="4572000" cy="1883664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207008"/>
            <a:ext cx="45720" cy="1883664"/>
          </a:xfrm>
          <a:prstGeom prst="rect">
            <a:avLst/>
          </a:prstGeom>
          <a:solidFill>
            <a:srgbClr val="69CD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280160"/>
            <a:ext cx="4297680" cy="1755648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r>
              <a:rPr sz="750" b="1" i="0">
                <a:solidFill>
                  <a:srgbClr val="3F8F1A"/>
                </a:solidFill>
                <a:latin typeface="Poppins"/>
              </a:rPr>
              <a:t>YOU SAID:</a:t>
            </a:r>
          </a:p>
          <a:p>
            <a:pPr>
              <a:spcBef>
                <a:spcPts val="100"/>
              </a:spcBef>
            </a:pPr>
            <a:r>
              <a:rPr sz="1100" b="0" i="1">
                <a:solidFill>
                  <a:srgbClr val="003A59"/>
                </a:solidFill>
                <a:latin typeface="Poppins"/>
              </a:rPr>
              <a:t>“We seem not to get calls for those, and I'd really want to increase our exposure on the Chapter 7 cases.”</a:t>
            </a:r>
          </a:p>
          <a:p>
            <a:pPr>
              <a:spcBef>
                <a:spcPts val="900"/>
              </a:spcBef>
            </a:pPr>
            <a:r>
              <a:rPr sz="750" b="1" i="0">
                <a:solidFill>
                  <a:srgbClr val="3F8F1A"/>
                </a:solidFill>
                <a:latin typeface="Poppins"/>
              </a:rPr>
              <a:t>YOU SAID:</a:t>
            </a:r>
          </a:p>
          <a:p>
            <a:pPr>
              <a:spcBef>
                <a:spcPts val="100"/>
              </a:spcBef>
            </a:pPr>
            <a:r>
              <a:rPr sz="1100" b="0" i="1">
                <a:solidFill>
                  <a:srgbClr val="003A59"/>
                </a:solidFill>
                <a:latin typeface="Poppins"/>
              </a:rPr>
              <a:t>“I'm getting to the point where I just don't want to learn more. I want somebody else to do it.”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0" y="987552"/>
            <a:ext cx="3840480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750" b="1" i="0">
                <a:solidFill>
                  <a:srgbClr val="003A59"/>
                </a:solidFill>
                <a:latin typeface="Poppins"/>
              </a:rPr>
              <a:t>WHERE YOU ARE TODAY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0" y="1207008"/>
            <a:ext cx="3840480" cy="1883664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212080" y="1316736"/>
            <a:ext cx="1691640" cy="16459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750" b="1" i="0">
                <a:solidFill>
                  <a:srgbClr val="69CD2B"/>
                </a:solidFill>
                <a:latin typeface="Poppins"/>
              </a:rPr>
              <a:t>TODAY  ·  STAGE 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12080" y="1463040"/>
            <a:ext cx="1691640" cy="42062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Poppins"/>
              </a:rPr>
              <a:t>Solo Practitioner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316736"/>
            <a:ext cx="1691640" cy="16459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/>
            <a:r>
              <a:rPr sz="750" b="1" i="0">
                <a:solidFill>
                  <a:srgbClr val="69CD2B"/>
                </a:solidFill>
                <a:latin typeface="Poppins"/>
              </a:rPr>
              <a:t>GOAL  ·  STAGE 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95160" y="1463040"/>
            <a:ext cx="1691640" cy="42062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/>
            <a:r>
              <a:rPr sz="1200" b="1" i="0">
                <a:solidFill>
                  <a:srgbClr val="FFFFFF"/>
                </a:solidFill>
                <a:latin typeface="Poppins"/>
              </a:rPr>
              <a:t>Law Firm Owner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212080" y="2754172"/>
            <a:ext cx="651052" cy="190195"/>
          </a:xfrm>
          <a:prstGeom prst="rect">
            <a:avLst/>
          </a:prstGeom>
          <a:solidFill>
            <a:srgbClr val="2F6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212080" y="2670048"/>
            <a:ext cx="651052" cy="25603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sz="1000" b="1" i="0">
                <a:solidFill>
                  <a:srgbClr val="A9D68C"/>
                </a:solidFill>
                <a:latin typeface="Poppins"/>
              </a:rPr>
              <a:t>2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917996" y="2563977"/>
            <a:ext cx="651052" cy="380390"/>
          </a:xfrm>
          <a:prstGeom prst="rect">
            <a:avLst/>
          </a:prstGeom>
          <a:solidFill>
            <a:srgbClr val="69CD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17996" y="2670048"/>
            <a:ext cx="651052" cy="25603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sz="1000" b="1" i="0">
                <a:solidFill>
                  <a:srgbClr val="143306"/>
                </a:solidFill>
                <a:latin typeface="Poppins"/>
              </a:rPr>
              <a:t>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623913" y="2373782"/>
            <a:ext cx="651052" cy="570585"/>
          </a:xfrm>
          <a:prstGeom prst="rect">
            <a:avLst/>
          </a:prstGeom>
          <a:solidFill>
            <a:srgbClr val="0B4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23913" y="2670048"/>
            <a:ext cx="651052" cy="25603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sz="1000" b="1" i="0">
                <a:solidFill>
                  <a:srgbClr val="9CC0D6"/>
                </a:solidFill>
                <a:latin typeface="Poppins"/>
              </a:rPr>
              <a:t>4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29830" y="2183587"/>
            <a:ext cx="651052" cy="760780"/>
          </a:xfrm>
          <a:prstGeom prst="rect">
            <a:avLst/>
          </a:prstGeom>
          <a:solidFill>
            <a:srgbClr val="0B4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29830" y="2670048"/>
            <a:ext cx="651052" cy="25603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sz="1000" b="1" i="0">
                <a:solidFill>
                  <a:srgbClr val="9CC0D6"/>
                </a:solidFill>
                <a:latin typeface="Poppins"/>
              </a:rPr>
              <a:t>5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035747" y="1993392"/>
            <a:ext cx="651052" cy="950975"/>
          </a:xfrm>
          <a:prstGeom prst="rect">
            <a:avLst/>
          </a:prstGeom>
          <a:solidFill>
            <a:srgbClr val="003A59"/>
          </a:solidFill>
          <a:ln w="19050">
            <a:solidFill>
              <a:srgbClr val="69CD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35747" y="2670048"/>
            <a:ext cx="651052" cy="25603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sz="1000" b="1" i="0">
                <a:solidFill>
                  <a:srgbClr val="69CD2B"/>
                </a:solidFill>
                <a:latin typeface="Poppins"/>
              </a:rPr>
              <a:t>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4320" y="3200400"/>
            <a:ext cx="3657600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750" b="1" i="0">
                <a:solidFill>
                  <a:srgbClr val="003A59"/>
                </a:solidFill>
                <a:latin typeface="Poppins"/>
              </a:rPr>
              <a:t>YOUR KEY GAPS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74320" y="3419856"/>
            <a:ext cx="8595360" cy="1243584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93776" y="3602736"/>
            <a:ext cx="256032" cy="36576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38912" y="3675887"/>
            <a:ext cx="2535936" cy="20116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800" b="1" i="0">
                <a:solidFill>
                  <a:srgbClr val="003A59"/>
                </a:solidFill>
                <a:latin typeface="Poppins"/>
              </a:rPr>
              <a:t>LEAD GENERATION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8912" y="3895344"/>
            <a:ext cx="2535936" cy="69494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050" b="0" i="0">
                <a:solidFill>
                  <a:srgbClr val="4A5C6B"/>
                </a:solidFill>
                <a:latin typeface="Poppins"/>
              </a:rPr>
              <a:t>1 Google review vs. 231–641 means Chapter 7 searchers choose rivals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3139440" y="3584448"/>
            <a:ext cx="0" cy="932688"/>
          </a:xfrm>
          <a:prstGeom prst="line">
            <a:avLst/>
          </a:prstGeom>
          <a:ln w="9525">
            <a:solidFill>
              <a:srgbClr val="D9E2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ectangle 31"/>
          <p:cNvSpPr/>
          <p:nvPr/>
        </p:nvSpPr>
        <p:spPr>
          <a:xfrm>
            <a:off x="3358895" y="3602736"/>
            <a:ext cx="256032" cy="36576"/>
          </a:xfrm>
          <a:prstGeom prst="rect">
            <a:avLst/>
          </a:prstGeom>
          <a:solidFill>
            <a:srgbClr val="69CD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304032" y="3675887"/>
            <a:ext cx="2535936" cy="20116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800" b="1" i="0">
                <a:solidFill>
                  <a:srgbClr val="003A59"/>
                </a:solidFill>
                <a:latin typeface="Poppins"/>
              </a:rPr>
              <a:t>INTAKE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304032" y="3895344"/>
            <a:ext cx="2535936" cy="69494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050" b="0" i="0">
                <a:solidFill>
                  <a:srgbClr val="4A5C6B"/>
                </a:solidFill>
                <a:latin typeface="Poppins"/>
              </a:rPr>
              <a:t>No intake process yet for a jump to 20–30 Chapter 7 cases a month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6004560" y="3584448"/>
            <a:ext cx="0" cy="932688"/>
          </a:xfrm>
          <a:prstGeom prst="line">
            <a:avLst/>
          </a:prstGeom>
          <a:ln w="9525">
            <a:solidFill>
              <a:srgbClr val="D9E2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ectangle 35"/>
          <p:cNvSpPr/>
          <p:nvPr/>
        </p:nvSpPr>
        <p:spPr>
          <a:xfrm>
            <a:off x="6224016" y="3602736"/>
            <a:ext cx="256032" cy="36576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169151" y="3675887"/>
            <a:ext cx="2535936" cy="20116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800" b="1" i="0">
                <a:solidFill>
                  <a:srgbClr val="003A59"/>
                </a:solidFill>
                <a:latin typeface="Poppins"/>
              </a:rPr>
              <a:t>TEAM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169151" y="3895344"/>
            <a:ext cx="2535936" cy="69494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050" b="0" i="0">
                <a:solidFill>
                  <a:srgbClr val="4A5C6B"/>
                </a:solidFill>
                <a:latin typeface="Poppins"/>
              </a:rPr>
              <a:t>Marketing and admin still sit with you, not with someone else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4818888"/>
            <a:ext cx="9144000" cy="320040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0" name="Picture 39" descr="smb_te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4873752"/>
            <a:ext cx="941832" cy="192024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1417320" y="4892040"/>
            <a:ext cx="4937760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700" b="0" i="0">
                <a:solidFill>
                  <a:srgbClr val="8FB2C6"/>
                </a:solidFill>
                <a:latin typeface="Poppins"/>
              </a:rPr>
              <a:t>CONFIDENTIAL  ·  PREPARED BY JONATHAN FARACE | SMB TEAM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680960" y="4892040"/>
            <a:ext cx="1188720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/>
            <a:r>
              <a:rPr sz="700" b="0" i="0">
                <a:solidFill>
                  <a:srgbClr val="8FB2C6"/>
                </a:solidFill>
                <a:latin typeface="Poppins"/>
              </a:rPr>
              <a:t>1 / 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7F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182880"/>
            <a:ext cx="8503920" cy="16459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750" b="1" i="0">
                <a:solidFill>
                  <a:srgbClr val="69CD2B"/>
                </a:solidFill>
                <a:latin typeface="Poppins"/>
              </a:rPr>
              <a:t>LAW FIRM GROWTH AUDIT  ·  TOTARO &amp; SHANAHAN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384048"/>
            <a:ext cx="8503920" cy="40233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Poppins"/>
              </a:rPr>
              <a:t>Your Growth Plan: 3 Priorities to Reach $1.5M a Year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005840"/>
            <a:ext cx="2724912" cy="877824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097280"/>
            <a:ext cx="2359152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800" b="1" i="0">
                <a:solidFill>
                  <a:srgbClr val="69CD2B"/>
                </a:solidFill>
                <a:latin typeface="Poppins"/>
              </a:rPr>
              <a:t>PRIORITY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280160"/>
            <a:ext cx="2359152" cy="2743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Poppins"/>
              </a:rPr>
              <a:t>Build the Chapter 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527048"/>
            <a:ext cx="2359152" cy="2743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Poppins"/>
              </a:rPr>
              <a:t>Client Pipeline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883664"/>
            <a:ext cx="2724912" cy="27432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02336" y="2029968"/>
            <a:ext cx="2468880" cy="250545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146304" indent="-146304">
              <a:buClr>
                <a:srgbClr val="003A59"/>
              </a:buClr>
              <a:buFont typeface="Arial"/>
              <a:buChar char="•"/>
            </a:pPr>
            <a:r>
              <a:rPr sz="1050">
                <a:solidFill>
                  <a:srgbClr val="1B2A38"/>
                </a:solidFill>
                <a:latin typeface="Poppins"/>
              </a:rPr>
              <a:t>Run Google Ads for Chapter 7 in LA, OC, and San Diego</a:t>
            </a:r>
          </a:p>
          <a:p>
            <a:pPr marL="146304" indent="-146304">
              <a:spcBef>
                <a:spcPts val="600"/>
              </a:spcBef>
              <a:buClr>
                <a:srgbClr val="003A59"/>
              </a:buClr>
              <a:buFont typeface="Arial"/>
              <a:buChar char="•"/>
            </a:pPr>
            <a:r>
              <a:rPr sz="1050">
                <a:solidFill>
                  <a:srgbClr val="1B2A38"/>
                </a:solidFill>
                <a:latin typeface="Poppins"/>
              </a:rPr>
              <a:t>Add Local Service Ads so calls come straight to you</a:t>
            </a:r>
          </a:p>
          <a:p>
            <a:pPr marL="146304" indent="-146304">
              <a:spcBef>
                <a:spcPts val="600"/>
              </a:spcBef>
              <a:buClr>
                <a:srgbClr val="003A59"/>
              </a:buClr>
              <a:buFont typeface="Arial"/>
              <a:buChar char="•"/>
            </a:pPr>
            <a:r>
              <a:rPr sz="1050">
                <a:solidFill>
                  <a:srgbClr val="1B2A38"/>
                </a:solidFill>
                <a:latin typeface="Poppins"/>
              </a:rPr>
              <a:t>Launch Facebook and Instagram retargeting and video</a:t>
            </a:r>
          </a:p>
          <a:p>
            <a:pPr marL="146304" indent="-146304">
              <a:spcBef>
                <a:spcPts val="600"/>
              </a:spcBef>
              <a:buClr>
                <a:srgbClr val="003A59"/>
              </a:buClr>
              <a:buFont typeface="Arial"/>
              <a:buChar char="•"/>
            </a:pPr>
            <a:r>
              <a:rPr sz="1050">
                <a:solidFill>
                  <a:srgbClr val="1B2A38"/>
                </a:solidFill>
                <a:latin typeface="Poppins"/>
              </a:rPr>
              <a:t>Test five AI avatar videos for social and ads</a:t>
            </a:r>
          </a:p>
          <a:p>
            <a:pPr marL="146304" indent="-146304">
              <a:spcBef>
                <a:spcPts val="600"/>
              </a:spcBef>
              <a:buClr>
                <a:srgbClr val="003A59"/>
              </a:buClr>
              <a:buFont typeface="Arial"/>
              <a:buChar char="•"/>
            </a:pPr>
            <a:r>
              <a:rPr sz="1050">
                <a:solidFill>
                  <a:srgbClr val="1B2A38"/>
                </a:solidFill>
                <a:latin typeface="Poppins"/>
              </a:rPr>
              <a:t>Let a team run the ads while you do legal work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9544" y="1005840"/>
            <a:ext cx="2724912" cy="877824"/>
          </a:xfrm>
          <a:prstGeom prst="rect">
            <a:avLst/>
          </a:prstGeom>
          <a:solidFill>
            <a:srgbClr val="69CD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92424" y="1097280"/>
            <a:ext cx="2359152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800" b="1" i="0">
                <a:solidFill>
                  <a:srgbClr val="143306"/>
                </a:solidFill>
                <a:latin typeface="Poppins"/>
              </a:rPr>
              <a:t>PRIORITY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92424" y="1280160"/>
            <a:ext cx="2359152" cy="2743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400" b="1" i="0">
                <a:solidFill>
                  <a:srgbClr val="143306"/>
                </a:solidFill>
                <a:latin typeface="Poppins"/>
              </a:rPr>
              <a:t>Fix Intake &amp;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92424" y="1527048"/>
            <a:ext cx="2359152" cy="2743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400" b="1" i="0">
                <a:solidFill>
                  <a:srgbClr val="143306"/>
                </a:solidFill>
                <a:latin typeface="Poppins"/>
              </a:rPr>
              <a:t>Stop Losing Cases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9544" y="1883664"/>
            <a:ext cx="2724912" cy="27432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337560" y="2029968"/>
            <a:ext cx="2468880" cy="250545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146304" indent="-146304">
              <a:buClr>
                <a:srgbClr val="69CD2B"/>
              </a:buClr>
              <a:buFont typeface="Arial"/>
              <a:buChar char="•"/>
            </a:pPr>
            <a:r>
              <a:rPr sz="1100">
                <a:solidFill>
                  <a:srgbClr val="1B2A38"/>
                </a:solidFill>
                <a:latin typeface="Poppins"/>
              </a:rPr>
              <a:t>Write an intake script for new Chapter 7 calls</a:t>
            </a:r>
          </a:p>
          <a:p>
            <a:pPr marL="146304" indent="-146304">
              <a:spcBef>
                <a:spcPts val="600"/>
              </a:spcBef>
              <a:buClr>
                <a:srgbClr val="69CD2B"/>
              </a:buClr>
              <a:buFont typeface="Arial"/>
              <a:buChar char="•"/>
            </a:pPr>
            <a:r>
              <a:rPr sz="1100">
                <a:solidFill>
                  <a:srgbClr val="1B2A38"/>
                </a:solidFill>
                <a:latin typeface="Poppins"/>
              </a:rPr>
              <a:t>Set screening rules, including Chapter 13 inquiries</a:t>
            </a:r>
          </a:p>
          <a:p>
            <a:pPr marL="146304" indent="-146304">
              <a:spcBef>
                <a:spcPts val="600"/>
              </a:spcBef>
              <a:buClr>
                <a:srgbClr val="69CD2B"/>
              </a:buClr>
              <a:buFont typeface="Arial"/>
              <a:buChar char="•"/>
            </a:pPr>
            <a:r>
              <a:rPr sz="1100">
                <a:solidFill>
                  <a:srgbClr val="1B2A38"/>
                </a:solidFill>
                <a:latin typeface="Poppins"/>
              </a:rPr>
              <a:t>Follow up with every inquiry that does not sign</a:t>
            </a:r>
          </a:p>
          <a:p>
            <a:pPr marL="146304" indent="-146304">
              <a:spcBef>
                <a:spcPts val="600"/>
              </a:spcBef>
              <a:buClr>
                <a:srgbClr val="69CD2B"/>
              </a:buClr>
              <a:buFont typeface="Arial"/>
              <a:buChar char="•"/>
            </a:pPr>
            <a:r>
              <a:rPr sz="1100">
                <a:solidFill>
                  <a:srgbClr val="1B2A38"/>
                </a:solidFill>
                <a:latin typeface="Poppins"/>
              </a:rPr>
              <a:t>Build Google reviews so callers pick you first</a:t>
            </a:r>
          </a:p>
          <a:p>
            <a:pPr marL="146304" indent="-146304">
              <a:spcBef>
                <a:spcPts val="600"/>
              </a:spcBef>
              <a:buClr>
                <a:srgbClr val="69CD2B"/>
              </a:buClr>
              <a:buFont typeface="Arial"/>
              <a:buChar char="•"/>
            </a:pPr>
            <a:r>
              <a:rPr sz="1100">
                <a:solidFill>
                  <a:srgbClr val="1B2A38"/>
                </a:solidFill>
                <a:latin typeface="Poppins"/>
              </a:rPr>
              <a:t>Let someone else take the first call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44768" y="1005840"/>
            <a:ext cx="2724912" cy="877824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27648" y="1097280"/>
            <a:ext cx="2359152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800" b="1" i="0">
                <a:solidFill>
                  <a:srgbClr val="69CD2B"/>
                </a:solidFill>
                <a:latin typeface="Poppins"/>
              </a:rPr>
              <a:t>PRIORITY 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27648" y="1280160"/>
            <a:ext cx="2359152" cy="2743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Poppins"/>
              </a:rPr>
              <a:t>Install Team &amp;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27648" y="1527048"/>
            <a:ext cx="2359152" cy="2743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Poppins"/>
              </a:rPr>
              <a:t>Profit Systems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44768" y="1883664"/>
            <a:ext cx="2724912" cy="27432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72783" y="2029968"/>
            <a:ext cx="2468880" cy="250545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146304" indent="-146304">
              <a:buClr>
                <a:srgbClr val="003A59"/>
              </a:buClr>
              <a:buFont typeface="Arial"/>
              <a:buChar char="•"/>
            </a:pPr>
            <a:r>
              <a:rPr sz="1050">
                <a:solidFill>
                  <a:srgbClr val="1B2A38"/>
                </a:solidFill>
                <a:latin typeface="Poppins"/>
              </a:rPr>
              <a:t>Hand marketing and admin to someone else</a:t>
            </a:r>
          </a:p>
          <a:p>
            <a:pPr marL="146304" indent="-146304">
              <a:spcBef>
                <a:spcPts val="600"/>
              </a:spcBef>
              <a:buClr>
                <a:srgbClr val="003A59"/>
              </a:buClr>
              <a:buFont typeface="Arial"/>
              <a:buChar char="•"/>
            </a:pPr>
            <a:r>
              <a:rPr sz="1050">
                <a:solidFill>
                  <a:srgbClr val="1B2A38"/>
                </a:solidFill>
                <a:latin typeface="Poppins"/>
              </a:rPr>
              <a:t>Track the cost of each Chapter 7 case from month one</a:t>
            </a:r>
          </a:p>
          <a:p>
            <a:pPr marL="146304" indent="-146304">
              <a:spcBef>
                <a:spcPts val="600"/>
              </a:spcBef>
              <a:buClr>
                <a:srgbClr val="003A59"/>
              </a:buClr>
              <a:buFont typeface="Arial"/>
              <a:buChar char="•"/>
            </a:pPr>
            <a:r>
              <a:rPr sz="1050">
                <a:solidFill>
                  <a:srgbClr val="1B2A38"/>
                </a:solidFill>
                <a:latin typeface="Poppins"/>
              </a:rPr>
              <a:t>Map the path from $600K to $1.5M a year</a:t>
            </a:r>
          </a:p>
          <a:p>
            <a:pPr marL="146304" indent="-146304">
              <a:spcBef>
                <a:spcPts val="600"/>
              </a:spcBef>
              <a:buClr>
                <a:srgbClr val="003A59"/>
              </a:buClr>
              <a:buFont typeface="Arial"/>
              <a:buChar char="•"/>
            </a:pPr>
            <a:r>
              <a:rPr sz="1050">
                <a:solidFill>
                  <a:srgbClr val="1B2A38"/>
                </a:solidFill>
                <a:latin typeface="Poppins"/>
              </a:rPr>
              <a:t>Next: add a Fractional COO to run the admin side</a:t>
            </a:r>
          </a:p>
          <a:p>
            <a:pPr marL="146304" indent="-146304">
              <a:spcBef>
                <a:spcPts val="600"/>
              </a:spcBef>
              <a:buClr>
                <a:srgbClr val="003A59"/>
              </a:buClr>
              <a:buFont typeface="Arial"/>
              <a:buChar char="•"/>
            </a:pPr>
            <a:r>
              <a:rPr sz="1050">
                <a:solidFill>
                  <a:srgbClr val="1B2A38"/>
                </a:solidFill>
                <a:latin typeface="Poppins"/>
              </a:rPr>
              <a:t>Keep your time for the legal work you want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4818888"/>
            <a:ext cx="9144000" cy="320040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smb_te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4873752"/>
            <a:ext cx="941832" cy="192024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1417320" y="4892040"/>
            <a:ext cx="4937760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700" b="0" i="0">
                <a:solidFill>
                  <a:srgbClr val="8FB2C6"/>
                </a:solidFill>
                <a:latin typeface="Poppins"/>
              </a:rPr>
              <a:t>CONFIDENTIAL  ·  PREPARED BY JONATHAN FARACE | SMB TEAM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80960" y="4892040"/>
            <a:ext cx="1188720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/>
            <a:r>
              <a:rPr sz="700" b="0" i="0">
                <a:solidFill>
                  <a:srgbClr val="8FB2C6"/>
                </a:solidFill>
                <a:latin typeface="Poppins"/>
              </a:rPr>
              <a:t>2 / 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7F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182880"/>
            <a:ext cx="8503920" cy="16459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750" b="1" i="0">
                <a:solidFill>
                  <a:srgbClr val="69CD2B"/>
                </a:solidFill>
                <a:latin typeface="Poppins"/>
              </a:rPr>
              <a:t>LAW FIRM GROWTH AUDIT  ·  TOTARO &amp; SHANAHAN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384048"/>
            <a:ext cx="8503920" cy="40233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Poppins"/>
              </a:rPr>
              <a:t>Your Investment &amp; What Happens Next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005840"/>
            <a:ext cx="4041648" cy="96012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005840"/>
            <a:ext cx="36576" cy="960120"/>
          </a:xfrm>
          <a:prstGeom prst="rect">
            <a:avLst/>
          </a:prstGeom>
          <a:solidFill>
            <a:srgbClr val="0091C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12064" y="1115568"/>
            <a:ext cx="3621024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750" b="1" i="0">
                <a:solidFill>
                  <a:srgbClr val="0091C9"/>
                </a:solidFill>
                <a:latin typeface="Poppins"/>
              </a:rPr>
              <a:t>PAID ADS STARTER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2064" y="1252728"/>
            <a:ext cx="2377440" cy="53035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3000" b="1" i="0">
                <a:solidFill>
                  <a:srgbClr val="003A59"/>
                </a:solidFill>
                <a:latin typeface="Poppins"/>
              </a:rPr>
              <a:t>$3,497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35277" y="1519428"/>
            <a:ext cx="457200" cy="219456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algn="l"/>
            <a:r>
              <a:rPr sz="1000" b="0" i="0">
                <a:solidFill>
                  <a:srgbClr val="7C8D9B"/>
                </a:solidFill>
                <a:latin typeface="Poppins"/>
              </a:rPr>
              <a:t>/mo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45563" y="1519428"/>
            <a:ext cx="1878964" cy="21945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/>
            <a:r>
              <a:rPr sz="1000" b="0" i="0">
                <a:solidFill>
                  <a:srgbClr val="7C8D9B"/>
                </a:solidFill>
                <a:latin typeface="Poppins"/>
              </a:rPr>
              <a:t>standalone rate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2064" y="1737360"/>
            <a:ext cx="3621024" cy="20116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850" b="0" i="0">
                <a:solidFill>
                  <a:srgbClr val="7C8D9B"/>
                </a:solidFill>
                <a:latin typeface="Poppins"/>
              </a:rPr>
              <a:t>Google Ads · LSA · Meta Ads · + AI Avatar $1,850 one-time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3108960"/>
            <a:ext cx="4041648" cy="658368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74320" y="3108960"/>
            <a:ext cx="36576" cy="658368"/>
          </a:xfrm>
          <a:prstGeom prst="rect">
            <a:avLst/>
          </a:prstGeom>
          <a:solidFill>
            <a:srgbClr val="69CD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12064" y="3200400"/>
            <a:ext cx="1554480" cy="16459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750" b="1" i="0">
                <a:solidFill>
                  <a:srgbClr val="69CD2B"/>
                </a:solidFill>
                <a:latin typeface="Poppins"/>
              </a:rPr>
              <a:t>BUNDLE TOTAL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2064" y="3346704"/>
            <a:ext cx="2194560" cy="365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Poppins"/>
              </a:rPr>
              <a:t>$3,497 / mo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79549" y="3460051"/>
            <a:ext cx="2244979" cy="20116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/>
            <a:r>
              <a:rPr sz="850" b="0" i="0">
                <a:solidFill>
                  <a:srgbClr val="A9D68C"/>
                </a:solidFill>
                <a:latin typeface="Poppins"/>
              </a:rPr>
              <a:t>+ $1,850 one-time AI Avatar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3858768"/>
            <a:ext cx="4041648" cy="384048"/>
          </a:xfrm>
          <a:prstGeom prst="rect">
            <a:avLst/>
          </a:prstGeom>
          <a:solidFill>
            <a:srgbClr val="EEF2F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3858768"/>
            <a:ext cx="3675887" cy="38404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800" b="0" i="0">
                <a:solidFill>
                  <a:srgbClr val="4A5C6B"/>
                </a:solidFill>
                <a:latin typeface="Poppins"/>
              </a:rPr>
              <a:t>+ Recommended ad spend: $4,500–$14,000/mo — to win high-intent Chapter 7 searches in LA, OC, and San Diego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0" y="1005840"/>
            <a:ext cx="4297680" cy="1298448"/>
          </a:xfrm>
          <a:prstGeom prst="rect">
            <a:avLst/>
          </a:prstGeom>
          <a:solidFill>
            <a:srgbClr val="F0FAF4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73168" y="1152144"/>
            <a:ext cx="3895344" cy="14630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750" b="1" i="0">
                <a:solidFill>
                  <a:srgbClr val="0B6B4A"/>
                </a:solidFill>
                <a:latin typeface="Poppins"/>
              </a:rPr>
              <a:t>PROJECTED RETURN ON AD SPEND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73168" y="1444752"/>
            <a:ext cx="1783080" cy="16459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850" b="1" i="0">
                <a:solidFill>
                  <a:srgbClr val="1B2A38"/>
                </a:solidFill>
                <a:latin typeface="Poppins"/>
              </a:rPr>
              <a:t>Average case value: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29400" y="1444752"/>
            <a:ext cx="2103120" cy="16459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850" b="0" i="0">
                <a:solidFill>
                  <a:srgbClr val="0B6B4A"/>
                </a:solidFill>
                <a:latin typeface="Poppins"/>
              </a:rPr>
              <a:t>$2,000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700016" y="1673352"/>
            <a:ext cx="4041648" cy="256032"/>
          </a:xfrm>
          <a:prstGeom prst="rect">
            <a:avLst/>
          </a:prstGeom>
          <a:solidFill>
            <a:srgbClr val="E2F3E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773168" y="1737360"/>
            <a:ext cx="1783080" cy="16459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800" b="1" i="0">
                <a:solidFill>
                  <a:srgbClr val="1B2A38"/>
                </a:solidFill>
                <a:latin typeface="Poppins"/>
              </a:rPr>
              <a:t>Conservative  (~6 cases/mo):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29400" y="1737360"/>
            <a:ext cx="2103120" cy="16459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850" b="1" i="0">
                <a:solidFill>
                  <a:srgbClr val="0B6B4A"/>
                </a:solidFill>
                <a:latin typeface="Poppins"/>
              </a:rPr>
              <a:t>~$12,500 revenue · 2.8× ROAS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73168" y="2020824"/>
            <a:ext cx="1783080" cy="16459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800" b="1" i="0">
                <a:solidFill>
                  <a:srgbClr val="1B2A38"/>
                </a:solidFill>
                <a:latin typeface="Poppins"/>
              </a:rPr>
              <a:t>Aggressive  (~23 cases/mo):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29400" y="2020824"/>
            <a:ext cx="2103120" cy="16459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850" b="1" i="0">
                <a:solidFill>
                  <a:srgbClr val="0B6B4A"/>
                </a:solidFill>
                <a:latin typeface="Poppins"/>
              </a:rPr>
              <a:t>~$46,000 revenue · 3.3× ROAS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0" y="2487168"/>
            <a:ext cx="4297680" cy="16459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750" b="1" i="0">
                <a:solidFill>
                  <a:srgbClr val="003A59"/>
                </a:solidFill>
                <a:latin typeface="Poppins"/>
              </a:rPr>
              <a:t>HOW THIS PLAN ADDRESSES IT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0" y="2734056"/>
            <a:ext cx="4297680" cy="265176"/>
          </a:xfrm>
          <a:prstGeom prst="rect">
            <a:avLst/>
          </a:prstGeom>
          <a:solidFill>
            <a:srgbClr val="EEF2F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700016" y="2816352"/>
            <a:ext cx="91440" cy="91440"/>
          </a:xfrm>
          <a:prstGeom prst="rect">
            <a:avLst/>
          </a:prstGeom>
          <a:solidFill>
            <a:srgbClr val="69CD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846320" y="2734056"/>
            <a:ext cx="1143000" cy="26517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800" b="1" i="0">
                <a:solidFill>
                  <a:srgbClr val="003A59"/>
                </a:solidFill>
                <a:latin typeface="Poppins"/>
              </a:rPr>
              <a:t>More Chapter 7s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943600" y="2734056"/>
            <a:ext cx="2926080" cy="26517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800" b="0" i="0">
                <a:solidFill>
                  <a:srgbClr val="4A5C6B"/>
                </a:solidFill>
                <a:latin typeface="Poppins"/>
              </a:rPr>
              <a:t>Google Ads and LSAs aimed at Chapter 7 searchers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572000" y="3081528"/>
            <a:ext cx="4297680" cy="265176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700016" y="3163824"/>
            <a:ext cx="91440" cy="91440"/>
          </a:xfrm>
          <a:prstGeom prst="rect">
            <a:avLst/>
          </a:prstGeom>
          <a:solidFill>
            <a:srgbClr val="0091C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846320" y="3081528"/>
            <a:ext cx="1143000" cy="26517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800" b="1" i="0">
                <a:solidFill>
                  <a:srgbClr val="003A59"/>
                </a:solidFill>
                <a:latin typeface="Poppins"/>
              </a:rPr>
              <a:t>No cost base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943600" y="3081528"/>
            <a:ext cx="2926080" cy="26517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800" b="0" i="0">
                <a:solidFill>
                  <a:srgbClr val="4A5C6B"/>
                </a:solidFill>
                <a:latin typeface="Poppins"/>
              </a:rPr>
              <a:t>Spend range with est. cases, return, and reporting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572000" y="3429000"/>
            <a:ext cx="4297680" cy="265176"/>
          </a:xfrm>
          <a:prstGeom prst="rect">
            <a:avLst/>
          </a:prstGeom>
          <a:solidFill>
            <a:srgbClr val="EEF2F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700016" y="3511296"/>
            <a:ext cx="91440" cy="91440"/>
          </a:xfrm>
          <a:prstGeom prst="rect">
            <a:avLst/>
          </a:prstGeom>
          <a:solidFill>
            <a:srgbClr val="0091C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846320" y="3429000"/>
            <a:ext cx="1143000" cy="26517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800" b="1" i="0">
                <a:solidFill>
                  <a:srgbClr val="003A59"/>
                </a:solidFill>
                <a:latin typeface="Poppins"/>
              </a:rPr>
              <a:t>Hand it off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943600" y="3429000"/>
            <a:ext cx="2926080" cy="26517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750" b="0" i="0">
                <a:solidFill>
                  <a:srgbClr val="4A5C6B"/>
                </a:solidFill>
                <a:latin typeface="Poppins"/>
              </a:rPr>
              <a:t>SMB Team runs the campaigns so you do not have to</a:t>
            </a:r>
          </a:p>
        </p:txBody>
      </p:sp>
      <p:sp>
        <p:nvSpPr>
          <p:cNvPr id="42" name="Rectangle 41"/>
          <p:cNvSpPr/>
          <p:nvPr/>
        </p:nvSpPr>
        <p:spPr>
          <a:xfrm>
            <a:off x="0" y="4261104"/>
            <a:ext cx="9144000" cy="557784"/>
          </a:xfrm>
          <a:prstGeom prst="rect">
            <a:avLst/>
          </a:prstGeom>
          <a:solidFill>
            <a:srgbClr val="002A41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0" y="4261104"/>
            <a:ext cx="9144000" cy="18288"/>
          </a:xfrm>
          <a:prstGeom prst="rect">
            <a:avLst/>
          </a:prstGeom>
          <a:solidFill>
            <a:srgbClr val="69CD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40080" y="4297680"/>
            <a:ext cx="7863840" cy="49377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/>
            <a:r>
              <a:rPr sz="950" b="0" i="0">
                <a:solidFill>
                  <a:srgbClr val="C2D8E6"/>
                </a:solidFill>
                <a:latin typeface="Poppins"/>
              </a:rPr>
              <a:t>"More time on the legal work — and someone else handling the rest, so the firm can actually grow."</a:t>
            </a:r>
          </a:p>
        </p:txBody>
      </p:sp>
      <p:sp>
        <p:nvSpPr>
          <p:cNvPr id="45" name="Rectangle 44"/>
          <p:cNvSpPr/>
          <p:nvPr/>
        </p:nvSpPr>
        <p:spPr>
          <a:xfrm>
            <a:off x="0" y="4818888"/>
            <a:ext cx="9144000" cy="320040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6" name="Picture 45" descr="smb_te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4873752"/>
            <a:ext cx="941832" cy="192024"/>
          </a:xfrm>
          <a:prstGeom prst="rect">
            <a:avLst/>
          </a:prstGeom>
        </p:spPr>
      </p:pic>
      <p:sp>
        <p:nvSpPr>
          <p:cNvPr id="47" name="TextBox 46"/>
          <p:cNvSpPr txBox="1"/>
          <p:nvPr/>
        </p:nvSpPr>
        <p:spPr>
          <a:xfrm>
            <a:off x="1417320" y="4892040"/>
            <a:ext cx="4937760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700" b="0" i="0">
                <a:solidFill>
                  <a:srgbClr val="8FB2C6"/>
                </a:solidFill>
                <a:latin typeface="Poppins"/>
              </a:rPr>
              <a:t>CONFIDENTIAL  ·  PREPARED BY JONATHAN FARACE | SMB TEAM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680960" y="4892040"/>
            <a:ext cx="1188720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/>
            <a:r>
              <a:rPr sz="700" b="0" i="0">
                <a:solidFill>
                  <a:srgbClr val="8FB2C6"/>
                </a:solidFill>
                <a:latin typeface="Poppins"/>
              </a:rPr>
              <a:t>3 / 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