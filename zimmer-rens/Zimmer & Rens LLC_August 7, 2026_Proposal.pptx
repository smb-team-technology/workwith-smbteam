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ZIMMER &amp; RENS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Where Zimmer &amp; Rens LLC Stands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46304" cy="3867912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1005840"/>
            <a:ext cx="1298448" cy="841248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298448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572768"/>
            <a:ext cx="1298448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COMPETITIVE URGENCY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2496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2496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Lead Generation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paid lead system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42032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6896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AMBER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6896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after-hours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56432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432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4 new areas, same team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1104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5968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Profit 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Spend below benchmark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" y="1956816"/>
            <a:ext cx="4846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KEY FINDINGS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2212848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386584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368296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2286000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No after-hours coverage loses CD and PI leads nightly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834640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3008376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990088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2907792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Zero paid presence yet in criminal defense or estate planning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456432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630168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611879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3529584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Marketing spend confirmed below 20% benchmark by the firm's own CFO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" y="4078224"/>
            <a:ext cx="4846320" cy="566928"/>
          </a:xfrm>
          <a:prstGeom prst="rect">
            <a:avLst/>
          </a:prstGeom>
          <a:solidFill>
            <a:srgbClr val="0C281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4251960"/>
            <a:ext cx="219456" cy="219456"/>
          </a:xfrm>
          <a:prstGeom prst="rect">
            <a:avLst/>
          </a:prstGeom>
          <a:solidFill>
            <a:srgbClr val="16A3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4233672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" y="4151376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86EFAC"/>
                </a:solidFill>
                <a:latin typeface="Calibri"/>
              </a:rPr>
              <a:t>16-person team and a fractional CFO already in place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960120"/>
            <a:ext cx="3886200" cy="386791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57800" y="1024128"/>
            <a:ext cx="3886200" cy="694944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57800" y="1024128"/>
            <a:ext cx="128016" cy="694944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0" y="1042415"/>
            <a:ext cx="3474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YOU ARE HERE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1243584"/>
            <a:ext cx="347472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Stage 4: Small Business Manager  →  Goal: Stage 6, Law Firm Owner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94960" y="1920240"/>
            <a:ext cx="35661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COMPETITOR LANDSCAPE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57800" y="2176272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13248" y="2221991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Grieve Law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0336" y="2221991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109 reviews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93024" y="2240279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5.0★ · Criminal Defense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2523744"/>
            <a:ext cx="3886200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13248" y="2569463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Margerie Law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2569463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73-99 reviews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93024" y="2587751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4.9★ · Estate Planning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57800" y="2871216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13248" y="2916936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Sterling Lawyers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60336" y="2916936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60 reviews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3024" y="2935224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4.76★ · Family Law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57800" y="3218688"/>
            <a:ext cx="3886200" cy="310896"/>
          </a:xfrm>
          <a:prstGeom prst="rect">
            <a:avLst/>
          </a:prstGeom>
          <a:solidFill>
            <a:srgbClr val="FFF0F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257800" y="3218688"/>
            <a:ext cx="91440" cy="31089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13248" y="3264408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Zimmer &amp; Rens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60336" y="3264408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C0392B"/>
                </a:solidFill>
                <a:latin typeface="Calibri"/>
              </a:rPr>
              <a:t>Unverified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93024" y="3282696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← Live count TBD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Jacob Meissner | SMB Team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ZIMMER &amp; RENS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Growth Plan: 3 Priorities to Open La Crosse Strong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24128"/>
            <a:ext cx="2487168" cy="363931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42415"/>
            <a:ext cx="2487168" cy="1828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097280"/>
            <a:ext cx="22677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THE SMB TEAM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35024"/>
            <a:ext cx="2267712" cy="15727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A8BFDA"/>
                </a:solidFill>
                <a:latin typeface="Calibri"/>
              </a:rPr>
              <a:t>Marketing, intake, team, and profit systems have to work together. When all four run, Paul and Taylor can lead a two-office platform instead of personally carrying every new practice area themselves.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2999232"/>
            <a:ext cx="2487168" cy="74980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30175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D1F3C"/>
                </a:solidFill>
                <a:latin typeface="Calibri"/>
              </a:rPr>
              <a:t>Est. $1.8M → $3.6M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3291840"/>
            <a:ext cx="22860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D1F3C"/>
                </a:solidFill>
                <a:latin typeface="Calibri"/>
              </a:rPr>
              <a:t>Lead a platform, not every practice area alone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16352" y="1024128"/>
            <a:ext cx="2048256" cy="84124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Build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Marketing Engine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1865376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07792" y="2084832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4096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Launch Google Ads for Criminal Defense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16352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07792" y="2688336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Launch Google Ads for Estate Planning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16352" y="3072384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3291839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54096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Claim Local Service Ads across the market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6352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3895344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Turn Google into a pipeline that runs itself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16352" y="4279392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07792" y="4498848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54096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La Crosse geo-pages before opening day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0" y="1024128"/>
            <a:ext cx="2048256" cy="841248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47488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Fix Intake &amp;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Stop Losing Cases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0" y="1865376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0" y="2084832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5504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Add after-hours coverage for CD and PI calls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0" y="2688336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75504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a defined lead-conversion process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37760" y="3072384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3291839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75504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Stop losing nights-and-weekends callers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760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0" y="3895344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75504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Speed the queue-to-paralegal handoff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0" y="4279392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0" y="4498848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75504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Convert more of the leads already coming in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59168" y="1024128"/>
            <a:ext cx="2048256" cy="84124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68896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68896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Install Team &amp;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8896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Profit Systems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168" y="1865376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150607" y="2084832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96912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Free Paul and Taylor from day-to-day admin work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059168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7" y="2688336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96912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Launch a Fractional CTO for email/scheduling AI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168" y="3072384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7" y="3291839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96912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Close the CFO-flagged 20% marketing gap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9168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150607" y="3895344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96912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Automate admin so the team focuses on cases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168" y="4279392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50607" y="4498848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96912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reporting so La Crosse scales on purpose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Jacob Meissner | SMB Team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ZIMMER &amp; RENS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Investment &amp; What Happens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1024128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" y="1024128"/>
            <a:ext cx="182880" cy="102412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1D4ED8"/>
                </a:solidFill>
                <a:latin typeface="Calibri"/>
              </a:rPr>
              <a:t>FULL SERVICE MARKETING — STARTER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298448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$4,997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6" y="1408176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1426464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$5,697/mo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22576" y="1527048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792224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Google Ads · LSA · Meta Ads · Local SEO · Landing Pages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" y="2139696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" y="2139696"/>
            <a:ext cx="182880" cy="102412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2231136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D28D9"/>
                </a:solidFill>
                <a:latin typeface="Calibri"/>
              </a:rPr>
              <a:t>FRACTIONAL CTO LEVEL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2414015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$3,297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2523744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2576" y="2542032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$3,797/mo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642615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907791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AI automation for email &amp; scheduling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" y="3255264"/>
            <a:ext cx="4133087" cy="658368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291840"/>
            <a:ext cx="1645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7CA0C0"/>
                </a:solidFill>
                <a:latin typeface="Calibri"/>
              </a:rPr>
              <a:t>BUNDLE TOTAL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3493008"/>
            <a:ext cx="21945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5C400"/>
                </a:solidFill>
                <a:latin typeface="Calibri"/>
              </a:rPr>
              <a:t>$8,294 / 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3493008"/>
            <a:ext cx="17373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7CA0C0"/>
                </a:solidFill>
                <a:latin typeface="Calibri"/>
              </a:rPr>
              <a:t>Save $1,200/mo by bundling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" y="3968496"/>
            <a:ext cx="4133087" cy="402336"/>
          </a:xfrm>
          <a:prstGeom prst="rect">
            <a:avLst/>
          </a:prstGeom>
          <a:solidFill>
            <a:srgbClr val="EEF2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3995928"/>
            <a:ext cx="3931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+ Recommended ad spend: $23,400–$37,100/mo paid directly to Google/Meta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35424" y="1024128"/>
            <a:ext cx="4407408" cy="1316736"/>
          </a:xfrm>
          <a:prstGeom prst="rect">
            <a:avLst/>
          </a:prstGeom>
          <a:solidFill>
            <a:srgbClr val="ECFD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0016" y="1078992"/>
            <a:ext cx="4133087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65F46"/>
                </a:solidFill>
                <a:latin typeface="Calibri"/>
              </a:rPr>
              <a:t>PROJECTED RETURN ON AD SPEND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0016" y="1335024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Average case value: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1335024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65F46"/>
                </a:solidFill>
                <a:latin typeface="Calibri"/>
              </a:rPr>
              <a:t>$2,250–$4,000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1609344"/>
            <a:ext cx="4187952" cy="310896"/>
          </a:xfrm>
          <a:prstGeom prst="rect">
            <a:avLst/>
          </a:prstGeom>
          <a:solidFill>
            <a:srgbClr val="D1FA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0016" y="1645920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Conservative  (27 cases/mo):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9984" y="1645920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$83,000 revenue · 3.5× ROAS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0016" y="1956816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Aggressive  (52 cases/mo):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9984" y="1956816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$158,000 revenue · 4.3× ROAS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35424" y="2468880"/>
            <a:ext cx="44074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WHAT HAPPENS IN THE FIRST 90 DAYS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90288" y="2724912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60" y="2734056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15584" y="2734056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Launch Criminal Defense + Estate Planning ads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90288" y="3081528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7760" y="3090672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3090672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After-hours intake coverage goes live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90288" y="3438144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37760" y="3447287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15584" y="3447287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Practice area landing pages live for CD &amp; EP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90288" y="3794760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37760" y="3803904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15584" y="3803904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AI Foundation Sprint begins (Fractional CTO)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90288" y="4151376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37760" y="4160520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Month 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15584" y="4160520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 Crosse geo-pages live ahead of opening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425696"/>
            <a:ext cx="9144000" cy="402336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" y="4425696"/>
            <a:ext cx="8595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 i="1">
                <a:solidFill>
                  <a:srgbClr val="8BADD0"/>
                </a:solidFill>
                <a:latin typeface="Calibri"/>
              </a:rPr>
              <a:t>"Estate planning, criminal defense, PI, and a second office in La Crosse — running as one platform, not four separate jobs."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Jacob Meissner | SMB Team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