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embeddedFontLst>
    <p:embeddedFont>
      <p:font typeface="Poppins"/>
      <p:regular r:id="rIdEmbedFont1"/>
      <p:bold r:id="rIdEmbedFont2"/>
      <p:italic r:id="rIdEmbedFont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EmbedFont1" Type="http://schemas.openxmlformats.org/officeDocument/2006/relationships/font" Target="fonts/font1.fntdata"/><Relationship Id="rIdEmbedFont2" Type="http://schemas.openxmlformats.org/officeDocument/2006/relationships/font" Target="fonts/font2.fntdata"/><Relationship Id="rIdEmbedFont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FUSSELMAN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Where The Fusselman Law Firm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45720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WHAT YOU TOLD 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4572000" cy="18836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07008"/>
            <a:ext cx="45720" cy="188366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4297680" cy="17556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“I'm doing way too damn much work that I should not be doing.”</a:t>
            </a:r>
          </a:p>
          <a:p>
            <a:pPr>
              <a:spcBef>
                <a:spcPts val="900"/>
              </a:spcBef>
            </a:pPr>
            <a:r>
              <a:rPr sz="750" b="1" i="0">
                <a:solidFill>
                  <a:srgbClr val="3F8F1A"/>
                </a:solidFill>
                <a:latin typeface="Poppins"/>
              </a:rPr>
              <a:t>YOU SAID:</a:t>
            </a:r>
          </a:p>
          <a:p>
            <a:pPr>
              <a:spcBef>
                <a:spcPts val="100"/>
              </a:spcBef>
            </a:pPr>
            <a:r>
              <a:rPr sz="1100" b="0" i="1">
                <a:solidFill>
                  <a:srgbClr val="003A59"/>
                </a:solidFill>
                <a:latin typeface="Poppins"/>
              </a:rPr>
              <a:t>“I feel like if I automated better, that would have already happened without needing a human being to say, go and do it.”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987552"/>
            <a:ext cx="384048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WHERE YOU ARE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207008"/>
            <a:ext cx="3840480" cy="188366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TODAY  ·  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Solo Practitioner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316736"/>
            <a:ext cx="169164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50" b="1" i="0">
                <a:solidFill>
                  <a:srgbClr val="69CD2B"/>
                </a:solidFill>
                <a:latin typeface="Poppins"/>
              </a:rPr>
              <a:t>GOAL  ·  STAGE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691640" cy="42062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Poppins"/>
              </a:rPr>
              <a:t>Law Firm Owner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2754172"/>
            <a:ext cx="651052" cy="190195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A9D68C"/>
                </a:solidFill>
                <a:latin typeface="Poppins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7996" y="2563977"/>
            <a:ext cx="651052" cy="380390"/>
          </a:xfrm>
          <a:prstGeom prst="rect">
            <a:avLst/>
          </a:prstGeom>
          <a:solidFill>
            <a:srgbClr val="69C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7996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143306"/>
                </a:solidFill>
                <a:latin typeface="Poppins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3913" y="2373782"/>
            <a:ext cx="651052" cy="570585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3913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9830" y="2183587"/>
            <a:ext cx="651052" cy="7607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9830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9CC0D6"/>
                </a:solidFill>
                <a:latin typeface="Poppins"/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5747" y="1993392"/>
            <a:ext cx="651052" cy="950975"/>
          </a:xfrm>
          <a:prstGeom prst="rect">
            <a:avLst/>
          </a:prstGeom>
          <a:solidFill>
            <a:srgbClr val="003A59"/>
          </a:solidFill>
          <a:ln w="19050">
            <a:solidFill>
              <a:srgbClr val="69C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5747" y="2670048"/>
            <a:ext cx="651052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000" b="1" i="0">
                <a:solidFill>
                  <a:srgbClr val="69CD2B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YOUR KEY GAPS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419856"/>
            <a:ext cx="8595360" cy="12435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377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INTAKE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Weeks of attorney time a year go to hand-built petitions and affidavits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13944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358895" y="3602736"/>
            <a:ext cx="256032" cy="36576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04032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04032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Post-judgment steps wait for someone to say go, so the firm runs through you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004560" y="3584448"/>
            <a:ext cx="0" cy="932688"/>
          </a:xfrm>
          <a:prstGeom prst="line">
            <a:avLst/>
          </a:prstGeom>
          <a:ln w="9525">
            <a:solidFill>
              <a:srgbClr val="D9E2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224016" y="3602736"/>
            <a:ext cx="256032" cy="36576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69151" y="3675887"/>
            <a:ext cx="2535936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PROFIT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69151" y="3895344"/>
            <a:ext cx="2535936" cy="69494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50" b="0" i="0">
                <a:solidFill>
                  <a:srgbClr val="4A5C6B"/>
                </a:solidFill>
                <a:latin typeface="Poppins"/>
              </a:rPr>
              <a:t>No KPIs and similar work on every file size hide which files earn their keep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FUSSELMAN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Growth Plan: 3 Priorities to Make the Firm Work for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Automate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Paper Work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new-file documents into draft petitions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Pull damages and party roles from the file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Keep lawyer review on the larger files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Save every result to FileVine and the F drive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Get weeks of your year back for trial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9544" y="1005840"/>
            <a:ext cx="2724912" cy="877824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2424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143306"/>
                </a:solidFill>
                <a:latin typeface="Poppins"/>
              </a:rPr>
              <a:t>PRIORITY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2424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1" i="0">
                <a:solidFill>
                  <a:srgbClr val="143306"/>
                </a:solidFill>
                <a:latin typeface="Poppins"/>
              </a:rPr>
              <a:t>Move Judgments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350" b="1" i="0">
                <a:solidFill>
                  <a:srgbClr val="143306"/>
                </a:solidFill>
                <a:latin typeface="Poppins"/>
              </a:rPr>
              <a:t>Forward Automatically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9544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Trigger each post-judgment step on schedule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Lien, writ and sale steps start without a "go"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Screen files by balance and number of parties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Catch form errors before they go out</a:t>
            </a:r>
          </a:p>
          <a:p>
            <a:pPr marL="146304" indent="-146304">
              <a:spcBef>
                <a:spcPts val="600"/>
              </a:spcBef>
              <a:buClr>
                <a:srgbClr val="69CD2B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Stop being the one who starts every step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1005840"/>
            <a:ext cx="2724912" cy="877824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097280"/>
            <a:ext cx="2359152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00" b="1" i="0">
                <a:solidFill>
                  <a:srgbClr val="69CD2B"/>
                </a:solidFill>
                <a:latin typeface="Poppins"/>
              </a:rPr>
              <a:t>PRIORITY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80160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Build Team &amp;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527048"/>
            <a:ext cx="2359152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oppins"/>
              </a:rPr>
              <a:t>Profit Systems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883664"/>
            <a:ext cx="2724912" cy="2743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3" y="2029968"/>
            <a:ext cx="2468880" cy="2505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46304" indent="-146304"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Turn the procedure binder into checklists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Track a short list of KPIs every week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One payment-reporting path, not two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AI seats for all six team members</a:t>
            </a:r>
          </a:p>
          <a:p>
            <a:pPr marL="146304" indent="-146304">
              <a:spcBef>
                <a:spcPts val="600"/>
              </a:spcBef>
              <a:buClr>
                <a:srgbClr val="003A59"/>
              </a:buClr>
              <a:buFont typeface="Arial"/>
              <a:buChar char="•"/>
            </a:pPr>
            <a:r>
              <a:rPr sz="1100">
                <a:solidFill>
                  <a:srgbClr val="1B2A38"/>
                </a:solidFill>
                <a:latin typeface="Poppins"/>
              </a:rPr>
              <a:t>A firm that runs without you in every step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182880"/>
            <a:ext cx="850392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LAW FIRM GROWTH AUDIT  ·  THE FUSSELMAN LAW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384048"/>
            <a:ext cx="8503920" cy="40233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Poppins"/>
              </a:rPr>
              <a:t>Your Investment &amp; What Happens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36576" cy="96012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1556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91C9"/>
                </a:solidFill>
                <a:latin typeface="Poppins"/>
              </a:rPr>
              <a:t>FRACTIONAL CTO — LEVEL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25272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$3,297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4891" y="151942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05177" y="1519428"/>
            <a:ext cx="1919351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$3,797/mo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173736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Monthly 1:1 · Skills · Custom automation · Reports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57400"/>
            <a:ext cx="4041648" cy="9601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36576" cy="96012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" y="2167128"/>
            <a:ext cx="362102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AI WORKFORCE PRO — 6 SEATS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2304288"/>
            <a:ext cx="2377440" cy="530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3000" b="1" i="0">
                <a:solidFill>
                  <a:srgbClr val="003A59"/>
                </a:solidFill>
                <a:latin typeface="Poppins"/>
              </a:rPr>
              <a:t>$1,717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2867" y="2570988"/>
            <a:ext cx="457200" cy="219456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/>
            <a:r>
              <a:rPr sz="1000" b="0" i="0">
                <a:solidFill>
                  <a:srgbClr val="7C8D9B"/>
                </a:solidFill>
                <a:latin typeface="Poppins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13153" y="2570988"/>
            <a:ext cx="2111375" cy="21945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 i="0">
                <a:solidFill>
                  <a:srgbClr val="7C8D9B"/>
                </a:solidFill>
                <a:latin typeface="Poppins"/>
              </a:rPr>
              <a:t>6 seats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2788920"/>
            <a:ext cx="3621024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850" b="0" i="0">
                <a:solidFill>
                  <a:srgbClr val="7C8D9B"/>
                </a:solidFill>
                <a:latin typeface="Poppins"/>
              </a:rPr>
              <a:t>AI workspace for the team · Weekly implementation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108960"/>
            <a:ext cx="4041648" cy="658368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108960"/>
            <a:ext cx="36576" cy="65836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3200400"/>
            <a:ext cx="15544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69CD2B"/>
                </a:solidFill>
                <a:latin typeface="Poppins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346704"/>
            <a:ext cx="21945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oppins"/>
              </a:rPr>
              <a:t>$5,014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2924" y="3460051"/>
            <a:ext cx="2261603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850" b="0" i="0">
                <a:solidFill>
                  <a:srgbClr val="A9D68C"/>
                </a:solidFill>
                <a:latin typeface="Poppins"/>
              </a:rPr>
              <a:t>Save $500/mo by bundling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005840"/>
            <a:ext cx="4297680" cy="1645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50" b="1" i="0">
                <a:solidFill>
                  <a:srgbClr val="003A59"/>
                </a:solidFill>
                <a:latin typeface="Poppins"/>
              </a:rPr>
              <a:t>HOW THIS PLAN ADDRESSES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33502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0016" y="1417320"/>
            <a:ext cx="91440" cy="91440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133502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Too much paper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33502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Monthly fCTO sessions automate document prep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0" y="1883664"/>
            <a:ext cx="4297680" cy="26517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0016" y="196596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188366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Manual follow-up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188366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750" b="0" i="0">
                <a:solidFill>
                  <a:srgbClr val="4A5C6B"/>
                </a:solidFill>
                <a:latin typeface="Poppins"/>
              </a:rPr>
              <a:t>Custom automations work toward self-moving steps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432304"/>
            <a:ext cx="4297680" cy="265176"/>
          </a:xfrm>
          <a:prstGeom prst="rect">
            <a:avLst/>
          </a:prstGeom>
          <a:solidFill>
            <a:srgbClr val="EEF2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00016" y="2514600"/>
            <a:ext cx="91440" cy="91440"/>
          </a:xfrm>
          <a:prstGeom prst="rect">
            <a:avLst/>
          </a:prstGeom>
          <a:solidFill>
            <a:srgbClr val="0091C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432304"/>
            <a:ext cx="114300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1" i="0">
                <a:solidFill>
                  <a:srgbClr val="003A59"/>
                </a:solidFill>
                <a:latin typeface="Poppins"/>
              </a:rPr>
              <a:t>Two systems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2432304"/>
            <a:ext cx="2926080" cy="2651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800" b="0" i="0">
                <a:solidFill>
                  <a:srgbClr val="4A5C6B"/>
                </a:solidFill>
                <a:latin typeface="Poppins"/>
              </a:rPr>
              <a:t>Routing to FileVine and F drive mapped first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4261104"/>
            <a:ext cx="9144000" cy="557784"/>
          </a:xfrm>
          <a:prstGeom prst="rect">
            <a:avLst/>
          </a:prstGeom>
          <a:solidFill>
            <a:srgbClr val="002A4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261104"/>
            <a:ext cx="9144000" cy="18288"/>
          </a:xfrm>
          <a:prstGeom prst="rect">
            <a:avLst/>
          </a:prstGeom>
          <a:solidFill>
            <a:srgbClr val="69CD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297680"/>
            <a:ext cx="7863840" cy="49377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50" b="0" i="0">
                <a:solidFill>
                  <a:srgbClr val="C2D8E6"/>
                </a:solidFill>
                <a:latin typeface="Poppins"/>
              </a:rPr>
              <a:t>"The firm works for me, so my time goes to negotiating, depositions and trial."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03A5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873752"/>
            <a:ext cx="941832" cy="19202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4892040"/>
            <a:ext cx="493776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700" b="0" i="0">
                <a:solidFill>
                  <a:srgbClr val="8FB2C6"/>
                </a:solidFill>
                <a:latin typeface="Poppins"/>
              </a:rPr>
              <a:t>CONFIDENTIAL  ·  PREPARED BY JACOB MEISSNER | SMB 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0" y="4892040"/>
            <a:ext cx="118872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700" b="0" i="0">
                <a:solidFill>
                  <a:srgbClr val="8FB2C6"/>
                </a:solidFill>
                <a:latin typeface="Poppins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