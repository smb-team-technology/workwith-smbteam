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JASON BREIT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63093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Jason Breit Law Stands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4848" y="164592"/>
            <a:ext cx="2066543" cy="512064"/>
          </a:xfrm>
          <a:prstGeom prst="rect">
            <a:avLst/>
          </a:prstGeom>
          <a:solidFill>
            <a:srgbClr val="0B4C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210312"/>
            <a:ext cx="38404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775" y="274320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69CD2B"/>
                </a:solidFill>
                <a:latin typeface="Poppins"/>
              </a:rPr>
              <a:t>COMPETITIVE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429768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9CC0D6"/>
                </a:solidFill>
                <a:latin typeface="Poppins"/>
              </a:rPr>
              <a:t>Score out of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3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Lead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3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3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Paid ads not observed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0592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0592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Intake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96896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No homepage 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36008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2312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Roles not yet reviewed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4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Profit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8584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4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Client cost unknown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01168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KEY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267712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267712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9768" y="2459736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2386584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No paid search or social channel was observed bringing in consultations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889504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889504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" y="3081528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3008376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Mobile site scores 43/100, so phone visitors may leave before booking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511296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3511296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9768" y="3703320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5800" y="3630168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Nearby firms promote large review totals while the firm's is unverified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33087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4133087"/>
            <a:ext cx="36576" cy="557784"/>
          </a:xfrm>
          <a:prstGeom prst="rect">
            <a:avLst/>
          </a:prstGeom>
          <a:solidFill>
            <a:srgbClr val="3F8F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9768" y="4325112"/>
            <a:ext cx="164592" cy="164592"/>
          </a:xfrm>
          <a:prstGeom prst="roundRect">
            <a:avLst/>
          </a:prstGeom>
          <a:solidFill>
            <a:srgbClr val="3F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65978" y="4415637"/>
            <a:ext cx="32918" cy="31273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8896" y="4367905"/>
            <a:ext cx="62545" cy="79005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800" y="4251959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Strong credentials, fixed fees, and a free-consult offer build trust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28032" y="2011680"/>
            <a:ext cx="4041648" cy="67665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28032" y="2011680"/>
            <a:ext cx="36576" cy="67665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2130552"/>
            <a:ext cx="3675887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10912" y="2322576"/>
            <a:ext cx="3675887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8032" y="2871216"/>
            <a:ext cx="40416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COMPETITOR LANDSCAPE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28032" y="3127248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92624" y="3127248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Davidov Law Group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3127248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Promotes large review base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8431" y="3127248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New Hyde Park · husband-wife team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28032" y="3529584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92624" y="3529584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Ettinger Law Firm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38544" y="3529584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Shows rating on own site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8431" y="3529584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Melville · 12 NY locations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28032" y="3931920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2624" y="3931920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Elder Attorney Long Island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38544" y="3931920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Review count unverified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28431" y="3931920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Melville · 30+ yrs elder law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28032" y="4334256"/>
            <a:ext cx="4041648" cy="356616"/>
          </a:xfrm>
          <a:prstGeom prst="rect">
            <a:avLst/>
          </a:prstGeom>
          <a:solidFill>
            <a:srgbClr val="FB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828032" y="4334256"/>
            <a:ext cx="36576" cy="35661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92624" y="4334256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B32D2D"/>
                </a:solidFill>
                <a:latin typeface="Poppins"/>
              </a:rPr>
              <a:t>Jason Breit Law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38544" y="4334256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B32D2D"/>
                </a:solidFill>
                <a:latin typeface="Poppins"/>
              </a:rPr>
              <a:t>Google count not verified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8431" y="4334256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← You are here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JASON BREIT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for Predictable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12848" cy="228600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12848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84708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847088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B8CDDD"/>
                </a:solidFill>
                <a:latin typeface="Poppins"/>
              </a:rPr>
              <a:t>All four pillars must work together: leads, intake, team, and profit. When all four work, Jason can grow the firm on his own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56432"/>
            <a:ext cx="2212848" cy="1124712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21024"/>
            <a:ext cx="184708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43306"/>
                </a:solidFill>
                <a:latin typeface="Poppins"/>
              </a:rPr>
              <a:t>A steady flow of consultations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7"/>
            <a:ext cx="18470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F470C"/>
                </a:solidFill>
                <a:latin typeface="Poppins"/>
              </a:rPr>
              <a:t>Grow your firm on your own terms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005840"/>
            <a:ext cx="2066543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Launch 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Paid Ads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865376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2093976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Google Ads for estate planning and elder law searches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6352" y="265176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Facebook and Instagram retargeting for site visitors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971800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6352" y="320040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Speed up the mobile site so ad clicks convert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16352" y="3749039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Monthly reports on leads and cost per lead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4078224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16352" y="4306824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Turn Google into a client pipeline that runs for you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1005840"/>
            <a:ext cx="2066543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143306"/>
                </a:solidFill>
                <a:latin typeface="Poppin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Convert More Leads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1865376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92624" y="2093976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a short inquiry form to the homepage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2624" y="265176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48072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Capture after-hours inquiries for next-day follow-up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2971800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92624" y="320040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2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Build a follow-up plan for undecided consultations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92624" y="3749039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Track which source each signed client came from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078224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92624" y="4306824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8072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Ask every happy client for a Google review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22592" y="1005840"/>
            <a:ext cx="2066543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87183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3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7183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22592" y="1865376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68896" y="2093976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24344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Write down roles and handoffs for each plan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22592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68896" y="265176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24344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Map the path from consultation to signed plan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22592" y="2971800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68896" y="320040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24344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Track cost per signed client by channel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22592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8896" y="3749039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24344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Track time per plan to protect fixed-fee margins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22592" y="4078224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68896" y="4306824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24344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Build a firm that grows without your every hour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JASON BREIT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4300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PAID ADS ESSENTIALS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33502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$1,997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3619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3619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78308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Google Ads · Facebook &amp; Instagram Ads · Monthly reporting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246120"/>
            <a:ext cx="15544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429000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$1,997 /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493008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Management fee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Ad spend: $4,500–$6,000/mo — reach Nassau and Suffolk estate planning families 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$1,500–$3,000 (default est.)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Conservative  (~5–6 cases/mo):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~$8.4–16.9K · 1.9–3.7×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(~10 cases/mo):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~$15.0–30.1K · 2.5–5.0× ROAS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WE FOUND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2784348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No paid ads seen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2784348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Managed Google + Meta campaigns with reporting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4" y="3131820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Rivals' reviews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5584" y="3131820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Credential-led campaigns plus retargeting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184" y="3479292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Slow mobile page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479292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Reporting shows where visitors drop off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407408"/>
            <a:ext cx="7863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right families find you first, every month — and the firm grows on your terms."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