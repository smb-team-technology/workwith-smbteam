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LAW OFFICES OF ROBERT BERGMAN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63093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Law Offices of Robert Bergman Stands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4848" y="164592"/>
            <a:ext cx="2066543" cy="512064"/>
          </a:xfrm>
          <a:prstGeom prst="rect">
            <a:avLst/>
          </a:prstGeom>
          <a:solidFill>
            <a:srgbClr val="0B4C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31152" y="210312"/>
            <a:ext cx="38404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775" y="274320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69CD2B"/>
                </a:solidFill>
                <a:latin typeface="Poppins"/>
              </a:rPr>
              <a:t>COMPETITIVE 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5" y="429768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9CC0D6"/>
                </a:solidFill>
                <a:latin typeface="Poppins"/>
              </a:rPr>
              <a:t>Score out of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3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Lead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3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3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3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Mobile speed 34/100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0592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0592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Intake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96896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6896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One way to 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36008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Team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2312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Runs through one person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8584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Profit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58584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8584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4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Numbers not yet shared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011680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KEY FINDINGS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267712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2267712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9768" y="2459736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2386584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Phone visitors may leave before the site loads: mobile score is 34/100.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889504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2889504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9768" y="3081528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5800" y="3008376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The practice runs through one person, so growth means more of his hours.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511296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3511296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29768" y="3703320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85800" y="3630168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Families have one way to act: a scheduling button and no contact form.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133087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4133087"/>
            <a:ext cx="36576" cy="557784"/>
          </a:xfrm>
          <a:prstGeom prst="rect">
            <a:avLst/>
          </a:prstGeom>
          <a:solidFill>
            <a:srgbClr val="3F8F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29768" y="4325112"/>
            <a:ext cx="164592" cy="164592"/>
          </a:xfrm>
          <a:prstGeom prst="roundRect">
            <a:avLst/>
          </a:prstGeom>
          <a:solidFill>
            <a:srgbClr val="3F8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65978" y="4415637"/>
            <a:ext cx="32918" cy="31273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98896" y="4367905"/>
            <a:ext cx="62545" cy="79005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85800" y="4251959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A Certified Specialist credential and daily articles are strong trust signals.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28032" y="2011680"/>
            <a:ext cx="4041648" cy="67665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28032" y="2011680"/>
            <a:ext cx="36576" cy="67665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2130552"/>
            <a:ext cx="3675887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10912" y="2322576"/>
            <a:ext cx="3675887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28032" y="2871216"/>
            <a:ext cx="40416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COMPETITOR LANDSCAPE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28032" y="3127248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92624" y="3127248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Cheri E. Michaelis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38544" y="3127248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Large review base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28431" y="3127248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Estate, trust, special needs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28032" y="3529584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92624" y="3529584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Tree of Life Law Firm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38544" y="3529584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Directory reviews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28431" y="3529584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Fixed pricing, free consults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28032" y="3931920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92624" y="3931920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Cross Estate Planning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38544" y="3931920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Directory reviews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28431" y="3931920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Cupertino, serves San Jose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28032" y="4334256"/>
            <a:ext cx="4041648" cy="356616"/>
          </a:xfrm>
          <a:prstGeom prst="rect">
            <a:avLst/>
          </a:prstGeom>
          <a:solidFill>
            <a:srgbClr val="FBEE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828032" y="4334256"/>
            <a:ext cx="36576" cy="35661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92624" y="4334256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B32D2D"/>
                </a:solidFill>
                <a:latin typeface="Poppins"/>
              </a:rPr>
              <a:t>Law Offices of Robert Bergman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38544" y="4334256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B32D2D"/>
                </a:solidFill>
                <a:latin typeface="Poppins"/>
              </a:rPr>
              <a:t>Not yet verified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28431" y="4334256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← You are here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LAW OFFICES OF ROBERT BERGMAN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Put AI to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12848" cy="228600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212848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84708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847088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B8CDDD"/>
                </a:solidFill>
                <a:latin typeface="Poppins"/>
              </a:rPr>
              <a:t>Lead generation, intake, a self-managing team, and profit all have to work together. When they do, Robert can spend his time on the clients and legal work only he can 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56432"/>
            <a:ext cx="2212848" cy="1124712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21024"/>
            <a:ext cx="184708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43306"/>
                </a:solidFill>
                <a:latin typeface="Poppins"/>
              </a:rPr>
              <a:t>A practice that scales past one person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33087"/>
            <a:ext cx="18470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F470C"/>
                </a:solidFill>
                <a:latin typeface="Poppins"/>
              </a:rPr>
              <a:t>More time for work only you can 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005840"/>
            <a:ext cx="2066543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Put AI to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 Your Practice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0048" y="1865376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2093976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Name a Fractional CTO to lead your AI rollout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6352" y="265176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Deploy first law-firm AI skills from the library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2971800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6352" y="320040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Give you a law-firm-ready AI workspace to start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16352" y="3749039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Build one custom automation each month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0048" y="4078224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16352" y="4306824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Free hours for the work only you can 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1005840"/>
            <a:ext cx="2066543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143306"/>
                </a:solidFill>
                <a:latin typeface="Poppin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1865376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92624" y="2093976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48072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Add a short contact form beside the booking button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92624" y="265176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48072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Make the mobile site load fast for phone visitors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2971800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92624" y="320040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48072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Automate a follow-up for inquiries that don't book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92624" y="3749039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48072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Track where each inquiry comes from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078224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92624" y="4306824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48072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Never lose a family to a slow reply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22592" y="1005840"/>
            <a:ext cx="2066543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87183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87183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87183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22592" y="1865376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68896" y="2093976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24344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List which tasks truly need you and which don't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22592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68896" y="265176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24344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Move repeatable work to documented AI skills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22592" y="2971800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68896" y="320040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24344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Get a monthly report on what is automated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22592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8896" y="3749039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24344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Review profit per matter as numbers come in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22592" y="4078224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68896" y="4306824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24344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Step back without the practice stalling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LAW OFFICES OF ROBERT BERGMAN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143000"/>
            <a:ext cx="358444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FRACTIONAL CTO — LEVEL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335024"/>
            <a:ext cx="1737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$3,297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536192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536192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$3,797/mo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783080"/>
            <a:ext cx="3584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Monthly 1:1s · AI skills · Custom automation · Reports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194560"/>
            <a:ext cx="358444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AI WORKFORCE PRO – 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386584"/>
            <a:ext cx="1737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587752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587752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1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2834640"/>
            <a:ext cx="3584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Law-firm AI workspace · Weekly implementation session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246120"/>
            <a:ext cx="15544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429000"/>
            <a:ext cx="2011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$3,647 /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493008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$500/mo by bundling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WE FOUND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4" y="1385316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One-person firm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5584" y="1385316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Fractional CTO moves repeatable work to 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1184" y="1933956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 follow-up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1933956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Monthly custom automation for follow-up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01184" y="2482596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Time visibility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15584" y="2482596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Monthly report shows what is automated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407408"/>
            <a:ext cx="7863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"Your expertise stays at the center of every client plan, and the repeatable work around it is handled for you."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