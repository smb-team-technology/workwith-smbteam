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69CD2B"/>
                </a:solidFill>
                <a:latin typeface="Poppins"/>
              </a:rPr>
              <a:t>LAW FIRM GROWTH AUDIT  ·  PRENDAMANO TAX RESOLUTION &amp; STATE TAX ADVISORY</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Poppins"/>
              </a:rPr>
              <a:t>Where Prendamano Tax Resolution &amp; State Tax Advisory Stands Today</a:t>
            </a:r>
          </a:p>
        </p:txBody>
      </p:sp>
      <p:sp>
        <p:nvSpPr>
          <p:cNvPr id="5" name="Rectangle 4"/>
          <p:cNvSpPr/>
          <p:nvPr/>
        </p:nvSpPr>
        <p:spPr>
          <a:xfrm>
            <a:off x="0" y="960120"/>
            <a:ext cx="146304" cy="3867912"/>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Poppins"/>
              </a:rPr>
              <a:t>6</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Poppins"/>
              </a:rPr>
              <a:t>COMPETITIVE URGENCY</a:t>
            </a:r>
          </a:p>
        </p:txBody>
      </p:sp>
      <p:sp>
        <p:nvSpPr>
          <p:cNvPr id="9" name="Rectangle 8"/>
          <p:cNvSpPr/>
          <p:nvPr/>
        </p:nvSpPr>
        <p:spPr>
          <a:xfrm>
            <a:off x="1682496"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26587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Poppins"/>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C0392B"/>
                </a:solidFill>
                <a:latin typeface="Poppins"/>
              </a:rPr>
              <a:t>CRITICAL</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Poppins"/>
              </a:rPr>
              <a:t>$4.2K/mo, 1 client</a:t>
            </a:r>
          </a:p>
        </p:txBody>
      </p:sp>
      <p:sp>
        <p:nvSpPr>
          <p:cNvPr id="14" name="Rectangle 13"/>
          <p:cNvSpPr/>
          <p:nvPr/>
        </p:nvSpPr>
        <p:spPr>
          <a:xfrm>
            <a:off x="2542032"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26587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Poppins"/>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C0392B"/>
                </a:solidFill>
                <a:latin typeface="Poppins"/>
              </a:rPr>
              <a:t>CRITICAL</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Poppins"/>
              </a:rPr>
              <a:t>No delegation</a:t>
            </a:r>
          </a:p>
        </p:txBody>
      </p:sp>
      <p:sp>
        <p:nvSpPr>
          <p:cNvPr id="19" name="Rectangle 18"/>
          <p:cNvSpPr/>
          <p:nvPr/>
        </p:nvSpPr>
        <p:spPr>
          <a:xfrm>
            <a:off x="3401568"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26587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Poppins"/>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C0392B"/>
                </a:solidFill>
                <a:latin typeface="Poppins"/>
              </a:rPr>
              <a:t>CRITICAL</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Poppins"/>
              </a:rPr>
              <a:t>Solo, no staff</a:t>
            </a:r>
          </a:p>
        </p:txBody>
      </p:sp>
      <p:sp>
        <p:nvSpPr>
          <p:cNvPr id="24" name="Rectangle 23"/>
          <p:cNvSpPr/>
          <p:nvPr/>
        </p:nvSpPr>
        <p:spPr>
          <a:xfrm>
            <a:off x="4261104"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26587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Poppins"/>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C0392B"/>
                </a:solidFill>
                <a:latin typeface="Poppins"/>
              </a:rPr>
              <a:t>CRITICAL</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Poppins"/>
              </a:rPr>
              <a:t>Barely breaks even</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69CD2B"/>
                </a:solidFill>
                <a:latin typeface="Poppins"/>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Poppins"/>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Poppins"/>
              </a:rPr>
              <a:t>$4,200/mo in marketing has produced one signed client since launch</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Poppins"/>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Poppins"/>
              </a:rPr>
              <a:t>Zero Google Ads, GBP, or LSA presence despite high-intent IRS searches</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Poppins"/>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Poppins"/>
              </a:rPr>
              <a:t>No team — Jennifer personally handles every intake call herself</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Poppins"/>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Poppins"/>
              </a:rPr>
              <a:t>26+ years of experience and an active weekly blog build real credibility</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69CD2B"/>
                </a:solidFill>
                <a:latin typeface="Poppins"/>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Poppins"/>
              </a:rPr>
              <a:t>Stage 3: Solo Practitioner  →  Goal: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Poppins"/>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Poppins"/>
              </a:rPr>
              <a:t>Tenenbaum Law, P.C.</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Poppins"/>
              </a:rPr>
              <a:t>Established</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Poppins"/>
              </a:rPr>
              <a:t>Same city · 25+ yrs</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Poppins"/>
              </a:rPr>
              <a:t>Long Island Tax Resolution Svcs.</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Poppins"/>
              </a:rPr>
              <a:t>Established</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Poppins"/>
              </a:rPr>
              <a:t>Direct niche match</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Poppins"/>
              </a:rPr>
              <a:t>J. David Tax Law</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Poppins"/>
              </a:rPr>
              <a:t>Established</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Poppins"/>
              </a:rPr>
              <a:t>Multi-state brand</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Poppins"/>
              </a:rPr>
              <a:t>Prendamano Tax Resolution &amp; State Tax Advisory</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Poppins"/>
              </a:rPr>
              <a:t>New firm</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Poppins"/>
              </a:rPr>
              <a:t>← You are here</a:t>
            </a:r>
          </a:p>
        </p:txBody>
      </p:sp>
      <p:sp>
        <p:nvSpPr>
          <p:cNvPr id="69" name="Rectangle 68"/>
          <p:cNvSpPr/>
          <p:nvPr/>
        </p:nvSpPr>
        <p:spPr>
          <a:xfrm>
            <a:off x="0" y="4828032"/>
            <a:ext cx="9144000" cy="3200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Poppins"/>
              </a:rPr>
              <a:t>CONFIDENTIAL  ·  Prepared by Nick Holderman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Poppins"/>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69CD2B"/>
                </a:solidFill>
                <a:latin typeface="Poppins"/>
              </a:rPr>
              <a:t>LAW FIRM GROWTH AUDIT  ·  PRENDAMANO TAX RESOLUTION &amp; STATE TAX ADVISORY</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Poppins"/>
              </a:rPr>
              <a:t>Your Growth Plan: 3 Priorities to Reach $50,000/Month</a:t>
            </a:r>
          </a:p>
        </p:txBody>
      </p:sp>
      <p:sp>
        <p:nvSpPr>
          <p:cNvPr id="5" name="Rectangle 4"/>
          <p:cNvSpPr/>
          <p:nvPr/>
        </p:nvSpPr>
        <p:spPr>
          <a:xfrm>
            <a:off x="182880" y="1024128"/>
            <a:ext cx="2487168" cy="363931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69CD2B"/>
                </a:solidFill>
                <a:latin typeface="Poppins"/>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Poppins"/>
              </a:rPr>
              <a:t>All four pillars — marketing, intake, team, and profit — have to work together. Right now marketing spend is going out faster than it comes back. When all four pillars work, Jennifer can finally step back and build the firm she's working toward.</a:t>
            </a:r>
          </a:p>
        </p:txBody>
      </p:sp>
      <p:sp>
        <p:nvSpPr>
          <p:cNvPr id="9" name="Rectangle 8"/>
          <p:cNvSpPr/>
          <p:nvPr/>
        </p:nvSpPr>
        <p:spPr>
          <a:xfrm>
            <a:off x="182880" y="2999232"/>
            <a:ext cx="2487168" cy="749808"/>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03A59"/>
                </a:solidFill>
                <a:latin typeface="Poppins"/>
              </a:rPr>
              <a:t>Today → $50,000/mo</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03A59"/>
                </a:solidFill>
                <a:latin typeface="Poppins"/>
              </a:rPr>
              <a:t>A firm that runs itself and pays for college</a:t>
            </a:r>
          </a:p>
        </p:txBody>
      </p:sp>
      <p:sp>
        <p:nvSpPr>
          <p:cNvPr id="12" name="Rectangle 11"/>
          <p:cNvSpPr/>
          <p:nvPr/>
        </p:nvSpPr>
        <p:spPr>
          <a:xfrm>
            <a:off x="2816352" y="1024128"/>
            <a:ext cx="2048256" cy="841248"/>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Poppins"/>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Poppins"/>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Poppins"/>
              </a:rPr>
              <a:t>Marketing Engine</a:t>
            </a:r>
          </a:p>
        </p:txBody>
      </p:sp>
      <p:sp>
        <p:nvSpPr>
          <p:cNvPr id="16" name="Rectangle 15"/>
          <p:cNvSpPr/>
          <p:nvPr/>
        </p:nvSpPr>
        <p:spPr>
          <a:xfrm>
            <a:off x="2816352" y="1865376"/>
            <a:ext cx="2048256" cy="566928"/>
          </a:xfrm>
          <a:prstGeom prst="rect">
            <a:avLst/>
          </a:prstGeom>
          <a:solidFill>
            <a:srgbClr val="E3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Poppins"/>
              </a:rPr>
              <a:t>Launch Google Ads for IRS tax searches</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Poppins"/>
              </a:rPr>
              <a:t>Claim &amp; optimize Google Business Profile</a:t>
            </a:r>
          </a:p>
        </p:txBody>
      </p:sp>
      <p:sp>
        <p:nvSpPr>
          <p:cNvPr id="22" name="Rectangle 21"/>
          <p:cNvSpPr/>
          <p:nvPr/>
        </p:nvSpPr>
        <p:spPr>
          <a:xfrm>
            <a:off x="2816352" y="3072384"/>
            <a:ext cx="2048256" cy="566928"/>
          </a:xfrm>
          <a:prstGeom prst="rect">
            <a:avLst/>
          </a:prstGeom>
          <a:solidFill>
            <a:srgbClr val="E3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Poppins"/>
              </a:rPr>
              <a:t>Set up Local Service Ads, Google Screened</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Poppins"/>
              </a:rPr>
              <a:t>Fix Facebook targeting once Google is live</a:t>
            </a:r>
          </a:p>
        </p:txBody>
      </p:sp>
      <p:sp>
        <p:nvSpPr>
          <p:cNvPr id="28" name="Rectangle 27"/>
          <p:cNvSpPr/>
          <p:nvPr/>
        </p:nvSpPr>
        <p:spPr>
          <a:xfrm>
            <a:off x="2816352" y="4279392"/>
            <a:ext cx="2048256" cy="566928"/>
          </a:xfrm>
          <a:prstGeom prst="rect">
            <a:avLst/>
          </a:prstGeom>
          <a:solidFill>
            <a:srgbClr val="E3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Poppins"/>
              </a:rPr>
              <a:t>Turn Google into a pipeline that runs itself</a:t>
            </a:r>
          </a:p>
        </p:txBody>
      </p:sp>
      <p:sp>
        <p:nvSpPr>
          <p:cNvPr id="31" name="Rectangle 30"/>
          <p:cNvSpPr/>
          <p:nvPr/>
        </p:nvSpPr>
        <p:spPr>
          <a:xfrm>
            <a:off x="4937760" y="1024128"/>
            <a:ext cx="2048256" cy="841248"/>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003A59"/>
                </a:solidFill>
                <a:latin typeface="Poppins"/>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003A59"/>
                </a:solidFill>
                <a:latin typeface="Poppins"/>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003A59"/>
                </a:solidFill>
                <a:latin typeface="Poppins"/>
              </a:rPr>
              <a:t>Stop Losing Cases</a:t>
            </a:r>
          </a:p>
        </p:txBody>
      </p:sp>
      <p:sp>
        <p:nvSpPr>
          <p:cNvPr id="35" name="Rectangle 34"/>
          <p:cNvSpPr/>
          <p:nvPr/>
        </p:nvSpPr>
        <p:spPr>
          <a:xfrm>
            <a:off x="4937760" y="1865376"/>
            <a:ext cx="2048256" cy="566928"/>
          </a:xfrm>
          <a:prstGeom prst="rect">
            <a:avLst/>
          </a:prstGeom>
          <a:solidFill>
            <a:srgbClr val="EDF9E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Poppins"/>
              </a:rPr>
              <a:t>Move contact form onto the homepage</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Poppins"/>
              </a:rPr>
              <a:t>Fix two wrong phone numbers on site</a:t>
            </a:r>
          </a:p>
        </p:txBody>
      </p:sp>
      <p:sp>
        <p:nvSpPr>
          <p:cNvPr id="41" name="Rectangle 40"/>
          <p:cNvSpPr/>
          <p:nvPr/>
        </p:nvSpPr>
        <p:spPr>
          <a:xfrm>
            <a:off x="4937760" y="3072384"/>
            <a:ext cx="2048256" cy="566928"/>
          </a:xfrm>
          <a:prstGeom prst="rect">
            <a:avLst/>
          </a:prstGeom>
          <a:solidFill>
            <a:srgbClr val="EDF9E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Poppins"/>
              </a:rPr>
              <a:t>Build a follow-up sequence for every lead</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Poppins"/>
              </a:rPr>
              <a:t>Add after-hours coverage for urgent calls</a:t>
            </a:r>
          </a:p>
        </p:txBody>
      </p:sp>
      <p:sp>
        <p:nvSpPr>
          <p:cNvPr id="47" name="Rectangle 46"/>
          <p:cNvSpPr/>
          <p:nvPr/>
        </p:nvSpPr>
        <p:spPr>
          <a:xfrm>
            <a:off x="4937760" y="4279392"/>
            <a:ext cx="2048256" cy="566928"/>
          </a:xfrm>
          <a:prstGeom prst="rect">
            <a:avLst/>
          </a:prstGeom>
          <a:solidFill>
            <a:srgbClr val="EDF9E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Poppins"/>
              </a:rPr>
              <a:t>Stop losing the leads you already paid for</a:t>
            </a:r>
          </a:p>
        </p:txBody>
      </p:sp>
      <p:sp>
        <p:nvSpPr>
          <p:cNvPr id="50" name="Rectangle 49"/>
          <p:cNvSpPr/>
          <p:nvPr/>
        </p:nvSpPr>
        <p:spPr>
          <a:xfrm>
            <a:off x="7059168" y="1024128"/>
            <a:ext cx="2048256" cy="841248"/>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Poppins"/>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Poppins"/>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Poppins"/>
              </a:rPr>
              <a:t>Profit Systems</a:t>
            </a:r>
          </a:p>
        </p:txBody>
      </p:sp>
      <p:sp>
        <p:nvSpPr>
          <p:cNvPr id="54" name="Rectangle 53"/>
          <p:cNvSpPr/>
          <p:nvPr/>
        </p:nvSpPr>
        <p:spPr>
          <a:xfrm>
            <a:off x="7059168" y="1865376"/>
            <a:ext cx="2048256" cy="566928"/>
          </a:xfrm>
          <a:prstGeom prst="rect">
            <a:avLst/>
          </a:prstGeom>
          <a:solidFill>
            <a:srgbClr val="E0E7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Poppins"/>
              </a:rPr>
              <a:t>Track cost per client on every dollar spent</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Poppins"/>
              </a:rPr>
              <a:t>Build a delegated intake process</a:t>
            </a:r>
          </a:p>
        </p:txBody>
      </p:sp>
      <p:sp>
        <p:nvSpPr>
          <p:cNvPr id="60" name="Rectangle 59"/>
          <p:cNvSpPr/>
          <p:nvPr/>
        </p:nvSpPr>
        <p:spPr>
          <a:xfrm>
            <a:off x="7059168" y="3072384"/>
            <a:ext cx="2048256" cy="566928"/>
          </a:xfrm>
          <a:prstGeom prst="rect">
            <a:avLst/>
          </a:prstGeom>
          <a:solidFill>
            <a:srgbClr val="E0E7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Poppins"/>
              </a:rPr>
              <a:t>Set up conversion tracking on all ad spend</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Poppins"/>
              </a:rPr>
              <a:t>Plan margins instead of discovering them later</a:t>
            </a:r>
          </a:p>
        </p:txBody>
      </p:sp>
      <p:sp>
        <p:nvSpPr>
          <p:cNvPr id="66" name="Rectangle 65"/>
          <p:cNvSpPr/>
          <p:nvPr/>
        </p:nvSpPr>
        <p:spPr>
          <a:xfrm>
            <a:off x="7059168" y="4279392"/>
            <a:ext cx="2048256" cy="566928"/>
          </a:xfrm>
          <a:prstGeom prst="rect">
            <a:avLst/>
          </a:prstGeom>
          <a:solidFill>
            <a:srgbClr val="E0E7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Poppins"/>
              </a:rPr>
              <a:t>Free your time for casework, not marketing</a:t>
            </a:r>
          </a:p>
        </p:txBody>
      </p:sp>
      <p:sp>
        <p:nvSpPr>
          <p:cNvPr id="69" name="Rectangle 68"/>
          <p:cNvSpPr/>
          <p:nvPr/>
        </p:nvSpPr>
        <p:spPr>
          <a:xfrm>
            <a:off x="0" y="4828032"/>
            <a:ext cx="9144000" cy="3200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Poppins"/>
              </a:rPr>
              <a:t>CONFIDENTIAL  ·  Prepared by Nick Holderman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Poppins"/>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69CD2B"/>
                </a:solidFill>
                <a:latin typeface="Poppins"/>
              </a:rPr>
              <a:t>LAW FIRM GROWTH AUDIT  ·  PRENDAMANO TAX RESOLUTION &amp; STATE TAX ADVISORY</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Poppins"/>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0091C9"/>
                </a:solidFill>
                <a:latin typeface="Poppins"/>
              </a:rPr>
              <a:t>FULL SERVICE MARKETING — ESSENTIALS</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03A59"/>
                </a:solidFill>
                <a:latin typeface="Poppins"/>
              </a:rPr>
              <a:t>$3,797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Poppins"/>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Poppins"/>
              </a:rPr>
              <a:t>$3,797/mo</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Poppins"/>
              </a:rPr>
              <a:t>Google Ads · GBP · LSA · Website Conversion Fixes</a:t>
            </a:r>
          </a:p>
        </p:txBody>
      </p:sp>
      <p:sp>
        <p:nvSpPr>
          <p:cNvPr id="13" name="Rectangle 12"/>
          <p:cNvSpPr/>
          <p:nvPr/>
        </p:nvSpPr>
        <p:spPr>
          <a:xfrm>
            <a:off x="201168" y="3255264"/>
            <a:ext cx="4133087" cy="658368"/>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048" y="3291840"/>
            <a:ext cx="1645920" cy="237744"/>
          </a:xfrm>
          <a:prstGeom prst="rect">
            <a:avLst/>
          </a:prstGeom>
          <a:noFill/>
        </p:spPr>
        <p:txBody>
          <a:bodyPr wrap="square"/>
          <a:lstStyle/>
          <a:p>
            <a:pPr algn="l"/>
            <a:r>
              <a:rPr sz="800" b="1" i="0">
                <a:solidFill>
                  <a:srgbClr val="7CA0C0"/>
                </a:solidFill>
                <a:latin typeface="Poppins"/>
              </a:rPr>
              <a:t>BUNDLE TOTAL</a:t>
            </a:r>
          </a:p>
        </p:txBody>
      </p:sp>
      <p:sp>
        <p:nvSpPr>
          <p:cNvPr id="15" name="TextBox 14"/>
          <p:cNvSpPr txBox="1"/>
          <p:nvPr/>
        </p:nvSpPr>
        <p:spPr>
          <a:xfrm>
            <a:off x="384048" y="3493008"/>
            <a:ext cx="2194560" cy="347472"/>
          </a:xfrm>
          <a:prstGeom prst="rect">
            <a:avLst/>
          </a:prstGeom>
          <a:noFill/>
        </p:spPr>
        <p:txBody>
          <a:bodyPr wrap="square"/>
          <a:lstStyle/>
          <a:p>
            <a:pPr algn="l"/>
            <a:r>
              <a:rPr sz="2200" b="1" i="0">
                <a:solidFill>
                  <a:srgbClr val="0091C9"/>
                </a:solidFill>
                <a:latin typeface="Poppins"/>
              </a:rPr>
              <a:t>$3,797 / mo</a:t>
            </a:r>
          </a:p>
        </p:txBody>
      </p:sp>
      <p:sp>
        <p:nvSpPr>
          <p:cNvPr id="16" name="TextBox 15"/>
          <p:cNvSpPr txBox="1"/>
          <p:nvPr/>
        </p:nvSpPr>
        <p:spPr>
          <a:xfrm>
            <a:off x="2670048" y="3493008"/>
            <a:ext cx="1737360" cy="347472"/>
          </a:xfrm>
          <a:prstGeom prst="rect">
            <a:avLst/>
          </a:prstGeom>
          <a:noFill/>
        </p:spPr>
        <p:txBody>
          <a:bodyPr wrap="square"/>
          <a:lstStyle/>
          <a:p>
            <a:pPr algn="l"/>
            <a:r>
              <a:rPr sz="800" b="0" i="0">
                <a:solidFill>
                  <a:srgbClr val="7CA0C0"/>
                </a:solidFill>
                <a:latin typeface="Poppins"/>
              </a:rPr>
              <a:t>Quoted standalone at full retail — no bundle discount</a:t>
            </a:r>
          </a:p>
        </p:txBody>
      </p:sp>
      <p:sp>
        <p:nvSpPr>
          <p:cNvPr id="17" name="Rectangle 16"/>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9184" y="3995928"/>
            <a:ext cx="3931920" cy="347472"/>
          </a:xfrm>
          <a:prstGeom prst="rect">
            <a:avLst/>
          </a:prstGeom>
          <a:noFill/>
        </p:spPr>
        <p:txBody>
          <a:bodyPr wrap="square"/>
          <a:lstStyle/>
          <a:p>
            <a:pPr algn="l"/>
            <a:r>
              <a:rPr sz="800" b="0" i="0">
                <a:solidFill>
                  <a:srgbClr val="64748B"/>
                </a:solidFill>
                <a:latin typeface="Poppins"/>
              </a:rPr>
              <a:t>+ Recommended ad spend: $3,000–$5,000/mo paid directly to Google/LSA</a:t>
            </a:r>
          </a:p>
        </p:txBody>
      </p:sp>
      <p:sp>
        <p:nvSpPr>
          <p:cNvPr id="19" name="Rectangle 18"/>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00016" y="1078992"/>
            <a:ext cx="4133087" cy="219456"/>
          </a:xfrm>
          <a:prstGeom prst="rect">
            <a:avLst/>
          </a:prstGeom>
          <a:noFill/>
        </p:spPr>
        <p:txBody>
          <a:bodyPr wrap="square"/>
          <a:lstStyle/>
          <a:p>
            <a:pPr algn="l"/>
            <a:r>
              <a:rPr sz="800" b="1" i="0">
                <a:solidFill>
                  <a:srgbClr val="065F46"/>
                </a:solidFill>
                <a:latin typeface="Poppins"/>
              </a:rPr>
              <a:t>PROJECTED RETURN ON AD SPEND</a:t>
            </a:r>
          </a:p>
        </p:txBody>
      </p:sp>
      <p:sp>
        <p:nvSpPr>
          <p:cNvPr id="21" name="TextBox 20"/>
          <p:cNvSpPr txBox="1"/>
          <p:nvPr/>
        </p:nvSpPr>
        <p:spPr>
          <a:xfrm>
            <a:off x="4700016" y="1335024"/>
            <a:ext cx="1920240" cy="256032"/>
          </a:xfrm>
          <a:prstGeom prst="rect">
            <a:avLst/>
          </a:prstGeom>
          <a:noFill/>
        </p:spPr>
        <p:txBody>
          <a:bodyPr wrap="square"/>
          <a:lstStyle/>
          <a:p>
            <a:pPr algn="l"/>
            <a:r>
              <a:rPr sz="900" b="1" i="0">
                <a:solidFill>
                  <a:srgbClr val="1E293B"/>
                </a:solidFill>
                <a:latin typeface="Poppins"/>
              </a:rPr>
              <a:t>Average case value:</a:t>
            </a:r>
          </a:p>
        </p:txBody>
      </p:sp>
      <p:sp>
        <p:nvSpPr>
          <p:cNvPr id="22" name="TextBox 21"/>
          <p:cNvSpPr txBox="1"/>
          <p:nvPr/>
        </p:nvSpPr>
        <p:spPr>
          <a:xfrm>
            <a:off x="6729984" y="1335024"/>
            <a:ext cx="2103120" cy="256032"/>
          </a:xfrm>
          <a:prstGeom prst="rect">
            <a:avLst/>
          </a:prstGeom>
          <a:noFill/>
        </p:spPr>
        <p:txBody>
          <a:bodyPr wrap="square"/>
          <a:lstStyle/>
          <a:p>
            <a:pPr algn="l"/>
            <a:r>
              <a:rPr sz="900" b="0" i="0">
                <a:solidFill>
                  <a:srgbClr val="065F46"/>
                </a:solidFill>
                <a:latin typeface="Poppins"/>
              </a:rPr>
              <a:t>$10,000</a:t>
            </a:r>
          </a:p>
        </p:txBody>
      </p:sp>
      <p:sp>
        <p:nvSpPr>
          <p:cNvPr id="23" name="Rectangle 22"/>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00016" y="1645920"/>
            <a:ext cx="1920240" cy="256032"/>
          </a:xfrm>
          <a:prstGeom prst="rect">
            <a:avLst/>
          </a:prstGeom>
          <a:noFill/>
        </p:spPr>
        <p:txBody>
          <a:bodyPr wrap="square"/>
          <a:lstStyle/>
          <a:p>
            <a:pPr algn="l"/>
            <a:r>
              <a:rPr sz="900" b="1" i="0">
                <a:solidFill>
                  <a:srgbClr val="1E293B"/>
                </a:solidFill>
                <a:latin typeface="Poppins"/>
              </a:rPr>
              <a:t>Conservative  (1 case/mo):</a:t>
            </a:r>
          </a:p>
        </p:txBody>
      </p:sp>
      <p:sp>
        <p:nvSpPr>
          <p:cNvPr id="25" name="TextBox 24"/>
          <p:cNvSpPr txBox="1"/>
          <p:nvPr/>
        </p:nvSpPr>
        <p:spPr>
          <a:xfrm>
            <a:off x="6729984" y="1645920"/>
            <a:ext cx="2103120" cy="256032"/>
          </a:xfrm>
          <a:prstGeom prst="rect">
            <a:avLst/>
          </a:prstGeom>
          <a:noFill/>
        </p:spPr>
        <p:txBody>
          <a:bodyPr wrap="square"/>
          <a:lstStyle/>
          <a:p>
            <a:pPr algn="l"/>
            <a:r>
              <a:rPr sz="900" b="1" i="0">
                <a:solidFill>
                  <a:srgbClr val="065F46"/>
                </a:solidFill>
                <a:latin typeface="Poppins"/>
              </a:rPr>
              <a:t>$10,000 revenue · 3.3× ROAS</a:t>
            </a:r>
          </a:p>
        </p:txBody>
      </p:sp>
      <p:sp>
        <p:nvSpPr>
          <p:cNvPr id="26" name="TextBox 25"/>
          <p:cNvSpPr txBox="1"/>
          <p:nvPr/>
        </p:nvSpPr>
        <p:spPr>
          <a:xfrm>
            <a:off x="4700016" y="1956816"/>
            <a:ext cx="1920240" cy="256032"/>
          </a:xfrm>
          <a:prstGeom prst="rect">
            <a:avLst/>
          </a:prstGeom>
          <a:noFill/>
        </p:spPr>
        <p:txBody>
          <a:bodyPr wrap="square"/>
          <a:lstStyle/>
          <a:p>
            <a:pPr algn="l"/>
            <a:r>
              <a:rPr sz="900" b="1" i="0">
                <a:solidFill>
                  <a:srgbClr val="1E293B"/>
                </a:solidFill>
                <a:latin typeface="Poppins"/>
              </a:rPr>
              <a:t>Aggressive  (2 cases/mo):</a:t>
            </a:r>
          </a:p>
        </p:txBody>
      </p:sp>
      <p:sp>
        <p:nvSpPr>
          <p:cNvPr id="27" name="TextBox 26"/>
          <p:cNvSpPr txBox="1"/>
          <p:nvPr/>
        </p:nvSpPr>
        <p:spPr>
          <a:xfrm>
            <a:off x="6729984" y="1956816"/>
            <a:ext cx="2103120" cy="256032"/>
          </a:xfrm>
          <a:prstGeom prst="rect">
            <a:avLst/>
          </a:prstGeom>
          <a:noFill/>
        </p:spPr>
        <p:txBody>
          <a:bodyPr wrap="square"/>
          <a:lstStyle/>
          <a:p>
            <a:pPr algn="l"/>
            <a:r>
              <a:rPr sz="900" b="1" i="0">
                <a:solidFill>
                  <a:srgbClr val="065F46"/>
                </a:solidFill>
                <a:latin typeface="Poppins"/>
              </a:rPr>
              <a:t>$20,000 revenue · 4.0× ROAS</a:t>
            </a:r>
          </a:p>
        </p:txBody>
      </p:sp>
      <p:sp>
        <p:nvSpPr>
          <p:cNvPr id="28" name="TextBox 27"/>
          <p:cNvSpPr txBox="1"/>
          <p:nvPr/>
        </p:nvSpPr>
        <p:spPr>
          <a:xfrm>
            <a:off x="4535424" y="2468880"/>
            <a:ext cx="4407408" cy="237744"/>
          </a:xfrm>
          <a:prstGeom prst="rect">
            <a:avLst/>
          </a:prstGeom>
          <a:noFill/>
        </p:spPr>
        <p:txBody>
          <a:bodyPr wrap="square"/>
          <a:lstStyle/>
          <a:p>
            <a:pPr algn="l"/>
            <a:r>
              <a:rPr sz="800" b="1" i="0">
                <a:solidFill>
                  <a:srgbClr val="003A59"/>
                </a:solidFill>
                <a:latin typeface="Poppins"/>
              </a:rPr>
              <a:t>WHAT HAPPENS IN THE FIRST 90 DAYS</a:t>
            </a:r>
          </a:p>
        </p:txBody>
      </p:sp>
      <p:sp>
        <p:nvSpPr>
          <p:cNvPr id="29" name="Rectangle 28"/>
          <p:cNvSpPr/>
          <p:nvPr/>
        </p:nvSpPr>
        <p:spPr>
          <a:xfrm>
            <a:off x="4590288" y="2724912"/>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37760" y="2734056"/>
            <a:ext cx="804672" cy="256032"/>
          </a:xfrm>
          <a:prstGeom prst="rect">
            <a:avLst/>
          </a:prstGeom>
          <a:noFill/>
        </p:spPr>
        <p:txBody>
          <a:bodyPr wrap="square"/>
          <a:lstStyle/>
          <a:p>
            <a:pPr algn="l"/>
            <a:r>
              <a:rPr sz="800" b="1" i="0">
                <a:solidFill>
                  <a:srgbClr val="003A59"/>
                </a:solidFill>
                <a:latin typeface="Poppins"/>
              </a:rPr>
              <a:t>Day 1</a:t>
            </a:r>
          </a:p>
        </p:txBody>
      </p:sp>
      <p:sp>
        <p:nvSpPr>
          <p:cNvPr id="31" name="TextBox 30"/>
          <p:cNvSpPr txBox="1"/>
          <p:nvPr/>
        </p:nvSpPr>
        <p:spPr>
          <a:xfrm>
            <a:off x="5815584" y="2734056"/>
            <a:ext cx="3054096" cy="256032"/>
          </a:xfrm>
          <a:prstGeom prst="rect">
            <a:avLst/>
          </a:prstGeom>
          <a:noFill/>
        </p:spPr>
        <p:txBody>
          <a:bodyPr wrap="square"/>
          <a:lstStyle/>
          <a:p>
            <a:pPr algn="l"/>
            <a:r>
              <a:rPr sz="800" b="0" i="0">
                <a:solidFill>
                  <a:srgbClr val="1E293B"/>
                </a:solidFill>
                <a:latin typeface="Poppins"/>
              </a:rPr>
              <a:t>Google Ads campaigns go live for IRS searches</a:t>
            </a:r>
          </a:p>
        </p:txBody>
      </p:sp>
      <p:sp>
        <p:nvSpPr>
          <p:cNvPr id="32" name="Rectangle 31"/>
          <p:cNvSpPr/>
          <p:nvPr/>
        </p:nvSpPr>
        <p:spPr>
          <a:xfrm>
            <a:off x="4590288" y="3081528"/>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937760" y="3090672"/>
            <a:ext cx="804672" cy="256032"/>
          </a:xfrm>
          <a:prstGeom prst="rect">
            <a:avLst/>
          </a:prstGeom>
          <a:noFill/>
        </p:spPr>
        <p:txBody>
          <a:bodyPr wrap="square"/>
          <a:lstStyle/>
          <a:p>
            <a:pPr algn="l"/>
            <a:r>
              <a:rPr sz="800" b="1" i="0">
                <a:solidFill>
                  <a:srgbClr val="003A59"/>
                </a:solidFill>
                <a:latin typeface="Poppins"/>
              </a:rPr>
              <a:t>Day 14</a:t>
            </a:r>
          </a:p>
        </p:txBody>
      </p:sp>
      <p:sp>
        <p:nvSpPr>
          <p:cNvPr id="34" name="TextBox 33"/>
          <p:cNvSpPr txBox="1"/>
          <p:nvPr/>
        </p:nvSpPr>
        <p:spPr>
          <a:xfrm>
            <a:off x="5815584" y="3090672"/>
            <a:ext cx="3054096" cy="256032"/>
          </a:xfrm>
          <a:prstGeom prst="rect">
            <a:avLst/>
          </a:prstGeom>
          <a:noFill/>
        </p:spPr>
        <p:txBody>
          <a:bodyPr wrap="square"/>
          <a:lstStyle/>
          <a:p>
            <a:pPr algn="l"/>
            <a:r>
              <a:rPr sz="800" b="0" i="0">
                <a:solidFill>
                  <a:srgbClr val="1E293B"/>
                </a:solidFill>
                <a:latin typeface="Poppins"/>
              </a:rPr>
              <a:t>Google Business Profile claimed &amp; optimized</a:t>
            </a:r>
          </a:p>
        </p:txBody>
      </p:sp>
      <p:sp>
        <p:nvSpPr>
          <p:cNvPr id="35" name="Rectangle 34"/>
          <p:cNvSpPr/>
          <p:nvPr/>
        </p:nvSpPr>
        <p:spPr>
          <a:xfrm>
            <a:off x="4590288" y="3438144"/>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937760" y="3447287"/>
            <a:ext cx="804672" cy="256032"/>
          </a:xfrm>
          <a:prstGeom prst="rect">
            <a:avLst/>
          </a:prstGeom>
          <a:noFill/>
        </p:spPr>
        <p:txBody>
          <a:bodyPr wrap="square"/>
          <a:lstStyle/>
          <a:p>
            <a:pPr algn="l"/>
            <a:r>
              <a:rPr sz="800" b="1" i="0">
                <a:solidFill>
                  <a:srgbClr val="003A59"/>
                </a:solidFill>
                <a:latin typeface="Poppins"/>
              </a:rPr>
              <a:t>Week 2</a:t>
            </a:r>
          </a:p>
        </p:txBody>
      </p:sp>
      <p:sp>
        <p:nvSpPr>
          <p:cNvPr id="37" name="TextBox 36"/>
          <p:cNvSpPr txBox="1"/>
          <p:nvPr/>
        </p:nvSpPr>
        <p:spPr>
          <a:xfrm>
            <a:off x="5815584" y="3447287"/>
            <a:ext cx="3054096" cy="256032"/>
          </a:xfrm>
          <a:prstGeom prst="rect">
            <a:avLst/>
          </a:prstGeom>
          <a:noFill/>
        </p:spPr>
        <p:txBody>
          <a:bodyPr wrap="square"/>
          <a:lstStyle/>
          <a:p>
            <a:pPr algn="l"/>
            <a:r>
              <a:rPr sz="800" b="0" i="0">
                <a:solidFill>
                  <a:srgbClr val="1E293B"/>
                </a:solidFill>
                <a:latin typeface="Poppins"/>
              </a:rPr>
              <a:t>Contact form fixed, phone numbers corrected</a:t>
            </a:r>
          </a:p>
        </p:txBody>
      </p:sp>
      <p:sp>
        <p:nvSpPr>
          <p:cNvPr id="38" name="Rectangle 37"/>
          <p:cNvSpPr/>
          <p:nvPr/>
        </p:nvSpPr>
        <p:spPr>
          <a:xfrm>
            <a:off x="4590288" y="3794760"/>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937760" y="3803904"/>
            <a:ext cx="804672" cy="256032"/>
          </a:xfrm>
          <a:prstGeom prst="rect">
            <a:avLst/>
          </a:prstGeom>
          <a:noFill/>
        </p:spPr>
        <p:txBody>
          <a:bodyPr wrap="square"/>
          <a:lstStyle/>
          <a:p>
            <a:pPr algn="l"/>
            <a:r>
              <a:rPr sz="800" b="1" i="0">
                <a:solidFill>
                  <a:srgbClr val="003A59"/>
                </a:solidFill>
                <a:latin typeface="Poppins"/>
              </a:rPr>
              <a:t>Week 3</a:t>
            </a:r>
          </a:p>
        </p:txBody>
      </p:sp>
      <p:sp>
        <p:nvSpPr>
          <p:cNvPr id="40" name="TextBox 39"/>
          <p:cNvSpPr txBox="1"/>
          <p:nvPr/>
        </p:nvSpPr>
        <p:spPr>
          <a:xfrm>
            <a:off x="5815584" y="3803904"/>
            <a:ext cx="3054096" cy="256032"/>
          </a:xfrm>
          <a:prstGeom prst="rect">
            <a:avLst/>
          </a:prstGeom>
          <a:noFill/>
        </p:spPr>
        <p:txBody>
          <a:bodyPr wrap="square"/>
          <a:lstStyle/>
          <a:p>
            <a:pPr algn="l"/>
            <a:r>
              <a:rPr sz="800" b="0" i="0">
                <a:solidFill>
                  <a:srgbClr val="1E293B"/>
                </a:solidFill>
                <a:latin typeface="Poppins"/>
              </a:rPr>
              <a:t>Conversion tracking live on all ad spend</a:t>
            </a:r>
          </a:p>
        </p:txBody>
      </p:sp>
      <p:sp>
        <p:nvSpPr>
          <p:cNvPr id="41" name="Rectangle 40"/>
          <p:cNvSpPr/>
          <p:nvPr/>
        </p:nvSpPr>
        <p:spPr>
          <a:xfrm>
            <a:off x="4590288" y="4151376"/>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937760" y="4160520"/>
            <a:ext cx="804672" cy="256032"/>
          </a:xfrm>
          <a:prstGeom prst="rect">
            <a:avLst/>
          </a:prstGeom>
          <a:noFill/>
        </p:spPr>
        <p:txBody>
          <a:bodyPr wrap="square"/>
          <a:lstStyle/>
          <a:p>
            <a:pPr algn="l"/>
            <a:r>
              <a:rPr sz="800" b="1" i="0">
                <a:solidFill>
                  <a:srgbClr val="003A59"/>
                </a:solidFill>
                <a:latin typeface="Poppins"/>
              </a:rPr>
              <a:t>Month 3</a:t>
            </a:r>
          </a:p>
        </p:txBody>
      </p:sp>
      <p:sp>
        <p:nvSpPr>
          <p:cNvPr id="43" name="TextBox 42"/>
          <p:cNvSpPr txBox="1"/>
          <p:nvPr/>
        </p:nvSpPr>
        <p:spPr>
          <a:xfrm>
            <a:off x="5815584" y="4160520"/>
            <a:ext cx="3054096" cy="256032"/>
          </a:xfrm>
          <a:prstGeom prst="rect">
            <a:avLst/>
          </a:prstGeom>
          <a:noFill/>
        </p:spPr>
        <p:txBody>
          <a:bodyPr wrap="square"/>
          <a:lstStyle/>
          <a:p>
            <a:pPr algn="l"/>
            <a:r>
              <a:rPr sz="800" b="0" i="0">
                <a:solidFill>
                  <a:srgbClr val="1E293B"/>
                </a:solidFill>
                <a:latin typeface="Poppins"/>
              </a:rPr>
              <a:t>Local Service Ads &amp; Google Screened status</a:t>
            </a:r>
          </a:p>
        </p:txBody>
      </p:sp>
      <p:sp>
        <p:nvSpPr>
          <p:cNvPr id="44" name="Rectangle 43"/>
          <p:cNvSpPr/>
          <p:nvPr/>
        </p:nvSpPr>
        <p:spPr>
          <a:xfrm>
            <a:off x="0" y="4425696"/>
            <a:ext cx="9144000" cy="402336"/>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74320" y="4425696"/>
            <a:ext cx="8595360" cy="402336"/>
          </a:xfrm>
          <a:prstGeom prst="rect">
            <a:avLst/>
          </a:prstGeom>
          <a:noFill/>
        </p:spPr>
        <p:txBody>
          <a:bodyPr wrap="square"/>
          <a:lstStyle/>
          <a:p>
            <a:pPr algn="ctr"/>
            <a:r>
              <a:rPr sz="900" b="0" i="1">
                <a:solidFill>
                  <a:srgbClr val="8BADD0"/>
                </a:solidFill>
                <a:latin typeface="Poppins"/>
              </a:rPr>
              <a:t>"Financial autonomy and time freedom — a firm worth selling, and a future funded for my kids."</a:t>
            </a:r>
          </a:p>
        </p:txBody>
      </p:sp>
      <p:sp>
        <p:nvSpPr>
          <p:cNvPr id="46" name="Rectangle 45"/>
          <p:cNvSpPr/>
          <p:nvPr/>
        </p:nvSpPr>
        <p:spPr>
          <a:xfrm>
            <a:off x="0" y="4828032"/>
            <a:ext cx="9144000" cy="3200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609344" y="4837176"/>
            <a:ext cx="5303520" cy="274320"/>
          </a:xfrm>
          <a:prstGeom prst="rect">
            <a:avLst/>
          </a:prstGeom>
          <a:noFill/>
        </p:spPr>
        <p:txBody>
          <a:bodyPr wrap="square"/>
          <a:lstStyle/>
          <a:p>
            <a:pPr algn="l"/>
            <a:r>
              <a:rPr sz="800" b="0" i="0">
                <a:solidFill>
                  <a:srgbClr val="5A7A9A"/>
                </a:solidFill>
                <a:latin typeface="Poppins"/>
              </a:rPr>
              <a:t>CONFIDENTIAL  ·  Prepared by Nick Holderman | SMB Team</a:t>
            </a:r>
          </a:p>
        </p:txBody>
      </p:sp>
      <p:sp>
        <p:nvSpPr>
          <p:cNvPr id="48" name="TextBox 47"/>
          <p:cNvSpPr txBox="1"/>
          <p:nvPr/>
        </p:nvSpPr>
        <p:spPr>
          <a:xfrm>
            <a:off x="8138160" y="4837176"/>
            <a:ext cx="786384" cy="274320"/>
          </a:xfrm>
          <a:prstGeom prst="rect">
            <a:avLst/>
          </a:prstGeom>
          <a:noFill/>
        </p:spPr>
        <p:txBody>
          <a:bodyPr wrap="square"/>
          <a:lstStyle/>
          <a:p>
            <a:pPr algn="r"/>
            <a:r>
              <a:rPr sz="800" b="0" i="0">
                <a:solidFill>
                  <a:srgbClr val="5A7A9A"/>
                </a:solidFill>
                <a:latin typeface="Poppins"/>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