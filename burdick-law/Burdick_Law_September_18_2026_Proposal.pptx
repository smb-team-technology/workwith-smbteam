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BURDICK LAW</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Poppins"/>
              </a:rPr>
              <a:t>Where Burdick Law Stands Today</a:t>
            </a:r>
          </a:p>
        </p:txBody>
      </p:sp>
      <p:sp>
        <p:nvSpPr>
          <p:cNvPr id="5" name="Rectangle 4"/>
          <p:cNvSpPr/>
          <p:nvPr/>
        </p:nvSpPr>
        <p:spPr>
          <a:xfrm>
            <a:off x="0" y="960120"/>
            <a:ext cx="146304" cy="3867912"/>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Poppins"/>
              </a:rPr>
              <a:t>9</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Poppins"/>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Poppins"/>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Poppins"/>
              </a:rPr>
              <a:t>No website or GBP</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Poppins"/>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Poppins"/>
              </a:rPr>
              <a:t>No intake process</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Poppins"/>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Poppins"/>
              </a:rPr>
              <a:t>Solo, no staff</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Poppins"/>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Poppins"/>
              </a:rPr>
              <a:t>No revenue tracked</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69CD2B"/>
                </a:solidFill>
                <a:latin typeface="Poppins"/>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Poppins"/>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Poppins"/>
              </a:rPr>
              <a:t>No website, GBP, or online presence exists to capture private clients</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Poppins"/>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Poppins"/>
              </a:rPr>
              <a:t>No intake process — a future inquiry could go straight to voicemail</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Poppins"/>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Poppins"/>
              </a:rPr>
              <a:t>Solo practice — Vanessa handles every case and task alone</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Poppins"/>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Poppins"/>
              </a:rPr>
              <a:t>70-80 cases handled in just 4 months — strong drive and capacity</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69CD2B"/>
                </a:solidFill>
                <a:latin typeface="Poppins"/>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Poppins"/>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Poppins"/>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Poppins"/>
              </a:rPr>
              <a:t>Spodek Law Group</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Poppins"/>
              </a:rPr>
              <a:t>Many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Poppins"/>
              </a:rPr>
              <a:t>3 NYC offices · multi-domain ads</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Poppins"/>
              </a:rPr>
              <a:t>Robert Tsigler PLLC</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Poppins"/>
              </a:rPr>
              <a:t>Many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Poppins"/>
              </a:rPr>
              <a:t>Homicide page · 24/7 CTAs</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Poppins"/>
              </a:rPr>
              <a:t>Lebedin Kofman LLP</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Poppins"/>
              </a:rPr>
              <a:t>Many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Poppins"/>
              </a:rPr>
              <a:t>Dedicated homicide-defense page</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Poppins"/>
              </a:rPr>
              <a:t>Burdick Law</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Poppins"/>
              </a:rPr>
              <a:t>0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Poppins"/>
              </a:rPr>
              <a:t>← You are here</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Jacob Meissner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BURDICK LAW</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Growth Plan: 3 Priorities to Reach $700K-$800K in Profit</a:t>
            </a:r>
          </a:p>
        </p:txBody>
      </p:sp>
      <p:sp>
        <p:nvSpPr>
          <p:cNvPr id="5" name="Rectangle 4"/>
          <p:cNvSpPr/>
          <p:nvPr/>
        </p:nvSpPr>
        <p:spPr>
          <a:xfrm>
            <a:off x="182880" y="1024128"/>
            <a:ext cx="2487168" cy="363931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69CD2B"/>
                </a:solidFill>
                <a:latin typeface="Poppins"/>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Poppins"/>
              </a:rPr>
              <a:t>All four pillars must work together. Missing any one means growth stalls no matter how much you spend on marketing. When intake, team, and profit systems are in place, Vanessa can finally choose her cases.</a:t>
            </a:r>
          </a:p>
        </p:txBody>
      </p:sp>
      <p:sp>
        <p:nvSpPr>
          <p:cNvPr id="9" name="Rectangle 8"/>
          <p:cNvSpPr/>
          <p:nvPr/>
        </p:nvSpPr>
        <p:spPr>
          <a:xfrm>
            <a:off x="182880" y="2999232"/>
            <a:ext cx="2487168" cy="74980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03A59"/>
                </a:solidFill>
                <a:latin typeface="Poppins"/>
              </a:rPr>
              <a:t>Court-appointed → $700K-$800K profit</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03A59"/>
                </a:solidFill>
                <a:latin typeface="Poppins"/>
              </a:rPr>
              <a:t>Choose your clients — not the court's</a:t>
            </a:r>
          </a:p>
        </p:txBody>
      </p:sp>
      <p:sp>
        <p:nvSpPr>
          <p:cNvPr id="12" name="Rectangle 11"/>
          <p:cNvSpPr/>
          <p:nvPr/>
        </p:nvSpPr>
        <p:spPr>
          <a:xfrm>
            <a:off x="2816352" y="1024128"/>
            <a:ext cx="2048256" cy="84124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Poppins"/>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Poppins"/>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Poppins"/>
              </a:rPr>
              <a:t>Marketing Engine</a:t>
            </a:r>
          </a:p>
        </p:txBody>
      </p:sp>
      <p:sp>
        <p:nvSpPr>
          <p:cNvPr id="16" name="Rectangle 15"/>
          <p:cNvSpPr/>
          <p:nvPr/>
        </p:nvSpPr>
        <p:spPr>
          <a:xfrm>
            <a:off x="2816352" y="1865376"/>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Poppins"/>
              </a:rPr>
              <a:t>Launch a website with attorney bio &amp; case results</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Poppins"/>
              </a:rPr>
              <a:t>Claim and optimize a Google Business Profile</a:t>
            </a:r>
          </a:p>
        </p:txBody>
      </p:sp>
      <p:sp>
        <p:nvSpPr>
          <p:cNvPr id="22" name="Rectangle 21"/>
          <p:cNvSpPr/>
          <p:nvPr/>
        </p:nvSpPr>
        <p:spPr>
          <a:xfrm>
            <a:off x="2816352" y="3072384"/>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Poppins"/>
              </a:rPr>
              <a:t>Build a dedicated felony &amp; homicide landing page</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Poppins"/>
              </a:rPr>
              <a:t>Add directory listings (Avvo, Justia, FindLaw)</a:t>
            </a:r>
          </a:p>
        </p:txBody>
      </p:sp>
      <p:sp>
        <p:nvSpPr>
          <p:cNvPr id="28" name="Rectangle 27"/>
          <p:cNvSpPr/>
          <p:nvPr/>
        </p:nvSpPr>
        <p:spPr>
          <a:xfrm>
            <a:off x="2816352" y="4279392"/>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Poppins"/>
              </a:rPr>
              <a:t>Turn search traffic into a pipeline that runs itself</a:t>
            </a:r>
          </a:p>
        </p:txBody>
      </p:sp>
      <p:sp>
        <p:nvSpPr>
          <p:cNvPr id="31" name="Rectangle 30"/>
          <p:cNvSpPr/>
          <p:nvPr/>
        </p:nvSpPr>
        <p:spPr>
          <a:xfrm>
            <a:off x="4937760" y="1024128"/>
            <a:ext cx="2048256" cy="84124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003A59"/>
                </a:solidFill>
                <a:latin typeface="Poppins"/>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003A59"/>
                </a:solidFill>
                <a:latin typeface="Poppins"/>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003A59"/>
                </a:solidFill>
                <a:latin typeface="Poppins"/>
              </a:rPr>
              <a:t>Stop Losing Cases</a:t>
            </a:r>
          </a:p>
        </p:txBody>
      </p:sp>
      <p:sp>
        <p:nvSpPr>
          <p:cNvPr id="35" name="Rectangle 34"/>
          <p:cNvSpPr/>
          <p:nvPr/>
        </p:nvSpPr>
        <p:spPr>
          <a:xfrm>
            <a:off x="4937760" y="1865376"/>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Poppins"/>
              </a:rPr>
              <a:t>Build a defined intake process before ads launch</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Poppins"/>
              </a:rPr>
              <a:t>Add after-hours coverage for urgent inquiries</a:t>
            </a:r>
          </a:p>
        </p:txBody>
      </p:sp>
      <p:sp>
        <p:nvSpPr>
          <p:cNvPr id="41" name="Rectangle 40"/>
          <p:cNvSpPr/>
          <p:nvPr/>
        </p:nvSpPr>
        <p:spPr>
          <a:xfrm>
            <a:off x="4937760" y="3072384"/>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Poppins"/>
              </a:rPr>
              <a:t>Create a follow-up sequence for every inquiry</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Poppins"/>
              </a:rPr>
              <a:t>Track which inquiries convert to retained clients</a:t>
            </a:r>
          </a:p>
        </p:txBody>
      </p:sp>
      <p:sp>
        <p:nvSpPr>
          <p:cNvPr id="47" name="Rectangle 46"/>
          <p:cNvSpPr/>
          <p:nvPr/>
        </p:nvSpPr>
        <p:spPr>
          <a:xfrm>
            <a:off x="4937760" y="4279392"/>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Poppins"/>
              </a:rPr>
              <a:t>Never miss the case that changes everything</a:t>
            </a:r>
          </a:p>
        </p:txBody>
      </p:sp>
      <p:sp>
        <p:nvSpPr>
          <p:cNvPr id="50" name="Rectangle 49"/>
          <p:cNvSpPr/>
          <p:nvPr/>
        </p:nvSpPr>
        <p:spPr>
          <a:xfrm>
            <a:off x="7059168" y="1024128"/>
            <a:ext cx="2048256" cy="84124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Poppins"/>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Poppins"/>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Poppins"/>
              </a:rPr>
              <a:t>Profit Systems</a:t>
            </a:r>
          </a:p>
        </p:txBody>
      </p:sp>
      <p:sp>
        <p:nvSpPr>
          <p:cNvPr id="54" name="Rectangle 53"/>
          <p:cNvSpPr/>
          <p:nvPr/>
        </p:nvSpPr>
        <p:spPr>
          <a:xfrm>
            <a:off x="7059168" y="1865376"/>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Poppins"/>
              </a:rPr>
              <a:t>Make the first support hire</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Poppins"/>
              </a:rPr>
              <a:t>Build a private hourly or flat-fee structure</a:t>
            </a:r>
          </a:p>
        </p:txBody>
      </p:sp>
      <p:sp>
        <p:nvSpPr>
          <p:cNvPr id="60" name="Rectangle 59"/>
          <p:cNvSpPr/>
          <p:nvPr/>
        </p:nvSpPr>
        <p:spPr>
          <a:xfrm>
            <a:off x="7059168" y="3072384"/>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Poppins"/>
              </a:rPr>
              <a:t>Track case value and margin from day one</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Poppins"/>
              </a:rPr>
              <a:t>Add AI Workforce Pro once the first hire is made</a:t>
            </a:r>
          </a:p>
        </p:txBody>
      </p:sp>
      <p:sp>
        <p:nvSpPr>
          <p:cNvPr id="66" name="Rectangle 65"/>
          <p:cNvSpPr/>
          <p:nvPr/>
        </p:nvSpPr>
        <p:spPr>
          <a:xfrm>
            <a:off x="7059168" y="4279392"/>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Poppins"/>
              </a:rPr>
              <a:t>Step back from doing everything yourself</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Jacob Meissner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BURDICK LAW</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003A59"/>
                </a:solidFill>
                <a:latin typeface="Poppins"/>
              </a:rPr>
              <a:t>COACH ESSENTIALS PLUS</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03A59"/>
                </a:solidFill>
                <a:latin typeface="Poppins"/>
              </a:rPr>
              <a:t>$2,497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Poppins"/>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Poppins"/>
              </a:rPr>
              <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Poppins"/>
              </a:rPr>
              <a:t>Group coaching · Monthly 1:1 call · Intake &amp; fee-structure frameworks</a:t>
            </a:r>
          </a:p>
        </p:txBody>
      </p:sp>
      <p:sp>
        <p:nvSpPr>
          <p:cNvPr id="13" name="Rectangle 12"/>
          <p:cNvSpPr/>
          <p:nvPr/>
        </p:nvSpPr>
        <p:spPr>
          <a:xfrm>
            <a:off x="201168" y="3255264"/>
            <a:ext cx="4133087" cy="65836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3291840"/>
            <a:ext cx="1645920" cy="237744"/>
          </a:xfrm>
          <a:prstGeom prst="rect">
            <a:avLst/>
          </a:prstGeom>
          <a:noFill/>
        </p:spPr>
        <p:txBody>
          <a:bodyPr wrap="square"/>
          <a:lstStyle/>
          <a:p>
            <a:pPr algn="l"/>
            <a:r>
              <a:rPr sz="800" b="1" i="0">
                <a:solidFill>
                  <a:srgbClr val="7CA0C0"/>
                </a:solidFill>
                <a:latin typeface="Poppins"/>
              </a:rPr>
              <a:t>BUNDLE TOTAL</a:t>
            </a:r>
          </a:p>
        </p:txBody>
      </p:sp>
      <p:sp>
        <p:nvSpPr>
          <p:cNvPr id="15" name="TextBox 14"/>
          <p:cNvSpPr txBox="1"/>
          <p:nvPr/>
        </p:nvSpPr>
        <p:spPr>
          <a:xfrm>
            <a:off x="384048" y="3493008"/>
            <a:ext cx="2194560" cy="347472"/>
          </a:xfrm>
          <a:prstGeom prst="rect">
            <a:avLst/>
          </a:prstGeom>
          <a:noFill/>
        </p:spPr>
        <p:txBody>
          <a:bodyPr wrap="square"/>
          <a:lstStyle/>
          <a:p>
            <a:pPr algn="l"/>
            <a:r>
              <a:rPr sz="2200" b="1" i="0">
                <a:solidFill>
                  <a:srgbClr val="0091C9"/>
                </a:solidFill>
                <a:latin typeface="Poppins"/>
              </a:rPr>
              <a:t>$2,497 / mo</a:t>
            </a:r>
          </a:p>
        </p:txBody>
      </p:sp>
      <p:sp>
        <p:nvSpPr>
          <p:cNvPr id="16" name="TextBox 15"/>
          <p:cNvSpPr txBox="1"/>
          <p:nvPr/>
        </p:nvSpPr>
        <p:spPr>
          <a:xfrm>
            <a:off x="2670048" y="3493008"/>
            <a:ext cx="1737360" cy="347472"/>
          </a:xfrm>
          <a:prstGeom prst="rect">
            <a:avLst/>
          </a:prstGeom>
          <a:noFill/>
        </p:spPr>
        <p:txBody>
          <a:bodyPr wrap="square"/>
          <a:lstStyle/>
          <a:p>
            <a:pPr algn="l"/>
            <a:r>
              <a:rPr sz="800" b="0" i="0">
                <a:solidFill>
                  <a:srgbClr val="7CA0C0"/>
                </a:solidFill>
                <a:latin typeface="Poppins"/>
              </a:rPr>
              <a:t>Sold standalone — no bundling discount applies</a:t>
            </a:r>
          </a:p>
        </p:txBody>
      </p:sp>
      <p:sp>
        <p:nvSpPr>
          <p:cNvPr id="17" name="Rectangle 16"/>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 y="3995928"/>
            <a:ext cx="3931920" cy="347472"/>
          </a:xfrm>
          <a:prstGeom prst="rect">
            <a:avLst/>
          </a:prstGeom>
          <a:noFill/>
        </p:spPr>
        <p:txBody>
          <a:bodyPr wrap="square"/>
          <a:lstStyle/>
          <a:p>
            <a:pPr algn="l"/>
            <a:r>
              <a:rPr sz="800" b="0" i="0">
                <a:solidFill>
                  <a:srgbClr val="64748B"/>
                </a:solidFill>
                <a:latin typeface="Poppins"/>
              </a:rPr>
              <a:t>Future ad spend (Phase 3 estimate): $5,000-$18,750/mo — not part of Phase 1</a:t>
            </a:r>
          </a:p>
        </p:txBody>
      </p:sp>
      <p:sp>
        <p:nvSpPr>
          <p:cNvPr id="19" name="Rectangle 18"/>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00016" y="1078992"/>
            <a:ext cx="4133087" cy="219456"/>
          </a:xfrm>
          <a:prstGeom prst="rect">
            <a:avLst/>
          </a:prstGeom>
          <a:noFill/>
        </p:spPr>
        <p:txBody>
          <a:bodyPr wrap="square"/>
          <a:lstStyle/>
          <a:p>
            <a:pPr algn="l"/>
            <a:r>
              <a:rPr sz="800" b="1" i="0">
                <a:solidFill>
                  <a:srgbClr val="065F46"/>
                </a:solidFill>
                <a:latin typeface="Poppins"/>
              </a:rPr>
              <a:t>PROJECTED RETURN ON AD SPEND</a:t>
            </a:r>
          </a:p>
        </p:txBody>
      </p:sp>
      <p:sp>
        <p:nvSpPr>
          <p:cNvPr id="21" name="TextBox 20"/>
          <p:cNvSpPr txBox="1"/>
          <p:nvPr/>
        </p:nvSpPr>
        <p:spPr>
          <a:xfrm>
            <a:off x="4700016" y="1335024"/>
            <a:ext cx="1920240" cy="256032"/>
          </a:xfrm>
          <a:prstGeom prst="rect">
            <a:avLst/>
          </a:prstGeom>
          <a:noFill/>
        </p:spPr>
        <p:txBody>
          <a:bodyPr wrap="square"/>
          <a:lstStyle/>
          <a:p>
            <a:pPr algn="l"/>
            <a:r>
              <a:rPr sz="900" b="1" i="0">
                <a:solidFill>
                  <a:srgbClr val="1E293B"/>
                </a:solidFill>
                <a:latin typeface="Poppins"/>
              </a:rPr>
              <a:t>Average case value:</a:t>
            </a:r>
          </a:p>
        </p:txBody>
      </p:sp>
      <p:sp>
        <p:nvSpPr>
          <p:cNvPr id="22" name="TextBox 21"/>
          <p:cNvSpPr txBox="1"/>
          <p:nvPr/>
        </p:nvSpPr>
        <p:spPr>
          <a:xfrm>
            <a:off x="6729984" y="1335024"/>
            <a:ext cx="2103120" cy="256032"/>
          </a:xfrm>
          <a:prstGeom prst="rect">
            <a:avLst/>
          </a:prstGeom>
          <a:noFill/>
        </p:spPr>
        <p:txBody>
          <a:bodyPr wrap="square"/>
          <a:lstStyle/>
          <a:p>
            <a:pPr algn="l"/>
            <a:r>
              <a:rPr sz="900" b="0" i="0">
                <a:solidFill>
                  <a:srgbClr val="065F46"/>
                </a:solidFill>
                <a:latin typeface="Poppins"/>
              </a:rPr>
              <a:t>$25,000-$150,000 (est.)</a:t>
            </a:r>
          </a:p>
        </p:txBody>
      </p:sp>
      <p:sp>
        <p:nvSpPr>
          <p:cNvPr id="23" name="Rectangle 22"/>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0016" y="1645920"/>
            <a:ext cx="1920240" cy="256032"/>
          </a:xfrm>
          <a:prstGeom prst="rect">
            <a:avLst/>
          </a:prstGeom>
          <a:noFill/>
        </p:spPr>
        <p:txBody>
          <a:bodyPr wrap="square"/>
          <a:lstStyle/>
          <a:p>
            <a:pPr algn="l"/>
            <a:r>
              <a:rPr sz="900" b="1" i="0">
                <a:solidFill>
                  <a:srgbClr val="1E293B"/>
                </a:solidFill>
                <a:latin typeface="Poppins"/>
              </a:rPr>
              <a:t>Conservative (Phase 3, 1-3 cases/mo):</a:t>
            </a:r>
          </a:p>
        </p:txBody>
      </p:sp>
      <p:sp>
        <p:nvSpPr>
          <p:cNvPr id="25" name="TextBox 24"/>
          <p:cNvSpPr txBox="1"/>
          <p:nvPr/>
        </p:nvSpPr>
        <p:spPr>
          <a:xfrm>
            <a:off x="6729984" y="1645920"/>
            <a:ext cx="2103120" cy="256032"/>
          </a:xfrm>
          <a:prstGeom prst="rect">
            <a:avLst/>
          </a:prstGeom>
          <a:noFill/>
        </p:spPr>
        <p:txBody>
          <a:bodyPr wrap="square"/>
          <a:lstStyle/>
          <a:p>
            <a:pPr algn="l"/>
            <a:r>
              <a:rPr sz="900" b="1" i="0">
                <a:solidFill>
                  <a:srgbClr val="065F46"/>
                </a:solidFill>
                <a:latin typeface="Poppins"/>
              </a:rPr>
              <a:t>$25K-$75K revenue · ~20x return</a:t>
            </a:r>
          </a:p>
        </p:txBody>
      </p:sp>
      <p:sp>
        <p:nvSpPr>
          <p:cNvPr id="26" name="TextBox 25"/>
          <p:cNvSpPr txBox="1"/>
          <p:nvPr/>
        </p:nvSpPr>
        <p:spPr>
          <a:xfrm>
            <a:off x="4700016" y="1956816"/>
            <a:ext cx="1920240" cy="256032"/>
          </a:xfrm>
          <a:prstGeom prst="rect">
            <a:avLst/>
          </a:prstGeom>
          <a:noFill/>
        </p:spPr>
        <p:txBody>
          <a:bodyPr wrap="square"/>
          <a:lstStyle/>
          <a:p>
            <a:pPr algn="l"/>
            <a:r>
              <a:rPr sz="900" b="1" i="0">
                <a:solidFill>
                  <a:srgbClr val="1E293B"/>
                </a:solidFill>
                <a:latin typeface="Poppins"/>
              </a:rPr>
              <a:t>Aggressive (Phase 3 upside):</a:t>
            </a:r>
          </a:p>
        </p:txBody>
      </p:sp>
      <p:sp>
        <p:nvSpPr>
          <p:cNvPr id="27" name="TextBox 26"/>
          <p:cNvSpPr txBox="1"/>
          <p:nvPr/>
        </p:nvSpPr>
        <p:spPr>
          <a:xfrm>
            <a:off x="6729984" y="1956816"/>
            <a:ext cx="2103120" cy="256032"/>
          </a:xfrm>
          <a:prstGeom prst="rect">
            <a:avLst/>
          </a:prstGeom>
          <a:noFill/>
        </p:spPr>
        <p:txBody>
          <a:bodyPr wrap="square"/>
          <a:lstStyle/>
          <a:p>
            <a:pPr algn="l"/>
            <a:r>
              <a:rPr sz="900" b="1" i="0">
                <a:solidFill>
                  <a:srgbClr val="065F46"/>
                </a:solidFill>
                <a:latin typeface="Poppins"/>
              </a:rPr>
              <a:t>$18.75K spend · ~23x return</a:t>
            </a:r>
          </a:p>
        </p:txBody>
      </p:sp>
      <p:sp>
        <p:nvSpPr>
          <p:cNvPr id="28" name="TextBox 27"/>
          <p:cNvSpPr txBox="1"/>
          <p:nvPr/>
        </p:nvSpPr>
        <p:spPr>
          <a:xfrm>
            <a:off x="4535424" y="2468880"/>
            <a:ext cx="4407408" cy="237744"/>
          </a:xfrm>
          <a:prstGeom prst="rect">
            <a:avLst/>
          </a:prstGeom>
          <a:noFill/>
        </p:spPr>
        <p:txBody>
          <a:bodyPr wrap="square"/>
          <a:lstStyle/>
          <a:p>
            <a:pPr algn="l"/>
            <a:r>
              <a:rPr sz="800" b="1" i="0">
                <a:solidFill>
                  <a:srgbClr val="003A59"/>
                </a:solidFill>
                <a:latin typeface="Poppins"/>
              </a:rPr>
              <a:t>WHAT HAPPENS IN THE FIRST 90 DAYS</a:t>
            </a:r>
          </a:p>
        </p:txBody>
      </p:sp>
      <p:sp>
        <p:nvSpPr>
          <p:cNvPr id="29" name="Rectangle 28"/>
          <p:cNvSpPr/>
          <p:nvPr/>
        </p:nvSpPr>
        <p:spPr>
          <a:xfrm>
            <a:off x="4590288" y="2724912"/>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2734056"/>
            <a:ext cx="804672" cy="256032"/>
          </a:xfrm>
          <a:prstGeom prst="rect">
            <a:avLst/>
          </a:prstGeom>
          <a:noFill/>
        </p:spPr>
        <p:txBody>
          <a:bodyPr wrap="square"/>
          <a:lstStyle/>
          <a:p>
            <a:pPr algn="l"/>
            <a:r>
              <a:rPr sz="800" b="1" i="0">
                <a:solidFill>
                  <a:srgbClr val="003A59"/>
                </a:solidFill>
                <a:latin typeface="Poppins"/>
              </a:rPr>
              <a:t>Day 1</a:t>
            </a:r>
          </a:p>
        </p:txBody>
      </p:sp>
      <p:sp>
        <p:nvSpPr>
          <p:cNvPr id="31" name="TextBox 30"/>
          <p:cNvSpPr txBox="1"/>
          <p:nvPr/>
        </p:nvSpPr>
        <p:spPr>
          <a:xfrm>
            <a:off x="5815584" y="2734056"/>
            <a:ext cx="3054096" cy="256032"/>
          </a:xfrm>
          <a:prstGeom prst="rect">
            <a:avLst/>
          </a:prstGeom>
          <a:noFill/>
        </p:spPr>
        <p:txBody>
          <a:bodyPr wrap="square"/>
          <a:lstStyle/>
          <a:p>
            <a:pPr algn="l"/>
            <a:r>
              <a:rPr sz="800" b="0" i="0">
                <a:solidFill>
                  <a:srgbClr val="1E293B"/>
                </a:solidFill>
                <a:latin typeface="Poppins"/>
              </a:rPr>
              <a:t>Coaching kickoff begins</a:t>
            </a:r>
          </a:p>
        </p:txBody>
      </p:sp>
      <p:sp>
        <p:nvSpPr>
          <p:cNvPr id="32" name="Rectangle 31"/>
          <p:cNvSpPr/>
          <p:nvPr/>
        </p:nvSpPr>
        <p:spPr>
          <a:xfrm>
            <a:off x="4590288" y="3081528"/>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37760" y="3090672"/>
            <a:ext cx="804672" cy="256032"/>
          </a:xfrm>
          <a:prstGeom prst="rect">
            <a:avLst/>
          </a:prstGeom>
          <a:noFill/>
        </p:spPr>
        <p:txBody>
          <a:bodyPr wrap="square"/>
          <a:lstStyle/>
          <a:p>
            <a:pPr algn="l"/>
            <a:r>
              <a:rPr sz="800" b="1" i="0">
                <a:solidFill>
                  <a:srgbClr val="003A59"/>
                </a:solidFill>
                <a:latin typeface="Poppins"/>
              </a:rPr>
              <a:t>Day 14</a:t>
            </a:r>
          </a:p>
        </p:txBody>
      </p:sp>
      <p:sp>
        <p:nvSpPr>
          <p:cNvPr id="34" name="TextBox 33"/>
          <p:cNvSpPr txBox="1"/>
          <p:nvPr/>
        </p:nvSpPr>
        <p:spPr>
          <a:xfrm>
            <a:off x="5815584" y="3090672"/>
            <a:ext cx="3054096" cy="256032"/>
          </a:xfrm>
          <a:prstGeom prst="rect">
            <a:avLst/>
          </a:prstGeom>
          <a:noFill/>
        </p:spPr>
        <p:txBody>
          <a:bodyPr wrap="square"/>
          <a:lstStyle/>
          <a:p>
            <a:pPr algn="l"/>
            <a:r>
              <a:rPr sz="800" b="0" i="0">
                <a:solidFill>
                  <a:srgbClr val="1E293B"/>
                </a:solidFill>
                <a:latin typeface="Poppins"/>
              </a:rPr>
              <a:t>Intake process &amp; follow-up sequence defined</a:t>
            </a:r>
          </a:p>
        </p:txBody>
      </p:sp>
      <p:sp>
        <p:nvSpPr>
          <p:cNvPr id="35" name="Rectangle 34"/>
          <p:cNvSpPr/>
          <p:nvPr/>
        </p:nvSpPr>
        <p:spPr>
          <a:xfrm>
            <a:off x="4590288" y="3438144"/>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37760" y="3447287"/>
            <a:ext cx="804672" cy="256032"/>
          </a:xfrm>
          <a:prstGeom prst="rect">
            <a:avLst/>
          </a:prstGeom>
          <a:noFill/>
        </p:spPr>
        <p:txBody>
          <a:bodyPr wrap="square"/>
          <a:lstStyle/>
          <a:p>
            <a:pPr algn="l"/>
            <a:r>
              <a:rPr sz="800" b="1" i="0">
                <a:solidFill>
                  <a:srgbClr val="003A59"/>
                </a:solidFill>
                <a:latin typeface="Poppins"/>
              </a:rPr>
              <a:t>Week 2</a:t>
            </a:r>
          </a:p>
        </p:txBody>
      </p:sp>
      <p:sp>
        <p:nvSpPr>
          <p:cNvPr id="37" name="TextBox 36"/>
          <p:cNvSpPr txBox="1"/>
          <p:nvPr/>
        </p:nvSpPr>
        <p:spPr>
          <a:xfrm>
            <a:off x="5815584" y="3447287"/>
            <a:ext cx="3054096" cy="256032"/>
          </a:xfrm>
          <a:prstGeom prst="rect">
            <a:avLst/>
          </a:prstGeom>
          <a:noFill/>
        </p:spPr>
        <p:txBody>
          <a:bodyPr wrap="square"/>
          <a:lstStyle/>
          <a:p>
            <a:pPr algn="l"/>
            <a:r>
              <a:rPr sz="800" b="0" i="0">
                <a:solidFill>
                  <a:srgbClr val="1E293B"/>
                </a:solidFill>
                <a:latin typeface="Poppins"/>
              </a:rPr>
              <a:t>Private fee-structure roadmap built</a:t>
            </a:r>
          </a:p>
        </p:txBody>
      </p:sp>
      <p:sp>
        <p:nvSpPr>
          <p:cNvPr id="38" name="Rectangle 37"/>
          <p:cNvSpPr/>
          <p:nvPr/>
        </p:nvSpPr>
        <p:spPr>
          <a:xfrm>
            <a:off x="4590288" y="3794760"/>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37760" y="3803904"/>
            <a:ext cx="804672" cy="256032"/>
          </a:xfrm>
          <a:prstGeom prst="rect">
            <a:avLst/>
          </a:prstGeom>
          <a:noFill/>
        </p:spPr>
        <p:txBody>
          <a:bodyPr wrap="square"/>
          <a:lstStyle/>
          <a:p>
            <a:pPr algn="l"/>
            <a:r>
              <a:rPr sz="800" b="1" i="0">
                <a:solidFill>
                  <a:srgbClr val="003A59"/>
                </a:solidFill>
                <a:latin typeface="Poppins"/>
              </a:rPr>
              <a:t>Week 3</a:t>
            </a:r>
          </a:p>
        </p:txBody>
      </p:sp>
      <p:sp>
        <p:nvSpPr>
          <p:cNvPr id="40" name="TextBox 39"/>
          <p:cNvSpPr txBox="1"/>
          <p:nvPr/>
        </p:nvSpPr>
        <p:spPr>
          <a:xfrm>
            <a:off x="5815584" y="3803904"/>
            <a:ext cx="3054096" cy="256032"/>
          </a:xfrm>
          <a:prstGeom prst="rect">
            <a:avLst/>
          </a:prstGeom>
          <a:noFill/>
        </p:spPr>
        <p:txBody>
          <a:bodyPr wrap="square"/>
          <a:lstStyle/>
          <a:p>
            <a:pPr algn="l"/>
            <a:r>
              <a:rPr sz="800" b="0" i="0">
                <a:solidFill>
                  <a:srgbClr val="1E293B"/>
                </a:solidFill>
                <a:latin typeface="Poppins"/>
              </a:rPr>
              <a:t>First support hire identified</a:t>
            </a:r>
          </a:p>
        </p:txBody>
      </p:sp>
      <p:sp>
        <p:nvSpPr>
          <p:cNvPr id="41" name="Rectangle 40"/>
          <p:cNvSpPr/>
          <p:nvPr/>
        </p:nvSpPr>
        <p:spPr>
          <a:xfrm>
            <a:off x="4590288" y="4151376"/>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37760" y="4160520"/>
            <a:ext cx="804672" cy="256032"/>
          </a:xfrm>
          <a:prstGeom prst="rect">
            <a:avLst/>
          </a:prstGeom>
          <a:noFill/>
        </p:spPr>
        <p:txBody>
          <a:bodyPr wrap="square"/>
          <a:lstStyle/>
          <a:p>
            <a:pPr algn="l"/>
            <a:r>
              <a:rPr sz="800" b="1" i="0">
                <a:solidFill>
                  <a:srgbClr val="003A59"/>
                </a:solidFill>
                <a:latin typeface="Poppins"/>
              </a:rPr>
              <a:t>Month 3</a:t>
            </a:r>
          </a:p>
        </p:txBody>
      </p:sp>
      <p:sp>
        <p:nvSpPr>
          <p:cNvPr id="43" name="TextBox 42"/>
          <p:cNvSpPr txBox="1"/>
          <p:nvPr/>
        </p:nvSpPr>
        <p:spPr>
          <a:xfrm>
            <a:off x="5815584" y="4160520"/>
            <a:ext cx="3054096" cy="256032"/>
          </a:xfrm>
          <a:prstGeom prst="rect">
            <a:avLst/>
          </a:prstGeom>
          <a:noFill/>
        </p:spPr>
        <p:txBody>
          <a:bodyPr wrap="square"/>
          <a:lstStyle/>
          <a:p>
            <a:pPr algn="l"/>
            <a:r>
              <a:rPr sz="800" b="0" i="0">
                <a:solidFill>
                  <a:srgbClr val="1E293B"/>
                </a:solidFill>
                <a:latin typeface="Poppins"/>
              </a:rPr>
              <a:t>Website &amp; GBP build scoped for Phase 3</a:t>
            </a:r>
          </a:p>
        </p:txBody>
      </p:sp>
      <p:sp>
        <p:nvSpPr>
          <p:cNvPr id="44" name="Rectangle 43"/>
          <p:cNvSpPr/>
          <p:nvPr/>
        </p:nvSpPr>
        <p:spPr>
          <a:xfrm>
            <a:off x="0" y="4425696"/>
            <a:ext cx="9144000" cy="402336"/>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4320" y="4425696"/>
            <a:ext cx="8595360" cy="402336"/>
          </a:xfrm>
          <a:prstGeom prst="rect">
            <a:avLst/>
          </a:prstGeom>
          <a:noFill/>
        </p:spPr>
        <p:txBody>
          <a:bodyPr wrap="square"/>
          <a:lstStyle/>
          <a:p>
            <a:pPr algn="ctr"/>
            <a:r>
              <a:rPr sz="900" b="0" i="1">
                <a:solidFill>
                  <a:srgbClr val="8BADD0"/>
                </a:solidFill>
                <a:latin typeface="Poppins"/>
              </a:rPr>
              <a:t>"My vision is a self-managing firm — one where I can finally step into a hands-off, CEO-level role."</a:t>
            </a:r>
          </a:p>
        </p:txBody>
      </p:sp>
      <p:sp>
        <p:nvSpPr>
          <p:cNvPr id="46" name="Rectangle 45"/>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Jacob Meissner | SMB Team</a:t>
            </a:r>
          </a:p>
        </p:txBody>
      </p:sp>
      <p:sp>
        <p:nvSpPr>
          <p:cNvPr id="48" name="TextBox 47"/>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