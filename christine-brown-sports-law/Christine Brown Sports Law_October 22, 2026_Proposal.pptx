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84048"/>
            <a:ext cx="630936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50" b="1" i="0">
                <a:solidFill>
                  <a:srgbClr val="FFFFFF"/>
                </a:solidFill>
                <a:latin typeface="Poppins"/>
              </a:rPr>
              <a:t>Where Christine Brown Sports Law Stands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84848" y="164592"/>
            <a:ext cx="2066543" cy="512064"/>
          </a:xfrm>
          <a:prstGeom prst="rect">
            <a:avLst/>
          </a:prstGeom>
          <a:solidFill>
            <a:srgbClr val="0B4C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31152" y="210312"/>
            <a:ext cx="384048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75" y="274320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69CD2B"/>
                </a:solidFill>
                <a:latin typeface="Poppins"/>
              </a:rPr>
              <a:t>COMPETITIVE URGENCY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1775" y="429768"/>
            <a:ext cx="14173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9CC0D6"/>
                </a:solidFill>
                <a:latin typeface="Poppins"/>
              </a:rPr>
              <a:t>Score out of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3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Lead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3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Content-led visibility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0592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Form linked off-page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Roles clearly defined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52144"/>
            <a:ext cx="1773936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Profit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58584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58584" y="1426464"/>
            <a:ext cx="585216" cy="173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1664208"/>
            <a:ext cx="1773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Baseline not visible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011680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KEY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267712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267712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9768" y="2459736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2386584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Phone visitors likely leave before the site loads: mobile performance is 28/100.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889504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889504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" y="3081528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3008376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No clear consultation button, and the intake form is linked off the homepage.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511296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3511296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3703320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3630168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Growth keeps landing on Christine until AI workflows and an operating rhythm carry the repeatable work.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33087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4133087"/>
            <a:ext cx="36576" cy="557784"/>
          </a:xfrm>
          <a:prstGeom prst="rect">
            <a:avLst/>
          </a:prstGeom>
          <a:solidFill>
            <a:srgbClr val="3F8F1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9768" y="4325112"/>
            <a:ext cx="164592" cy="164592"/>
          </a:xfrm>
          <a:prstGeom prst="roundRect">
            <a:avLst/>
          </a:prstGeom>
          <a:solidFill>
            <a:srgbClr val="3F8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65978" y="4415637"/>
            <a:ext cx="32918" cy="31273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896" y="4367905"/>
            <a:ext cx="62545" cy="79005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251959"/>
            <a:ext cx="3447288" cy="3749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About 30 years of experience, a defined team, and active press coverage are strong foundations.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28032" y="2011680"/>
            <a:ext cx="4041648" cy="7498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28032" y="2011680"/>
            <a:ext cx="36576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0912" y="2103120"/>
            <a:ext cx="2578607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0912" y="2258568"/>
            <a:ext cx="2578607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Poppins"/>
              </a:rPr>
              <a:t>Stage 4: Small Business Manager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10912" y="2496312"/>
            <a:ext cx="2578607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→  Goal: Stage 6, Law Firm Owner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744968" y="2560320"/>
            <a:ext cx="118872" cy="73152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09560" y="2487168"/>
            <a:ext cx="118872" cy="146304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74152" y="2414015"/>
            <a:ext cx="118872" cy="219456"/>
          </a:xfrm>
          <a:prstGeom prst="rect">
            <a:avLst/>
          </a:prstGeom>
          <a:solidFill>
            <a:srgbClr val="4F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38744" y="2340864"/>
            <a:ext cx="118872" cy="292608"/>
          </a:xfrm>
          <a:prstGeom prst="rect">
            <a:avLst/>
          </a:prstGeom>
          <a:solidFill>
            <a:srgbClr val="69C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03336" y="2267712"/>
            <a:ext cx="118872" cy="3657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567928" y="2194560"/>
            <a:ext cx="118872" cy="438912"/>
          </a:xfrm>
          <a:prstGeom prst="rect">
            <a:avLst/>
          </a:prstGeom>
          <a:solidFill>
            <a:srgbClr val="003A59"/>
          </a:solidFill>
          <a:ln w="12700">
            <a:solidFill>
              <a:srgbClr val="69C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828032" y="2871216"/>
            <a:ext cx="4041648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COMPETITOR LANDSCAPE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032" y="3127248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937760" y="3127248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Duffy Law,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0" y="3127248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79792" y="3127248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New Haven · Title IX since 2015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828032" y="3529584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37760" y="3529584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Barry, Taylor &amp; Levesque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3529584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79792" y="3529584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Hartford · NCAA infractions pages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28032" y="3931920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937760" y="3931920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Athlete Defender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83680" y="3931920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79792" y="3931920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25+ yrs · many keyword pages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28032" y="4334256"/>
            <a:ext cx="4041648" cy="356616"/>
          </a:xfrm>
          <a:prstGeom prst="rect">
            <a:avLst/>
          </a:prstGeom>
          <a:solidFill>
            <a:srgbClr val="FBEE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828032" y="4334256"/>
            <a:ext cx="36576" cy="35661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937760" y="4334256"/>
            <a:ext cx="1645920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Christine Brown Sports Law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4334256"/>
            <a:ext cx="896112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Not verified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9792" y="4334256"/>
            <a:ext cx="1335024" cy="3566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← You are here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for a Firm That Scales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Put AI to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for Your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Kick off with your Fractional CTO and map repeat work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Deploy the first AI skills for drafting and research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Roll out AI Workforce Pro to all 12 seats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Build one custom automation each month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Free attorney hours for athletes, coaches, and teams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9544" y="1005840"/>
            <a:ext cx="2724912" cy="877824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43306"/>
                </a:solidFill>
                <a:latin typeface="Poppins"/>
              </a:rPr>
              <a:t>PRIORITY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Fix Intake &amp;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Stop Losing 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9544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Add a clear consultation button above the fold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Embed the intake form right on the homepage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Speed up the mobile site from 28/100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Set a response and follow-up standard for inquiries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Turn more of the visitors you earn into clients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3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Set a weekly operating rhythm with your FCOO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Give every role clear goals and accountability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Build a monthly profit snapshot by matter type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Let decisions happen without waiting on you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Join weekly coaching and law-firm masterminds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630936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11556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LEGAL AI WORKFORCE — FCTO L1 + AI WORKFORCE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25272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$5,734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8611" y="151942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8898" y="1519428"/>
            <a:ext cx="1865630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FCTO $3,797/mo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73736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Monthly fCTO session · AI skills · automations · 12 seats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6712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FCOO ADVISOR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30428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$3,297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4891" y="257098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5177" y="2570988"/>
            <a:ext cx="1919351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$3,797/mo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78892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Ops leadership · Weekly group coaching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00400"/>
            <a:ext cx="15544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346704"/>
            <a:ext cx="2194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$9,031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9823" y="3460051"/>
            <a:ext cx="228470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Save $1,000/mo by bundling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005840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WE FOUND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33502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00016" y="1417320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33502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Repetitive 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3502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Monthly AI skills, rolled out to all 12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1883664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0016" y="196596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188366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Escalations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188366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FCOO builds rhythm + role-level accountability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2432304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0016" y="2514600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0" y="2432304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Follow-up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432304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Defined inquiry process, built as an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97680"/>
            <a:ext cx="7863840" cy="4937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"The credentials, the team, and the reputation are already in place — what is missing is the system that lets the firm run on them instead of on Christine alone."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