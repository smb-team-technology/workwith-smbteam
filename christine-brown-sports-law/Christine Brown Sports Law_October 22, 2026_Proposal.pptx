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63093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84048"/>
            <a:ext cx="630936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50" b="1" i="0">
                <a:solidFill>
                  <a:srgbClr val="FFFFFF"/>
                </a:solidFill>
                <a:latin typeface="Poppins"/>
              </a:rPr>
              <a:t>Where Christine Brown Sports Law Stands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784848" y="164592"/>
            <a:ext cx="2066543" cy="512064"/>
          </a:xfrm>
          <a:prstGeom prst="rect">
            <a:avLst/>
          </a:prstGeom>
          <a:solidFill>
            <a:srgbClr val="0B4C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31152" y="210312"/>
            <a:ext cx="384048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51775" y="274320"/>
            <a:ext cx="14173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69CD2B"/>
                </a:solidFill>
                <a:latin typeface="Poppins"/>
              </a:rPr>
              <a:t>COMPETITIVE URGENCY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1775" y="429768"/>
            <a:ext cx="14173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9CC0D6"/>
                </a:solidFill>
                <a:latin typeface="Poppins"/>
              </a:rPr>
              <a:t>Score out of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3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Lead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3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3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Content-led visibility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0592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Intake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6896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6896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Form linked off-page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8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82312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Roles clearly defined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58584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Profit Plan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58584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58584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4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Baseline not visible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2011680"/>
            <a:ext cx="42976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KEY FINDINGS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267712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2267712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9768" y="2459736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2386584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Phone visitors likely leave before the site loads: mobile performance is 28/100.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889504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4320" y="2889504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768" y="3081528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3008376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No clear consultation button, and the intake form is linked off the homepage.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511296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3511296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3703320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85800" y="3630168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Growth keeps landing on Christine until AI workflows and an operating rhythm carry the repeatable work.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33087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" y="4133087"/>
            <a:ext cx="36576" cy="557784"/>
          </a:xfrm>
          <a:prstGeom prst="rect">
            <a:avLst/>
          </a:prstGeom>
          <a:solidFill>
            <a:srgbClr val="3F8F1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29768" y="4325112"/>
            <a:ext cx="164592" cy="164592"/>
          </a:xfrm>
          <a:prstGeom prst="roundRect">
            <a:avLst/>
          </a:prstGeom>
          <a:solidFill>
            <a:srgbClr val="3F8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65978" y="4415637"/>
            <a:ext cx="32918" cy="31273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896" y="4367905"/>
            <a:ext cx="62545" cy="79005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5800" y="4251959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About 30 years of experience, a defined team, and active press coverage are strong foundations.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28032" y="2011680"/>
            <a:ext cx="4041648" cy="7498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828032" y="2011680"/>
            <a:ext cx="36576" cy="7498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10912" y="2103120"/>
            <a:ext cx="2578607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0912" y="2258568"/>
            <a:ext cx="2578607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Poppins"/>
              </a:rPr>
              <a:t>Stage 4: Small Business Manager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10912" y="2496312"/>
            <a:ext cx="2578607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8CDDD"/>
                </a:solidFill>
                <a:latin typeface="Poppins"/>
              </a:rPr>
              <a:t>→  Goal: Stage 6, Law Firm Owner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44968" y="2560320"/>
            <a:ext cx="118872" cy="73152"/>
          </a:xfrm>
          <a:prstGeom prst="rect">
            <a:avLst/>
          </a:prstGeom>
          <a:solidFill>
            <a:srgbClr val="4F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09560" y="2487168"/>
            <a:ext cx="118872" cy="146304"/>
          </a:xfrm>
          <a:prstGeom prst="rect">
            <a:avLst/>
          </a:prstGeom>
          <a:solidFill>
            <a:srgbClr val="4F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74152" y="2414015"/>
            <a:ext cx="118872" cy="219456"/>
          </a:xfrm>
          <a:prstGeom prst="rect">
            <a:avLst/>
          </a:prstGeom>
          <a:solidFill>
            <a:srgbClr val="4F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38744" y="2340864"/>
            <a:ext cx="118872" cy="292608"/>
          </a:xfrm>
          <a:prstGeom prst="rect">
            <a:avLst/>
          </a:prstGeom>
          <a:solidFill>
            <a:srgbClr val="69C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03336" y="2267712"/>
            <a:ext cx="118872" cy="3657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567928" y="2194560"/>
            <a:ext cx="118872" cy="438912"/>
          </a:xfrm>
          <a:prstGeom prst="rect">
            <a:avLst/>
          </a:prstGeom>
          <a:solidFill>
            <a:srgbClr val="003A59"/>
          </a:solidFill>
          <a:ln w="12700">
            <a:solidFill>
              <a:srgbClr val="69C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828032" y="2871216"/>
            <a:ext cx="4041648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COMPETITOR LANDSCAPE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032" y="3127248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937760" y="3127248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Duffy Law,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83680" y="3127248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79792" y="3127248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New Haven · Title IX since 2015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28032" y="3529584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37760" y="3529584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Barry, Taylor &amp; Levesque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3529584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79792" y="3529584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Hartford · NCAA infractions pages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28032" y="3931920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37760" y="3931920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Athlete Defender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83680" y="3931920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79792" y="3931920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25+ yrs · many keyword pages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28032" y="4334256"/>
            <a:ext cx="4041648" cy="356616"/>
          </a:xfrm>
          <a:prstGeom prst="rect">
            <a:avLst/>
          </a:prstGeom>
          <a:solidFill>
            <a:srgbClr val="FBEE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828032" y="4334256"/>
            <a:ext cx="36576" cy="356616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937760" y="4334256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B32D2D"/>
                </a:solidFill>
                <a:latin typeface="Poppins"/>
              </a:rPr>
              <a:t>Christine Brown Sports Law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4334256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B32D2D"/>
                </a:solidFill>
                <a:latin typeface="Poppins"/>
              </a:rPr>
              <a:t>Not verified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9792" y="4334256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← You are here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63093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Growth Plan: 3 Priorities for a Firm That Scales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2212848" cy="228600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212848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1847088" cy="1463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26464"/>
            <a:ext cx="1847088" cy="1737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8CDDD"/>
                </a:solidFill>
                <a:latin typeface="Poppins"/>
              </a:rPr>
              <a:t>Lead generation, intake, a self-managing team, and a profit plan all have to work together. When all four work, Christine can step back while the firm keeps growing.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56432"/>
            <a:ext cx="2212848" cy="1124712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21024"/>
            <a:ext cx="1847088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50" b="1" i="0">
                <a:solidFill>
                  <a:srgbClr val="143306"/>
                </a:solidFill>
                <a:latin typeface="Poppins"/>
              </a:rPr>
              <a:t>A firm that scales beyond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1847088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F470C"/>
                </a:solidFill>
                <a:latin typeface="Poppins"/>
              </a:rPr>
              <a:t>Step away and trust the firm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1005840"/>
            <a:ext cx="2066543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34640" y="1097280"/>
            <a:ext cx="4572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1316736"/>
            <a:ext cx="18288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Put AI to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536192"/>
            <a:ext cx="18288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for Your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048" y="1865376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2093976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883664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Kick off with your Fractional CTO and map repeat 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0048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16352" y="265176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44144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Deploy the first AI skills for drafting and research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971800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16352" y="320040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1800" y="299008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Roll out AI Workforce Pro to all 12 seats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16352" y="3749039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71800" y="353872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one custom automation each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048" y="4078224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16352" y="4306824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800" y="4096511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1B2A38"/>
                </a:solidFill>
                <a:latin typeface="Poppins"/>
              </a:rPr>
              <a:t>Free attorney hours for athletes, coaches, and teams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1005840"/>
            <a:ext cx="2066543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10912" y="1097280"/>
            <a:ext cx="4572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43306"/>
                </a:solidFill>
                <a:latin typeface="Poppins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10912" y="1316736"/>
            <a:ext cx="18288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Fix Intake &amp;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0912" y="1536192"/>
            <a:ext cx="18288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50" b="1" i="0">
                <a:solidFill>
                  <a:srgbClr val="143306"/>
                </a:solidFill>
                <a:latin typeface="Poppins"/>
              </a:rPr>
              <a:t>Stop Losing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1865376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992624" y="2093976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1883664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Add a clear consultation button above the fold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92624" y="265176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48072" y="244144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Embed the intake form right on the homepage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2971800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92624" y="320040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48072" y="299008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Speed up the mobile site from 28/100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92624" y="3749039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48072" y="353872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1B2A38"/>
                </a:solidFill>
                <a:latin typeface="Poppins"/>
              </a:rPr>
              <a:t>Set a response and follow-up standard for inquiries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46320" y="4078224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992624" y="4306824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8072" y="4096511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Turn more of the visitors you earn into clients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22592" y="1005840"/>
            <a:ext cx="2066543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87183" y="1097280"/>
            <a:ext cx="4572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3" y="1316736"/>
            <a:ext cx="18288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7183" y="1536192"/>
            <a:ext cx="18288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22592" y="1865376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168896" y="2093976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1883664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Set a weekly operating rhythm with your FCOO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22592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68896" y="265176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24344" y="244144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Give every role clear goals and accountability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2592" y="2971800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68896" y="320040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24344" y="299008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a monthly profit snapshot by matter type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22592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68896" y="3749039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24344" y="3538728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Let decisions happen without waiting on you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22592" y="4078224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68896" y="4306824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24344" y="4096511"/>
            <a:ext cx="16459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Join weekly coaching and law-firm masterminds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63093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6576" cy="96012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115568"/>
            <a:ext cx="3621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91C9"/>
                </a:solidFill>
                <a:latin typeface="Poppins"/>
              </a:rPr>
              <a:t>LEGAL AI WORKFORCE — FCTO L1 + AI WORKFORCE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252728"/>
            <a:ext cx="2377440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$5,734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8611" y="1519428"/>
            <a:ext cx="457200" cy="21945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8898" y="1519428"/>
            <a:ext cx="186563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FCTO $3,797/mo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737360"/>
            <a:ext cx="362102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Monthly fCTO session · AI skills · automations · 12 seats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5740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57400"/>
            <a:ext cx="36576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67128"/>
            <a:ext cx="3621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FCOO ADVISOR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304288"/>
            <a:ext cx="2377440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$3,297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4891" y="2570988"/>
            <a:ext cx="457200" cy="21945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5177" y="2570988"/>
            <a:ext cx="1919351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$3,797/mo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2788920"/>
            <a:ext cx="362102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Ops leadership · Weekly group coaching · Workshops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08960"/>
            <a:ext cx="4041648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108960"/>
            <a:ext cx="36576" cy="65836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200400"/>
            <a:ext cx="15544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BUNDLE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346704"/>
            <a:ext cx="2194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oppins"/>
              </a:rPr>
              <a:t>$9,031 /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9823" y="3460051"/>
            <a:ext cx="228470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0" i="0">
                <a:solidFill>
                  <a:srgbClr val="A9D68C"/>
                </a:solidFill>
                <a:latin typeface="Poppins"/>
              </a:rPr>
              <a:t>Save $1,000/mo by bundling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1005840"/>
            <a:ext cx="42976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WHAT WE FOUND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33502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00016" y="1417320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33502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Repetitive 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133502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Monthly AI skills, rolled out to all 12 users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1883664"/>
            <a:ext cx="4297680" cy="265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00016" y="196596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188366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Escalations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188366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FCOO builds rhythm + role-level accountability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243230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00016" y="251460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243230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Follow-up gaps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43230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Defined inquiry process, built as an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4261104"/>
            <a:ext cx="9144000" cy="557784"/>
          </a:xfrm>
          <a:prstGeom prst="rect">
            <a:avLst/>
          </a:prstGeom>
          <a:solidFill>
            <a:srgbClr val="002A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261104"/>
            <a:ext cx="9144000" cy="1828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97680"/>
            <a:ext cx="7863840" cy="4937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2D8E6"/>
                </a:solidFill>
                <a:latin typeface="Poppins"/>
              </a:rPr>
              <a:t>"The credentials, the team, and the reputation are already in place — what is missing is the system that lets the firm run on them instead of on Christine alone."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