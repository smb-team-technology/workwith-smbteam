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embeddedFontLst>
    <p:embeddedFont>
      <p:font typeface="Poppins"/>
      <p:regular r:id="rIdEmbedFont1"/>
      <p:bold r:id="rIdEmbedFont2"/>
      <p:italic r:id="rIdEmbedFont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EmbedFont1" Type="http://schemas.openxmlformats.org/officeDocument/2006/relationships/font" Target="fonts/font1.fntdata"/><Relationship Id="rIdEmbedFont2" Type="http://schemas.openxmlformats.org/officeDocument/2006/relationships/font" Target="fonts/font2.fntdata"/><Relationship Id="rIdEmbedFont3" Type="http://schemas.openxmlformats.org/officeDocument/2006/relationships/font" Target="fonts/font3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7F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9144000" cy="36576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82880"/>
            <a:ext cx="5486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69CD2B"/>
                </a:solidFill>
                <a:latin typeface="Poppins"/>
              </a:rPr>
              <a:t>LAW FIRM GROWTH AUDIT  ·  CHRISTINE BROWN SPORTS 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65760"/>
            <a:ext cx="630936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Poppins"/>
              </a:rPr>
              <a:t>Where Christine Brown Sports Law Stands Today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6784848" y="164592"/>
            <a:ext cx="2066543" cy="512064"/>
          </a:xfrm>
          <a:prstGeom prst="rect">
            <a:avLst/>
          </a:prstGeom>
          <a:solidFill>
            <a:srgbClr val="0B4C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31152" y="210312"/>
            <a:ext cx="384048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100" b="1" i="0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51775" y="274320"/>
            <a:ext cx="141732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1" i="0">
                <a:solidFill>
                  <a:srgbClr val="69CD2B"/>
                </a:solidFill>
                <a:latin typeface="Poppins"/>
              </a:rPr>
              <a:t>COMPETITIVE URGENCY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51775" y="429768"/>
            <a:ext cx="141732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0" i="0">
                <a:solidFill>
                  <a:srgbClr val="9CC0D6"/>
                </a:solidFill>
                <a:latin typeface="Poppins"/>
              </a:rPr>
              <a:t>Score out of 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005840"/>
            <a:ext cx="2066543" cy="87782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1005840"/>
            <a:ext cx="2066543" cy="36576"/>
          </a:xfrm>
          <a:prstGeom prst="rect">
            <a:avLst/>
          </a:prstGeom>
          <a:solidFill>
            <a:srgbClr val="B5770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3" y="1152144"/>
            <a:ext cx="1773936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1B2A38"/>
                </a:solidFill>
                <a:latin typeface="Poppins"/>
              </a:rPr>
              <a:t>Lead Generation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3" y="1426464"/>
            <a:ext cx="585216" cy="173736"/>
          </a:xfrm>
          <a:prstGeom prst="roundRect">
            <a:avLst/>
          </a:prstGeom>
          <a:solidFill>
            <a:srgbClr val="FDF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3" y="1426464"/>
            <a:ext cx="585216" cy="1737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750" b="1" i="0">
                <a:solidFill>
                  <a:srgbClr val="B5770B"/>
                </a:solidFill>
                <a:latin typeface="Poppins"/>
              </a:rPr>
              <a:t>AMBER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3" y="1664208"/>
            <a:ext cx="17739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7C8D9B"/>
                </a:solidFill>
                <a:latin typeface="Poppins"/>
              </a:rPr>
              <a:t>Content-led visibility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0592" y="1005840"/>
            <a:ext cx="2066543" cy="87782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50592" y="1005840"/>
            <a:ext cx="2066543" cy="36576"/>
          </a:xfrm>
          <a:prstGeom prst="rect">
            <a:avLst/>
          </a:prstGeom>
          <a:solidFill>
            <a:srgbClr val="B5770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96896" y="1152144"/>
            <a:ext cx="1773936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1B2A38"/>
                </a:solidFill>
                <a:latin typeface="Poppins"/>
              </a:rPr>
              <a:t>Intake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96896" y="1426464"/>
            <a:ext cx="585216" cy="173736"/>
          </a:xfrm>
          <a:prstGeom prst="roundRect">
            <a:avLst/>
          </a:prstGeom>
          <a:solidFill>
            <a:srgbClr val="FDF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96896" y="1426464"/>
            <a:ext cx="585216" cy="1737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750" b="1" i="0">
                <a:solidFill>
                  <a:srgbClr val="B5770B"/>
                </a:solidFill>
                <a:latin typeface="Poppins"/>
              </a:rPr>
              <a:t>AMBER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96896" y="1664208"/>
            <a:ext cx="17739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7C8D9B"/>
                </a:solidFill>
                <a:latin typeface="Poppins"/>
              </a:rPr>
              <a:t>Form linked off-page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36008" y="1005840"/>
            <a:ext cx="2066543" cy="87782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36008" y="1005840"/>
            <a:ext cx="2066543" cy="36576"/>
          </a:xfrm>
          <a:prstGeom prst="rect">
            <a:avLst/>
          </a:prstGeom>
          <a:solidFill>
            <a:srgbClr val="B5770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82312" y="1152144"/>
            <a:ext cx="1773936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1B2A38"/>
                </a:solidFill>
                <a:latin typeface="Poppins"/>
              </a:rPr>
              <a:t>Team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82312" y="1426464"/>
            <a:ext cx="585216" cy="173736"/>
          </a:xfrm>
          <a:prstGeom prst="roundRect">
            <a:avLst/>
          </a:prstGeom>
          <a:solidFill>
            <a:srgbClr val="FDF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82312" y="1426464"/>
            <a:ext cx="585216" cy="1737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750" b="1" i="0">
                <a:solidFill>
                  <a:srgbClr val="B5770B"/>
                </a:solidFill>
                <a:latin typeface="Poppins"/>
              </a:rPr>
              <a:t>AMBER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82312" y="1664208"/>
            <a:ext cx="17739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7C8D9B"/>
                </a:solidFill>
                <a:latin typeface="Poppins"/>
              </a:rPr>
              <a:t>Roles clearly defined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12280" y="1005840"/>
            <a:ext cx="2066543" cy="87782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12280" y="1005840"/>
            <a:ext cx="2066543" cy="36576"/>
          </a:xfrm>
          <a:prstGeom prst="rect">
            <a:avLst/>
          </a:prstGeom>
          <a:solidFill>
            <a:srgbClr val="B5770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58584" y="1152144"/>
            <a:ext cx="1773936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1B2A38"/>
                </a:solidFill>
                <a:latin typeface="Poppins"/>
              </a:rPr>
              <a:t>Profit Plan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58584" y="1426464"/>
            <a:ext cx="585216" cy="173736"/>
          </a:xfrm>
          <a:prstGeom prst="roundRect">
            <a:avLst/>
          </a:prstGeom>
          <a:solidFill>
            <a:srgbClr val="FDF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58584" y="1426464"/>
            <a:ext cx="585216" cy="1737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750" b="1" i="0">
                <a:solidFill>
                  <a:srgbClr val="B5770B"/>
                </a:solidFill>
                <a:latin typeface="Poppins"/>
              </a:rPr>
              <a:t>AMBER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58584" y="1664208"/>
            <a:ext cx="17739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7C8D9B"/>
                </a:solidFill>
                <a:latin typeface="Poppins"/>
              </a:rPr>
              <a:t>Baseline not visible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2011680"/>
            <a:ext cx="42976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003A59"/>
                </a:solidFill>
                <a:latin typeface="Poppins"/>
              </a:rPr>
              <a:t>KEY FINDINGS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2267712"/>
            <a:ext cx="4315968" cy="55778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4320" y="2267712"/>
            <a:ext cx="36576" cy="557784"/>
          </a:xfrm>
          <a:prstGeom prst="rect">
            <a:avLst/>
          </a:prstGeom>
          <a:solidFill>
            <a:srgbClr val="B32D2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29768" y="2459736"/>
            <a:ext cx="164592" cy="164592"/>
          </a:xfrm>
          <a:prstGeom prst="roundRect">
            <a:avLst/>
          </a:prstGeom>
          <a:solidFill>
            <a:srgbClr val="B3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469270" y="2499238"/>
            <a:ext cx="85587" cy="85587"/>
          </a:xfrm>
          <a:prstGeom prst="line">
            <a:avLst/>
          </a:prstGeom>
          <a:ln w="222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69270" y="2499238"/>
            <a:ext cx="85587" cy="85587"/>
          </a:xfrm>
          <a:prstGeom prst="line">
            <a:avLst/>
          </a:prstGeom>
          <a:ln w="222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85800" y="2386584"/>
            <a:ext cx="3447288" cy="3749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4A5C6B"/>
                </a:solidFill>
                <a:latin typeface="Poppins"/>
              </a:rPr>
              <a:t>Phone visitors likely leave before the site loads: mobile performance is 28/100.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2889504"/>
            <a:ext cx="4315968" cy="55778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74320" y="2889504"/>
            <a:ext cx="36576" cy="557784"/>
          </a:xfrm>
          <a:prstGeom prst="rect">
            <a:avLst/>
          </a:prstGeom>
          <a:solidFill>
            <a:srgbClr val="B32D2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29768" y="3081528"/>
            <a:ext cx="164592" cy="164592"/>
          </a:xfrm>
          <a:prstGeom prst="roundRect">
            <a:avLst/>
          </a:prstGeom>
          <a:solidFill>
            <a:srgbClr val="B3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469270" y="3121030"/>
            <a:ext cx="85587" cy="85587"/>
          </a:xfrm>
          <a:prstGeom prst="line">
            <a:avLst/>
          </a:prstGeom>
          <a:ln w="222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69270" y="3121030"/>
            <a:ext cx="85587" cy="85587"/>
          </a:xfrm>
          <a:prstGeom prst="line">
            <a:avLst/>
          </a:prstGeom>
          <a:ln w="222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85800" y="3008376"/>
            <a:ext cx="3447288" cy="3749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4A5C6B"/>
                </a:solidFill>
                <a:latin typeface="Poppins"/>
              </a:rPr>
              <a:t>No clear consultation button, and the intake form is linked off the homepage.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3511296"/>
            <a:ext cx="4315968" cy="55778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74320" y="3511296"/>
            <a:ext cx="36576" cy="557784"/>
          </a:xfrm>
          <a:prstGeom prst="rect">
            <a:avLst/>
          </a:prstGeom>
          <a:solidFill>
            <a:srgbClr val="B32D2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29768" y="3703320"/>
            <a:ext cx="164592" cy="164592"/>
          </a:xfrm>
          <a:prstGeom prst="roundRect">
            <a:avLst/>
          </a:prstGeom>
          <a:solidFill>
            <a:srgbClr val="B3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469270" y="3742822"/>
            <a:ext cx="85587" cy="85587"/>
          </a:xfrm>
          <a:prstGeom prst="line">
            <a:avLst/>
          </a:prstGeom>
          <a:ln w="222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69270" y="3742822"/>
            <a:ext cx="85587" cy="85587"/>
          </a:xfrm>
          <a:prstGeom prst="line">
            <a:avLst/>
          </a:prstGeom>
          <a:ln w="222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85800" y="3630168"/>
            <a:ext cx="3447288" cy="3749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4A5C6B"/>
                </a:solidFill>
                <a:latin typeface="Poppins"/>
              </a:rPr>
              <a:t>Growth keeps landing on Christine until AI workflows and an operating rhythm carry the repeatable work.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4133087"/>
            <a:ext cx="4315968" cy="55778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74320" y="4133087"/>
            <a:ext cx="36576" cy="557784"/>
          </a:xfrm>
          <a:prstGeom prst="rect">
            <a:avLst/>
          </a:prstGeom>
          <a:solidFill>
            <a:srgbClr val="3F8F1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29768" y="4325112"/>
            <a:ext cx="164592" cy="164592"/>
          </a:xfrm>
          <a:prstGeom prst="roundRect">
            <a:avLst/>
          </a:prstGeom>
          <a:solidFill>
            <a:srgbClr val="3F8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465978" y="4415637"/>
            <a:ext cx="32918" cy="31273"/>
          </a:xfrm>
          <a:prstGeom prst="line">
            <a:avLst/>
          </a:prstGeom>
          <a:ln w="222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498896" y="4367905"/>
            <a:ext cx="62545" cy="79005"/>
          </a:xfrm>
          <a:prstGeom prst="line">
            <a:avLst/>
          </a:prstGeom>
          <a:ln w="222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685800" y="4251959"/>
            <a:ext cx="3447288" cy="3749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4A5C6B"/>
                </a:solidFill>
                <a:latin typeface="Poppins"/>
              </a:rPr>
              <a:t>About 30 years of experience, a defined team, and active press coverage are strong foundations.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28032" y="2011680"/>
            <a:ext cx="4041648" cy="676656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828032" y="2011680"/>
            <a:ext cx="36576" cy="676656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010912" y="2130552"/>
            <a:ext cx="3675887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69CD2B"/>
                </a:solidFill>
                <a:latin typeface="Poppins"/>
              </a:rPr>
              <a:t>YOU ARE HERE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10912" y="2322576"/>
            <a:ext cx="3675887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Poppins"/>
              </a:rPr>
              <a:t>Stage 4: Small Business Manager  →  Goal: Stage 6, Law Firm Owner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28032" y="2871216"/>
            <a:ext cx="4041648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003A59"/>
                </a:solidFill>
                <a:latin typeface="Poppins"/>
              </a:rPr>
              <a:t>COMPETITOR LANDSCAPE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828032" y="3127248"/>
            <a:ext cx="4041648" cy="356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992624" y="3127248"/>
            <a:ext cx="1627632" cy="3566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B2A38"/>
                </a:solidFill>
                <a:latin typeface="Poppins"/>
              </a:rPr>
              <a:t>Duffy Law,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38544" y="3127248"/>
            <a:ext cx="1353312" cy="3566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3F8F1A"/>
                </a:solidFill>
                <a:latin typeface="Poppins"/>
              </a:rPr>
              <a:t>Not verified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28431" y="3127248"/>
            <a:ext cx="731520" cy="3566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0" i="0">
                <a:solidFill>
                  <a:srgbClr val="7C8D9B"/>
                </a:solidFill>
                <a:latin typeface="Poppins"/>
              </a:rPr>
              <a:t>New Haven · Title IX since 2015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828032" y="3529584"/>
            <a:ext cx="4041648" cy="356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992624" y="3529584"/>
            <a:ext cx="1627632" cy="3566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B2A38"/>
                </a:solidFill>
                <a:latin typeface="Poppins"/>
              </a:rPr>
              <a:t>Barry, Taylor &amp; Levesque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638544" y="3529584"/>
            <a:ext cx="1353312" cy="3566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3F8F1A"/>
                </a:solidFill>
                <a:latin typeface="Poppins"/>
              </a:rPr>
              <a:t>Not verified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28431" y="3529584"/>
            <a:ext cx="731520" cy="3566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0" i="0">
                <a:solidFill>
                  <a:srgbClr val="7C8D9B"/>
                </a:solidFill>
                <a:latin typeface="Poppins"/>
              </a:rPr>
              <a:t>Hartford · NCAA infractions pages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28032" y="3931920"/>
            <a:ext cx="4041648" cy="356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992624" y="3931920"/>
            <a:ext cx="1627632" cy="3566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B2A38"/>
                </a:solidFill>
                <a:latin typeface="Poppins"/>
              </a:rPr>
              <a:t>Athlete Defender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638544" y="3931920"/>
            <a:ext cx="1353312" cy="3566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3F8F1A"/>
                </a:solidFill>
                <a:latin typeface="Poppins"/>
              </a:rPr>
              <a:t>Not verified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28431" y="3931920"/>
            <a:ext cx="731520" cy="3566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0" i="0">
                <a:solidFill>
                  <a:srgbClr val="7C8D9B"/>
                </a:solidFill>
                <a:latin typeface="Poppins"/>
              </a:rPr>
              <a:t>25+ yrs · many keyword pages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28032" y="4334256"/>
            <a:ext cx="4041648" cy="356616"/>
          </a:xfrm>
          <a:prstGeom prst="rect">
            <a:avLst/>
          </a:prstGeom>
          <a:solidFill>
            <a:srgbClr val="FBEEE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828032" y="4334256"/>
            <a:ext cx="36576" cy="356616"/>
          </a:xfrm>
          <a:prstGeom prst="rect">
            <a:avLst/>
          </a:prstGeom>
          <a:solidFill>
            <a:srgbClr val="B32D2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992624" y="4334256"/>
            <a:ext cx="1627632" cy="3566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B32D2D"/>
                </a:solidFill>
                <a:latin typeface="Poppins"/>
              </a:rPr>
              <a:t>Christine Brown Sports Law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638544" y="4334256"/>
            <a:ext cx="1353312" cy="3566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B32D2D"/>
                </a:solidFill>
                <a:latin typeface="Poppins"/>
              </a:rPr>
              <a:t>Not verified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028431" y="4334256"/>
            <a:ext cx="731520" cy="3566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0" i="0">
                <a:solidFill>
                  <a:srgbClr val="7C8D9B"/>
                </a:solidFill>
                <a:latin typeface="Poppins"/>
              </a:rPr>
              <a:t>← You are here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0" y="4818888"/>
            <a:ext cx="9144000" cy="3200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417320" y="4892040"/>
            <a:ext cx="49377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0" i="0">
                <a:solidFill>
                  <a:srgbClr val="8FB2C6"/>
                </a:solidFill>
                <a:latin typeface="Poppins"/>
              </a:rPr>
              <a:t>CONFIDENTIAL  ·  PREPARED BY JONATHAN FARACE | SMB TEAM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680960" y="4892040"/>
            <a:ext cx="118872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00" b="0" i="0">
                <a:solidFill>
                  <a:srgbClr val="8FB2C6"/>
                </a:solidFill>
                <a:latin typeface="Poppins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7F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9144000" cy="36576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82880"/>
            <a:ext cx="5486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69CD2B"/>
                </a:solidFill>
                <a:latin typeface="Poppins"/>
              </a:rPr>
              <a:t>LAW FIRM GROWTH AUDIT  ·  CHRISTINE BROWN SPORTS 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65760"/>
            <a:ext cx="85039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Poppins"/>
              </a:rPr>
              <a:t>Your Growth Plan: 3 Priorities for a Firm That Scales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2212848" cy="228600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2212848" cy="36576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70432"/>
            <a:ext cx="1847088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69CD2B"/>
                </a:solidFill>
                <a:latin typeface="Poppins"/>
              </a:rPr>
              <a:t>THE SMB TEAM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426464"/>
            <a:ext cx="1847088" cy="1737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B8CDDD"/>
                </a:solidFill>
                <a:latin typeface="Poppins"/>
              </a:rPr>
              <a:t>Lead generation, intake, a self-managing team, and a profit plan all have to work together. When all four work, Christine can step back while the firm keeps growing.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456432"/>
            <a:ext cx="2212848" cy="1124712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621024"/>
            <a:ext cx="1847088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143306"/>
                </a:solidFill>
                <a:latin typeface="Poppins"/>
              </a:rPr>
              <a:t>A firm that scales beyond 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33087"/>
            <a:ext cx="1847088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F470C"/>
                </a:solidFill>
                <a:latin typeface="Poppins"/>
              </a:rPr>
              <a:t>Step away and trust the firm runs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70048" y="1005840"/>
            <a:ext cx="2066543" cy="841248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34640" y="1097280"/>
            <a:ext cx="4572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Poppins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1316736"/>
            <a:ext cx="18288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Poppins"/>
              </a:rPr>
              <a:t>Put AI to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1536192"/>
            <a:ext cx="18288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Poppins"/>
              </a:rPr>
              <a:t>for Your Team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048" y="1865376"/>
            <a:ext cx="2066543" cy="512064"/>
          </a:xfrm>
          <a:prstGeom prst="rect">
            <a:avLst/>
          </a:prstGeom>
          <a:solidFill>
            <a:srgbClr val="ECF5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16352" y="2093976"/>
            <a:ext cx="64008" cy="64008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800" y="1965960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Kick off with your Fractional CTO and map repeat work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70048" y="2423160"/>
            <a:ext cx="2066543" cy="51206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816352" y="2651760"/>
            <a:ext cx="64008" cy="64008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71800" y="2523744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Deploy the first AI skills for drafting and research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048" y="2971800"/>
            <a:ext cx="2066543" cy="512064"/>
          </a:xfrm>
          <a:prstGeom prst="rect">
            <a:avLst/>
          </a:prstGeom>
          <a:solidFill>
            <a:srgbClr val="ECF5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816352" y="3200400"/>
            <a:ext cx="64008" cy="64008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71800" y="3072384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Roll out AI Workforce Pro to all 12 seats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3520440"/>
            <a:ext cx="2066543" cy="51206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816352" y="3749039"/>
            <a:ext cx="64008" cy="64008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71800" y="3621024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Build one custom automation each month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048" y="4078224"/>
            <a:ext cx="2066543" cy="512064"/>
          </a:xfrm>
          <a:prstGeom prst="rect">
            <a:avLst/>
          </a:prstGeom>
          <a:solidFill>
            <a:srgbClr val="ECF5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16352" y="4306824"/>
            <a:ext cx="64008" cy="64008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71800" y="4178808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Free attorney hours for athletes, coaches, and teams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46320" y="1005840"/>
            <a:ext cx="2066543" cy="84124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10912" y="1097280"/>
            <a:ext cx="4572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143306"/>
                </a:solidFill>
                <a:latin typeface="Poppins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10912" y="1316736"/>
            <a:ext cx="18288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143306"/>
                </a:solidFill>
                <a:latin typeface="Poppins"/>
              </a:rPr>
              <a:t>Fix Intake &amp;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10912" y="1536192"/>
            <a:ext cx="18288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143306"/>
                </a:solidFill>
                <a:latin typeface="Poppins"/>
              </a:rPr>
              <a:t>Stop Losing Cases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46320" y="1865376"/>
            <a:ext cx="2066543" cy="512064"/>
          </a:xfrm>
          <a:prstGeom prst="rect">
            <a:avLst/>
          </a:prstGeom>
          <a:solidFill>
            <a:srgbClr val="ECF7E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992624" y="2093976"/>
            <a:ext cx="64008" cy="6400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48072" y="1965960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Add a clear consultation button above the fold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2423160"/>
            <a:ext cx="2066543" cy="51206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992624" y="2651760"/>
            <a:ext cx="64008" cy="6400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48072" y="2523744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Embed the intake form right on the homepage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46320" y="2971800"/>
            <a:ext cx="2066543" cy="512064"/>
          </a:xfrm>
          <a:prstGeom prst="rect">
            <a:avLst/>
          </a:prstGeom>
          <a:solidFill>
            <a:srgbClr val="ECF7E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992624" y="3200400"/>
            <a:ext cx="64008" cy="6400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48072" y="3072384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Speed up the mobile site from 28/100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846320" y="3520440"/>
            <a:ext cx="2066543" cy="51206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92624" y="3749039"/>
            <a:ext cx="64008" cy="6400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48072" y="3621024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Set a response and follow-up standard for inquiries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846320" y="4078224"/>
            <a:ext cx="2066543" cy="512064"/>
          </a:xfrm>
          <a:prstGeom prst="rect">
            <a:avLst/>
          </a:prstGeom>
          <a:solidFill>
            <a:srgbClr val="ECF7E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992624" y="4306824"/>
            <a:ext cx="64008" cy="6400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48072" y="4178808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Turn more of the visitors you earn into clients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022592" y="1005840"/>
            <a:ext cx="2066543" cy="84124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187183" y="1097280"/>
            <a:ext cx="4572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Poppins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87183" y="1316736"/>
            <a:ext cx="18288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Poppins"/>
              </a:rPr>
              <a:t>Install Team &amp;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87183" y="1536192"/>
            <a:ext cx="18288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Poppins"/>
              </a:rPr>
              <a:t>Profit Systems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022592" y="1865376"/>
            <a:ext cx="2066543" cy="512064"/>
          </a:xfrm>
          <a:prstGeom prst="rect">
            <a:avLst/>
          </a:prstGeom>
          <a:solidFill>
            <a:srgbClr val="EEF2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168896" y="2093976"/>
            <a:ext cx="64008" cy="6400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324344" y="1965960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Set a weekly operating rhythm with your FCOO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022592" y="2423160"/>
            <a:ext cx="2066543" cy="51206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168896" y="2651760"/>
            <a:ext cx="64008" cy="6400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24344" y="2523744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Give every role clear goals and accountability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022592" y="2971800"/>
            <a:ext cx="2066543" cy="512064"/>
          </a:xfrm>
          <a:prstGeom prst="rect">
            <a:avLst/>
          </a:prstGeom>
          <a:solidFill>
            <a:srgbClr val="EEF2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168896" y="3200400"/>
            <a:ext cx="64008" cy="6400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324344" y="3072384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Build a monthly profit snapshot by matter type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022592" y="3520440"/>
            <a:ext cx="2066543" cy="51206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168896" y="3749039"/>
            <a:ext cx="64008" cy="6400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324344" y="3621024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Let decisions happen without waiting on you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022592" y="4078224"/>
            <a:ext cx="2066543" cy="512064"/>
          </a:xfrm>
          <a:prstGeom prst="rect">
            <a:avLst/>
          </a:prstGeom>
          <a:solidFill>
            <a:srgbClr val="EEF2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168896" y="4306824"/>
            <a:ext cx="64008" cy="6400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324344" y="4178808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Join weekly coaching and law-firm masterminds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0" y="4818888"/>
            <a:ext cx="9144000" cy="3200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417320" y="4892040"/>
            <a:ext cx="49377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0" i="0">
                <a:solidFill>
                  <a:srgbClr val="8FB2C6"/>
                </a:solidFill>
                <a:latin typeface="Poppins"/>
              </a:rPr>
              <a:t>CONFIDENTIAL  ·  PREPARED BY JONATHAN FARACE | SMB TEAM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892040"/>
            <a:ext cx="118872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00" b="0" i="0">
                <a:solidFill>
                  <a:srgbClr val="8FB2C6"/>
                </a:solidFill>
                <a:latin typeface="Poppins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7F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9144000" cy="36576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82880"/>
            <a:ext cx="5486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69CD2B"/>
                </a:solidFill>
                <a:latin typeface="Poppins"/>
              </a:rPr>
              <a:t>LAW FIRM GROWTH AUDIT  ·  CHRISTINE BROWN SPORTS 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65760"/>
            <a:ext cx="85039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Poppins"/>
              </a:rPr>
              <a:t>Your Investment &amp; What Happens Next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4041648" cy="9601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36576" cy="96012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143000"/>
            <a:ext cx="3584448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0091C9"/>
                </a:solidFill>
                <a:latin typeface="Poppins"/>
              </a:rPr>
              <a:t>LEGAL AI WORKFORCE — FCTO L1 + AI WORKFORCE PRO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1335024"/>
            <a:ext cx="1737360" cy="4023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000" b="1" i="0">
                <a:solidFill>
                  <a:srgbClr val="003A59"/>
                </a:solidFill>
                <a:latin typeface="Poppins"/>
              </a:rPr>
              <a:t>$5,734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1536192"/>
            <a:ext cx="3657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7C8D9B"/>
                </a:solidFill>
                <a:latin typeface="Poppins"/>
              </a:rPr>
              <a:t>/mo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536192"/>
            <a:ext cx="10058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 i="0">
                <a:solidFill>
                  <a:srgbClr val="7C8D9B"/>
                </a:solidFill>
                <a:latin typeface="Poppins"/>
              </a:rPr>
              <a:t>FCTO $3,797/mo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1783080"/>
            <a:ext cx="3584448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7C8D9B"/>
                </a:solidFill>
                <a:latin typeface="Poppins"/>
              </a:rPr>
              <a:t>Monthly fCTO session · AI skills · automations · 12 seats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057400"/>
            <a:ext cx="4041648" cy="9601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057400"/>
            <a:ext cx="36576" cy="96012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2194560"/>
            <a:ext cx="3584448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003A59"/>
                </a:solidFill>
                <a:latin typeface="Poppins"/>
              </a:rPr>
              <a:t>FCOO ADVISOR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2386584"/>
            <a:ext cx="1737360" cy="4023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000" b="1" i="0">
                <a:solidFill>
                  <a:srgbClr val="003A59"/>
                </a:solidFill>
                <a:latin typeface="Poppins"/>
              </a:rPr>
              <a:t>$3,297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2587752"/>
            <a:ext cx="3657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7C8D9B"/>
                </a:solidFill>
                <a:latin typeface="Poppins"/>
              </a:rPr>
              <a:t>/mo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2587752"/>
            <a:ext cx="10058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 i="0">
                <a:solidFill>
                  <a:srgbClr val="7C8D9B"/>
                </a:solidFill>
                <a:latin typeface="Poppins"/>
              </a:rPr>
              <a:t>$3,797/mo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2834640"/>
            <a:ext cx="3584448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7C8D9B"/>
                </a:solidFill>
                <a:latin typeface="Poppins"/>
              </a:rPr>
              <a:t>Ops leadership · Weekly group coaching · Workshops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108960"/>
            <a:ext cx="4041648" cy="65836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3108960"/>
            <a:ext cx="36576" cy="65836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3246120"/>
            <a:ext cx="1554480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69CD2B"/>
                </a:solidFill>
                <a:latin typeface="Poppins"/>
              </a:rPr>
              <a:t>BUNDLE TOTAL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" y="3429000"/>
            <a:ext cx="20116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Poppins"/>
              </a:rPr>
              <a:t>$9,031 / 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3493008"/>
            <a:ext cx="14630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50" b="0" i="0">
                <a:solidFill>
                  <a:srgbClr val="A9D68C"/>
                </a:solidFill>
                <a:latin typeface="Poppins"/>
              </a:rPr>
              <a:t>Save $1,000/mo by bundling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1005840"/>
            <a:ext cx="42976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003A59"/>
                </a:solidFill>
                <a:latin typeface="Poppins"/>
              </a:rPr>
              <a:t>WHAT WE FOUND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0" y="1335024"/>
            <a:ext cx="4297680" cy="265176"/>
          </a:xfrm>
          <a:prstGeom prst="rect">
            <a:avLst/>
          </a:prstGeom>
          <a:solidFill>
            <a:srgbClr val="EEF2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00016" y="1417320"/>
            <a:ext cx="91440" cy="91440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184" y="1385316"/>
            <a:ext cx="8686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Repetitive work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15584" y="1385316"/>
            <a:ext cx="2926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4A5C6B"/>
                </a:solidFill>
                <a:latin typeface="Poppins"/>
              </a:rPr>
              <a:t>Monthly AI skills, rolled out to all 12 users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0" y="1883664"/>
            <a:ext cx="4297680" cy="26517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700016" y="1965960"/>
            <a:ext cx="91440" cy="9144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01184" y="1933956"/>
            <a:ext cx="8686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Escalations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15584" y="1933956"/>
            <a:ext cx="2926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4A5C6B"/>
                </a:solidFill>
                <a:latin typeface="Poppins"/>
              </a:rPr>
              <a:t>FCOO builds rhythm + role-level accountability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0" y="2432304"/>
            <a:ext cx="4297680" cy="265176"/>
          </a:xfrm>
          <a:prstGeom prst="rect">
            <a:avLst/>
          </a:prstGeom>
          <a:solidFill>
            <a:srgbClr val="EEF2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700016" y="2514600"/>
            <a:ext cx="91440" cy="9144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01184" y="2482596"/>
            <a:ext cx="8686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Follow-up gaps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15584" y="2482596"/>
            <a:ext cx="2926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4A5C6B"/>
                </a:solidFill>
                <a:latin typeface="Poppins"/>
              </a:rPr>
              <a:t>Defined inquiry process, built as an automation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4261104"/>
            <a:ext cx="9144000" cy="557784"/>
          </a:xfrm>
          <a:prstGeom prst="rect">
            <a:avLst/>
          </a:prstGeom>
          <a:solidFill>
            <a:srgbClr val="002A4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4261104"/>
            <a:ext cx="9144000" cy="1828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4407408"/>
            <a:ext cx="786384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 i="0">
                <a:solidFill>
                  <a:srgbClr val="C2D8E6"/>
                </a:solidFill>
                <a:latin typeface="Poppins"/>
              </a:rPr>
              <a:t>"The credentials, the team, and the reputation are already in place — what is missing is the system that lets the firm run on them instead of on Christine alone."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4818888"/>
            <a:ext cx="9144000" cy="3200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417320" y="4892040"/>
            <a:ext cx="49377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0" i="0">
                <a:solidFill>
                  <a:srgbClr val="8FB2C6"/>
                </a:solidFill>
                <a:latin typeface="Poppins"/>
              </a:rPr>
              <a:t>CONFIDENTIAL  ·  PREPARED BY JONATHAN FARACE | SMB TEAM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0960" y="4892040"/>
            <a:ext cx="118872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00" b="0" i="0">
                <a:solidFill>
                  <a:srgbClr val="8FB2C6"/>
                </a:solidFill>
                <a:latin typeface="Poppins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