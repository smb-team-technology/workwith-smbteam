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Default Extension="fntdata" ContentType="application/x-fontdata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embedTrueTypeFonts="1">
  <p:sldMasterIdLst>
    <p:sldMasterId id="2147483648" r:id="rId1"/>
  </p:sldMasterIdLst>
  <p:sldIdLst>
    <p:sldId id="256" r:id="rId7"/>
    <p:sldId id="257" r:id="rId8"/>
    <p:sldId id="258" r:id="rId9"/>
  </p:sldIdLst>
  <p:sldSz cx="9144000" cy="5143500" type="screen4x3"/>
  <p:notesSz cx="6858000" cy="9144000"/>
  <p:embeddedFontLst>
    <p:embeddedFont>
      <p:font typeface="Poppins"/>
      <p:regular r:id="rIdEmbedFont1"/>
      <p:bold r:id="rIdEmbedFont2"/>
      <p:italic r:id="rIdEmbedFont3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EmbedFont1" Type="http://schemas.openxmlformats.org/officeDocument/2006/relationships/font" Target="fonts/font1.fntdata"/><Relationship Id="rIdEmbedFont2" Type="http://schemas.openxmlformats.org/officeDocument/2006/relationships/font" Target="fonts/font2.fntdata"/><Relationship Id="rIdEmbedFont3" Type="http://schemas.openxmlformats.org/officeDocument/2006/relationships/font" Target="fonts/font3.fntdata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65760"/>
            <a:ext cx="630936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Where Christine Brown Sports Law Stands Today</a:t>
            </a:r>
          </a:p>
        </p:txBody>
      </p:sp>
      <p:sp>
        <p:nvSpPr>
          <p:cNvPr id="7" name="Rectangle 6"/>
          <p:cNvSpPr/>
          <p:nvPr/>
        </p:nvSpPr>
        <p:spPr>
          <a:xfrm>
            <a:off x="6784848" y="164592"/>
            <a:ext cx="2066543" cy="512064"/>
          </a:xfrm>
          <a:prstGeom prst="rect">
            <a:avLst/>
          </a:prstGeom>
          <a:solidFill>
            <a:srgbClr val="0B4C6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31152" y="210312"/>
            <a:ext cx="384048" cy="38404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21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51775" y="274320"/>
            <a:ext cx="141732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1" i="0">
                <a:solidFill>
                  <a:srgbClr val="69CD2B"/>
                </a:solidFill>
                <a:latin typeface="Poppins"/>
              </a:rPr>
              <a:t>COMPETITIVE URGENCY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51775" y="429768"/>
            <a:ext cx="141732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9CC0D6"/>
                </a:solidFill>
                <a:latin typeface="Poppins"/>
              </a:rPr>
              <a:t>Score out of 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0623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Lead Generation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3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0623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3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Content-led visibility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50592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50592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596896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Intake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96896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596896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96896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Form linked off-page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36008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36008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82312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Team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82312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82312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82312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Roles clearly defined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12280" y="1005840"/>
            <a:ext cx="2066543" cy="87782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812280" y="1005840"/>
            <a:ext cx="2066543" cy="36576"/>
          </a:xfrm>
          <a:prstGeom prst="rect">
            <a:avLst/>
          </a:prstGeom>
          <a:solidFill>
            <a:srgbClr val="B5770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958584" y="1152144"/>
            <a:ext cx="1773936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B2A38"/>
                </a:solidFill>
                <a:latin typeface="Poppins"/>
              </a:rPr>
              <a:t>Profit Plan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58584" y="1426464"/>
            <a:ext cx="585216" cy="173736"/>
          </a:xfrm>
          <a:prstGeom prst="roundRect">
            <a:avLst/>
          </a:prstGeom>
          <a:solidFill>
            <a:srgbClr val="FDF4E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58584" y="1426464"/>
            <a:ext cx="585216" cy="1737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750" b="1" i="0">
                <a:solidFill>
                  <a:srgbClr val="B5770B"/>
                </a:solidFill>
                <a:latin typeface="Poppins"/>
              </a:rPr>
              <a:t>AMBER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58584" y="1664208"/>
            <a:ext cx="1773936" cy="20116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950" b="0" i="0">
                <a:solidFill>
                  <a:srgbClr val="7C8D9B"/>
                </a:solidFill>
                <a:latin typeface="Poppins"/>
              </a:rPr>
              <a:t>Baseline not visible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2011680"/>
            <a:ext cx="42976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KEY FINDINGS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2267712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" y="2267712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29768" y="2459736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9" name="Connector 38"/>
          <p:cNvCxnSpPr/>
          <p:nvPr/>
        </p:nvCxnSpPr>
        <p:spPr>
          <a:xfrm>
            <a:off x="469270" y="2499238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469270" y="2499238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685800" y="2386584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Phone visitors likely leave before the site loads: mobile performance is 28/100.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4320" y="2889504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74320" y="2889504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29768" y="3081528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5" name="Connector 44"/>
          <p:cNvCxnSpPr/>
          <p:nvPr/>
        </p:nvCxnSpPr>
        <p:spPr>
          <a:xfrm>
            <a:off x="469270" y="3121030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469270" y="3121030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685800" y="3008376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No clear consultation button, and the intake form is linked off the homepage.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74320" y="3511296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74320" y="3511296"/>
            <a:ext cx="36576" cy="557784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429768" y="3703320"/>
            <a:ext cx="164592" cy="164592"/>
          </a:xfrm>
          <a:prstGeom prst="roundRect">
            <a:avLst/>
          </a:prstGeom>
          <a:solidFill>
            <a:srgbClr val="B32D2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469270" y="3742822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469270" y="3742822"/>
            <a:ext cx="85587" cy="85587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685800" y="3630168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Growth keeps landing on Christine until AI workflows and an operating rhythm carry the repeatable work.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4133087"/>
            <a:ext cx="4315968" cy="55778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74320" y="4133087"/>
            <a:ext cx="36576" cy="557784"/>
          </a:xfrm>
          <a:prstGeom prst="rect">
            <a:avLst/>
          </a:prstGeom>
          <a:solidFill>
            <a:srgbClr val="3F8F1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429768" y="4325112"/>
            <a:ext cx="164592" cy="164592"/>
          </a:xfrm>
          <a:prstGeom prst="roundRect">
            <a:avLst/>
          </a:prstGeom>
          <a:solidFill>
            <a:srgbClr val="3F8F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7" name="Connector 56"/>
          <p:cNvCxnSpPr/>
          <p:nvPr/>
        </p:nvCxnSpPr>
        <p:spPr>
          <a:xfrm>
            <a:off x="465978" y="4415637"/>
            <a:ext cx="32918" cy="31273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498896" y="4367905"/>
            <a:ext cx="62545" cy="79005"/>
          </a:xfrm>
          <a:prstGeom prst="line">
            <a:avLst/>
          </a:prstGeom>
          <a:ln w="22225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/>
          <p:cNvSpPr txBox="1"/>
          <p:nvPr/>
        </p:nvSpPr>
        <p:spPr>
          <a:xfrm>
            <a:off x="685800" y="4251959"/>
            <a:ext cx="3447288" cy="3749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4A5C6B"/>
                </a:solidFill>
                <a:latin typeface="Poppins"/>
              </a:rPr>
              <a:t>About 30 years of experience, a defined team, and active press coverage are strong foundations.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828032" y="2011680"/>
            <a:ext cx="4041648" cy="676656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828032" y="2011680"/>
            <a:ext cx="36576" cy="67665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10912" y="2130552"/>
            <a:ext cx="3675887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YOU ARE HERE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010912" y="2322576"/>
            <a:ext cx="3675887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Poppins"/>
              </a:rPr>
              <a:t>Stage 4: Small Business Manager  →  Goal: Stage 6, Law Firm Owner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28032" y="2871216"/>
            <a:ext cx="4041648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COMPETITOR LANDSCAPE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828032" y="3127248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992624" y="3127248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Duffy Law, LLC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638544" y="3127248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028431" y="3127248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New Haven · Title IX since 2015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828032" y="3529584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992624" y="3529584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Barry, Taylor &amp; Levesque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638544" y="3529584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28431" y="3529584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Hartford · NCAA infractions pages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828032" y="3931920"/>
            <a:ext cx="4041648" cy="356616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992624" y="3931920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B2A38"/>
                </a:solidFill>
                <a:latin typeface="Poppins"/>
              </a:rPr>
              <a:t>Athlete Defender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638544" y="3931920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3F8F1A"/>
                </a:solidFill>
                <a:latin typeface="Poppins"/>
              </a:rPr>
              <a:t>Not verified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28431" y="3931920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25+ yrs · many keyword pages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828032" y="4334256"/>
            <a:ext cx="4041648" cy="356616"/>
          </a:xfrm>
          <a:prstGeom prst="rect">
            <a:avLst/>
          </a:prstGeom>
          <a:solidFill>
            <a:srgbClr val="FBEEEE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4828032" y="4334256"/>
            <a:ext cx="36576" cy="356616"/>
          </a:xfrm>
          <a:prstGeom prst="rect">
            <a:avLst/>
          </a:prstGeom>
          <a:solidFill>
            <a:srgbClr val="B32D2D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992624" y="4334256"/>
            <a:ext cx="162763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1" i="0">
                <a:solidFill>
                  <a:srgbClr val="B32D2D"/>
                </a:solidFill>
                <a:latin typeface="Poppins"/>
              </a:rPr>
              <a:t>Christine Brown Sports Law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638544" y="4334256"/>
            <a:ext cx="1353312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1" i="0">
                <a:solidFill>
                  <a:srgbClr val="B32D2D"/>
                </a:solidFill>
                <a:latin typeface="Poppins"/>
              </a:rPr>
              <a:t>Not verified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28431" y="4334256"/>
            <a:ext cx="731520" cy="35661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7C8D9B"/>
                </a:solidFill>
                <a:latin typeface="Poppins"/>
              </a:rPr>
              <a:t>← You are here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3" name="Picture 82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1 /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65760"/>
            <a:ext cx="85039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Growth Plan: 3 Priorities for a Firm That Scales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2212848" cy="228600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2212848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170432"/>
            <a:ext cx="184708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THE SMB TEAM MODEL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426464"/>
            <a:ext cx="1847088" cy="17373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B8CDDD"/>
                </a:solidFill>
                <a:latin typeface="Poppins"/>
              </a:rPr>
              <a:t>Lead generation, intake, a self-managing team, and a profit plan all have to work together. When all four work, Christine can step back while the firm keeps growing.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3456432"/>
            <a:ext cx="2212848" cy="1124712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3621024"/>
            <a:ext cx="1847088" cy="475488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200" b="1" i="0">
                <a:solidFill>
                  <a:srgbClr val="143306"/>
                </a:solidFill>
                <a:latin typeface="Poppins"/>
              </a:rPr>
              <a:t>A firm that scales beyond you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133087"/>
            <a:ext cx="1847088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1F470C"/>
                </a:solidFill>
                <a:latin typeface="Poppins"/>
              </a:rPr>
              <a:t>Step away and trust the firm runs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70048" y="1005840"/>
            <a:ext cx="2066543" cy="84124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34640" y="1097280"/>
            <a:ext cx="4572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oppins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34640" y="1316736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Put AI to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536192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for Your Team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70048" y="1865376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816352" y="2093976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1965960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Kick off with your Fractional CTO and map repeat work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670048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16352" y="2651760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252374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Deploy the first AI skills for drafting and research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70048" y="2971800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816352" y="3200400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71800" y="307238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Roll out AI Workforce Pro to all 12 seats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816352" y="3749039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971800" y="362102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Build one custom automation each month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048" y="4078224"/>
            <a:ext cx="2066543" cy="512064"/>
          </a:xfrm>
          <a:prstGeom prst="rect">
            <a:avLst/>
          </a:prstGeom>
          <a:solidFill>
            <a:srgbClr val="ECF5FA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816352" y="4306824"/>
            <a:ext cx="64008" cy="64008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71800" y="4178808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Free attorney hours for athletes, coaches, and teams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846320" y="1005840"/>
            <a:ext cx="2066543" cy="84124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10912" y="1097280"/>
            <a:ext cx="4572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143306"/>
                </a:solidFill>
                <a:latin typeface="Poppins"/>
              </a:rPr>
              <a:t>02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010912" y="1316736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Fix Intake &amp;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0912" y="1536192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143306"/>
                </a:solidFill>
                <a:latin typeface="Poppins"/>
              </a:rPr>
              <a:t>Stop Losing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846320" y="1865376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992624" y="2093976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148072" y="1965960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Add a clear consultation button above the fold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846320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992624" y="2651760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148072" y="252374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Embed the intake form right on the homepage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846320" y="2971800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992624" y="3200400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148072" y="307238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Speed up the mobile site from 28/100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846320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92624" y="3749039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48072" y="362102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Set a response and follow-up standard for inquiries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846320" y="4078224"/>
            <a:ext cx="2066543" cy="512064"/>
          </a:xfrm>
          <a:prstGeom prst="rect">
            <a:avLst/>
          </a:prstGeom>
          <a:solidFill>
            <a:srgbClr val="ECF7E4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992624" y="4306824"/>
            <a:ext cx="64008" cy="6400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148072" y="4178808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Turn more of the visitors you earn into clients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022592" y="1005840"/>
            <a:ext cx="2066543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187183" y="1097280"/>
            <a:ext cx="4572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Poppins"/>
              </a:rPr>
              <a:t>03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187183" y="1316736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Install Team &amp;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187183" y="1536192"/>
            <a:ext cx="1828800" cy="21945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Poppins"/>
              </a:rPr>
              <a:t>Profit Systems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022592" y="1865376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7168896" y="2093976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324344" y="1965960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Set a weekly operating rhythm with your FCOO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022592" y="242316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168896" y="2651760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324344" y="252374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Give every role clear goals and accountability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022592" y="2971800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168896" y="3200400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24344" y="307238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Build a monthly profit snapshot by matter type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022592" y="3520440"/>
            <a:ext cx="2066543" cy="512064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168896" y="3749039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24344" y="3621024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Let decisions happen without waiting on you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022592" y="4078224"/>
            <a:ext cx="2066543" cy="512064"/>
          </a:xfrm>
          <a:prstGeom prst="rect">
            <a:avLst/>
          </a:prstGeom>
          <a:solidFill>
            <a:srgbClr val="EEF2F5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168896" y="4306824"/>
            <a:ext cx="64008" cy="6400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324344" y="4178808"/>
            <a:ext cx="1609344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00" b="0" i="0">
                <a:solidFill>
                  <a:srgbClr val="1B2A38"/>
                </a:solidFill>
                <a:latin typeface="Poppins"/>
              </a:rPr>
              <a:t>Join weekly coaching and law-firm masterminds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2" name="Picture 71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4F7F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84124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41248"/>
            <a:ext cx="9144000" cy="36576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182880"/>
            <a:ext cx="548640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LAW FIRM GROWTH AUDIT  ·  CHRISTINE BROWN SPORTS LAW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65760"/>
            <a:ext cx="8503920" cy="365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Poppins"/>
              </a:rPr>
              <a:t>Your Investment &amp; What Happens Next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00584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005840"/>
            <a:ext cx="36576" cy="960120"/>
          </a:xfrm>
          <a:prstGeom prst="rect">
            <a:avLst/>
          </a:prstGeom>
          <a:solidFill>
            <a:srgbClr val="0091C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2064" y="1143000"/>
            <a:ext cx="35844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91C9"/>
                </a:solidFill>
                <a:latin typeface="Poppins"/>
              </a:rPr>
              <a:t>LEGAL AI WORKFORCE — FCTO L1 + AI WORKFORCE PRO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1335024"/>
            <a:ext cx="1737360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$5,734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536192"/>
            <a:ext cx="365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1536192"/>
            <a:ext cx="10058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FCTO $3,797/mo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" y="1783080"/>
            <a:ext cx="3584448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Monthly fCTO session · AI skills · automations · 12 seats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74320" y="2057400"/>
            <a:ext cx="4041648" cy="96012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74320" y="2057400"/>
            <a:ext cx="36576" cy="96012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2194560"/>
            <a:ext cx="3584448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FCOO ADVISOR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" y="2386584"/>
            <a:ext cx="1737360" cy="40233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3000" b="1" i="0">
                <a:solidFill>
                  <a:srgbClr val="003A59"/>
                </a:solidFill>
                <a:latin typeface="Poppins"/>
              </a:rPr>
              <a:t>$3,297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587752"/>
            <a:ext cx="365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000" b="0" i="0">
                <a:solidFill>
                  <a:srgbClr val="7C8D9B"/>
                </a:solidFill>
                <a:latin typeface="Poppins"/>
              </a:rPr>
              <a:t>/mo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2587752"/>
            <a:ext cx="10058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1000" b="0" i="0">
                <a:solidFill>
                  <a:srgbClr val="7C8D9B"/>
                </a:solidFill>
                <a:latin typeface="Poppins"/>
              </a:rPr>
              <a:t>$3,797/mo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" y="2834640"/>
            <a:ext cx="3584448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850" b="0" i="0">
                <a:solidFill>
                  <a:srgbClr val="7C8D9B"/>
                </a:solidFill>
                <a:latin typeface="Poppins"/>
              </a:rPr>
              <a:t>Ops leadership · Weekly group coaching · Workshops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3108960"/>
            <a:ext cx="4041648" cy="658368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4320" y="3108960"/>
            <a:ext cx="36576" cy="65836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" y="3246120"/>
            <a:ext cx="1554480" cy="146304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69CD2B"/>
                </a:solidFill>
                <a:latin typeface="Poppins"/>
              </a:rPr>
              <a:t>BUNDLE TOTAL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" y="3429000"/>
            <a:ext cx="2011680" cy="27432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Poppins"/>
              </a:rPr>
              <a:t>$9,031 / mo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3493008"/>
            <a:ext cx="146304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850" b="0" i="0">
                <a:solidFill>
                  <a:srgbClr val="A9D68C"/>
                </a:solidFill>
                <a:latin typeface="Poppins"/>
              </a:rPr>
              <a:t>Save $1,000/mo by bundling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1005840"/>
            <a:ext cx="4297680" cy="164592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50" b="1" i="0">
                <a:solidFill>
                  <a:srgbClr val="003A59"/>
                </a:solidFill>
                <a:latin typeface="Poppins"/>
              </a:rPr>
              <a:t>WHAT YOU TOLD US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4261104"/>
            <a:ext cx="9144000" cy="557784"/>
          </a:xfrm>
          <a:prstGeom prst="rect">
            <a:avLst/>
          </a:prstGeom>
          <a:solidFill>
            <a:srgbClr val="002A41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4261104"/>
            <a:ext cx="9144000" cy="18288"/>
          </a:xfrm>
          <a:prstGeom prst="rect">
            <a:avLst/>
          </a:prstGeom>
          <a:solidFill>
            <a:srgbClr val="69CD2B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407408"/>
            <a:ext cx="7863840" cy="310896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/>
            <a:r>
              <a:rPr sz="950" b="0" i="0">
                <a:solidFill>
                  <a:srgbClr val="C2D8E6"/>
                </a:solidFill>
                <a:latin typeface="Poppins"/>
              </a:rPr>
              <a:t>"The credentials, the team, and the reputation are already in place — what is missing is the system that lets the firm run on them instead of on Christine alone."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4818888"/>
            <a:ext cx="9144000" cy="320040"/>
          </a:xfrm>
          <a:prstGeom prst="rect">
            <a:avLst/>
          </a:prstGeom>
          <a:solidFill>
            <a:srgbClr val="003A59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smb_te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4873752"/>
            <a:ext cx="941832" cy="19202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1417320" y="4892040"/>
            <a:ext cx="493776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l"/>
            <a:r>
              <a:rPr sz="700" b="0" i="0">
                <a:solidFill>
                  <a:srgbClr val="8FB2C6"/>
                </a:solidFill>
                <a:latin typeface="Poppins"/>
              </a:rPr>
              <a:t>CONFIDENTIAL  ·  PREPARED BY JONATHAN FARACE | SMB TEAM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80960" y="4892040"/>
            <a:ext cx="1188720" cy="1828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r"/>
            <a:r>
              <a:rPr sz="700" b="0" i="0">
                <a:solidFill>
                  <a:srgbClr val="8FB2C6"/>
                </a:solidFill>
                <a:latin typeface="Poppins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