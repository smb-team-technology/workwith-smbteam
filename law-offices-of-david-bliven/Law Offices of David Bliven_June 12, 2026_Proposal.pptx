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LAW OFFICES OF DAVID BLIVEN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Where Law Offices of David Bliven Stands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46304" cy="3867912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005840"/>
            <a:ext cx="1298448" cy="841248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298448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572768"/>
            <a:ext cx="1298448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COMPETITIVE URGENCY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6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2496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Lead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NAP inconsistency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42032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40–73% no-show rate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6432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KPIs / underutilized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Profit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$100K+ AR, no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" y="1956816"/>
            <a:ext cx="4846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KEY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2212848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386584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368296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2286000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40–73% no-show rate — $500K+ in uncaptured annual revenue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834640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008376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990088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2907792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Paralegals billing 10 hrs/wk — $50K+/mo unused billing capacity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456432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630168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611879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3529584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$100K+ outstanding AR with no collections workflow in place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" y="4078224"/>
            <a:ext cx="4846320" cy="566928"/>
          </a:xfrm>
          <a:prstGeom prst="rect">
            <a:avLst/>
          </a:prstGeom>
          <a:solidFill>
            <a:srgbClr val="0C281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251960"/>
            <a:ext cx="219456" cy="219456"/>
          </a:xfrm>
          <a:prstGeom prst="rect">
            <a:avLst/>
          </a:prstGeom>
          <a:solidFill>
            <a:srgbClr val="16A3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233672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" y="4151376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86EFAC"/>
                </a:solidFill>
                <a:latin typeface="Calibri"/>
              </a:rPr>
              <a:t>147 Google reviews — 3–9x ahead of every White Plains competitor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960120"/>
            <a:ext cx="3886200" cy="386791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57800" y="1024128"/>
            <a:ext cx="3886200" cy="694944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57800" y="1024128"/>
            <a:ext cx="128016" cy="694944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0" y="1042415"/>
            <a:ext cx="3474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YOU ARE HERE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1243584"/>
            <a:ext cx="347472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Stage 4: Small Business Manager  →  Stage 6: Law Firm Owner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1920240"/>
            <a:ext cx="35661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COMPETITOR LANDSCAPE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2176272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13248" y="2221991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Nolletti Law Group PLLC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0336" y="2221991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16 reviews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93024" y="2240279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4 Super Lawyers attys · premium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2523744"/>
            <a:ext cx="388620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13248" y="2569463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Douglas Family Law Group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2569463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47 reviews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3024" y="2587751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5-star boutique · mediation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57800" y="2871216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13248" y="2916936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Johnson &amp; Cohen LLP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0336" y="2916936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Not indexed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3024" y="2935224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Multi-atty · full digital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3218688"/>
            <a:ext cx="3886200" cy="310896"/>
          </a:xfrm>
          <a:prstGeom prst="rect">
            <a:avLst/>
          </a:prstGeom>
          <a:solidFill>
            <a:srgbClr val="FFF0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57800" y="3218688"/>
            <a:ext cx="91440" cy="31089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13248" y="3264408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Law Offices of David Bliven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0336" y="3264408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147 reviews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93024" y="3282696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← You · 4.8★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Dan Bryant | SMB Team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LAW OFFICES OF DAVID BLIVEN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Growth Plan: 3 Priorities to Reach $2M by 2027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24128"/>
            <a:ext cx="2487168" cy="363931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42415"/>
            <a:ext cx="2487168" cy="1828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097280"/>
            <a:ext cx="22677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THE SMB TEAM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35024"/>
            <a:ext cx="2267712" cy="15727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A8BFDA"/>
                </a:solidFill>
                <a:latin typeface="Calibri"/>
              </a:rPr>
              <a:t>Lead generation, intake, team, and profit must all work together — missing any one means growth stalls regardless of ad spend. When all four pillars are aligned, David can build the firm he envisioned: one that generates revenue without him in every role.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999232"/>
            <a:ext cx="2487168" cy="74980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3017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D1F3C"/>
                </a:solidFill>
                <a:latin typeface="Calibri"/>
              </a:rPr>
              <a:t>$750K → $2M+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3291840"/>
            <a:ext cx="22860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D1F3C"/>
                </a:solidFill>
                <a:latin typeface="Calibri"/>
              </a:rPr>
              <a:t>Pay yourself what you've earned — step back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6352" y="1024128"/>
            <a:ext cx="2048256" cy="84124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Build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Marketing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1865376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7792" y="2084832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4096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Fix NAP inconsistency — turn 147 reviews into rankings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16352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07792" y="2688336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Activate Google Screened LSA for both offices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6352" y="3072384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3291839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54096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Expand ads to all 4 practice areas + urgency terms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6352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3895344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Monthly GBP posts from Divorce Wars video series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16352" y="4279392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07792" y="4498848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4096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Turn Google into a client pipeline that runs itself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0" y="1024128"/>
            <a:ext cx="2048256" cy="841248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47488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Fix Intake &amp;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Stop Losing Cases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1865376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0" y="2084832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4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Clio Grow reminders live — 24hr before every consult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0" y="2688336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75504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Set show-rate KPI — track weekly, intervene monthly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3072384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3291839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75504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No-show follow-up sequence — recover lost leads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760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3895344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75504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Define response time SLA — no lead unanswered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0" y="4279392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4498848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75504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Conversion rises 15% → 25%+ without extra ad spend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9168" y="1024128"/>
            <a:ext cx="2048256" cy="84124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68896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68896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Install Team &amp;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Profit Systems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168" y="1865376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50607" y="2084832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96912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Paralegal utilization targets — 25+ hrs/wk each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59168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7" y="2688336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96912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Associate onboarding framework before August hire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168" y="3072384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7" y="3291839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96912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AR collections workflow inside Clio Manage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9168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150607" y="3895344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96912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KPI dashboard — profit, utilization, AR weekly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168" y="4279392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50607" y="4498848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96912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David practices law, not ops — systems run the firm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Dan Bryant | SMB Team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LAW OFFICES OF DAVID BLIVEN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Investment &amp; What Happens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1024128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" y="1024128"/>
            <a:ext cx="182880" cy="102412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FULL SERVICE MARKETING — STARTER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98448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$4,847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1408176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426464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$5,697/mo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22576" y="1527048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792224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Google Ads · LSA · Video Growth · SEO · NAP cleanup · GBP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" y="2139696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" y="2139696"/>
            <a:ext cx="182880" cy="102412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231136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D28D9"/>
                </a:solidFill>
                <a:latin typeface="Calibri"/>
              </a:rPr>
              <a:t>ELITE COACH PLUS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2414015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$3,200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2523744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2576" y="2542032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$3,497/mo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642615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907791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Weekly coaching · Intake KPIs · Team framework · AR system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" y="3255264"/>
            <a:ext cx="4133087" cy="658368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291840"/>
            <a:ext cx="1645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7CA0C0"/>
                </a:solidFill>
                <a:latin typeface="Calibri"/>
              </a:rPr>
              <a:t>BUNDLE 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3493008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5C400"/>
                </a:solidFill>
                <a:latin typeface="Calibri"/>
              </a:rPr>
              <a:t>$8,047 / 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3493008"/>
            <a:ext cx="17373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7CA0C0"/>
                </a:solidFill>
                <a:latin typeface="Calibri"/>
              </a:rPr>
              <a:t>Save $1,147/mo by bundling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" y="3968496"/>
            <a:ext cx="4133087" cy="402336"/>
          </a:xfrm>
          <a:prstGeom prst="rect">
            <a:avLst/>
          </a:prstGeom>
          <a:solidFill>
            <a:srgbClr val="EEF2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3995928"/>
            <a:ext cx="3931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+ Recommended ad spend: $3,500–$14,000/mo paid directly to Google/Meta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35424" y="1024128"/>
            <a:ext cx="4407408" cy="1316736"/>
          </a:xfrm>
          <a:prstGeom prst="rect">
            <a:avLst/>
          </a:prstGeom>
          <a:solidFill>
            <a:srgbClr val="ECFD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0016" y="1078992"/>
            <a:ext cx="4133087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65F46"/>
                </a:solidFill>
                <a:latin typeface="Calibri"/>
              </a:rPr>
              <a:t>PROJECTED RETURN ON AD SPEND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0016" y="1335024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Average case value: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1335024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65F46"/>
                </a:solidFill>
                <a:latin typeface="Calibri"/>
              </a:rPr>
              <a:t>$25,000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1609344"/>
            <a:ext cx="4187952" cy="310896"/>
          </a:xfrm>
          <a:prstGeom prst="rect">
            <a:avLst/>
          </a:prstGeom>
          <a:solidFill>
            <a:srgbClr val="D1FA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0016" y="1645920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Conservative  (2–3 cases/mo):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9984" y="1645920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$62,500 revenue · ~18× ROAS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0016" y="1956816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Aggressive  (10–12 cases/mo):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9984" y="1956816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$262,500 revenue · ~19× ROAS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35424" y="2468880"/>
            <a:ext cx="44074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WHAT HAPPENS IN THE FIRST 90 DAYS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90288" y="2724912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0" y="2734056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15584" y="2734056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Ads audit + NAP directory corrections begin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90288" y="3081528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0" y="3090672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3090672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Clio Grow reminders live + intake KPIs set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90288" y="3438144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37760" y="3447287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15584" y="3447287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AR collections workflow built in Clio Manage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90288" y="3794760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37760" y="3803904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15584" y="3803904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Associate onboarding framework complete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90288" y="4151376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37760" y="4160520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Month 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15584" y="4160520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Show rate 75%+, paralegal billing at target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425696"/>
            <a:ext cx="9144000" cy="402336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4425696"/>
            <a:ext cx="8595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 i="1">
                <a:solidFill>
                  <a:srgbClr val="8BADD0"/>
                </a:solidFill>
                <a:latin typeface="Calibri"/>
              </a:rPr>
              <a:t>"Build a firm that runs without me as the firefighter — so I can grow without burning out and finally pay myself what I'm worth."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Dan Bryant | SMB Team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