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5143500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56032" y="155448"/>
            <a:ext cx="475488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DICKEY LAW GROUP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" y="384048"/>
            <a:ext cx="48463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Where Dickey Law Group PLLC Stands Today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" y="1005840"/>
            <a:ext cx="1298448" cy="841248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" y="1005840"/>
            <a:ext cx="1298448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" y="1572768"/>
            <a:ext cx="1298448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COMPETITIVE URGENCY</a:t>
            </a:r>
          </a:p>
        </p:txBody>
      </p:sp>
      <p:sp>
        <p:nvSpPr>
          <p:cNvPr id="8" name="Rectangle 7"/>
          <p:cNvSpPr/>
          <p:nvPr/>
        </p:nvSpPr>
        <p:spPr>
          <a:xfrm>
            <a:off x="1682496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682496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37360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Lead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100% organic, 0% paid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42032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542032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96896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Intake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96896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96896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intake staff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01568" y="1005840"/>
            <a:ext cx="804672" cy="164592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01568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C0392B"/>
                </a:solidFill>
                <a:latin typeface="Calibri"/>
              </a:rPr>
              <a:t>CRITICAL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56432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support staff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61104" y="1005840"/>
            <a:ext cx="804672" cy="164592"/>
          </a:xfrm>
          <a:prstGeom prst="rect">
            <a:avLst/>
          </a:prstGeom>
          <a:solidFill>
            <a:srgbClr val="D97706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261104" y="1170432"/>
            <a:ext cx="804672" cy="676656"/>
          </a:xfrm>
          <a:prstGeom prst="rect">
            <a:avLst/>
          </a:prstGeom>
          <a:solidFill>
            <a:srgbClr val="1629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15968" y="1188720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Profit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5968" y="1417320"/>
            <a:ext cx="694944" cy="1828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1" i="0">
                <a:solidFill>
                  <a:srgbClr val="D97706"/>
                </a:solidFill>
                <a:latin typeface="Calibri"/>
              </a:rPr>
              <a:t>MONITOR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15968" y="1591056"/>
            <a:ext cx="694944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700" b="0" i="0">
                <a:solidFill>
                  <a:srgbClr val="8BADD0"/>
                </a:solidFill>
                <a:latin typeface="Calibri"/>
              </a:rPr>
              <a:t>No profit tracking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" y="1956816"/>
            <a:ext cx="484632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KEY FINDINGS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6032" y="2212848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2386584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2368296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" y="2286000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Zero paid ads — invisible to high-intent local searchers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6032" y="2834640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5760" y="3008376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5760" y="2990088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" y="2907792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Intake falls to both attorneys — no after-hours coverage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56032" y="3456432"/>
            <a:ext cx="4846320" cy="566928"/>
          </a:xfrm>
          <a:prstGeom prst="rect">
            <a:avLst/>
          </a:prstGeom>
          <a:solidFill>
            <a:srgbClr val="2C10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65760" y="3630168"/>
            <a:ext cx="219456" cy="21945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611879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" y="3529584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F0BABA"/>
                </a:solidFill>
                <a:latin typeface="Calibri"/>
              </a:rPr>
              <a:t>Two-attorney firm can't scale without systems and staff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56032" y="4078224"/>
            <a:ext cx="4846320" cy="566928"/>
          </a:xfrm>
          <a:prstGeom prst="rect">
            <a:avLst/>
          </a:prstGeom>
          <a:solidFill>
            <a:srgbClr val="0C281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4251960"/>
            <a:ext cx="219456" cy="219456"/>
          </a:xfrm>
          <a:prstGeom prst="rect">
            <a:avLst/>
          </a:prstGeom>
          <a:solidFill>
            <a:srgbClr val="16A34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4233672"/>
            <a:ext cx="219456" cy="23774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4151376"/>
            <a:ext cx="4352544" cy="42062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0" i="0">
                <a:solidFill>
                  <a:srgbClr val="86EFAC"/>
                </a:solidFill>
                <a:latin typeface="Calibri"/>
              </a:rPr>
              <a:t>5-star bilingual firm — a rare trust edge competitors lack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257800" y="0"/>
            <a:ext cx="3886200" cy="4828032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257800" y="2267712"/>
            <a:ext cx="3886200" cy="694944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257800" y="2267712"/>
            <a:ext cx="128016" cy="694944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0" y="2286000"/>
            <a:ext cx="347472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YOU ARE HERE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0" y="2487168"/>
            <a:ext cx="3474720" cy="40233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Stage 3: Solo Practitioner  →  Goal: Stage 5, Law Firm CEO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394960" y="3063240"/>
            <a:ext cx="356616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4748B"/>
                </a:solidFill>
                <a:latin typeface="Calibri"/>
              </a:rPr>
              <a:t>COMPETITOR LANDSCAPE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257800" y="3310128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413248" y="3355848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Riddle &amp; Butts, LLP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0336" y="3355848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80+ yr track record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93024" y="3374136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Top CPA referral source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257800" y="3657600"/>
            <a:ext cx="3886200" cy="310896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13248" y="3703320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Weygandt Law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260336" y="3703320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Multi-location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3024" y="3721608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Flat-fee brand, community events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257800" y="4005072"/>
            <a:ext cx="3886200" cy="310896"/>
          </a:xfrm>
          <a:prstGeom prst="rect">
            <a:avLst/>
          </a:prstGeom>
          <a:solidFill>
            <a:srgbClr val="F0F4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13248" y="4050791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De Ford Law Firm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60336" y="4050791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6A34A"/>
                </a:solidFill>
                <a:latin typeface="Calibri"/>
              </a:rPr>
              <a:t>6 attorneys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93024" y="4069080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25+ yrs, high-volume capacity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257800" y="4352544"/>
            <a:ext cx="3886200" cy="310896"/>
          </a:xfrm>
          <a:prstGeom prst="rect">
            <a:avLst/>
          </a:prstGeom>
          <a:solidFill>
            <a:srgbClr val="FFF0F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257800" y="4352544"/>
            <a:ext cx="91440" cy="310896"/>
          </a:xfrm>
          <a:prstGeom prst="rect">
            <a:avLst/>
          </a:prstGeom>
          <a:solidFill>
            <a:srgbClr val="C0392B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413248" y="4398264"/>
            <a:ext cx="18288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C0392B"/>
                </a:solidFill>
                <a:latin typeface="Calibri"/>
              </a:rPr>
              <a:t>Dickey Law Group PLLC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260336" y="4398264"/>
            <a:ext cx="914400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C0392B"/>
                </a:solidFill>
                <a:latin typeface="Calibri"/>
              </a:rPr>
              <a:t>32 reviews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193024" y="4416552"/>
            <a:ext cx="8229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600" b="0" i="0">
                <a:solidFill>
                  <a:srgbClr val="64748B"/>
                </a:solidFill>
                <a:latin typeface="Calibri"/>
              </a:rPr>
              <a:t>← You are here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1 /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DICKEY LAW GROUP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Growth Plan: 3 Priorities to Reach $75K/Month</a:t>
            </a:r>
          </a:p>
        </p:txBody>
      </p:sp>
      <p:sp>
        <p:nvSpPr>
          <p:cNvPr id="5" name="Rectangle 4"/>
          <p:cNvSpPr/>
          <p:nvPr/>
        </p:nvSpPr>
        <p:spPr>
          <a:xfrm>
            <a:off x="182880" y="1024128"/>
            <a:ext cx="2487168" cy="363931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2450592"/>
            <a:ext cx="2487168" cy="1828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2523744"/>
            <a:ext cx="2267712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THE SMB TEAM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" y="2743200"/>
            <a:ext cx="2267712" cy="6583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A8BFDA"/>
                </a:solidFill>
                <a:latin typeface="Calibri"/>
              </a:rPr>
              <a:t>All four pillars must work together — miss any one and growth stalls regardless of how talented the attorneys are. When they run as a system, James and Mireya can step back and let the firm grow without them in every room.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3456432"/>
            <a:ext cx="2487168" cy="658368"/>
          </a:xfrm>
          <a:prstGeom prst="rect">
            <a:avLst/>
          </a:prstGeom>
          <a:solidFill>
            <a:srgbClr val="F5C4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8" y="34747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D1F3C"/>
                </a:solidFill>
                <a:latin typeface="Calibri"/>
              </a:rPr>
              <a:t>$450K → $900K revenue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3749039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D1F3C"/>
                </a:solidFill>
                <a:latin typeface="Calibri"/>
              </a:rPr>
              <a:t>Step back and let the firm grow without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16352" y="1024128"/>
            <a:ext cx="2048256" cy="84124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26080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Build the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Marketing Engine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16352" y="1865376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907792" y="2084832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Google LSA — qualified leads call you directly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816352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07792" y="2688336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Spanish ads — a channel no competitor can 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3072384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907792" y="3291839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54096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Contact form above fold — convert existing traffic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816352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907792" y="3895344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 pages for Spring, Conroe — widen your market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16352" y="4279392"/>
            <a:ext cx="2048256" cy="566928"/>
          </a:xfrm>
          <a:prstGeom prst="rect">
            <a:avLst/>
          </a:prstGeom>
          <a:solidFill>
            <a:srgbClr val="EFF6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907792" y="4498848"/>
            <a:ext cx="91440" cy="91440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54096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32 five-star reviews → Google Screened visibility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937760" y="1024128"/>
            <a:ext cx="2048256" cy="841248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47488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Fix Intake &amp;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7488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Stop Losing Cases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37760" y="1865376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029200" y="2084832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75504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After-hours intake — no evening call goes unanswered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0" y="2688336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75504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3-step follow-up sequence — stop losing warm leads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937760" y="3072384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029200" y="3291839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175504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Booking widget converts visitors before they scroll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937760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3895344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75504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consult-to-client rate weekly — find the leak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37760" y="4279392"/>
            <a:ext cx="2048256" cy="566928"/>
          </a:xfrm>
          <a:prstGeom prst="rect">
            <a:avLst/>
          </a:prstGeom>
          <a:solidFill>
            <a:srgbClr val="F0FDFA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0" y="4498848"/>
            <a:ext cx="91440" cy="91440"/>
          </a:xfrm>
          <a:prstGeom prst="rect">
            <a:avLst/>
          </a:prstGeom>
          <a:solidFill>
            <a:srgbClr val="0F766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75504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Structured intake script — faster, consistent process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059168" y="1024128"/>
            <a:ext cx="2048256" cy="84124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68896" y="1042415"/>
            <a:ext cx="457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68896" y="1316736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Install Team &amp;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168896" y="1554480"/>
            <a:ext cx="186537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Profit Systems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059168" y="1865376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150607" y="2084832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296912" y="1920240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Document SOPs before hiring — scale without chaos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059168" y="2468880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150607" y="2688336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296912" y="2523744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Track revenue by practice area — know best margins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059168" y="3072384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150607" y="3291839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296912" y="3127248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First support hire with training system in place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059168" y="3675887"/>
            <a:ext cx="2048256" cy="5669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7150607" y="3895344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296912" y="3730751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Monthly profit review — more revenue you actually keep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059168" y="4279392"/>
            <a:ext cx="2048256" cy="566928"/>
          </a:xfrm>
          <a:prstGeom prst="rect">
            <a:avLst/>
          </a:prstGeom>
          <a:solidFill>
            <a:srgbClr val="F5F3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7150607" y="4498848"/>
            <a:ext cx="91440" cy="91440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296912" y="4334255"/>
            <a:ext cx="1755648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 firm that runs systems, not one that runs on you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0" name="Picture 69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71" name="TextBox 70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2 /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91440"/>
            <a:ext cx="8595360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F5C400"/>
                </a:solidFill>
                <a:latin typeface="Calibri"/>
              </a:rPr>
              <a:t>LAW FIRM GROWTH AUDIT  ·  DICKEY LAW GROUP PLLC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" y="310896"/>
            <a:ext cx="859536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Your Investment &amp; What Happens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168" y="1024128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" y="1024128"/>
            <a:ext cx="182880" cy="1024128"/>
          </a:xfrm>
          <a:prstGeom prst="rect">
            <a:avLst/>
          </a:prstGeom>
          <a:solidFill>
            <a:srgbClr val="1D4ED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115568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1D4ED8"/>
                </a:solidFill>
                <a:latin typeface="Calibri"/>
              </a:rPr>
              <a:t>FULL SERVICE MARKETING —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298448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$4,847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65376" y="1408176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426464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$5,697/mo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22576" y="1527048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" y="1792224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Google Ads · LSA · SEO · GBP · Website optimization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01168" y="2139696"/>
            <a:ext cx="4133087" cy="102412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01168" y="2139696"/>
            <a:ext cx="182880" cy="1024128"/>
          </a:xfrm>
          <a:prstGeom prst="rect">
            <a:avLst/>
          </a:prstGeom>
          <a:solidFill>
            <a:srgbClr val="6D28D9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2231136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6D28D9"/>
                </a:solidFill>
                <a:latin typeface="Calibri"/>
              </a:rPr>
              <a:t>ELITE COACH PLUS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" y="2414015"/>
            <a:ext cx="182880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0D1F3C"/>
                </a:solidFill>
                <a:latin typeface="Calibri"/>
              </a:rPr>
              <a:t>$3,200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65376" y="2523744"/>
            <a:ext cx="420624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64748B"/>
                </a:solidFill>
                <a:latin typeface="Calibri"/>
              </a:rPr>
              <a:t>/mo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22576" y="2542032"/>
            <a:ext cx="91440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334155"/>
                </a:solidFill>
                <a:latin typeface="Calibri"/>
              </a:rPr>
              <a:t>$3,497/mo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22576" y="2642615"/>
            <a:ext cx="804672" cy="9144"/>
          </a:xfrm>
          <a:prstGeom prst="rect">
            <a:avLst/>
          </a:prstGeom>
          <a:solidFill>
            <a:srgbClr val="33415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5488" y="2907791"/>
            <a:ext cx="3803904" cy="20116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Weekly coaching · KPI scorecards · Intake framework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" y="3255264"/>
            <a:ext cx="4133087" cy="658368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3291840"/>
            <a:ext cx="1645920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7CA0C0"/>
                </a:solidFill>
                <a:latin typeface="Calibri"/>
              </a:rPr>
              <a:t>BUNDLE TOTAL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" y="3493008"/>
            <a:ext cx="21945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200" b="1" i="0">
                <a:solidFill>
                  <a:srgbClr val="F5C400"/>
                </a:solidFill>
                <a:latin typeface="Calibri"/>
              </a:rPr>
              <a:t>$8,047 / 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70048" y="3493008"/>
            <a:ext cx="1737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7CA0C0"/>
                </a:solidFill>
                <a:latin typeface="Calibri"/>
              </a:rPr>
              <a:t>Save $1,147/mo by bundling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" y="3968496"/>
            <a:ext cx="4133087" cy="402336"/>
          </a:xfrm>
          <a:prstGeom prst="rect">
            <a:avLst/>
          </a:prstGeom>
          <a:solidFill>
            <a:srgbClr val="EEF2F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" y="3995928"/>
            <a:ext cx="39319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64748B"/>
                </a:solidFill>
                <a:latin typeface="Calibri"/>
              </a:rPr>
              <a:t>+ Recommended ad spend: $5,500–$15,000/mo paid directly to Google/Meta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35424" y="1024128"/>
            <a:ext cx="4407408" cy="1316736"/>
          </a:xfrm>
          <a:prstGeom prst="rect">
            <a:avLst/>
          </a:prstGeom>
          <a:solidFill>
            <a:srgbClr val="ECFDF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0016" y="1078992"/>
            <a:ext cx="4133087" cy="219456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65F46"/>
                </a:solidFill>
                <a:latin typeface="Calibri"/>
              </a:rPr>
              <a:t>PROJECTED RETURN ON AD SPEND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00016" y="1335024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Average case value: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29984" y="1335024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065F46"/>
                </a:solidFill>
                <a:latin typeface="Calibri"/>
              </a:rPr>
              <a:t>$3,500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45152" y="1609344"/>
            <a:ext cx="4187952" cy="310896"/>
          </a:xfrm>
          <a:prstGeom prst="rect">
            <a:avLst/>
          </a:prstGeom>
          <a:solidFill>
            <a:srgbClr val="D1FAE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0016" y="1645920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Conservative  (6 cases/mo):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9984" y="1645920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$21,000 revenue · 3.8× ROAS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00016" y="1956816"/>
            <a:ext cx="192024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1E293B"/>
                </a:solidFill>
                <a:latin typeface="Calibri"/>
              </a:rPr>
              <a:t>Aggressive  (26 cases/mo):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1956816"/>
            <a:ext cx="21031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1" i="0">
                <a:solidFill>
                  <a:srgbClr val="065F46"/>
                </a:solidFill>
                <a:latin typeface="Calibri"/>
              </a:rPr>
              <a:t>$91,000 revenue · 6.1× 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5424" y="2468880"/>
            <a:ext cx="4407408" cy="237744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WHAT HAPPENS IN THE FIRST 90 DAYS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90288" y="2724912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37760" y="2734056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15584" y="2734056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Launch Google Ads and LSA — paid leads active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590288" y="3081528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37760" y="3090672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Day 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815584" y="3090672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Contact form above fold, booking widget live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90288" y="3438144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3447287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15584" y="3447287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Coaching kickoff — baseline metrics and 90-day plan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90288" y="3794760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0" y="3803904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Week 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15584" y="3803904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Geo landing pages for Spring and Conroe TX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590288" y="4151376"/>
            <a:ext cx="256032" cy="256032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37760" y="4160520"/>
            <a:ext cx="804672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1" i="0">
                <a:solidFill>
                  <a:srgbClr val="0D1F3C"/>
                </a:solidFill>
                <a:latin typeface="Calibri"/>
              </a:rPr>
              <a:t>Month 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15584" y="4160520"/>
            <a:ext cx="3054096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1E293B"/>
                </a:solidFill>
                <a:latin typeface="Calibri"/>
              </a:rPr>
              <a:t>Automated review sequence live — targeting 50+ reviews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4425696"/>
            <a:ext cx="9144000" cy="402336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74320" y="4425696"/>
            <a:ext cx="8595360" cy="402336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1">
                <a:solidFill>
                  <a:srgbClr val="8BADD0"/>
                </a:solidFill>
                <a:latin typeface="Calibri"/>
              </a:rPr>
              <a:t>"You did not start this firm to handle every intake call yourself. You started it to help families — and to build something that works without requiring everything from both of you."</a:t>
            </a:r>
          </a:p>
        </p:txBody>
      </p:sp>
      <p:sp>
        <p:nvSpPr>
          <p:cNvPr id="54" name="Rectangle 5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D1F3C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5" name="Picture 54" descr="smb_te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4837176"/>
            <a:ext cx="1170432" cy="237744"/>
          </a:xfrm>
          <a:prstGeom prst="rect">
            <a:avLst/>
          </a:prstGeom>
        </p:spPr>
      </p:pic>
      <p:sp>
        <p:nvSpPr>
          <p:cNvPr id="56" name="TextBox 55"/>
          <p:cNvSpPr txBox="1"/>
          <p:nvPr/>
        </p:nvSpPr>
        <p:spPr>
          <a:xfrm>
            <a:off x="1609344" y="4837176"/>
            <a:ext cx="5303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0">
                <a:solidFill>
                  <a:srgbClr val="5A7A9A"/>
                </a:solidFill>
                <a:latin typeface="Calibri"/>
              </a:rPr>
              <a:t>CONFIDENTIAL  ·  Prepared by Jonathan Farace | SMB Team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4837176"/>
            <a:ext cx="786384" cy="27432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800" b="0" i="0">
                <a:solidFill>
                  <a:srgbClr val="5A7A9A"/>
                </a:solidFill>
                <a:latin typeface="Calibri"/>
              </a:rPr>
              <a:t>3 /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