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6032" y="155448"/>
            <a:ext cx="47548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DICKEY LAW GROUP PLLC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384048"/>
            <a:ext cx="4846320" cy="53035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Where Dickey Law Group PLLC Stands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256032" y="1005840"/>
            <a:ext cx="1298448" cy="841248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1005840"/>
            <a:ext cx="1298448" cy="56692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1572768"/>
            <a:ext cx="1298448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600" b="1" i="0">
                <a:solidFill>
                  <a:srgbClr val="FFFFFF"/>
                </a:solidFill>
                <a:latin typeface="Calibri"/>
              </a:rPr>
              <a:t>COMPETITIVE URGENCY</a:t>
            </a:r>
          </a:p>
        </p:txBody>
      </p:sp>
      <p:sp>
        <p:nvSpPr>
          <p:cNvPr id="8" name="Rectangle 7"/>
          <p:cNvSpPr/>
          <p:nvPr/>
        </p:nvSpPr>
        <p:spPr>
          <a:xfrm>
            <a:off x="1682496" y="1005840"/>
            <a:ext cx="804672" cy="164592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682496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37360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Lead Generation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C0392B"/>
                </a:solidFill>
                <a:latin typeface="Calibri"/>
              </a:rPr>
              <a:t>CRITICAL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0% paid traffic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42032" y="1005840"/>
            <a:ext cx="804672" cy="164592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42032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6896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Intake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96896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C0392B"/>
                </a:solidFill>
                <a:latin typeface="Calibri"/>
              </a:rPr>
              <a:t>CRITICAL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96896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Attorneys handle intake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005840"/>
            <a:ext cx="804672" cy="164592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Team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6432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C0392B"/>
                </a:solidFill>
                <a:latin typeface="Calibri"/>
              </a:rPr>
              <a:t>CRITICAL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56432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No support staff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61104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61104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15968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Profit Plan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15968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AMBER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15968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Margins unknown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032" y="1956816"/>
            <a:ext cx="484632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KEY FINDINGS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6032" y="2212848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5760" y="2386584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2368296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" y="2286000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No paid advertising — invisible to high-intent searchers in The Woodlands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56032" y="2834640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65760" y="3008376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2990088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656" y="2907792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Attorneys handle all intake personally — bottleneck at highest cost point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56032" y="3456432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65760" y="3630168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3611879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6" y="3529584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2-attorney firm, no staff — growth capped at personal capacity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56032" y="4078224"/>
            <a:ext cx="4846320" cy="566928"/>
          </a:xfrm>
          <a:prstGeom prst="rect">
            <a:avLst/>
          </a:prstGeom>
          <a:solidFill>
            <a:srgbClr val="0C281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5760" y="4251960"/>
            <a:ext cx="219456" cy="219456"/>
          </a:xfrm>
          <a:prstGeom prst="rect">
            <a:avLst/>
          </a:prstGeom>
          <a:solidFill>
            <a:srgbClr val="16A34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4233672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6656" y="4151376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86EFAC"/>
                </a:solidFill>
                <a:latin typeface="Calibri"/>
              </a:rPr>
              <a:t>32 five-star reviews + active bilingual blog — strong organic foundation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57800" y="0"/>
            <a:ext cx="3886200" cy="482803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321808" y="109728"/>
            <a:ext cx="3749039" cy="2112264"/>
          </a:xfrm>
          <a:prstGeom prst="rect">
            <a:avLst/>
          </a:prstGeom>
          <a:solidFill>
            <a:srgbClr val="D1D5D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67528" y="1056131"/>
            <a:ext cx="3657599" cy="21945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Website Screenshot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57800" y="2267712"/>
            <a:ext cx="3886200" cy="694944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257800" y="2267712"/>
            <a:ext cx="128016" cy="694944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0" y="2286000"/>
            <a:ext cx="3474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YOU ARE HERE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0" y="2487168"/>
            <a:ext cx="347472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Stage 3: Solo Practitioner  →  Goal: Stage 6, Law Firm Owner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94960" y="3063240"/>
            <a:ext cx="356616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COMPETITOR LANDSCAPE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257800" y="3310128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13248" y="3355848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Riddle &amp; Butts, LLP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60336" y="3355848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Avvo 9.6–10.0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93024" y="3374136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80+ yrs exp. · CPA referral network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257800" y="3657600"/>
            <a:ext cx="3886200" cy="31089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13248" y="3703320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Weygandt Law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60336" y="3703320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Multi-location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93024" y="3721608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Flat-fee · Wills &amp; Waffles events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257800" y="4005072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413248" y="4050791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De Ford Law Firm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260336" y="4050791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6 attorneys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93024" y="4069080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25+ yrs · estate + family + probate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257800" y="4352544"/>
            <a:ext cx="3886200" cy="310896"/>
          </a:xfrm>
          <a:prstGeom prst="rect">
            <a:avLst/>
          </a:prstGeom>
          <a:solidFill>
            <a:srgbClr val="FFF0F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257800" y="4352544"/>
            <a:ext cx="91440" cy="31089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13248" y="4398264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C0392B"/>
                </a:solidFill>
                <a:latin typeface="Calibri"/>
              </a:rPr>
              <a:t>Dickey Law Group PLLC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260336" y="4398264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C0392B"/>
                </a:solidFill>
                <a:latin typeface="Calibri"/>
              </a:rPr>
              <a:t>32 reviews · 5.0 stars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93024" y="4416552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← You are here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4837176"/>
            <a:ext cx="1170432" cy="237744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Jonathan Farace | SMB Team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1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DICKEY LAW GROUP PLLC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Your Growth Plan: 3 Priorities to Reach $75K/Month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024128"/>
            <a:ext cx="2487168" cy="363931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1024128"/>
            <a:ext cx="2487168" cy="1399032"/>
          </a:xfrm>
          <a:prstGeom prst="rect">
            <a:avLst/>
          </a:prstGeom>
          <a:solidFill>
            <a:srgbClr val="D1D5D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" y="1613916"/>
            <a:ext cx="2395728" cy="21945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Staircase Image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2450592"/>
            <a:ext cx="2487168" cy="18288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" y="2523744"/>
            <a:ext cx="2267712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THE SMB TEAM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2743200"/>
            <a:ext cx="2267712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A8BFDA"/>
                </a:solidFill>
                <a:latin typeface="Calibri"/>
              </a:rPr>
              <a:t>Lead generation, intake, team, and profit must all work together. Missing any one means growth stalls regardless of ad spend.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3456432"/>
            <a:ext cx="2487168" cy="658368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" y="347472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0D1F3C"/>
                </a:solidFill>
                <a:latin typeface="Calibri"/>
              </a:rPr>
              <a:t>$450K → $900K revenue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" y="3749039"/>
            <a:ext cx="228600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D1F3C"/>
                </a:solidFill>
                <a:latin typeface="Calibri"/>
              </a:rPr>
              <a:t>Build a firm that runs itself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16352" y="1024128"/>
            <a:ext cx="2048256" cy="841248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6080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Build the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Marketing Engine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16352" y="1865376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907792" y="2084832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54096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Launch Google Ads for estate planning keywords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16352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907792" y="2688336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54096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Activate LSA — pay per call, not per click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16352" y="3072384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907792" y="3291839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54096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Launch Spanish-language ad campaigns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16352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907792" y="3895344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054096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geo pages for Spring, Conroe, Tomball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16352" y="4279392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907792" y="4498848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54096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Optimize GBP for local 3-pack ranking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937760" y="1024128"/>
            <a:ext cx="2048256" cy="841248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488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47488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Fix Intake &amp;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47488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Stop Losing Cases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937760" y="1865376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29200" y="2084832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75504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Add after-hours intake mechanism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937760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29200" y="2688336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175504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Move contact form above the fold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937760" y="3072384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0" y="3291839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75504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Add embedded scheduling widget to site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37760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0" y="3895344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75504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3-step follow-up sequence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37760" y="4279392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029200" y="4498848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75504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Track inquiry volume and conversion rate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059168" y="1024128"/>
            <a:ext cx="2048256" cy="841248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168896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68896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Install Team &amp;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68896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Profit Systems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059168" y="1865376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150607" y="2084832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296912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Document intake &amp; onboarding SOPs first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059168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150607" y="2688336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296912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Hire first support staff with systems ready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059168" y="3072384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150607" y="3291839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296912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Track revenue by practice area monthly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059168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150607" y="3895344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296912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Establish owner compensation plan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059168" y="4279392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150607" y="4498848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296912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review request sequence — target 50+</a:t>
            </a:r>
          </a:p>
        </p:txBody>
      </p:sp>
      <p:sp>
        <p:nvSpPr>
          <p:cNvPr id="71" name="Rectangle 70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4837176"/>
            <a:ext cx="1170432" cy="237744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Jonathan Farace | SMB Team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DICKEY LAW GROUP PLLC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Your Investment &amp; What Happens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" y="1024128"/>
            <a:ext cx="4133087" cy="10241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" y="1024128"/>
            <a:ext cx="182880" cy="1024128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1D4ED8"/>
                </a:solidFill>
                <a:latin typeface="Calibri"/>
              </a:rPr>
              <a:t>FULL SERVICE MARKETING — STARTER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298448"/>
            <a:ext cx="1828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0D1F3C"/>
                </a:solidFill>
                <a:latin typeface="Calibri"/>
              </a:rPr>
              <a:t>$4,847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65376" y="1408176"/>
            <a:ext cx="42062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/mo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2576" y="1426464"/>
            <a:ext cx="914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$5,697/mo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22576" y="1527048"/>
            <a:ext cx="804672" cy="9144"/>
          </a:xfrm>
          <a:prstGeom prst="rect">
            <a:avLst/>
          </a:prstGeom>
          <a:solidFill>
            <a:srgbClr val="64748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792224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Google Ads · LSA · SEO · GBP · Website Optimization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" y="2139696"/>
            <a:ext cx="4133087" cy="10241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" y="2139696"/>
            <a:ext cx="182880" cy="1024128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2231136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D28D9"/>
                </a:solidFill>
                <a:latin typeface="Calibri"/>
              </a:rPr>
              <a:t>ELITE COACH PLUS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2414015"/>
            <a:ext cx="1828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0D1F3C"/>
                </a:solidFill>
                <a:latin typeface="Calibri"/>
              </a:rPr>
              <a:t>$3,200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65376" y="2523744"/>
            <a:ext cx="42062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/mo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22576" y="2542032"/>
            <a:ext cx="914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$3,497/mo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642615"/>
            <a:ext cx="804672" cy="9144"/>
          </a:xfrm>
          <a:prstGeom prst="rect">
            <a:avLst/>
          </a:prstGeom>
          <a:solidFill>
            <a:srgbClr val="64748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2907791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1-on-1 coaching · Masterminds · Group sessions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" y="3255264"/>
            <a:ext cx="4133087" cy="658368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3291840"/>
            <a:ext cx="16459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7CA0C0"/>
                </a:solidFill>
                <a:latin typeface="Calibri"/>
              </a:rPr>
              <a:t>BUNDLE TOTAL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3493008"/>
            <a:ext cx="21945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5C400"/>
                </a:solidFill>
                <a:latin typeface="Calibri"/>
              </a:rPr>
              <a:t>$8,047 / 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70048" y="3493008"/>
            <a:ext cx="17373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7CA0C0"/>
                </a:solidFill>
                <a:latin typeface="Calibri"/>
              </a:rPr>
              <a:t>Save $1,147/mo by bundling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1168" y="3968496"/>
            <a:ext cx="4133087" cy="402336"/>
          </a:xfrm>
          <a:prstGeom prst="rect">
            <a:avLst/>
          </a:prstGeom>
          <a:solidFill>
            <a:srgbClr val="EEF2F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3995928"/>
            <a:ext cx="39319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+ Recommended ad spend: $5,500–$15,000/mo paid directly to Google/Meta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35424" y="1024128"/>
            <a:ext cx="4407408" cy="1316736"/>
          </a:xfrm>
          <a:prstGeom prst="rect">
            <a:avLst/>
          </a:prstGeom>
          <a:solidFill>
            <a:srgbClr val="ECFD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0016" y="1078992"/>
            <a:ext cx="4133087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65F46"/>
                </a:solidFill>
                <a:latin typeface="Calibri"/>
              </a:rPr>
              <a:t>PROJECTED RETURN ON AD SPEND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0016" y="1335024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Average case value: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1335024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65F46"/>
                </a:solidFill>
                <a:latin typeface="Calibri"/>
              </a:rPr>
              <a:t>$3,500 (est.)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1609344"/>
            <a:ext cx="4187952" cy="310896"/>
          </a:xfrm>
          <a:prstGeom prst="rect">
            <a:avLst/>
          </a:prstGeom>
          <a:solidFill>
            <a:srgbClr val="D1FAE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00016" y="1645920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Conservative  (6 cases/mo):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29984" y="1645920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Calibri"/>
              </a:rPr>
              <a:t>$21,000 revenue · 3.8x ROAS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0016" y="1956816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Aggressive  (26 cases/mo):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9984" y="1956816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Calibri"/>
              </a:rPr>
              <a:t>$91,000 revenue · 6.1x ROAS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35424" y="2468880"/>
            <a:ext cx="4407408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WHAT HAPPENS IN THE FIRST 90 DAYS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90288" y="2724912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37760" y="2734056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Day 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15584" y="2734056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Google Ads &amp; LSA campaigns go live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90288" y="3081528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37760" y="3090672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Day 14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15584" y="3090672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Website conversion optimization complete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90288" y="3438144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937760" y="3447287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 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15584" y="3447287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Coaching kickoff — metrics &amp; 90-day plan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90288" y="3794760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37760" y="3803904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 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15584" y="3803904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Geo landing pages for Spring &amp; Conroe built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90288" y="4151376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937760" y="4160520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Month 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15584" y="4160520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Review sequence active — targeting 50+ reviews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425696"/>
            <a:ext cx="9144000" cy="402336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4320" y="4425696"/>
            <a:ext cx="8595360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 i="1">
                <a:solidFill>
                  <a:srgbClr val="8BADD0"/>
                </a:solidFill>
                <a:latin typeface="Calibri"/>
              </a:rPr>
              <a:t>"The Woodlands market is contested, not conquered — a bilingual firm with five-star reviews wins when it builds the systems to be found."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4837176"/>
            <a:ext cx="1170432" cy="237744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Jonathan Farace | SMB Team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3 /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