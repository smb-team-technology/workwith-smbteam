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960120"/>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92608" y="91440"/>
            <a:ext cx="8595360" cy="201168"/>
          </a:xfrm>
          <a:prstGeom prst="rect">
            <a:avLst/>
          </a:prstGeom>
          <a:noFill/>
        </p:spPr>
        <p:txBody>
          <a:bodyPr wrap="square"/>
          <a:lstStyle/>
          <a:p>
            <a:pPr algn="l"/>
            <a:r>
              <a:rPr sz="800" b="1" i="0">
                <a:solidFill>
                  <a:srgbClr val="F5C400"/>
                </a:solidFill>
                <a:latin typeface="Calibri"/>
              </a:rPr>
              <a:t>LAW FIRM GROWTH AUDIT  ·  THE COX PRADIA LAW FIRM</a:t>
            </a:r>
          </a:p>
        </p:txBody>
      </p:sp>
      <p:sp>
        <p:nvSpPr>
          <p:cNvPr id="4" name="TextBox 3"/>
          <p:cNvSpPr txBox="1"/>
          <p:nvPr/>
        </p:nvSpPr>
        <p:spPr>
          <a:xfrm>
            <a:off x="292608" y="310896"/>
            <a:ext cx="8595360" cy="548640"/>
          </a:xfrm>
          <a:prstGeom prst="rect">
            <a:avLst/>
          </a:prstGeom>
          <a:noFill/>
        </p:spPr>
        <p:txBody>
          <a:bodyPr wrap="square"/>
          <a:lstStyle/>
          <a:p>
            <a:pPr algn="l"/>
            <a:r>
              <a:rPr sz="2400" b="1" i="0">
                <a:solidFill>
                  <a:srgbClr val="FFFFFF"/>
                </a:solidFill>
                <a:latin typeface="Calibri"/>
              </a:rPr>
              <a:t>Where The Cox Pradia Law Firm Stands Today</a:t>
            </a:r>
          </a:p>
        </p:txBody>
      </p:sp>
      <p:sp>
        <p:nvSpPr>
          <p:cNvPr id="5" name="Rectangle 4"/>
          <p:cNvSpPr/>
          <p:nvPr/>
        </p:nvSpPr>
        <p:spPr>
          <a:xfrm>
            <a:off x="0" y="960120"/>
            <a:ext cx="146304" cy="3867912"/>
          </a:xfrm>
          <a:prstGeom prst="rect">
            <a:avLst/>
          </a:prstGeom>
          <a:solidFill>
            <a:srgbClr val="F5C4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6032" y="1005840"/>
            <a:ext cx="1298448" cy="841248"/>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1005840"/>
            <a:ext cx="1298448" cy="566928"/>
          </a:xfrm>
          <a:prstGeom prst="rect">
            <a:avLst/>
          </a:prstGeom>
          <a:noFill/>
        </p:spPr>
        <p:txBody>
          <a:bodyPr wrap="square"/>
          <a:lstStyle/>
          <a:p>
            <a:pPr algn="ctr"/>
            <a:r>
              <a:rPr sz="2800" b="1" i="0">
                <a:solidFill>
                  <a:srgbClr val="FFFFFF"/>
                </a:solidFill>
                <a:latin typeface="Calibri"/>
              </a:rPr>
              <a:t>8</a:t>
            </a:r>
          </a:p>
        </p:txBody>
      </p:sp>
      <p:sp>
        <p:nvSpPr>
          <p:cNvPr id="8" name="TextBox 7"/>
          <p:cNvSpPr txBox="1"/>
          <p:nvPr/>
        </p:nvSpPr>
        <p:spPr>
          <a:xfrm>
            <a:off x="256032" y="1572768"/>
            <a:ext cx="1298448" cy="274320"/>
          </a:xfrm>
          <a:prstGeom prst="rect">
            <a:avLst/>
          </a:prstGeom>
          <a:noFill/>
        </p:spPr>
        <p:txBody>
          <a:bodyPr wrap="square"/>
          <a:lstStyle/>
          <a:p>
            <a:pPr algn="ctr"/>
            <a:r>
              <a:rPr sz="600" b="1" i="0">
                <a:solidFill>
                  <a:srgbClr val="FFFFFF"/>
                </a:solidFill>
                <a:latin typeface="Calibri"/>
              </a:rPr>
              <a:t>COMPETITIVE URGENCY</a:t>
            </a:r>
          </a:p>
        </p:txBody>
      </p:sp>
      <p:sp>
        <p:nvSpPr>
          <p:cNvPr id="9" name="Rectangle 8"/>
          <p:cNvSpPr/>
          <p:nvPr/>
        </p:nvSpPr>
        <p:spPr>
          <a:xfrm>
            <a:off x="1682496" y="1005840"/>
            <a:ext cx="804672" cy="164592"/>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82496" y="1170432"/>
            <a:ext cx="804672" cy="676656"/>
          </a:xfrm>
          <a:prstGeom prst="rect">
            <a:avLst/>
          </a:prstGeom>
          <a:solidFill>
            <a:srgbClr val="162947"/>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37360" y="1188720"/>
            <a:ext cx="694944" cy="237744"/>
          </a:xfrm>
          <a:prstGeom prst="rect">
            <a:avLst/>
          </a:prstGeom>
          <a:noFill/>
        </p:spPr>
        <p:txBody>
          <a:bodyPr wrap="square"/>
          <a:lstStyle/>
          <a:p>
            <a:pPr algn="l"/>
            <a:r>
              <a:rPr sz="800" b="1" i="0">
                <a:solidFill>
                  <a:srgbClr val="FFFFFF"/>
                </a:solidFill>
                <a:latin typeface="Calibri"/>
              </a:rPr>
              <a:t>Lead Generation</a:t>
            </a:r>
          </a:p>
        </p:txBody>
      </p:sp>
      <p:sp>
        <p:nvSpPr>
          <p:cNvPr id="12" name="TextBox 11"/>
          <p:cNvSpPr txBox="1"/>
          <p:nvPr/>
        </p:nvSpPr>
        <p:spPr>
          <a:xfrm>
            <a:off x="1737360" y="1417320"/>
            <a:ext cx="694944" cy="182880"/>
          </a:xfrm>
          <a:prstGeom prst="rect">
            <a:avLst/>
          </a:prstGeom>
          <a:noFill/>
        </p:spPr>
        <p:txBody>
          <a:bodyPr wrap="square"/>
          <a:lstStyle/>
          <a:p>
            <a:pPr algn="l"/>
            <a:r>
              <a:rPr sz="700" b="1" i="0">
                <a:solidFill>
                  <a:srgbClr val="C0392B"/>
                </a:solidFill>
                <a:latin typeface="Calibri"/>
              </a:rPr>
              <a:t>CRITICAL</a:t>
            </a:r>
          </a:p>
        </p:txBody>
      </p:sp>
      <p:sp>
        <p:nvSpPr>
          <p:cNvPr id="13" name="TextBox 12"/>
          <p:cNvSpPr txBox="1"/>
          <p:nvPr/>
        </p:nvSpPr>
        <p:spPr>
          <a:xfrm>
            <a:off x="1737360" y="1591056"/>
            <a:ext cx="694944" cy="237744"/>
          </a:xfrm>
          <a:prstGeom prst="rect">
            <a:avLst/>
          </a:prstGeom>
          <a:noFill/>
        </p:spPr>
        <p:txBody>
          <a:bodyPr wrap="square"/>
          <a:lstStyle/>
          <a:p>
            <a:pPr algn="l"/>
            <a:r>
              <a:rPr sz="700" b="0" i="0">
                <a:solidFill>
                  <a:srgbClr val="8BADD0"/>
                </a:solidFill>
                <a:latin typeface="Calibri"/>
              </a:rPr>
              <a:t>No paid ads — invisible</a:t>
            </a:r>
          </a:p>
        </p:txBody>
      </p:sp>
      <p:sp>
        <p:nvSpPr>
          <p:cNvPr id="14" name="Rectangle 13"/>
          <p:cNvSpPr/>
          <p:nvPr/>
        </p:nvSpPr>
        <p:spPr>
          <a:xfrm>
            <a:off x="2542032" y="1005840"/>
            <a:ext cx="804672" cy="164592"/>
          </a:xfrm>
          <a:prstGeom prst="rect">
            <a:avLst/>
          </a:prstGeom>
          <a:solidFill>
            <a:srgbClr val="D97706"/>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42032" y="1170432"/>
            <a:ext cx="804672" cy="676656"/>
          </a:xfrm>
          <a:prstGeom prst="rect">
            <a:avLst/>
          </a:prstGeom>
          <a:solidFill>
            <a:srgbClr val="162947"/>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1188720"/>
            <a:ext cx="694944" cy="237744"/>
          </a:xfrm>
          <a:prstGeom prst="rect">
            <a:avLst/>
          </a:prstGeom>
          <a:noFill/>
        </p:spPr>
        <p:txBody>
          <a:bodyPr wrap="square"/>
          <a:lstStyle/>
          <a:p>
            <a:pPr algn="l"/>
            <a:r>
              <a:rPr sz="800" b="1" i="0">
                <a:solidFill>
                  <a:srgbClr val="FFFFFF"/>
                </a:solidFill>
                <a:latin typeface="Calibri"/>
              </a:rPr>
              <a:t>Intake</a:t>
            </a:r>
          </a:p>
        </p:txBody>
      </p:sp>
      <p:sp>
        <p:nvSpPr>
          <p:cNvPr id="17" name="TextBox 16"/>
          <p:cNvSpPr txBox="1"/>
          <p:nvPr/>
        </p:nvSpPr>
        <p:spPr>
          <a:xfrm>
            <a:off x="2596896" y="1417320"/>
            <a:ext cx="694944" cy="182880"/>
          </a:xfrm>
          <a:prstGeom prst="rect">
            <a:avLst/>
          </a:prstGeom>
          <a:noFill/>
        </p:spPr>
        <p:txBody>
          <a:bodyPr wrap="square"/>
          <a:lstStyle/>
          <a:p>
            <a:pPr algn="l"/>
            <a:r>
              <a:rPr sz="700" b="1" i="0">
                <a:solidFill>
                  <a:srgbClr val="D97706"/>
                </a:solidFill>
                <a:latin typeface="Calibri"/>
              </a:rPr>
              <a:t>AMBER</a:t>
            </a:r>
          </a:p>
        </p:txBody>
      </p:sp>
      <p:sp>
        <p:nvSpPr>
          <p:cNvPr id="18" name="TextBox 17"/>
          <p:cNvSpPr txBox="1"/>
          <p:nvPr/>
        </p:nvSpPr>
        <p:spPr>
          <a:xfrm>
            <a:off x="2596896" y="1591056"/>
            <a:ext cx="694944" cy="237744"/>
          </a:xfrm>
          <a:prstGeom prst="rect">
            <a:avLst/>
          </a:prstGeom>
          <a:noFill/>
        </p:spPr>
        <p:txBody>
          <a:bodyPr wrap="square"/>
          <a:lstStyle/>
          <a:p>
            <a:pPr algn="l"/>
            <a:r>
              <a:rPr sz="700" b="0" i="0">
                <a:solidFill>
                  <a:srgbClr val="8BADD0"/>
                </a:solidFill>
                <a:latin typeface="Calibri"/>
              </a:rPr>
              <a:t>No live chat or after-hrs</a:t>
            </a:r>
          </a:p>
        </p:txBody>
      </p:sp>
      <p:sp>
        <p:nvSpPr>
          <p:cNvPr id="19" name="Rectangle 18"/>
          <p:cNvSpPr/>
          <p:nvPr/>
        </p:nvSpPr>
        <p:spPr>
          <a:xfrm>
            <a:off x="3401568" y="1005840"/>
            <a:ext cx="804672" cy="164592"/>
          </a:xfrm>
          <a:prstGeom prst="rect">
            <a:avLst/>
          </a:prstGeom>
          <a:solidFill>
            <a:srgbClr val="D97706"/>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401568" y="1170432"/>
            <a:ext cx="804672" cy="676656"/>
          </a:xfrm>
          <a:prstGeom prst="rect">
            <a:avLst/>
          </a:prstGeom>
          <a:solidFill>
            <a:srgbClr val="162947"/>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56432" y="1188720"/>
            <a:ext cx="694944" cy="237744"/>
          </a:xfrm>
          <a:prstGeom prst="rect">
            <a:avLst/>
          </a:prstGeom>
          <a:noFill/>
        </p:spPr>
        <p:txBody>
          <a:bodyPr wrap="square"/>
          <a:lstStyle/>
          <a:p>
            <a:pPr algn="l"/>
            <a:r>
              <a:rPr sz="800" b="1" i="0">
                <a:solidFill>
                  <a:srgbClr val="FFFFFF"/>
                </a:solidFill>
                <a:latin typeface="Calibri"/>
              </a:rPr>
              <a:t>Team</a:t>
            </a:r>
          </a:p>
        </p:txBody>
      </p:sp>
      <p:sp>
        <p:nvSpPr>
          <p:cNvPr id="22" name="TextBox 21"/>
          <p:cNvSpPr txBox="1"/>
          <p:nvPr/>
        </p:nvSpPr>
        <p:spPr>
          <a:xfrm>
            <a:off x="3456432" y="1417320"/>
            <a:ext cx="694944" cy="182880"/>
          </a:xfrm>
          <a:prstGeom prst="rect">
            <a:avLst/>
          </a:prstGeom>
          <a:noFill/>
        </p:spPr>
        <p:txBody>
          <a:bodyPr wrap="square"/>
          <a:lstStyle/>
          <a:p>
            <a:pPr algn="l"/>
            <a:r>
              <a:rPr sz="700" b="1" i="0">
                <a:solidFill>
                  <a:srgbClr val="D97706"/>
                </a:solidFill>
                <a:latin typeface="Calibri"/>
              </a:rPr>
              <a:t>AMBER</a:t>
            </a:r>
          </a:p>
        </p:txBody>
      </p:sp>
      <p:sp>
        <p:nvSpPr>
          <p:cNvPr id="23" name="TextBox 22"/>
          <p:cNvSpPr txBox="1"/>
          <p:nvPr/>
        </p:nvSpPr>
        <p:spPr>
          <a:xfrm>
            <a:off x="3456432" y="1591056"/>
            <a:ext cx="694944" cy="237744"/>
          </a:xfrm>
          <a:prstGeom prst="rect">
            <a:avLst/>
          </a:prstGeom>
          <a:noFill/>
        </p:spPr>
        <p:txBody>
          <a:bodyPr wrap="square"/>
          <a:lstStyle/>
          <a:p>
            <a:pPr algn="l"/>
            <a:r>
              <a:rPr sz="700" b="0" i="0">
                <a:solidFill>
                  <a:srgbClr val="8BADD0"/>
                </a:solidFill>
                <a:latin typeface="Calibri"/>
              </a:rPr>
              <a:t>No mgmt layer in place</a:t>
            </a:r>
          </a:p>
        </p:txBody>
      </p:sp>
      <p:sp>
        <p:nvSpPr>
          <p:cNvPr id="24" name="Rectangle 23"/>
          <p:cNvSpPr/>
          <p:nvPr/>
        </p:nvSpPr>
        <p:spPr>
          <a:xfrm>
            <a:off x="4261104" y="1005840"/>
            <a:ext cx="804672" cy="164592"/>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61104" y="1170432"/>
            <a:ext cx="804672" cy="676656"/>
          </a:xfrm>
          <a:prstGeom prst="rect">
            <a:avLst/>
          </a:prstGeom>
          <a:solidFill>
            <a:srgbClr val="162947"/>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15968" y="1188720"/>
            <a:ext cx="694944" cy="237744"/>
          </a:xfrm>
          <a:prstGeom prst="rect">
            <a:avLst/>
          </a:prstGeom>
          <a:noFill/>
        </p:spPr>
        <p:txBody>
          <a:bodyPr wrap="square"/>
          <a:lstStyle/>
          <a:p>
            <a:pPr algn="l"/>
            <a:r>
              <a:rPr sz="800" b="1" i="0">
                <a:solidFill>
                  <a:srgbClr val="FFFFFF"/>
                </a:solidFill>
                <a:latin typeface="Calibri"/>
              </a:rPr>
              <a:t>Profit Plan</a:t>
            </a:r>
          </a:p>
        </p:txBody>
      </p:sp>
      <p:sp>
        <p:nvSpPr>
          <p:cNvPr id="27" name="TextBox 26"/>
          <p:cNvSpPr txBox="1"/>
          <p:nvPr/>
        </p:nvSpPr>
        <p:spPr>
          <a:xfrm>
            <a:off x="4315968" y="1417320"/>
            <a:ext cx="694944" cy="182880"/>
          </a:xfrm>
          <a:prstGeom prst="rect">
            <a:avLst/>
          </a:prstGeom>
          <a:noFill/>
        </p:spPr>
        <p:txBody>
          <a:bodyPr wrap="square"/>
          <a:lstStyle/>
          <a:p>
            <a:pPr algn="l"/>
            <a:r>
              <a:rPr sz="700" b="1" i="0">
                <a:solidFill>
                  <a:srgbClr val="C0392B"/>
                </a:solidFill>
                <a:latin typeface="Calibri"/>
              </a:rPr>
              <a:t>CRITICAL</a:t>
            </a:r>
          </a:p>
        </p:txBody>
      </p:sp>
      <p:sp>
        <p:nvSpPr>
          <p:cNvPr id="28" name="TextBox 27"/>
          <p:cNvSpPr txBox="1"/>
          <p:nvPr/>
        </p:nvSpPr>
        <p:spPr>
          <a:xfrm>
            <a:off x="4315968" y="1591056"/>
            <a:ext cx="694944" cy="237744"/>
          </a:xfrm>
          <a:prstGeom prst="rect">
            <a:avLst/>
          </a:prstGeom>
          <a:noFill/>
        </p:spPr>
        <p:txBody>
          <a:bodyPr wrap="square"/>
          <a:lstStyle/>
          <a:p>
            <a:pPr algn="l"/>
            <a:r>
              <a:rPr sz="700" b="0" i="0">
                <a:solidFill>
                  <a:srgbClr val="8BADD0"/>
                </a:solidFill>
                <a:latin typeface="Calibri"/>
              </a:rPr>
              <a:t>No revenue visibility</a:t>
            </a:r>
          </a:p>
        </p:txBody>
      </p:sp>
      <p:sp>
        <p:nvSpPr>
          <p:cNvPr id="29" name="TextBox 28"/>
          <p:cNvSpPr txBox="1"/>
          <p:nvPr/>
        </p:nvSpPr>
        <p:spPr>
          <a:xfrm>
            <a:off x="256032" y="1956816"/>
            <a:ext cx="4846320" cy="219456"/>
          </a:xfrm>
          <a:prstGeom prst="rect">
            <a:avLst/>
          </a:prstGeom>
          <a:noFill/>
        </p:spPr>
        <p:txBody>
          <a:bodyPr wrap="square"/>
          <a:lstStyle/>
          <a:p>
            <a:pPr algn="l"/>
            <a:r>
              <a:rPr sz="800" b="1" i="0">
                <a:solidFill>
                  <a:srgbClr val="F5C400"/>
                </a:solidFill>
                <a:latin typeface="Calibri"/>
              </a:rPr>
              <a:t>KEY FINDINGS</a:t>
            </a:r>
          </a:p>
        </p:txBody>
      </p:sp>
      <p:sp>
        <p:nvSpPr>
          <p:cNvPr id="30" name="Rectangle 29"/>
          <p:cNvSpPr/>
          <p:nvPr/>
        </p:nvSpPr>
        <p:spPr>
          <a:xfrm>
            <a:off x="256032" y="2212848"/>
            <a:ext cx="4846320" cy="566928"/>
          </a:xfrm>
          <a:prstGeom prst="rect">
            <a:avLst/>
          </a:prstGeom>
          <a:solidFill>
            <a:srgbClr val="2C101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386584"/>
            <a:ext cx="219456" cy="219456"/>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5760" y="2368296"/>
            <a:ext cx="219456" cy="237744"/>
          </a:xfrm>
          <a:prstGeom prst="rect">
            <a:avLst/>
          </a:prstGeom>
          <a:noFill/>
        </p:spPr>
        <p:txBody>
          <a:bodyPr wrap="square"/>
          <a:lstStyle/>
          <a:p>
            <a:pPr algn="ctr"/>
            <a:r>
              <a:rPr sz="900" b="1" i="0">
                <a:solidFill>
                  <a:srgbClr val="FFFFFF"/>
                </a:solidFill>
                <a:latin typeface="Calibri"/>
              </a:rPr>
              <a:t>✕</a:t>
            </a:r>
          </a:p>
        </p:txBody>
      </p:sp>
      <p:sp>
        <p:nvSpPr>
          <p:cNvPr id="33" name="TextBox 32"/>
          <p:cNvSpPr txBox="1"/>
          <p:nvPr/>
        </p:nvSpPr>
        <p:spPr>
          <a:xfrm>
            <a:off x="676656" y="2286000"/>
            <a:ext cx="4352544" cy="420624"/>
          </a:xfrm>
          <a:prstGeom prst="rect">
            <a:avLst/>
          </a:prstGeom>
          <a:noFill/>
        </p:spPr>
        <p:txBody>
          <a:bodyPr wrap="square"/>
          <a:lstStyle/>
          <a:p>
            <a:pPr algn="l"/>
            <a:r>
              <a:rPr sz="1000" b="0" i="0">
                <a:solidFill>
                  <a:srgbClr val="F0BABA"/>
                </a:solidFill>
                <a:latin typeface="Calibri"/>
              </a:rPr>
              <a:t>Invisible on Google Ads + 3-pack while Zehl spends $913K/yr on PI terms</a:t>
            </a:r>
          </a:p>
        </p:txBody>
      </p:sp>
      <p:sp>
        <p:nvSpPr>
          <p:cNvPr id="34" name="Rectangle 33"/>
          <p:cNvSpPr/>
          <p:nvPr/>
        </p:nvSpPr>
        <p:spPr>
          <a:xfrm>
            <a:off x="256032" y="2834640"/>
            <a:ext cx="4846320" cy="566928"/>
          </a:xfrm>
          <a:prstGeom prst="rect">
            <a:avLst/>
          </a:prstGeom>
          <a:solidFill>
            <a:srgbClr val="2C101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5760" y="3008376"/>
            <a:ext cx="219456" cy="219456"/>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5760" y="2990088"/>
            <a:ext cx="219456" cy="237744"/>
          </a:xfrm>
          <a:prstGeom prst="rect">
            <a:avLst/>
          </a:prstGeom>
          <a:noFill/>
        </p:spPr>
        <p:txBody>
          <a:bodyPr wrap="square"/>
          <a:lstStyle/>
          <a:p>
            <a:pPr algn="ctr"/>
            <a:r>
              <a:rPr sz="900" b="1" i="0">
                <a:solidFill>
                  <a:srgbClr val="FFFFFF"/>
                </a:solidFill>
                <a:latin typeface="Calibri"/>
              </a:rPr>
              <a:t>✕</a:t>
            </a:r>
          </a:p>
        </p:txBody>
      </p:sp>
      <p:sp>
        <p:nvSpPr>
          <p:cNvPr id="37" name="TextBox 36"/>
          <p:cNvSpPr txBox="1"/>
          <p:nvPr/>
        </p:nvSpPr>
        <p:spPr>
          <a:xfrm>
            <a:off x="676656" y="2907792"/>
            <a:ext cx="4352544" cy="420624"/>
          </a:xfrm>
          <a:prstGeom prst="rect">
            <a:avLst/>
          </a:prstGeom>
          <a:noFill/>
        </p:spPr>
        <p:txBody>
          <a:bodyPr wrap="square"/>
          <a:lstStyle/>
          <a:p>
            <a:pPr algn="l"/>
            <a:r>
              <a:rPr sz="1000" b="0" i="0">
                <a:solidFill>
                  <a:srgbClr val="F0BABA"/>
                </a:solidFill>
                <a:latin typeface="Calibri"/>
              </a:rPr>
              <a:t>Two addresses + three phone numbers across directories hurt 3-pack ranking</a:t>
            </a:r>
          </a:p>
        </p:txBody>
      </p:sp>
      <p:sp>
        <p:nvSpPr>
          <p:cNvPr id="38" name="Rectangle 37"/>
          <p:cNvSpPr/>
          <p:nvPr/>
        </p:nvSpPr>
        <p:spPr>
          <a:xfrm>
            <a:off x="256032" y="3456432"/>
            <a:ext cx="4846320" cy="566928"/>
          </a:xfrm>
          <a:prstGeom prst="rect">
            <a:avLst/>
          </a:prstGeom>
          <a:solidFill>
            <a:srgbClr val="2C101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3630168"/>
            <a:ext cx="219456" cy="219456"/>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3611879"/>
            <a:ext cx="219456" cy="237744"/>
          </a:xfrm>
          <a:prstGeom prst="rect">
            <a:avLst/>
          </a:prstGeom>
          <a:noFill/>
        </p:spPr>
        <p:txBody>
          <a:bodyPr wrap="square"/>
          <a:lstStyle/>
          <a:p>
            <a:pPr algn="ctr"/>
            <a:r>
              <a:rPr sz="900" b="1" i="0">
                <a:solidFill>
                  <a:srgbClr val="FFFFFF"/>
                </a:solidFill>
                <a:latin typeface="Calibri"/>
              </a:rPr>
              <a:t>✕</a:t>
            </a:r>
          </a:p>
        </p:txBody>
      </p:sp>
      <p:sp>
        <p:nvSpPr>
          <p:cNvPr id="41" name="TextBox 40"/>
          <p:cNvSpPr txBox="1"/>
          <p:nvPr/>
        </p:nvSpPr>
        <p:spPr>
          <a:xfrm>
            <a:off x="676656" y="3529584"/>
            <a:ext cx="4352544" cy="420624"/>
          </a:xfrm>
          <a:prstGeom prst="rect">
            <a:avLst/>
          </a:prstGeom>
          <a:noFill/>
        </p:spPr>
        <p:txBody>
          <a:bodyPr wrap="square"/>
          <a:lstStyle/>
          <a:p>
            <a:pPr algn="l"/>
            <a:r>
              <a:rPr sz="1000" b="0" i="0">
                <a:solidFill>
                  <a:srgbClr val="F0BABA"/>
                </a:solidFill>
                <a:latin typeface="Calibri"/>
              </a:rPr>
              <a:t>No live chat + footer-only form — after-hours PI visitors leave unconverted</a:t>
            </a:r>
          </a:p>
        </p:txBody>
      </p:sp>
      <p:sp>
        <p:nvSpPr>
          <p:cNvPr id="42" name="Rectangle 41"/>
          <p:cNvSpPr/>
          <p:nvPr/>
        </p:nvSpPr>
        <p:spPr>
          <a:xfrm>
            <a:off x="256032" y="4078224"/>
            <a:ext cx="4846320" cy="566928"/>
          </a:xfrm>
          <a:prstGeom prst="rect">
            <a:avLst/>
          </a:prstGeom>
          <a:solidFill>
            <a:srgbClr val="0C281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4251960"/>
            <a:ext cx="219456" cy="219456"/>
          </a:xfrm>
          <a:prstGeom prst="rect">
            <a:avLst/>
          </a:prstGeom>
          <a:solidFill>
            <a:srgbClr val="16A34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5760" y="4233672"/>
            <a:ext cx="219456" cy="237744"/>
          </a:xfrm>
          <a:prstGeom prst="rect">
            <a:avLst/>
          </a:prstGeom>
          <a:noFill/>
        </p:spPr>
        <p:txBody>
          <a:bodyPr wrap="square"/>
          <a:lstStyle/>
          <a:p>
            <a:pPr algn="ctr"/>
            <a:r>
              <a:rPr sz="900" b="1" i="0">
                <a:solidFill>
                  <a:srgbClr val="FFFFFF"/>
                </a:solidFill>
                <a:latin typeface="Calibri"/>
              </a:rPr>
              <a:t>✓</a:t>
            </a:r>
          </a:p>
        </p:txBody>
      </p:sp>
      <p:sp>
        <p:nvSpPr>
          <p:cNvPr id="45" name="TextBox 44"/>
          <p:cNvSpPr txBox="1"/>
          <p:nvPr/>
        </p:nvSpPr>
        <p:spPr>
          <a:xfrm>
            <a:off x="676656" y="4151376"/>
            <a:ext cx="4352544" cy="420624"/>
          </a:xfrm>
          <a:prstGeom prst="rect">
            <a:avLst/>
          </a:prstGeom>
          <a:noFill/>
        </p:spPr>
        <p:txBody>
          <a:bodyPr wrap="square"/>
          <a:lstStyle/>
          <a:p>
            <a:pPr algn="l"/>
            <a:r>
              <a:rPr sz="1000" b="0" i="0">
                <a:solidFill>
                  <a:srgbClr val="86EFAC"/>
                </a:solidFill>
                <a:latin typeface="Calibri"/>
              </a:rPr>
              <a:t>Structured 10-person team — intake coordinators + case manager — ready to scale</a:t>
            </a:r>
          </a:p>
        </p:txBody>
      </p:sp>
      <p:sp>
        <p:nvSpPr>
          <p:cNvPr id="46" name="Rectangle 45"/>
          <p:cNvSpPr/>
          <p:nvPr/>
        </p:nvSpPr>
        <p:spPr>
          <a:xfrm>
            <a:off x="5257800" y="960120"/>
            <a:ext cx="3886200" cy="386791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257800" y="1024128"/>
            <a:ext cx="3886200" cy="694944"/>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57800" y="1024128"/>
            <a:ext cx="128016" cy="694944"/>
          </a:xfrm>
          <a:prstGeom prst="rect">
            <a:avLst/>
          </a:prstGeom>
          <a:solidFill>
            <a:srgbClr val="F5C4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486400" y="1042415"/>
            <a:ext cx="3474720" cy="201168"/>
          </a:xfrm>
          <a:prstGeom prst="rect">
            <a:avLst/>
          </a:prstGeom>
          <a:noFill/>
        </p:spPr>
        <p:txBody>
          <a:bodyPr wrap="square"/>
          <a:lstStyle/>
          <a:p>
            <a:pPr algn="l"/>
            <a:r>
              <a:rPr sz="800" b="1" i="0">
                <a:solidFill>
                  <a:srgbClr val="F5C400"/>
                </a:solidFill>
                <a:latin typeface="Calibri"/>
              </a:rPr>
              <a:t>YOU ARE HERE</a:t>
            </a:r>
          </a:p>
        </p:txBody>
      </p:sp>
      <p:sp>
        <p:nvSpPr>
          <p:cNvPr id="50" name="TextBox 49"/>
          <p:cNvSpPr txBox="1"/>
          <p:nvPr/>
        </p:nvSpPr>
        <p:spPr>
          <a:xfrm>
            <a:off x="5486400" y="1243584"/>
            <a:ext cx="3474720" cy="402336"/>
          </a:xfrm>
          <a:prstGeom prst="rect">
            <a:avLst/>
          </a:prstGeom>
          <a:noFill/>
        </p:spPr>
        <p:txBody>
          <a:bodyPr wrap="square"/>
          <a:lstStyle/>
          <a:p>
            <a:pPr algn="l"/>
            <a:r>
              <a:rPr sz="1000" b="1" i="0">
                <a:solidFill>
                  <a:srgbClr val="FFFFFF"/>
                </a:solidFill>
                <a:latin typeface="Calibri"/>
              </a:rPr>
              <a:t>Stage 4: Small Business Manager  →  Stage 6: Law Firm Owner</a:t>
            </a:r>
          </a:p>
        </p:txBody>
      </p:sp>
      <p:sp>
        <p:nvSpPr>
          <p:cNvPr id="51" name="TextBox 50"/>
          <p:cNvSpPr txBox="1"/>
          <p:nvPr/>
        </p:nvSpPr>
        <p:spPr>
          <a:xfrm>
            <a:off x="5394960" y="1920240"/>
            <a:ext cx="3566160" cy="219456"/>
          </a:xfrm>
          <a:prstGeom prst="rect">
            <a:avLst/>
          </a:prstGeom>
          <a:noFill/>
        </p:spPr>
        <p:txBody>
          <a:bodyPr wrap="square"/>
          <a:lstStyle/>
          <a:p>
            <a:pPr algn="l"/>
            <a:r>
              <a:rPr sz="800" b="1" i="0">
                <a:solidFill>
                  <a:srgbClr val="64748B"/>
                </a:solidFill>
                <a:latin typeface="Calibri"/>
              </a:rPr>
              <a:t>COMPETITOR LANDSCAPE</a:t>
            </a:r>
          </a:p>
        </p:txBody>
      </p:sp>
      <p:sp>
        <p:nvSpPr>
          <p:cNvPr id="52" name="Rectangle 51"/>
          <p:cNvSpPr/>
          <p:nvPr/>
        </p:nvSpPr>
        <p:spPr>
          <a:xfrm>
            <a:off x="5257800" y="2176272"/>
            <a:ext cx="3886200" cy="310896"/>
          </a:xfrm>
          <a:prstGeom prst="rect">
            <a:avLst/>
          </a:prstGeom>
          <a:solidFill>
            <a:srgbClr val="F0F4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413248" y="2221991"/>
            <a:ext cx="1828800" cy="219456"/>
          </a:xfrm>
          <a:prstGeom prst="rect">
            <a:avLst/>
          </a:prstGeom>
          <a:noFill/>
        </p:spPr>
        <p:txBody>
          <a:bodyPr wrap="square"/>
          <a:lstStyle/>
          <a:p>
            <a:pPr algn="l"/>
            <a:r>
              <a:rPr sz="800" b="0" i="0">
                <a:solidFill>
                  <a:srgbClr val="1E293B"/>
                </a:solidFill>
                <a:latin typeface="Calibri"/>
              </a:rPr>
              <a:t>Zehl &amp; Associates</a:t>
            </a:r>
          </a:p>
        </p:txBody>
      </p:sp>
      <p:sp>
        <p:nvSpPr>
          <p:cNvPr id="54" name="TextBox 53"/>
          <p:cNvSpPr txBox="1"/>
          <p:nvPr/>
        </p:nvSpPr>
        <p:spPr>
          <a:xfrm>
            <a:off x="7260336" y="2221991"/>
            <a:ext cx="914400" cy="219456"/>
          </a:xfrm>
          <a:prstGeom prst="rect">
            <a:avLst/>
          </a:prstGeom>
          <a:noFill/>
        </p:spPr>
        <p:txBody>
          <a:bodyPr wrap="square"/>
          <a:lstStyle/>
          <a:p>
            <a:pPr algn="l"/>
            <a:r>
              <a:rPr sz="800" b="0" i="0">
                <a:solidFill>
                  <a:srgbClr val="16A34A"/>
                </a:solidFill>
                <a:latin typeface="Calibri"/>
              </a:rPr>
              <a:t>1,262 reviews</a:t>
            </a:r>
          </a:p>
        </p:txBody>
      </p:sp>
      <p:sp>
        <p:nvSpPr>
          <p:cNvPr id="55" name="TextBox 54"/>
          <p:cNvSpPr txBox="1"/>
          <p:nvPr/>
        </p:nvSpPr>
        <p:spPr>
          <a:xfrm>
            <a:off x="8193024" y="2240279"/>
            <a:ext cx="822960" cy="201168"/>
          </a:xfrm>
          <a:prstGeom prst="rect">
            <a:avLst/>
          </a:prstGeom>
          <a:noFill/>
        </p:spPr>
        <p:txBody>
          <a:bodyPr wrap="square"/>
          <a:lstStyle/>
          <a:p>
            <a:pPr algn="l"/>
            <a:r>
              <a:rPr sz="600" b="0" i="0">
                <a:solidFill>
                  <a:srgbClr val="64748B"/>
                </a:solidFill>
                <a:latin typeface="Calibri"/>
              </a:rPr>
              <a:t>5.0★ · $913K ads/yr</a:t>
            </a:r>
          </a:p>
        </p:txBody>
      </p:sp>
      <p:sp>
        <p:nvSpPr>
          <p:cNvPr id="56" name="Rectangle 55"/>
          <p:cNvSpPr/>
          <p:nvPr/>
        </p:nvSpPr>
        <p:spPr>
          <a:xfrm>
            <a:off x="5257800" y="2523744"/>
            <a:ext cx="388620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13248" y="2569463"/>
            <a:ext cx="1828800" cy="219456"/>
          </a:xfrm>
          <a:prstGeom prst="rect">
            <a:avLst/>
          </a:prstGeom>
          <a:noFill/>
        </p:spPr>
        <p:txBody>
          <a:bodyPr wrap="square"/>
          <a:lstStyle/>
          <a:p>
            <a:pPr algn="l"/>
            <a:r>
              <a:rPr sz="800" b="0" i="0">
                <a:solidFill>
                  <a:srgbClr val="1E293B"/>
                </a:solidFill>
                <a:latin typeface="Calibri"/>
              </a:rPr>
              <a:t>Simmons and Fletcher, P.C.</a:t>
            </a:r>
          </a:p>
        </p:txBody>
      </p:sp>
      <p:sp>
        <p:nvSpPr>
          <p:cNvPr id="58" name="TextBox 57"/>
          <p:cNvSpPr txBox="1"/>
          <p:nvPr/>
        </p:nvSpPr>
        <p:spPr>
          <a:xfrm>
            <a:off x="7260336" y="2569463"/>
            <a:ext cx="914400" cy="219456"/>
          </a:xfrm>
          <a:prstGeom prst="rect">
            <a:avLst/>
          </a:prstGeom>
          <a:noFill/>
        </p:spPr>
        <p:txBody>
          <a:bodyPr wrap="square"/>
          <a:lstStyle/>
          <a:p>
            <a:pPr algn="l"/>
            <a:r>
              <a:rPr sz="800" b="0" i="0">
                <a:solidFill>
                  <a:srgbClr val="16A34A"/>
                </a:solidFill>
                <a:latin typeface="Calibri"/>
              </a:rPr>
              <a:t>502 reviews</a:t>
            </a:r>
          </a:p>
        </p:txBody>
      </p:sp>
      <p:sp>
        <p:nvSpPr>
          <p:cNvPr id="59" name="TextBox 58"/>
          <p:cNvSpPr txBox="1"/>
          <p:nvPr/>
        </p:nvSpPr>
        <p:spPr>
          <a:xfrm>
            <a:off x="8193024" y="2587751"/>
            <a:ext cx="822960" cy="201168"/>
          </a:xfrm>
          <a:prstGeom prst="rect">
            <a:avLst/>
          </a:prstGeom>
          <a:noFill/>
        </p:spPr>
        <p:txBody>
          <a:bodyPr wrap="square"/>
          <a:lstStyle/>
          <a:p>
            <a:pPr algn="l"/>
            <a:r>
              <a:rPr sz="600" b="0" i="0">
                <a:solidFill>
                  <a:srgbClr val="64748B"/>
                </a:solidFill>
                <a:latin typeface="Calibri"/>
              </a:rPr>
              <a:t>4.9★ · $384K ads/yr</a:t>
            </a:r>
          </a:p>
        </p:txBody>
      </p:sp>
      <p:sp>
        <p:nvSpPr>
          <p:cNvPr id="60" name="Rectangle 59"/>
          <p:cNvSpPr/>
          <p:nvPr/>
        </p:nvSpPr>
        <p:spPr>
          <a:xfrm>
            <a:off x="5257800" y="2871216"/>
            <a:ext cx="3886200" cy="310896"/>
          </a:xfrm>
          <a:prstGeom prst="rect">
            <a:avLst/>
          </a:prstGeom>
          <a:solidFill>
            <a:srgbClr val="F0F4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413248" y="2916936"/>
            <a:ext cx="1828800" cy="219456"/>
          </a:xfrm>
          <a:prstGeom prst="rect">
            <a:avLst/>
          </a:prstGeom>
          <a:noFill/>
        </p:spPr>
        <p:txBody>
          <a:bodyPr wrap="square"/>
          <a:lstStyle/>
          <a:p>
            <a:pPr algn="l"/>
            <a:r>
              <a:rPr sz="800" b="0" i="0">
                <a:solidFill>
                  <a:srgbClr val="1E293B"/>
                </a:solidFill>
                <a:latin typeface="Calibri"/>
              </a:rPr>
              <a:t>Terry Bryant Injury Law</a:t>
            </a:r>
          </a:p>
        </p:txBody>
      </p:sp>
      <p:sp>
        <p:nvSpPr>
          <p:cNvPr id="62" name="TextBox 61"/>
          <p:cNvSpPr txBox="1"/>
          <p:nvPr/>
        </p:nvSpPr>
        <p:spPr>
          <a:xfrm>
            <a:off x="7260336" y="2916936"/>
            <a:ext cx="914400" cy="219456"/>
          </a:xfrm>
          <a:prstGeom prst="rect">
            <a:avLst/>
          </a:prstGeom>
          <a:noFill/>
        </p:spPr>
        <p:txBody>
          <a:bodyPr wrap="square"/>
          <a:lstStyle/>
          <a:p>
            <a:pPr algn="l"/>
            <a:r>
              <a:rPr sz="800" b="0" i="0">
                <a:solidFill>
                  <a:srgbClr val="16A34A"/>
                </a:solidFill>
                <a:latin typeface="Calibri"/>
              </a:rPr>
              <a:t>100 reviews</a:t>
            </a:r>
          </a:p>
        </p:txBody>
      </p:sp>
      <p:sp>
        <p:nvSpPr>
          <p:cNvPr id="63" name="TextBox 62"/>
          <p:cNvSpPr txBox="1"/>
          <p:nvPr/>
        </p:nvSpPr>
        <p:spPr>
          <a:xfrm>
            <a:off x="8193024" y="2935224"/>
            <a:ext cx="822960" cy="201168"/>
          </a:xfrm>
          <a:prstGeom prst="rect">
            <a:avLst/>
          </a:prstGeom>
          <a:noFill/>
        </p:spPr>
        <p:txBody>
          <a:bodyPr wrap="square"/>
          <a:lstStyle/>
          <a:p>
            <a:pPr algn="l"/>
            <a:r>
              <a:rPr sz="600" b="0" i="0">
                <a:solidFill>
                  <a:srgbClr val="64748B"/>
                </a:solidFill>
                <a:latin typeface="Calibri"/>
              </a:rPr>
              <a:t>4.6★ · $272K ads/yr</a:t>
            </a:r>
          </a:p>
        </p:txBody>
      </p:sp>
      <p:sp>
        <p:nvSpPr>
          <p:cNvPr id="64" name="Rectangle 63"/>
          <p:cNvSpPr/>
          <p:nvPr/>
        </p:nvSpPr>
        <p:spPr>
          <a:xfrm>
            <a:off x="5257800" y="3218688"/>
            <a:ext cx="3886200" cy="310896"/>
          </a:xfrm>
          <a:prstGeom prst="rect">
            <a:avLst/>
          </a:prstGeom>
          <a:solidFill>
            <a:srgbClr val="FFF0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5257800" y="3218688"/>
            <a:ext cx="91440" cy="310896"/>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413248" y="3264408"/>
            <a:ext cx="1828800" cy="219456"/>
          </a:xfrm>
          <a:prstGeom prst="rect">
            <a:avLst/>
          </a:prstGeom>
          <a:noFill/>
        </p:spPr>
        <p:txBody>
          <a:bodyPr wrap="square"/>
          <a:lstStyle/>
          <a:p>
            <a:pPr algn="l"/>
            <a:r>
              <a:rPr sz="900" b="1" i="0">
                <a:solidFill>
                  <a:srgbClr val="C0392B"/>
                </a:solidFill>
                <a:latin typeface="Calibri"/>
              </a:rPr>
              <a:t>The Cox Pradia Law Firm</a:t>
            </a:r>
          </a:p>
        </p:txBody>
      </p:sp>
      <p:sp>
        <p:nvSpPr>
          <p:cNvPr id="67" name="TextBox 66"/>
          <p:cNvSpPr txBox="1"/>
          <p:nvPr/>
        </p:nvSpPr>
        <p:spPr>
          <a:xfrm>
            <a:off x="7260336" y="3264408"/>
            <a:ext cx="914400" cy="219456"/>
          </a:xfrm>
          <a:prstGeom prst="rect">
            <a:avLst/>
          </a:prstGeom>
          <a:noFill/>
        </p:spPr>
        <p:txBody>
          <a:bodyPr wrap="square"/>
          <a:lstStyle/>
          <a:p>
            <a:pPr algn="l"/>
            <a:r>
              <a:rPr sz="800" b="1" i="0">
                <a:solidFill>
                  <a:srgbClr val="C0392B"/>
                </a:solidFill>
                <a:latin typeface="Calibri"/>
              </a:rPr>
              <a:t>51 reviews</a:t>
            </a:r>
          </a:p>
        </p:txBody>
      </p:sp>
      <p:sp>
        <p:nvSpPr>
          <p:cNvPr id="68" name="TextBox 67"/>
          <p:cNvSpPr txBox="1"/>
          <p:nvPr/>
        </p:nvSpPr>
        <p:spPr>
          <a:xfrm>
            <a:off x="8193024" y="3282696"/>
            <a:ext cx="822960" cy="201168"/>
          </a:xfrm>
          <a:prstGeom prst="rect">
            <a:avLst/>
          </a:prstGeom>
          <a:noFill/>
        </p:spPr>
        <p:txBody>
          <a:bodyPr wrap="square"/>
          <a:lstStyle/>
          <a:p>
            <a:pPr algn="l"/>
            <a:r>
              <a:rPr sz="600" b="0" i="0">
                <a:solidFill>
                  <a:srgbClr val="64748B"/>
                </a:solidFill>
                <a:latin typeface="Calibri"/>
              </a:rPr>
              <a:t>← You are here</a:t>
            </a:r>
          </a:p>
        </p:txBody>
      </p:sp>
      <p:sp>
        <p:nvSpPr>
          <p:cNvPr id="69" name="Rectangle 68"/>
          <p:cNvSpPr/>
          <p:nvPr/>
        </p:nvSpPr>
        <p:spPr>
          <a:xfrm>
            <a:off x="0" y="4828032"/>
            <a:ext cx="9144000" cy="320040"/>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0" name="Picture 69" descr="smb_team_logo.png"/>
          <p:cNvPicPr>
            <a:picLocks noChangeAspect="1"/>
          </p:cNvPicPr>
          <p:nvPr/>
        </p:nvPicPr>
        <p:blipFill>
          <a:blip r:embed="rId2"/>
          <a:stretch>
            <a:fillRect/>
          </a:stretch>
        </p:blipFill>
        <p:spPr>
          <a:xfrm>
            <a:off x="201168" y="4837176"/>
            <a:ext cx="1170432" cy="237744"/>
          </a:xfrm>
          <a:prstGeom prst="rect">
            <a:avLst/>
          </a:prstGeom>
        </p:spPr>
      </p:pic>
      <p:sp>
        <p:nvSpPr>
          <p:cNvPr id="71" name="TextBox 70"/>
          <p:cNvSpPr txBox="1"/>
          <p:nvPr/>
        </p:nvSpPr>
        <p:spPr>
          <a:xfrm>
            <a:off x="1609344" y="4837176"/>
            <a:ext cx="5303520" cy="274320"/>
          </a:xfrm>
          <a:prstGeom prst="rect">
            <a:avLst/>
          </a:prstGeom>
          <a:noFill/>
        </p:spPr>
        <p:txBody>
          <a:bodyPr wrap="square"/>
          <a:lstStyle/>
          <a:p>
            <a:pPr algn="l"/>
            <a:r>
              <a:rPr sz="800" b="0" i="0">
                <a:solidFill>
                  <a:srgbClr val="5A7A9A"/>
                </a:solidFill>
                <a:latin typeface="Calibri"/>
              </a:rPr>
              <a:t>CONFIDENTIAL  ·  Prepared by Nick Holderman | SMB Team</a:t>
            </a:r>
          </a:p>
        </p:txBody>
      </p:sp>
      <p:sp>
        <p:nvSpPr>
          <p:cNvPr id="72" name="TextBox 71"/>
          <p:cNvSpPr txBox="1"/>
          <p:nvPr/>
        </p:nvSpPr>
        <p:spPr>
          <a:xfrm>
            <a:off x="8138160" y="4837176"/>
            <a:ext cx="786384" cy="274320"/>
          </a:xfrm>
          <a:prstGeom prst="rect">
            <a:avLst/>
          </a:prstGeom>
          <a:noFill/>
        </p:spPr>
        <p:txBody>
          <a:bodyPr wrap="square"/>
          <a:lstStyle/>
          <a:p>
            <a:pPr algn="r"/>
            <a:r>
              <a:rPr sz="800" b="0" i="0">
                <a:solidFill>
                  <a:srgbClr val="5A7A9A"/>
                </a:solidFill>
                <a:latin typeface="Calibri"/>
              </a:rPr>
              <a:t>1 /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960120"/>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92608" y="91440"/>
            <a:ext cx="8595360" cy="201168"/>
          </a:xfrm>
          <a:prstGeom prst="rect">
            <a:avLst/>
          </a:prstGeom>
          <a:noFill/>
        </p:spPr>
        <p:txBody>
          <a:bodyPr wrap="square"/>
          <a:lstStyle/>
          <a:p>
            <a:pPr algn="l"/>
            <a:r>
              <a:rPr sz="800" b="1" i="0">
                <a:solidFill>
                  <a:srgbClr val="F5C400"/>
                </a:solidFill>
                <a:latin typeface="Calibri"/>
              </a:rPr>
              <a:t>LAW FIRM GROWTH AUDIT  ·  THE COX PRADIA LAW FIRM</a:t>
            </a:r>
          </a:p>
        </p:txBody>
      </p:sp>
      <p:sp>
        <p:nvSpPr>
          <p:cNvPr id="4" name="TextBox 3"/>
          <p:cNvSpPr txBox="1"/>
          <p:nvPr/>
        </p:nvSpPr>
        <p:spPr>
          <a:xfrm>
            <a:off x="292608" y="310896"/>
            <a:ext cx="8595360" cy="548640"/>
          </a:xfrm>
          <a:prstGeom prst="rect">
            <a:avLst/>
          </a:prstGeom>
          <a:noFill/>
        </p:spPr>
        <p:txBody>
          <a:bodyPr wrap="square"/>
          <a:lstStyle/>
          <a:p>
            <a:pPr algn="l"/>
            <a:r>
              <a:rPr sz="2200" b="1" i="0">
                <a:solidFill>
                  <a:srgbClr val="FFFFFF"/>
                </a:solidFill>
                <a:latin typeface="Calibri"/>
              </a:rPr>
              <a:t>Your Growth Plan: 3 Priorities to Build a Firm That Runs Without You</a:t>
            </a:r>
          </a:p>
        </p:txBody>
      </p:sp>
      <p:sp>
        <p:nvSpPr>
          <p:cNvPr id="5" name="Rectangle 4"/>
          <p:cNvSpPr/>
          <p:nvPr/>
        </p:nvSpPr>
        <p:spPr>
          <a:xfrm>
            <a:off x="182880" y="1024128"/>
            <a:ext cx="2487168" cy="3639312"/>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82880" y="1042415"/>
            <a:ext cx="2487168" cy="18288"/>
          </a:xfrm>
          <a:prstGeom prst="rect">
            <a:avLst/>
          </a:prstGeom>
          <a:solidFill>
            <a:srgbClr val="F5C4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92608" y="1097280"/>
            <a:ext cx="2267712" cy="201168"/>
          </a:xfrm>
          <a:prstGeom prst="rect">
            <a:avLst/>
          </a:prstGeom>
          <a:noFill/>
        </p:spPr>
        <p:txBody>
          <a:bodyPr wrap="square"/>
          <a:lstStyle/>
          <a:p>
            <a:pPr algn="l"/>
            <a:r>
              <a:rPr sz="800" b="1" i="0">
                <a:solidFill>
                  <a:srgbClr val="F5C400"/>
                </a:solidFill>
                <a:latin typeface="Calibri"/>
              </a:rPr>
              <a:t>THE SMB TEAM MODEL</a:t>
            </a:r>
          </a:p>
        </p:txBody>
      </p:sp>
      <p:sp>
        <p:nvSpPr>
          <p:cNvPr id="8" name="TextBox 7"/>
          <p:cNvSpPr txBox="1"/>
          <p:nvPr/>
        </p:nvSpPr>
        <p:spPr>
          <a:xfrm>
            <a:off x="292608" y="1335024"/>
            <a:ext cx="2267712" cy="1572768"/>
          </a:xfrm>
          <a:prstGeom prst="rect">
            <a:avLst/>
          </a:prstGeom>
          <a:noFill/>
        </p:spPr>
        <p:txBody>
          <a:bodyPr wrap="square"/>
          <a:lstStyle/>
          <a:p>
            <a:pPr algn="l"/>
            <a:r>
              <a:rPr sz="900" b="0" i="0">
                <a:solidFill>
                  <a:srgbClr val="A8BFDA"/>
                </a:solidFill>
                <a:latin typeface="Calibri"/>
              </a:rPr>
              <a:t>Four pillars power every thriving law firm: Lead Generation, Intake, Team, and Profit. Today, Cox Pradia has the team and the talent — but two pillars are red and two are amber. This plan builds what is missing. When all four pillars work together, Cox and Pradia can step back from daily operations and let the firm generate the cases, the revenue, and the freedom their 40 years of work have earned.</a:t>
            </a:r>
          </a:p>
        </p:txBody>
      </p:sp>
      <p:sp>
        <p:nvSpPr>
          <p:cNvPr id="9" name="Rectangle 8"/>
          <p:cNvSpPr/>
          <p:nvPr/>
        </p:nvSpPr>
        <p:spPr>
          <a:xfrm>
            <a:off x="182880" y="2999232"/>
            <a:ext cx="2487168" cy="749808"/>
          </a:xfrm>
          <a:prstGeom prst="rect">
            <a:avLst/>
          </a:prstGeom>
          <a:solidFill>
            <a:srgbClr val="F5C4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2608" y="3017520"/>
            <a:ext cx="2286000" cy="274320"/>
          </a:xfrm>
          <a:prstGeom prst="rect">
            <a:avLst/>
          </a:prstGeom>
          <a:noFill/>
        </p:spPr>
        <p:txBody>
          <a:bodyPr wrap="square"/>
          <a:lstStyle/>
          <a:p>
            <a:pPr algn="l"/>
            <a:r>
              <a:rPr sz="1200" b="1" i="0">
                <a:solidFill>
                  <a:srgbClr val="0D1F3C"/>
                </a:solidFill>
                <a:latin typeface="Calibri"/>
              </a:rPr>
              <a:t>Stage 4 → Stage 6 Firm</a:t>
            </a:r>
          </a:p>
        </p:txBody>
      </p:sp>
      <p:sp>
        <p:nvSpPr>
          <p:cNvPr id="11" name="TextBox 10"/>
          <p:cNvSpPr txBox="1"/>
          <p:nvPr/>
        </p:nvSpPr>
        <p:spPr>
          <a:xfrm>
            <a:off x="292608" y="3291840"/>
            <a:ext cx="2286000" cy="402336"/>
          </a:xfrm>
          <a:prstGeom prst="rect">
            <a:avLst/>
          </a:prstGeom>
          <a:noFill/>
        </p:spPr>
        <p:txBody>
          <a:bodyPr wrap="square"/>
          <a:lstStyle/>
          <a:p>
            <a:pPr algn="l"/>
            <a:r>
              <a:rPr sz="900" b="0" i="0">
                <a:solidFill>
                  <a:srgbClr val="0D1F3C"/>
                </a:solidFill>
                <a:latin typeface="Calibri"/>
              </a:rPr>
              <a:t>A firm that generates cases — and runs without you chasing them</a:t>
            </a:r>
          </a:p>
        </p:txBody>
      </p:sp>
      <p:sp>
        <p:nvSpPr>
          <p:cNvPr id="12" name="Rectangle 11"/>
          <p:cNvSpPr/>
          <p:nvPr/>
        </p:nvSpPr>
        <p:spPr>
          <a:xfrm>
            <a:off x="2816352" y="1024128"/>
            <a:ext cx="2048256" cy="841248"/>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0" y="1042415"/>
            <a:ext cx="457200" cy="274320"/>
          </a:xfrm>
          <a:prstGeom prst="rect">
            <a:avLst/>
          </a:prstGeom>
          <a:noFill/>
        </p:spPr>
        <p:txBody>
          <a:bodyPr wrap="square"/>
          <a:lstStyle/>
          <a:p>
            <a:pPr algn="l"/>
            <a:r>
              <a:rPr sz="1000" b="1" i="0">
                <a:solidFill>
                  <a:srgbClr val="FFFFFF"/>
                </a:solidFill>
                <a:latin typeface="Calibri"/>
              </a:rPr>
              <a:t>01</a:t>
            </a:r>
          </a:p>
        </p:txBody>
      </p:sp>
      <p:sp>
        <p:nvSpPr>
          <p:cNvPr id="14" name="TextBox 13"/>
          <p:cNvSpPr txBox="1"/>
          <p:nvPr/>
        </p:nvSpPr>
        <p:spPr>
          <a:xfrm>
            <a:off x="2926080" y="1316736"/>
            <a:ext cx="1865376" cy="256032"/>
          </a:xfrm>
          <a:prstGeom prst="rect">
            <a:avLst/>
          </a:prstGeom>
          <a:noFill/>
        </p:spPr>
        <p:txBody>
          <a:bodyPr wrap="square"/>
          <a:lstStyle/>
          <a:p>
            <a:pPr algn="l"/>
            <a:r>
              <a:rPr sz="1200" b="1" i="0">
                <a:solidFill>
                  <a:srgbClr val="FFFFFF"/>
                </a:solidFill>
                <a:latin typeface="Calibri"/>
              </a:rPr>
              <a:t>Build the</a:t>
            </a:r>
          </a:p>
        </p:txBody>
      </p:sp>
      <p:sp>
        <p:nvSpPr>
          <p:cNvPr id="15" name="TextBox 14"/>
          <p:cNvSpPr txBox="1"/>
          <p:nvPr/>
        </p:nvSpPr>
        <p:spPr>
          <a:xfrm>
            <a:off x="2926080" y="1554480"/>
            <a:ext cx="1865376" cy="256032"/>
          </a:xfrm>
          <a:prstGeom prst="rect">
            <a:avLst/>
          </a:prstGeom>
          <a:noFill/>
        </p:spPr>
        <p:txBody>
          <a:bodyPr wrap="square"/>
          <a:lstStyle/>
          <a:p>
            <a:pPr algn="l"/>
            <a:r>
              <a:rPr sz="1200" b="1" i="0">
                <a:solidFill>
                  <a:srgbClr val="FFFFFF"/>
                </a:solidFill>
                <a:latin typeface="Calibri"/>
              </a:rPr>
              <a:t>Marketing Engine</a:t>
            </a:r>
          </a:p>
        </p:txBody>
      </p:sp>
      <p:sp>
        <p:nvSpPr>
          <p:cNvPr id="16" name="Rectangle 15"/>
          <p:cNvSpPr/>
          <p:nvPr/>
        </p:nvSpPr>
        <p:spPr>
          <a:xfrm>
            <a:off x="2816352" y="1865376"/>
            <a:ext cx="2048256" cy="566928"/>
          </a:xfrm>
          <a:prstGeom prst="rect">
            <a:avLst/>
          </a:prstGeom>
          <a:solidFill>
            <a:srgbClr val="EFF6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07792" y="2084832"/>
            <a:ext cx="91440" cy="91440"/>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54096" y="1920240"/>
            <a:ext cx="1755648" cy="475488"/>
          </a:xfrm>
          <a:prstGeom prst="rect">
            <a:avLst/>
          </a:prstGeom>
          <a:noFill/>
        </p:spPr>
        <p:txBody>
          <a:bodyPr wrap="square"/>
          <a:lstStyle/>
          <a:p>
            <a:pPr algn="l"/>
            <a:r>
              <a:rPr sz="800" b="0" i="0">
                <a:solidFill>
                  <a:srgbClr val="1E293B"/>
                </a:solidFill>
                <a:latin typeface="Calibri"/>
              </a:rPr>
              <a:t>Turn Google into a PI case pipeline for Cox Pradia</a:t>
            </a:r>
          </a:p>
        </p:txBody>
      </p:sp>
      <p:sp>
        <p:nvSpPr>
          <p:cNvPr id="19" name="Rectangle 18"/>
          <p:cNvSpPr/>
          <p:nvPr/>
        </p:nvSpPr>
        <p:spPr>
          <a:xfrm>
            <a:off x="2816352" y="2468880"/>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907792" y="2688336"/>
            <a:ext cx="91440" cy="91440"/>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54096" y="2523744"/>
            <a:ext cx="1755648" cy="475488"/>
          </a:xfrm>
          <a:prstGeom prst="rect">
            <a:avLst/>
          </a:prstGeom>
          <a:noFill/>
        </p:spPr>
        <p:txBody>
          <a:bodyPr wrap="square"/>
          <a:lstStyle/>
          <a:p>
            <a:pPr algn="l"/>
            <a:r>
              <a:rPr sz="800" b="0" i="0">
                <a:solidFill>
                  <a:srgbClr val="1E293B"/>
                </a:solidFill>
                <a:latin typeface="Calibri"/>
              </a:rPr>
              <a:t>Activate LSA — pay per qualified lead, not per click</a:t>
            </a:r>
          </a:p>
        </p:txBody>
      </p:sp>
      <p:sp>
        <p:nvSpPr>
          <p:cNvPr id="22" name="Rectangle 21"/>
          <p:cNvSpPr/>
          <p:nvPr/>
        </p:nvSpPr>
        <p:spPr>
          <a:xfrm>
            <a:off x="2816352" y="3072384"/>
            <a:ext cx="2048256" cy="566928"/>
          </a:xfrm>
          <a:prstGeom prst="rect">
            <a:avLst/>
          </a:prstGeom>
          <a:solidFill>
            <a:srgbClr val="EFF6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2" y="3291839"/>
            <a:ext cx="91440" cy="91440"/>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54096" y="3127248"/>
            <a:ext cx="1755648" cy="475488"/>
          </a:xfrm>
          <a:prstGeom prst="rect">
            <a:avLst/>
          </a:prstGeom>
          <a:noFill/>
        </p:spPr>
        <p:txBody>
          <a:bodyPr wrap="square"/>
          <a:lstStyle/>
          <a:p>
            <a:pPr algn="l"/>
            <a:r>
              <a:rPr sz="800" b="0" i="0">
                <a:solidFill>
                  <a:srgbClr val="1E293B"/>
                </a:solidFill>
                <a:latin typeface="Calibri"/>
              </a:rPr>
              <a:t>Fix 2-address NAP issue — reclaim 3-pack eligibility</a:t>
            </a:r>
          </a:p>
        </p:txBody>
      </p:sp>
      <p:sp>
        <p:nvSpPr>
          <p:cNvPr id="25" name="Rectangle 24"/>
          <p:cNvSpPr/>
          <p:nvPr/>
        </p:nvSpPr>
        <p:spPr>
          <a:xfrm>
            <a:off x="2816352" y="3675887"/>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907792" y="3895344"/>
            <a:ext cx="91440" cy="91440"/>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54096" y="3730751"/>
            <a:ext cx="1755648" cy="475488"/>
          </a:xfrm>
          <a:prstGeom prst="rect">
            <a:avLst/>
          </a:prstGeom>
          <a:noFill/>
        </p:spPr>
        <p:txBody>
          <a:bodyPr wrap="square"/>
          <a:lstStyle/>
          <a:p>
            <a:pPr algn="l"/>
            <a:r>
              <a:rPr sz="800" b="0" i="0">
                <a:solidFill>
                  <a:srgbClr val="1E293B"/>
                </a:solidFill>
                <a:latin typeface="Calibri"/>
              </a:rPr>
              <a:t>Build suburb pages: Katy, Sugar Land, The Woodlands</a:t>
            </a:r>
          </a:p>
        </p:txBody>
      </p:sp>
      <p:sp>
        <p:nvSpPr>
          <p:cNvPr id="28" name="Rectangle 27"/>
          <p:cNvSpPr/>
          <p:nvPr/>
        </p:nvSpPr>
        <p:spPr>
          <a:xfrm>
            <a:off x="2816352" y="4279392"/>
            <a:ext cx="2048256" cy="566928"/>
          </a:xfrm>
          <a:prstGeom prst="rect">
            <a:avLst/>
          </a:prstGeom>
          <a:solidFill>
            <a:srgbClr val="EFF6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907792" y="4498848"/>
            <a:ext cx="91440" cy="91440"/>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054096" y="4334255"/>
            <a:ext cx="1755648" cy="475488"/>
          </a:xfrm>
          <a:prstGeom prst="rect">
            <a:avLst/>
          </a:prstGeom>
          <a:noFill/>
        </p:spPr>
        <p:txBody>
          <a:bodyPr wrap="square"/>
          <a:lstStyle/>
          <a:p>
            <a:pPr algn="l"/>
            <a:r>
              <a:rPr sz="800" b="0" i="0">
                <a:solidFill>
                  <a:srgbClr val="1E293B"/>
                </a:solidFill>
                <a:latin typeface="Calibri"/>
              </a:rPr>
              <a:t>Launch review system — close the 24x gap vs. Zehl</a:t>
            </a:r>
          </a:p>
        </p:txBody>
      </p:sp>
      <p:sp>
        <p:nvSpPr>
          <p:cNvPr id="31" name="Rectangle 30"/>
          <p:cNvSpPr/>
          <p:nvPr/>
        </p:nvSpPr>
        <p:spPr>
          <a:xfrm>
            <a:off x="4937760" y="1024128"/>
            <a:ext cx="2048256" cy="841248"/>
          </a:xfrm>
          <a:prstGeom prst="rect">
            <a:avLst/>
          </a:prstGeom>
          <a:solidFill>
            <a:srgbClr val="0F766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47488" y="1042415"/>
            <a:ext cx="457200" cy="274320"/>
          </a:xfrm>
          <a:prstGeom prst="rect">
            <a:avLst/>
          </a:prstGeom>
          <a:noFill/>
        </p:spPr>
        <p:txBody>
          <a:bodyPr wrap="square"/>
          <a:lstStyle/>
          <a:p>
            <a:pPr algn="l"/>
            <a:r>
              <a:rPr sz="1000" b="1" i="0">
                <a:solidFill>
                  <a:srgbClr val="FFFFFF"/>
                </a:solidFill>
                <a:latin typeface="Calibri"/>
              </a:rPr>
              <a:t>02</a:t>
            </a:r>
          </a:p>
        </p:txBody>
      </p:sp>
      <p:sp>
        <p:nvSpPr>
          <p:cNvPr id="33" name="TextBox 32"/>
          <p:cNvSpPr txBox="1"/>
          <p:nvPr/>
        </p:nvSpPr>
        <p:spPr>
          <a:xfrm>
            <a:off x="5047488" y="1316736"/>
            <a:ext cx="1865376" cy="256032"/>
          </a:xfrm>
          <a:prstGeom prst="rect">
            <a:avLst/>
          </a:prstGeom>
          <a:noFill/>
        </p:spPr>
        <p:txBody>
          <a:bodyPr wrap="square"/>
          <a:lstStyle/>
          <a:p>
            <a:pPr algn="l"/>
            <a:r>
              <a:rPr sz="1200" b="1" i="0">
                <a:solidFill>
                  <a:srgbClr val="FFFFFF"/>
                </a:solidFill>
                <a:latin typeface="Calibri"/>
              </a:rPr>
              <a:t>Fix Intake &amp;</a:t>
            </a:r>
          </a:p>
        </p:txBody>
      </p:sp>
      <p:sp>
        <p:nvSpPr>
          <p:cNvPr id="34" name="TextBox 33"/>
          <p:cNvSpPr txBox="1"/>
          <p:nvPr/>
        </p:nvSpPr>
        <p:spPr>
          <a:xfrm>
            <a:off x="5047488" y="1554480"/>
            <a:ext cx="1865376" cy="256032"/>
          </a:xfrm>
          <a:prstGeom prst="rect">
            <a:avLst/>
          </a:prstGeom>
          <a:noFill/>
        </p:spPr>
        <p:txBody>
          <a:bodyPr wrap="square"/>
          <a:lstStyle/>
          <a:p>
            <a:pPr algn="l"/>
            <a:r>
              <a:rPr sz="1200" b="1" i="0">
                <a:solidFill>
                  <a:srgbClr val="FFFFFF"/>
                </a:solidFill>
                <a:latin typeface="Calibri"/>
              </a:rPr>
              <a:t>Stop Losing Cases</a:t>
            </a:r>
          </a:p>
        </p:txBody>
      </p:sp>
      <p:sp>
        <p:nvSpPr>
          <p:cNvPr id="35" name="Rectangle 34"/>
          <p:cNvSpPr/>
          <p:nvPr/>
        </p:nvSpPr>
        <p:spPr>
          <a:xfrm>
            <a:off x="4937760" y="1865376"/>
            <a:ext cx="2048256" cy="566928"/>
          </a:xfrm>
          <a:prstGeom prst="rect">
            <a:avLst/>
          </a:prstGeom>
          <a:solidFill>
            <a:srgbClr val="F0FD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29200" y="2084832"/>
            <a:ext cx="91440" cy="91440"/>
          </a:xfrm>
          <a:prstGeom prst="rect">
            <a:avLst/>
          </a:prstGeom>
          <a:solidFill>
            <a:srgbClr val="0F766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175504" y="1920240"/>
            <a:ext cx="1755648" cy="475488"/>
          </a:xfrm>
          <a:prstGeom prst="rect">
            <a:avLst/>
          </a:prstGeom>
          <a:noFill/>
        </p:spPr>
        <p:txBody>
          <a:bodyPr wrap="square"/>
          <a:lstStyle/>
          <a:p>
            <a:pPr algn="l"/>
            <a:r>
              <a:rPr sz="800" b="0" i="0">
                <a:solidFill>
                  <a:srgbClr val="1E293B"/>
                </a:solidFill>
                <a:latin typeface="Calibri"/>
              </a:rPr>
              <a:t>Add above-fold form — capture leads before they scroll</a:t>
            </a:r>
          </a:p>
        </p:txBody>
      </p:sp>
      <p:sp>
        <p:nvSpPr>
          <p:cNvPr id="38" name="Rectangle 37"/>
          <p:cNvSpPr/>
          <p:nvPr/>
        </p:nvSpPr>
        <p:spPr>
          <a:xfrm>
            <a:off x="4937760" y="2468880"/>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0" y="2688336"/>
            <a:ext cx="91440" cy="91440"/>
          </a:xfrm>
          <a:prstGeom prst="rect">
            <a:avLst/>
          </a:prstGeom>
          <a:solidFill>
            <a:srgbClr val="0F766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175504" y="2523744"/>
            <a:ext cx="1755648" cy="475488"/>
          </a:xfrm>
          <a:prstGeom prst="rect">
            <a:avLst/>
          </a:prstGeom>
          <a:noFill/>
        </p:spPr>
        <p:txBody>
          <a:bodyPr wrap="square"/>
          <a:lstStyle/>
          <a:p>
            <a:pPr algn="l"/>
            <a:r>
              <a:rPr sz="800" b="0" i="0">
                <a:solidFill>
                  <a:srgbClr val="1E293B"/>
                </a:solidFill>
                <a:latin typeface="Calibri"/>
              </a:rPr>
              <a:t>Digital after-hours capture for late-night PI contacts</a:t>
            </a:r>
          </a:p>
        </p:txBody>
      </p:sp>
      <p:sp>
        <p:nvSpPr>
          <p:cNvPr id="41" name="Rectangle 40"/>
          <p:cNvSpPr/>
          <p:nvPr/>
        </p:nvSpPr>
        <p:spPr>
          <a:xfrm>
            <a:off x="4937760" y="3072384"/>
            <a:ext cx="2048256" cy="566928"/>
          </a:xfrm>
          <a:prstGeom prst="rect">
            <a:avLst/>
          </a:prstGeom>
          <a:solidFill>
            <a:srgbClr val="F0FD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029200" y="3291839"/>
            <a:ext cx="91440" cy="91440"/>
          </a:xfrm>
          <a:prstGeom prst="rect">
            <a:avLst/>
          </a:prstGeom>
          <a:solidFill>
            <a:srgbClr val="0F766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175504" y="3127248"/>
            <a:ext cx="1755648" cy="475488"/>
          </a:xfrm>
          <a:prstGeom prst="rect">
            <a:avLst/>
          </a:prstGeom>
          <a:noFill/>
        </p:spPr>
        <p:txBody>
          <a:bodyPr wrap="square"/>
          <a:lstStyle/>
          <a:p>
            <a:pPr algn="l"/>
            <a:r>
              <a:rPr sz="800" b="0" i="0">
                <a:solidFill>
                  <a:srgbClr val="1E293B"/>
                </a:solidFill>
                <a:latin typeface="Calibri"/>
              </a:rPr>
              <a:t>Activate Avvo reviews — 0 on a 27-year attorney profile</a:t>
            </a:r>
          </a:p>
        </p:txBody>
      </p:sp>
      <p:sp>
        <p:nvSpPr>
          <p:cNvPr id="44" name="Rectangle 43"/>
          <p:cNvSpPr/>
          <p:nvPr/>
        </p:nvSpPr>
        <p:spPr>
          <a:xfrm>
            <a:off x="4937760" y="3675887"/>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029200" y="3895344"/>
            <a:ext cx="91440" cy="91440"/>
          </a:xfrm>
          <a:prstGeom prst="rect">
            <a:avLst/>
          </a:prstGeom>
          <a:solidFill>
            <a:srgbClr val="0F766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75504" y="3730751"/>
            <a:ext cx="1755648" cy="475488"/>
          </a:xfrm>
          <a:prstGeom prst="rect">
            <a:avLst/>
          </a:prstGeom>
          <a:noFill/>
        </p:spPr>
        <p:txBody>
          <a:bodyPr wrap="square"/>
          <a:lstStyle/>
          <a:p>
            <a:pPr algn="l"/>
            <a:r>
              <a:rPr sz="800" b="0" i="0">
                <a:solidFill>
                  <a:srgbClr val="1E293B"/>
                </a:solidFill>
                <a:latin typeface="Calibri"/>
              </a:rPr>
              <a:t>Spanish-language intake — Houston is 44% Hispanic</a:t>
            </a:r>
          </a:p>
        </p:txBody>
      </p:sp>
      <p:sp>
        <p:nvSpPr>
          <p:cNvPr id="47" name="Rectangle 46"/>
          <p:cNvSpPr/>
          <p:nvPr/>
        </p:nvSpPr>
        <p:spPr>
          <a:xfrm>
            <a:off x="4937760" y="4279392"/>
            <a:ext cx="2048256" cy="566928"/>
          </a:xfrm>
          <a:prstGeom prst="rect">
            <a:avLst/>
          </a:prstGeom>
          <a:solidFill>
            <a:srgbClr val="F0FD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029200" y="4498848"/>
            <a:ext cx="91440" cy="91440"/>
          </a:xfrm>
          <a:prstGeom prst="rect">
            <a:avLst/>
          </a:prstGeom>
          <a:solidFill>
            <a:srgbClr val="0F766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175504" y="4334255"/>
            <a:ext cx="1755648" cy="475488"/>
          </a:xfrm>
          <a:prstGeom prst="rect">
            <a:avLst/>
          </a:prstGeom>
          <a:noFill/>
        </p:spPr>
        <p:txBody>
          <a:bodyPr wrap="square"/>
          <a:lstStyle/>
          <a:p>
            <a:pPr algn="l"/>
            <a:r>
              <a:rPr sz="800" b="0" i="0">
                <a:solidFill>
                  <a:srgbClr val="1E293B"/>
                </a:solidFill>
                <a:latin typeface="Calibri"/>
              </a:rPr>
              <a:t>Track lead source at intake — know what converts</a:t>
            </a:r>
          </a:p>
        </p:txBody>
      </p:sp>
      <p:sp>
        <p:nvSpPr>
          <p:cNvPr id="50" name="Rectangle 49"/>
          <p:cNvSpPr/>
          <p:nvPr/>
        </p:nvSpPr>
        <p:spPr>
          <a:xfrm>
            <a:off x="7059168" y="1024128"/>
            <a:ext cx="2048256" cy="841248"/>
          </a:xfrm>
          <a:prstGeom prst="rect">
            <a:avLst/>
          </a:prstGeom>
          <a:solidFill>
            <a:srgbClr val="6D28D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168896" y="1042415"/>
            <a:ext cx="457200" cy="274320"/>
          </a:xfrm>
          <a:prstGeom prst="rect">
            <a:avLst/>
          </a:prstGeom>
          <a:noFill/>
        </p:spPr>
        <p:txBody>
          <a:bodyPr wrap="square"/>
          <a:lstStyle/>
          <a:p>
            <a:pPr algn="l"/>
            <a:r>
              <a:rPr sz="1000" b="1" i="0">
                <a:solidFill>
                  <a:srgbClr val="FFFFFF"/>
                </a:solidFill>
                <a:latin typeface="Calibri"/>
              </a:rPr>
              <a:t>03</a:t>
            </a:r>
          </a:p>
        </p:txBody>
      </p:sp>
      <p:sp>
        <p:nvSpPr>
          <p:cNvPr id="52" name="TextBox 51"/>
          <p:cNvSpPr txBox="1"/>
          <p:nvPr/>
        </p:nvSpPr>
        <p:spPr>
          <a:xfrm>
            <a:off x="7168896" y="1316736"/>
            <a:ext cx="1865376" cy="256032"/>
          </a:xfrm>
          <a:prstGeom prst="rect">
            <a:avLst/>
          </a:prstGeom>
          <a:noFill/>
        </p:spPr>
        <p:txBody>
          <a:bodyPr wrap="square"/>
          <a:lstStyle/>
          <a:p>
            <a:pPr algn="l"/>
            <a:r>
              <a:rPr sz="1200" b="1" i="0">
                <a:solidFill>
                  <a:srgbClr val="FFFFFF"/>
                </a:solidFill>
                <a:latin typeface="Calibri"/>
              </a:rPr>
              <a:t>Install Team &amp;</a:t>
            </a:r>
          </a:p>
        </p:txBody>
      </p:sp>
      <p:sp>
        <p:nvSpPr>
          <p:cNvPr id="53" name="TextBox 52"/>
          <p:cNvSpPr txBox="1"/>
          <p:nvPr/>
        </p:nvSpPr>
        <p:spPr>
          <a:xfrm>
            <a:off x="7168896" y="1554480"/>
            <a:ext cx="1865376" cy="256032"/>
          </a:xfrm>
          <a:prstGeom prst="rect">
            <a:avLst/>
          </a:prstGeom>
          <a:noFill/>
        </p:spPr>
        <p:txBody>
          <a:bodyPr wrap="square"/>
          <a:lstStyle/>
          <a:p>
            <a:pPr algn="l"/>
            <a:r>
              <a:rPr sz="1200" b="1" i="0">
                <a:solidFill>
                  <a:srgbClr val="FFFFFF"/>
                </a:solidFill>
                <a:latin typeface="Calibri"/>
              </a:rPr>
              <a:t>Profit Systems</a:t>
            </a:r>
          </a:p>
        </p:txBody>
      </p:sp>
      <p:sp>
        <p:nvSpPr>
          <p:cNvPr id="54" name="Rectangle 53"/>
          <p:cNvSpPr/>
          <p:nvPr/>
        </p:nvSpPr>
        <p:spPr>
          <a:xfrm>
            <a:off x="7059168" y="1865376"/>
            <a:ext cx="2048256" cy="566928"/>
          </a:xfrm>
          <a:prstGeom prst="rect">
            <a:avLst/>
          </a:prstGeom>
          <a:solidFill>
            <a:srgbClr val="F5F3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7150607" y="2084832"/>
            <a:ext cx="91440" cy="91440"/>
          </a:xfrm>
          <a:prstGeom prst="rect">
            <a:avLst/>
          </a:prstGeom>
          <a:solidFill>
            <a:srgbClr val="6D28D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296912" y="1920240"/>
            <a:ext cx="1755648" cy="475488"/>
          </a:xfrm>
          <a:prstGeom prst="rect">
            <a:avLst/>
          </a:prstGeom>
          <a:noFill/>
        </p:spPr>
        <p:txBody>
          <a:bodyPr wrap="square"/>
          <a:lstStyle/>
          <a:p>
            <a:pPr algn="l"/>
            <a:r>
              <a:rPr sz="800" b="0" i="0">
                <a:solidFill>
                  <a:srgbClr val="1E293B"/>
                </a:solidFill>
                <a:latin typeface="Calibri"/>
              </a:rPr>
              <a:t>Set monthly case + lead targets with Master's Circle</a:t>
            </a:r>
          </a:p>
        </p:txBody>
      </p:sp>
      <p:sp>
        <p:nvSpPr>
          <p:cNvPr id="57" name="Rectangle 56"/>
          <p:cNvSpPr/>
          <p:nvPr/>
        </p:nvSpPr>
        <p:spPr>
          <a:xfrm>
            <a:off x="7059168" y="2468880"/>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7150607" y="2688336"/>
            <a:ext cx="91440" cy="91440"/>
          </a:xfrm>
          <a:prstGeom prst="rect">
            <a:avLst/>
          </a:prstGeom>
          <a:solidFill>
            <a:srgbClr val="6D28D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296912" y="2523744"/>
            <a:ext cx="1755648" cy="475488"/>
          </a:xfrm>
          <a:prstGeom prst="rect">
            <a:avLst/>
          </a:prstGeom>
          <a:noFill/>
        </p:spPr>
        <p:txBody>
          <a:bodyPr wrap="square"/>
          <a:lstStyle/>
          <a:p>
            <a:pPr algn="l"/>
            <a:r>
              <a:rPr sz="800" b="0" i="0">
                <a:solidFill>
                  <a:srgbClr val="1E293B"/>
                </a:solidFill>
                <a:latin typeface="Calibri"/>
              </a:rPr>
              <a:t>Peer accountability with $1M+ PI firm owners</a:t>
            </a:r>
          </a:p>
        </p:txBody>
      </p:sp>
      <p:sp>
        <p:nvSpPr>
          <p:cNvPr id="60" name="Rectangle 59"/>
          <p:cNvSpPr/>
          <p:nvPr/>
        </p:nvSpPr>
        <p:spPr>
          <a:xfrm>
            <a:off x="7059168" y="3072384"/>
            <a:ext cx="2048256" cy="566928"/>
          </a:xfrm>
          <a:prstGeom prst="rect">
            <a:avLst/>
          </a:prstGeom>
          <a:solidFill>
            <a:srgbClr val="F5F3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150607" y="3291839"/>
            <a:ext cx="91440" cy="91440"/>
          </a:xfrm>
          <a:prstGeom prst="rect">
            <a:avLst/>
          </a:prstGeom>
          <a:solidFill>
            <a:srgbClr val="6D28D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96912" y="3127248"/>
            <a:ext cx="1755648" cy="475488"/>
          </a:xfrm>
          <a:prstGeom prst="rect">
            <a:avLst/>
          </a:prstGeom>
          <a:noFill/>
        </p:spPr>
        <p:txBody>
          <a:bodyPr wrap="square"/>
          <a:lstStyle/>
          <a:p>
            <a:pPr algn="l"/>
            <a:r>
              <a:rPr sz="800" b="0" i="0">
                <a:solidFill>
                  <a:srgbClr val="1E293B"/>
                </a:solidFill>
                <a:latin typeface="Calibri"/>
              </a:rPr>
              <a:t>Implement case acquisition cost tracking from day one</a:t>
            </a:r>
          </a:p>
        </p:txBody>
      </p:sp>
      <p:sp>
        <p:nvSpPr>
          <p:cNvPr id="63" name="Rectangle 62"/>
          <p:cNvSpPr/>
          <p:nvPr/>
        </p:nvSpPr>
        <p:spPr>
          <a:xfrm>
            <a:off x="7059168" y="3675887"/>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150607" y="3895344"/>
            <a:ext cx="91440" cy="91440"/>
          </a:xfrm>
          <a:prstGeom prst="rect">
            <a:avLst/>
          </a:prstGeom>
          <a:solidFill>
            <a:srgbClr val="6D28D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296912" y="3730751"/>
            <a:ext cx="1755648" cy="475488"/>
          </a:xfrm>
          <a:prstGeom prst="rect">
            <a:avLst/>
          </a:prstGeom>
          <a:noFill/>
        </p:spPr>
        <p:txBody>
          <a:bodyPr wrap="square"/>
          <a:lstStyle/>
          <a:p>
            <a:pPr algn="l"/>
            <a:r>
              <a:rPr sz="800" b="0" i="0">
                <a:solidFill>
                  <a:srgbClr val="1E293B"/>
                </a:solidFill>
                <a:latin typeface="Calibri"/>
              </a:rPr>
              <a:t>Build a mgmt layer — so partners choose their focus</a:t>
            </a:r>
          </a:p>
        </p:txBody>
      </p:sp>
      <p:sp>
        <p:nvSpPr>
          <p:cNvPr id="66" name="Rectangle 65"/>
          <p:cNvSpPr/>
          <p:nvPr/>
        </p:nvSpPr>
        <p:spPr>
          <a:xfrm>
            <a:off x="7059168" y="4279392"/>
            <a:ext cx="2048256" cy="566928"/>
          </a:xfrm>
          <a:prstGeom prst="rect">
            <a:avLst/>
          </a:prstGeom>
          <a:solidFill>
            <a:srgbClr val="F5F3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150607" y="4498848"/>
            <a:ext cx="91440" cy="91440"/>
          </a:xfrm>
          <a:prstGeom prst="rect">
            <a:avLst/>
          </a:prstGeom>
          <a:solidFill>
            <a:srgbClr val="6D28D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96912" y="4334255"/>
            <a:ext cx="1755648" cy="475488"/>
          </a:xfrm>
          <a:prstGeom prst="rect">
            <a:avLst/>
          </a:prstGeom>
          <a:noFill/>
        </p:spPr>
        <p:txBody>
          <a:bodyPr wrap="square"/>
          <a:lstStyle/>
          <a:p>
            <a:pPr algn="l"/>
            <a:r>
              <a:rPr sz="800" b="0" i="0">
                <a:solidFill>
                  <a:srgbClr val="1E293B"/>
                </a:solidFill>
                <a:latin typeface="Calibri"/>
              </a:rPr>
              <a:t>Define revenue goal — engineer profit from the start</a:t>
            </a:r>
          </a:p>
        </p:txBody>
      </p:sp>
      <p:sp>
        <p:nvSpPr>
          <p:cNvPr id="69" name="Rectangle 68"/>
          <p:cNvSpPr/>
          <p:nvPr/>
        </p:nvSpPr>
        <p:spPr>
          <a:xfrm>
            <a:off x="0" y="4828032"/>
            <a:ext cx="9144000" cy="320040"/>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0" name="Picture 69" descr="smb_team_logo.png"/>
          <p:cNvPicPr>
            <a:picLocks noChangeAspect="1"/>
          </p:cNvPicPr>
          <p:nvPr/>
        </p:nvPicPr>
        <p:blipFill>
          <a:blip r:embed="rId2"/>
          <a:stretch>
            <a:fillRect/>
          </a:stretch>
        </p:blipFill>
        <p:spPr>
          <a:xfrm>
            <a:off x="201168" y="4837176"/>
            <a:ext cx="1170432" cy="237744"/>
          </a:xfrm>
          <a:prstGeom prst="rect">
            <a:avLst/>
          </a:prstGeom>
        </p:spPr>
      </p:pic>
      <p:sp>
        <p:nvSpPr>
          <p:cNvPr id="71" name="TextBox 70"/>
          <p:cNvSpPr txBox="1"/>
          <p:nvPr/>
        </p:nvSpPr>
        <p:spPr>
          <a:xfrm>
            <a:off x="1609344" y="4837176"/>
            <a:ext cx="5303520" cy="274320"/>
          </a:xfrm>
          <a:prstGeom prst="rect">
            <a:avLst/>
          </a:prstGeom>
          <a:noFill/>
        </p:spPr>
        <p:txBody>
          <a:bodyPr wrap="square"/>
          <a:lstStyle/>
          <a:p>
            <a:pPr algn="l"/>
            <a:r>
              <a:rPr sz="800" b="0" i="0">
                <a:solidFill>
                  <a:srgbClr val="5A7A9A"/>
                </a:solidFill>
                <a:latin typeface="Calibri"/>
              </a:rPr>
              <a:t>CONFIDENTIAL  ·  Prepared by Nick Holderman | SMB Team</a:t>
            </a:r>
          </a:p>
        </p:txBody>
      </p:sp>
      <p:sp>
        <p:nvSpPr>
          <p:cNvPr id="72" name="TextBox 71"/>
          <p:cNvSpPr txBox="1"/>
          <p:nvPr/>
        </p:nvSpPr>
        <p:spPr>
          <a:xfrm>
            <a:off x="8138160" y="4837176"/>
            <a:ext cx="786384" cy="274320"/>
          </a:xfrm>
          <a:prstGeom prst="rect">
            <a:avLst/>
          </a:prstGeom>
          <a:noFill/>
        </p:spPr>
        <p:txBody>
          <a:bodyPr wrap="square"/>
          <a:lstStyle/>
          <a:p>
            <a:pPr algn="r"/>
            <a:r>
              <a:rPr sz="800" b="0" i="0">
                <a:solidFill>
                  <a:srgbClr val="5A7A9A"/>
                </a:solidFill>
                <a:latin typeface="Calibri"/>
              </a:rPr>
              <a:t>2 / 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960120"/>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92608" y="91440"/>
            <a:ext cx="8595360" cy="201168"/>
          </a:xfrm>
          <a:prstGeom prst="rect">
            <a:avLst/>
          </a:prstGeom>
          <a:noFill/>
        </p:spPr>
        <p:txBody>
          <a:bodyPr wrap="square"/>
          <a:lstStyle/>
          <a:p>
            <a:pPr algn="l"/>
            <a:r>
              <a:rPr sz="800" b="1" i="0">
                <a:solidFill>
                  <a:srgbClr val="F5C400"/>
                </a:solidFill>
                <a:latin typeface="Calibri"/>
              </a:rPr>
              <a:t>LAW FIRM GROWTH AUDIT  ·  THE COX PRADIA LAW FIRM</a:t>
            </a:r>
          </a:p>
        </p:txBody>
      </p:sp>
      <p:sp>
        <p:nvSpPr>
          <p:cNvPr id="4" name="TextBox 3"/>
          <p:cNvSpPr txBox="1"/>
          <p:nvPr/>
        </p:nvSpPr>
        <p:spPr>
          <a:xfrm>
            <a:off x="292608" y="310896"/>
            <a:ext cx="8595360" cy="548640"/>
          </a:xfrm>
          <a:prstGeom prst="rect">
            <a:avLst/>
          </a:prstGeom>
          <a:noFill/>
        </p:spPr>
        <p:txBody>
          <a:bodyPr wrap="square"/>
          <a:lstStyle/>
          <a:p>
            <a:pPr algn="l"/>
            <a:r>
              <a:rPr sz="2200" b="1" i="0">
                <a:solidFill>
                  <a:srgbClr val="FFFFFF"/>
                </a:solidFill>
                <a:latin typeface="Calibri"/>
              </a:rPr>
              <a:t>Your Investment &amp; What Happens Next</a:t>
            </a:r>
          </a:p>
        </p:txBody>
      </p:sp>
      <p:sp>
        <p:nvSpPr>
          <p:cNvPr id="5" name="Rectangle 4"/>
          <p:cNvSpPr/>
          <p:nvPr/>
        </p:nvSpPr>
        <p:spPr>
          <a:xfrm>
            <a:off x="201168" y="1024128"/>
            <a:ext cx="4133087" cy="10241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01168" y="1024128"/>
            <a:ext cx="182880" cy="1024128"/>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 y="1115568"/>
            <a:ext cx="3803904" cy="201168"/>
          </a:xfrm>
          <a:prstGeom prst="rect">
            <a:avLst/>
          </a:prstGeom>
          <a:noFill/>
        </p:spPr>
        <p:txBody>
          <a:bodyPr wrap="square"/>
          <a:lstStyle/>
          <a:p>
            <a:pPr algn="l"/>
            <a:r>
              <a:rPr sz="800" b="1" i="0">
                <a:solidFill>
                  <a:srgbClr val="1D4ED8"/>
                </a:solidFill>
                <a:latin typeface="Calibri"/>
              </a:rPr>
              <a:t>FULL SERVICE MARKETING — GROWTH</a:t>
            </a:r>
          </a:p>
        </p:txBody>
      </p:sp>
      <p:sp>
        <p:nvSpPr>
          <p:cNvPr id="8" name="TextBox 7"/>
          <p:cNvSpPr txBox="1"/>
          <p:nvPr/>
        </p:nvSpPr>
        <p:spPr>
          <a:xfrm>
            <a:off x="475488" y="1298448"/>
            <a:ext cx="1828800" cy="438912"/>
          </a:xfrm>
          <a:prstGeom prst="rect">
            <a:avLst/>
          </a:prstGeom>
          <a:noFill/>
        </p:spPr>
        <p:txBody>
          <a:bodyPr wrap="square"/>
          <a:lstStyle/>
          <a:p>
            <a:pPr algn="l"/>
            <a:r>
              <a:rPr sz="3200" b="1" i="0">
                <a:solidFill>
                  <a:srgbClr val="0D1F3C"/>
                </a:solidFill>
                <a:latin typeface="Calibri"/>
              </a:rPr>
              <a:t>$7,397</a:t>
            </a:r>
          </a:p>
        </p:txBody>
      </p:sp>
      <p:sp>
        <p:nvSpPr>
          <p:cNvPr id="9" name="TextBox 8"/>
          <p:cNvSpPr txBox="1"/>
          <p:nvPr/>
        </p:nvSpPr>
        <p:spPr>
          <a:xfrm>
            <a:off x="1865376" y="1408176"/>
            <a:ext cx="420624" cy="256032"/>
          </a:xfrm>
          <a:prstGeom prst="rect">
            <a:avLst/>
          </a:prstGeom>
          <a:noFill/>
        </p:spPr>
        <p:txBody>
          <a:bodyPr wrap="square"/>
          <a:lstStyle/>
          <a:p>
            <a:pPr algn="l"/>
            <a:r>
              <a:rPr sz="1100" b="0" i="0">
                <a:solidFill>
                  <a:srgbClr val="64748B"/>
                </a:solidFill>
                <a:latin typeface="Calibri"/>
              </a:rPr>
              <a:t>/mo</a:t>
            </a:r>
          </a:p>
        </p:txBody>
      </p:sp>
      <p:sp>
        <p:nvSpPr>
          <p:cNvPr id="10" name="TextBox 9"/>
          <p:cNvSpPr txBox="1"/>
          <p:nvPr/>
        </p:nvSpPr>
        <p:spPr>
          <a:xfrm>
            <a:off x="2322576" y="1426464"/>
            <a:ext cx="914400" cy="237744"/>
          </a:xfrm>
          <a:prstGeom prst="rect">
            <a:avLst/>
          </a:prstGeom>
          <a:noFill/>
        </p:spPr>
        <p:txBody>
          <a:bodyPr wrap="square"/>
          <a:lstStyle/>
          <a:p>
            <a:pPr algn="l"/>
            <a:r>
              <a:rPr sz="1100" b="0" i="0">
                <a:solidFill>
                  <a:srgbClr val="334155"/>
                </a:solidFill>
                <a:latin typeface="Calibri"/>
              </a:rPr>
              <a:t>$8,997/mo</a:t>
            </a:r>
          </a:p>
        </p:txBody>
      </p:sp>
      <p:sp>
        <p:nvSpPr>
          <p:cNvPr id="11" name="Rectangle 10"/>
          <p:cNvSpPr/>
          <p:nvPr/>
        </p:nvSpPr>
        <p:spPr>
          <a:xfrm>
            <a:off x="2322576" y="1527048"/>
            <a:ext cx="804672" cy="9144"/>
          </a:xfrm>
          <a:prstGeom prst="rect">
            <a:avLst/>
          </a:prstGeom>
          <a:solidFill>
            <a:srgbClr val="33415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1792224"/>
            <a:ext cx="3803904" cy="201168"/>
          </a:xfrm>
          <a:prstGeom prst="rect">
            <a:avLst/>
          </a:prstGeom>
          <a:noFill/>
        </p:spPr>
        <p:txBody>
          <a:bodyPr wrap="square"/>
          <a:lstStyle/>
          <a:p>
            <a:pPr algn="l"/>
            <a:r>
              <a:rPr sz="800" b="0" i="0">
                <a:solidFill>
                  <a:srgbClr val="64748B"/>
                </a:solidFill>
                <a:latin typeface="Calibri"/>
              </a:rPr>
              <a:t>Google Ads · LSA · Meta · Full SEO · Website Optimization</a:t>
            </a:r>
          </a:p>
        </p:txBody>
      </p:sp>
      <p:sp>
        <p:nvSpPr>
          <p:cNvPr id="13" name="Rectangle 12"/>
          <p:cNvSpPr/>
          <p:nvPr/>
        </p:nvSpPr>
        <p:spPr>
          <a:xfrm>
            <a:off x="201168" y="2139696"/>
            <a:ext cx="4133087" cy="10241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01168" y="2139696"/>
            <a:ext cx="182880" cy="1024128"/>
          </a:xfrm>
          <a:prstGeom prst="rect">
            <a:avLst/>
          </a:prstGeom>
          <a:solidFill>
            <a:srgbClr val="6D28D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2231136"/>
            <a:ext cx="3803904" cy="201168"/>
          </a:xfrm>
          <a:prstGeom prst="rect">
            <a:avLst/>
          </a:prstGeom>
          <a:noFill/>
        </p:spPr>
        <p:txBody>
          <a:bodyPr wrap="square"/>
          <a:lstStyle/>
          <a:p>
            <a:pPr algn="l"/>
            <a:r>
              <a:rPr sz="800" b="1" i="0">
                <a:solidFill>
                  <a:srgbClr val="6D28D9"/>
                </a:solidFill>
                <a:latin typeface="Calibri"/>
              </a:rPr>
              <a:t>MASTER'S CIRCLE</a:t>
            </a:r>
          </a:p>
        </p:txBody>
      </p:sp>
      <p:sp>
        <p:nvSpPr>
          <p:cNvPr id="16" name="TextBox 15"/>
          <p:cNvSpPr txBox="1"/>
          <p:nvPr/>
        </p:nvSpPr>
        <p:spPr>
          <a:xfrm>
            <a:off x="475488" y="2414015"/>
            <a:ext cx="1828800" cy="438912"/>
          </a:xfrm>
          <a:prstGeom prst="rect">
            <a:avLst/>
          </a:prstGeom>
          <a:noFill/>
        </p:spPr>
        <p:txBody>
          <a:bodyPr wrap="square"/>
          <a:lstStyle/>
          <a:p>
            <a:pPr algn="l"/>
            <a:r>
              <a:rPr sz="3200" b="1" i="0">
                <a:solidFill>
                  <a:srgbClr val="0D1F3C"/>
                </a:solidFill>
                <a:latin typeface="Calibri"/>
              </a:rPr>
              <a:t>$4,600</a:t>
            </a:r>
          </a:p>
        </p:txBody>
      </p:sp>
      <p:sp>
        <p:nvSpPr>
          <p:cNvPr id="17" name="TextBox 16"/>
          <p:cNvSpPr txBox="1"/>
          <p:nvPr/>
        </p:nvSpPr>
        <p:spPr>
          <a:xfrm>
            <a:off x="1865376" y="2523744"/>
            <a:ext cx="420624" cy="256032"/>
          </a:xfrm>
          <a:prstGeom prst="rect">
            <a:avLst/>
          </a:prstGeom>
          <a:noFill/>
        </p:spPr>
        <p:txBody>
          <a:bodyPr wrap="square"/>
          <a:lstStyle/>
          <a:p>
            <a:pPr algn="l"/>
            <a:r>
              <a:rPr sz="1100" b="0" i="0">
                <a:solidFill>
                  <a:srgbClr val="64748B"/>
                </a:solidFill>
                <a:latin typeface="Calibri"/>
              </a:rPr>
              <a:t>/mo</a:t>
            </a:r>
          </a:p>
        </p:txBody>
      </p:sp>
      <p:sp>
        <p:nvSpPr>
          <p:cNvPr id="18" name="TextBox 17"/>
          <p:cNvSpPr txBox="1"/>
          <p:nvPr/>
        </p:nvSpPr>
        <p:spPr>
          <a:xfrm>
            <a:off x="2322576" y="2542032"/>
            <a:ext cx="914400" cy="237744"/>
          </a:xfrm>
          <a:prstGeom prst="rect">
            <a:avLst/>
          </a:prstGeom>
          <a:noFill/>
        </p:spPr>
        <p:txBody>
          <a:bodyPr wrap="square"/>
          <a:lstStyle/>
          <a:p>
            <a:pPr algn="l"/>
            <a:r>
              <a:rPr sz="1100" b="0" i="0">
                <a:solidFill>
                  <a:srgbClr val="334155"/>
                </a:solidFill>
                <a:latin typeface="Calibri"/>
              </a:rPr>
              <a:t>$4,997/mo</a:t>
            </a:r>
          </a:p>
        </p:txBody>
      </p:sp>
      <p:sp>
        <p:nvSpPr>
          <p:cNvPr id="19" name="Rectangle 18"/>
          <p:cNvSpPr/>
          <p:nvPr/>
        </p:nvSpPr>
        <p:spPr>
          <a:xfrm>
            <a:off x="2322576" y="2642615"/>
            <a:ext cx="804672" cy="9144"/>
          </a:xfrm>
          <a:prstGeom prst="rect">
            <a:avLst/>
          </a:prstGeom>
          <a:solidFill>
            <a:srgbClr val="33415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488" y="2907791"/>
            <a:ext cx="3803904" cy="201168"/>
          </a:xfrm>
          <a:prstGeom prst="rect">
            <a:avLst/>
          </a:prstGeom>
          <a:noFill/>
        </p:spPr>
        <p:txBody>
          <a:bodyPr wrap="square"/>
          <a:lstStyle/>
          <a:p>
            <a:pPr algn="l"/>
            <a:r>
              <a:rPr sz="800" b="0" i="0">
                <a:solidFill>
                  <a:srgbClr val="64748B"/>
                </a:solidFill>
                <a:latin typeface="Calibri"/>
              </a:rPr>
              <a:t>Weekly coaching · PI masterminds · Quarterly workshops</a:t>
            </a:r>
          </a:p>
        </p:txBody>
      </p:sp>
      <p:sp>
        <p:nvSpPr>
          <p:cNvPr id="21" name="Rectangle 20"/>
          <p:cNvSpPr/>
          <p:nvPr/>
        </p:nvSpPr>
        <p:spPr>
          <a:xfrm>
            <a:off x="201168" y="3255264"/>
            <a:ext cx="4133087" cy="658368"/>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4048" y="3291840"/>
            <a:ext cx="1645920" cy="237744"/>
          </a:xfrm>
          <a:prstGeom prst="rect">
            <a:avLst/>
          </a:prstGeom>
          <a:noFill/>
        </p:spPr>
        <p:txBody>
          <a:bodyPr wrap="square"/>
          <a:lstStyle/>
          <a:p>
            <a:pPr algn="l"/>
            <a:r>
              <a:rPr sz="800" b="1" i="0">
                <a:solidFill>
                  <a:srgbClr val="7CA0C0"/>
                </a:solidFill>
                <a:latin typeface="Calibri"/>
              </a:rPr>
              <a:t>BUNDLE TOTAL</a:t>
            </a:r>
          </a:p>
        </p:txBody>
      </p:sp>
      <p:sp>
        <p:nvSpPr>
          <p:cNvPr id="23" name="TextBox 22"/>
          <p:cNvSpPr txBox="1"/>
          <p:nvPr/>
        </p:nvSpPr>
        <p:spPr>
          <a:xfrm>
            <a:off x="384048" y="3493008"/>
            <a:ext cx="2194560" cy="347472"/>
          </a:xfrm>
          <a:prstGeom prst="rect">
            <a:avLst/>
          </a:prstGeom>
          <a:noFill/>
        </p:spPr>
        <p:txBody>
          <a:bodyPr wrap="square"/>
          <a:lstStyle/>
          <a:p>
            <a:pPr algn="l"/>
            <a:r>
              <a:rPr sz="2200" b="1" i="0">
                <a:solidFill>
                  <a:srgbClr val="F5C400"/>
                </a:solidFill>
                <a:latin typeface="Calibri"/>
              </a:rPr>
              <a:t>$11,997 / mo</a:t>
            </a:r>
          </a:p>
        </p:txBody>
      </p:sp>
      <p:sp>
        <p:nvSpPr>
          <p:cNvPr id="24" name="TextBox 23"/>
          <p:cNvSpPr txBox="1"/>
          <p:nvPr/>
        </p:nvSpPr>
        <p:spPr>
          <a:xfrm>
            <a:off x="2670048" y="3493008"/>
            <a:ext cx="1737360" cy="347472"/>
          </a:xfrm>
          <a:prstGeom prst="rect">
            <a:avLst/>
          </a:prstGeom>
          <a:noFill/>
        </p:spPr>
        <p:txBody>
          <a:bodyPr wrap="square"/>
          <a:lstStyle/>
          <a:p>
            <a:pPr algn="l"/>
            <a:r>
              <a:rPr sz="800" b="0" i="0">
                <a:solidFill>
                  <a:srgbClr val="7CA0C0"/>
                </a:solidFill>
                <a:latin typeface="Calibri"/>
              </a:rPr>
              <a:t>Save $1,997/mo by bundling</a:t>
            </a:r>
          </a:p>
        </p:txBody>
      </p:sp>
      <p:sp>
        <p:nvSpPr>
          <p:cNvPr id="25" name="Rectangle 24"/>
          <p:cNvSpPr/>
          <p:nvPr/>
        </p:nvSpPr>
        <p:spPr>
          <a:xfrm>
            <a:off x="201168" y="3968496"/>
            <a:ext cx="4133087" cy="402336"/>
          </a:xfrm>
          <a:prstGeom prst="rect">
            <a:avLst/>
          </a:prstGeom>
          <a:solidFill>
            <a:srgbClr val="EEF2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9184" y="3995928"/>
            <a:ext cx="3931920" cy="347472"/>
          </a:xfrm>
          <a:prstGeom prst="rect">
            <a:avLst/>
          </a:prstGeom>
          <a:noFill/>
        </p:spPr>
        <p:txBody>
          <a:bodyPr wrap="square"/>
          <a:lstStyle/>
          <a:p>
            <a:pPr algn="l"/>
            <a:r>
              <a:rPr sz="800" b="0" i="0">
                <a:solidFill>
                  <a:srgbClr val="64748B"/>
                </a:solidFill>
                <a:latin typeface="Calibri"/>
              </a:rPr>
              <a:t>+ Recommended ad spend: $19,500–$50,000/mo paid directly to Google/Meta/LSA</a:t>
            </a:r>
          </a:p>
        </p:txBody>
      </p:sp>
      <p:sp>
        <p:nvSpPr>
          <p:cNvPr id="27" name="Rectangle 26"/>
          <p:cNvSpPr/>
          <p:nvPr/>
        </p:nvSpPr>
        <p:spPr>
          <a:xfrm>
            <a:off x="4535424" y="1024128"/>
            <a:ext cx="4407408" cy="1316736"/>
          </a:xfrm>
          <a:prstGeom prst="rect">
            <a:avLst/>
          </a:prstGeom>
          <a:solidFill>
            <a:srgbClr val="ECFDF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00016" y="1078992"/>
            <a:ext cx="4133087" cy="219456"/>
          </a:xfrm>
          <a:prstGeom prst="rect">
            <a:avLst/>
          </a:prstGeom>
          <a:noFill/>
        </p:spPr>
        <p:txBody>
          <a:bodyPr wrap="square"/>
          <a:lstStyle/>
          <a:p>
            <a:pPr algn="l"/>
            <a:r>
              <a:rPr sz="800" b="1" i="0">
                <a:solidFill>
                  <a:srgbClr val="065F46"/>
                </a:solidFill>
                <a:latin typeface="Calibri"/>
              </a:rPr>
              <a:t>PROJECTED RETURN ON AD SPEND</a:t>
            </a:r>
          </a:p>
        </p:txBody>
      </p:sp>
      <p:sp>
        <p:nvSpPr>
          <p:cNvPr id="29" name="TextBox 28"/>
          <p:cNvSpPr txBox="1"/>
          <p:nvPr/>
        </p:nvSpPr>
        <p:spPr>
          <a:xfrm>
            <a:off x="4700016" y="1335024"/>
            <a:ext cx="1920240" cy="256032"/>
          </a:xfrm>
          <a:prstGeom prst="rect">
            <a:avLst/>
          </a:prstGeom>
          <a:noFill/>
        </p:spPr>
        <p:txBody>
          <a:bodyPr wrap="square"/>
          <a:lstStyle/>
          <a:p>
            <a:pPr algn="l"/>
            <a:r>
              <a:rPr sz="900" b="1" i="0">
                <a:solidFill>
                  <a:srgbClr val="1E293B"/>
                </a:solidFill>
                <a:latin typeface="Calibri"/>
              </a:rPr>
              <a:t>Average case value:</a:t>
            </a:r>
          </a:p>
        </p:txBody>
      </p:sp>
      <p:sp>
        <p:nvSpPr>
          <p:cNvPr id="30" name="TextBox 29"/>
          <p:cNvSpPr txBox="1"/>
          <p:nvPr/>
        </p:nvSpPr>
        <p:spPr>
          <a:xfrm>
            <a:off x="6729984" y="1335024"/>
            <a:ext cx="2103120" cy="256032"/>
          </a:xfrm>
          <a:prstGeom prst="rect">
            <a:avLst/>
          </a:prstGeom>
          <a:noFill/>
        </p:spPr>
        <p:txBody>
          <a:bodyPr wrap="square"/>
          <a:lstStyle/>
          <a:p>
            <a:pPr algn="l"/>
            <a:r>
              <a:rPr sz="900" b="0" i="0">
                <a:solidFill>
                  <a:srgbClr val="065F46"/>
                </a:solidFill>
                <a:latin typeface="Calibri"/>
              </a:rPr>
              <a:t>$50,000</a:t>
            </a:r>
          </a:p>
        </p:txBody>
      </p:sp>
      <p:sp>
        <p:nvSpPr>
          <p:cNvPr id="31" name="Rectangle 30"/>
          <p:cNvSpPr/>
          <p:nvPr/>
        </p:nvSpPr>
        <p:spPr>
          <a:xfrm>
            <a:off x="4645152" y="1609344"/>
            <a:ext cx="4187952" cy="310896"/>
          </a:xfrm>
          <a:prstGeom prst="rect">
            <a:avLst/>
          </a:prstGeom>
          <a:solidFill>
            <a:srgbClr val="D1FAE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00016" y="1645920"/>
            <a:ext cx="1920240" cy="256032"/>
          </a:xfrm>
          <a:prstGeom prst="rect">
            <a:avLst/>
          </a:prstGeom>
          <a:noFill/>
        </p:spPr>
        <p:txBody>
          <a:bodyPr wrap="square"/>
          <a:lstStyle/>
          <a:p>
            <a:pPr algn="l"/>
            <a:r>
              <a:rPr sz="900" b="1" i="0">
                <a:solidFill>
                  <a:srgbClr val="1E293B"/>
                </a:solidFill>
                <a:latin typeface="Calibri"/>
              </a:rPr>
              <a:t>Conservative  (6 cases/mo):</a:t>
            </a:r>
          </a:p>
        </p:txBody>
      </p:sp>
      <p:sp>
        <p:nvSpPr>
          <p:cNvPr id="33" name="TextBox 32"/>
          <p:cNvSpPr txBox="1"/>
          <p:nvPr/>
        </p:nvSpPr>
        <p:spPr>
          <a:xfrm>
            <a:off x="6729984" y="1645920"/>
            <a:ext cx="2103120" cy="256032"/>
          </a:xfrm>
          <a:prstGeom prst="rect">
            <a:avLst/>
          </a:prstGeom>
          <a:noFill/>
        </p:spPr>
        <p:txBody>
          <a:bodyPr wrap="square"/>
          <a:lstStyle/>
          <a:p>
            <a:pPr algn="l"/>
            <a:r>
              <a:rPr sz="900" b="1" i="0">
                <a:solidFill>
                  <a:srgbClr val="065F46"/>
                </a:solidFill>
                <a:latin typeface="Calibri"/>
              </a:rPr>
              <a:t>$300,000 revenue · 15× ROAS</a:t>
            </a:r>
          </a:p>
        </p:txBody>
      </p:sp>
      <p:sp>
        <p:nvSpPr>
          <p:cNvPr id="34" name="TextBox 33"/>
          <p:cNvSpPr txBox="1"/>
          <p:nvPr/>
        </p:nvSpPr>
        <p:spPr>
          <a:xfrm>
            <a:off x="4700016" y="1956816"/>
            <a:ext cx="1920240" cy="256032"/>
          </a:xfrm>
          <a:prstGeom prst="rect">
            <a:avLst/>
          </a:prstGeom>
          <a:noFill/>
        </p:spPr>
        <p:txBody>
          <a:bodyPr wrap="square"/>
          <a:lstStyle/>
          <a:p>
            <a:pPr algn="l"/>
            <a:r>
              <a:rPr sz="900" b="1" i="0">
                <a:solidFill>
                  <a:srgbClr val="1E293B"/>
                </a:solidFill>
                <a:latin typeface="Calibri"/>
              </a:rPr>
              <a:t>Aggressive  (17 cases/mo):</a:t>
            </a:r>
          </a:p>
        </p:txBody>
      </p:sp>
      <p:sp>
        <p:nvSpPr>
          <p:cNvPr id="35" name="TextBox 34"/>
          <p:cNvSpPr txBox="1"/>
          <p:nvPr/>
        </p:nvSpPr>
        <p:spPr>
          <a:xfrm>
            <a:off x="6729984" y="1956816"/>
            <a:ext cx="2103120" cy="256032"/>
          </a:xfrm>
          <a:prstGeom prst="rect">
            <a:avLst/>
          </a:prstGeom>
          <a:noFill/>
        </p:spPr>
        <p:txBody>
          <a:bodyPr wrap="square"/>
          <a:lstStyle/>
          <a:p>
            <a:pPr algn="l"/>
            <a:r>
              <a:rPr sz="900" b="1" i="0">
                <a:solidFill>
                  <a:srgbClr val="065F46"/>
                </a:solidFill>
                <a:latin typeface="Calibri"/>
              </a:rPr>
              <a:t>$850,000 revenue · 17× ROAS</a:t>
            </a:r>
          </a:p>
        </p:txBody>
      </p:sp>
      <p:sp>
        <p:nvSpPr>
          <p:cNvPr id="36" name="TextBox 35"/>
          <p:cNvSpPr txBox="1"/>
          <p:nvPr/>
        </p:nvSpPr>
        <p:spPr>
          <a:xfrm>
            <a:off x="4535424" y="2468880"/>
            <a:ext cx="4407408" cy="237744"/>
          </a:xfrm>
          <a:prstGeom prst="rect">
            <a:avLst/>
          </a:prstGeom>
          <a:noFill/>
        </p:spPr>
        <p:txBody>
          <a:bodyPr wrap="square"/>
          <a:lstStyle/>
          <a:p>
            <a:pPr algn="l"/>
            <a:r>
              <a:rPr sz="800" b="1" i="0">
                <a:solidFill>
                  <a:srgbClr val="0D1F3C"/>
                </a:solidFill>
                <a:latin typeface="Calibri"/>
              </a:rPr>
              <a:t>WHAT HAPPENS IN THE FIRST 90 DAYS</a:t>
            </a:r>
          </a:p>
        </p:txBody>
      </p:sp>
      <p:sp>
        <p:nvSpPr>
          <p:cNvPr id="37" name="Rectangle 36"/>
          <p:cNvSpPr/>
          <p:nvPr/>
        </p:nvSpPr>
        <p:spPr>
          <a:xfrm>
            <a:off x="4590288" y="2724912"/>
            <a:ext cx="256032" cy="256032"/>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37760" y="2734056"/>
            <a:ext cx="804672" cy="256032"/>
          </a:xfrm>
          <a:prstGeom prst="rect">
            <a:avLst/>
          </a:prstGeom>
          <a:noFill/>
        </p:spPr>
        <p:txBody>
          <a:bodyPr wrap="square"/>
          <a:lstStyle/>
          <a:p>
            <a:pPr algn="l"/>
            <a:r>
              <a:rPr sz="800" b="1" i="0">
                <a:solidFill>
                  <a:srgbClr val="0D1F3C"/>
                </a:solidFill>
                <a:latin typeface="Calibri"/>
              </a:rPr>
              <a:t>Day 1</a:t>
            </a:r>
          </a:p>
        </p:txBody>
      </p:sp>
      <p:sp>
        <p:nvSpPr>
          <p:cNvPr id="39" name="TextBox 38"/>
          <p:cNvSpPr txBox="1"/>
          <p:nvPr/>
        </p:nvSpPr>
        <p:spPr>
          <a:xfrm>
            <a:off x="5815584" y="2734056"/>
            <a:ext cx="3054096" cy="256032"/>
          </a:xfrm>
          <a:prstGeom prst="rect">
            <a:avLst/>
          </a:prstGeom>
          <a:noFill/>
        </p:spPr>
        <p:txBody>
          <a:bodyPr wrap="square"/>
          <a:lstStyle/>
          <a:p>
            <a:pPr algn="l"/>
            <a:r>
              <a:rPr sz="800" b="0" i="0">
                <a:solidFill>
                  <a:srgbClr val="1E293B"/>
                </a:solidFill>
                <a:latin typeface="Calibri"/>
              </a:rPr>
              <a:t>Google Ads + LSA campaigns launched and live</a:t>
            </a:r>
          </a:p>
        </p:txBody>
      </p:sp>
      <p:sp>
        <p:nvSpPr>
          <p:cNvPr id="40" name="Rectangle 39"/>
          <p:cNvSpPr/>
          <p:nvPr/>
        </p:nvSpPr>
        <p:spPr>
          <a:xfrm>
            <a:off x="4590288" y="3081528"/>
            <a:ext cx="256032" cy="256032"/>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937760" y="3090672"/>
            <a:ext cx="804672" cy="256032"/>
          </a:xfrm>
          <a:prstGeom prst="rect">
            <a:avLst/>
          </a:prstGeom>
          <a:noFill/>
        </p:spPr>
        <p:txBody>
          <a:bodyPr wrap="square"/>
          <a:lstStyle/>
          <a:p>
            <a:pPr algn="l"/>
            <a:r>
              <a:rPr sz="800" b="1" i="0">
                <a:solidFill>
                  <a:srgbClr val="0D1F3C"/>
                </a:solidFill>
                <a:latin typeface="Calibri"/>
              </a:rPr>
              <a:t>Day 14</a:t>
            </a:r>
          </a:p>
        </p:txBody>
      </p:sp>
      <p:sp>
        <p:nvSpPr>
          <p:cNvPr id="42" name="TextBox 41"/>
          <p:cNvSpPr txBox="1"/>
          <p:nvPr/>
        </p:nvSpPr>
        <p:spPr>
          <a:xfrm>
            <a:off x="5815584" y="3090672"/>
            <a:ext cx="3054096" cy="256032"/>
          </a:xfrm>
          <a:prstGeom prst="rect">
            <a:avLst/>
          </a:prstGeom>
          <a:noFill/>
        </p:spPr>
        <p:txBody>
          <a:bodyPr wrap="square"/>
          <a:lstStyle/>
          <a:p>
            <a:pPr algn="l"/>
            <a:r>
              <a:rPr sz="800" b="0" i="0">
                <a:solidFill>
                  <a:srgbClr val="1E293B"/>
                </a:solidFill>
                <a:latin typeface="Calibri"/>
              </a:rPr>
              <a:t>NAP corrections submitted to all directories</a:t>
            </a:r>
          </a:p>
        </p:txBody>
      </p:sp>
      <p:sp>
        <p:nvSpPr>
          <p:cNvPr id="43" name="Rectangle 42"/>
          <p:cNvSpPr/>
          <p:nvPr/>
        </p:nvSpPr>
        <p:spPr>
          <a:xfrm>
            <a:off x="4590288" y="3438144"/>
            <a:ext cx="256032" cy="256032"/>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937760" y="3447287"/>
            <a:ext cx="804672" cy="256032"/>
          </a:xfrm>
          <a:prstGeom prst="rect">
            <a:avLst/>
          </a:prstGeom>
          <a:noFill/>
        </p:spPr>
        <p:txBody>
          <a:bodyPr wrap="square"/>
          <a:lstStyle/>
          <a:p>
            <a:pPr algn="l"/>
            <a:r>
              <a:rPr sz="800" b="1" i="0">
                <a:solidFill>
                  <a:srgbClr val="0D1F3C"/>
                </a:solidFill>
                <a:latin typeface="Calibri"/>
              </a:rPr>
              <a:t>Week 2</a:t>
            </a:r>
          </a:p>
        </p:txBody>
      </p:sp>
      <p:sp>
        <p:nvSpPr>
          <p:cNvPr id="45" name="TextBox 44"/>
          <p:cNvSpPr txBox="1"/>
          <p:nvPr/>
        </p:nvSpPr>
        <p:spPr>
          <a:xfrm>
            <a:off x="5815584" y="3447287"/>
            <a:ext cx="3054096" cy="256032"/>
          </a:xfrm>
          <a:prstGeom prst="rect">
            <a:avLst/>
          </a:prstGeom>
          <a:noFill/>
        </p:spPr>
        <p:txBody>
          <a:bodyPr wrap="square"/>
          <a:lstStyle/>
          <a:p>
            <a:pPr algn="l"/>
            <a:r>
              <a:rPr sz="800" b="0" i="0">
                <a:solidFill>
                  <a:srgbClr val="1E293B"/>
                </a:solidFill>
                <a:latin typeface="Calibri"/>
              </a:rPr>
              <a:t>Above-fold form + suburb landing pages live</a:t>
            </a:r>
          </a:p>
        </p:txBody>
      </p:sp>
      <p:sp>
        <p:nvSpPr>
          <p:cNvPr id="46" name="Rectangle 45"/>
          <p:cNvSpPr/>
          <p:nvPr/>
        </p:nvSpPr>
        <p:spPr>
          <a:xfrm>
            <a:off x="4590288" y="3794760"/>
            <a:ext cx="256032" cy="256032"/>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0" y="3803904"/>
            <a:ext cx="804672" cy="256032"/>
          </a:xfrm>
          <a:prstGeom prst="rect">
            <a:avLst/>
          </a:prstGeom>
          <a:noFill/>
        </p:spPr>
        <p:txBody>
          <a:bodyPr wrap="square"/>
          <a:lstStyle/>
          <a:p>
            <a:pPr algn="l"/>
            <a:r>
              <a:rPr sz="800" b="1" i="0">
                <a:solidFill>
                  <a:srgbClr val="0D1F3C"/>
                </a:solidFill>
                <a:latin typeface="Calibri"/>
              </a:rPr>
              <a:t>Week 3</a:t>
            </a:r>
          </a:p>
        </p:txBody>
      </p:sp>
      <p:sp>
        <p:nvSpPr>
          <p:cNvPr id="48" name="TextBox 47"/>
          <p:cNvSpPr txBox="1"/>
          <p:nvPr/>
        </p:nvSpPr>
        <p:spPr>
          <a:xfrm>
            <a:off x="5815584" y="3803904"/>
            <a:ext cx="3054096" cy="256032"/>
          </a:xfrm>
          <a:prstGeom prst="rect">
            <a:avLst/>
          </a:prstGeom>
          <a:noFill/>
        </p:spPr>
        <p:txBody>
          <a:bodyPr wrap="square"/>
          <a:lstStyle/>
          <a:p>
            <a:pPr algn="l"/>
            <a:r>
              <a:rPr sz="800" b="0" i="0">
                <a:solidFill>
                  <a:srgbClr val="1E293B"/>
                </a:solidFill>
                <a:latin typeface="Calibri"/>
              </a:rPr>
              <a:t>Automated review request system activated</a:t>
            </a:r>
          </a:p>
        </p:txBody>
      </p:sp>
      <p:sp>
        <p:nvSpPr>
          <p:cNvPr id="49" name="Rectangle 48"/>
          <p:cNvSpPr/>
          <p:nvPr/>
        </p:nvSpPr>
        <p:spPr>
          <a:xfrm>
            <a:off x="4590288" y="4151376"/>
            <a:ext cx="256032" cy="256032"/>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37760" y="4160520"/>
            <a:ext cx="804672" cy="256032"/>
          </a:xfrm>
          <a:prstGeom prst="rect">
            <a:avLst/>
          </a:prstGeom>
          <a:noFill/>
        </p:spPr>
        <p:txBody>
          <a:bodyPr wrap="square"/>
          <a:lstStyle/>
          <a:p>
            <a:pPr algn="l"/>
            <a:r>
              <a:rPr sz="800" b="1" i="0">
                <a:solidFill>
                  <a:srgbClr val="0D1F3C"/>
                </a:solidFill>
                <a:latin typeface="Calibri"/>
              </a:rPr>
              <a:t>Month 3</a:t>
            </a:r>
          </a:p>
        </p:txBody>
      </p:sp>
      <p:sp>
        <p:nvSpPr>
          <p:cNvPr id="51" name="TextBox 50"/>
          <p:cNvSpPr txBox="1"/>
          <p:nvPr/>
        </p:nvSpPr>
        <p:spPr>
          <a:xfrm>
            <a:off x="5815584" y="4160520"/>
            <a:ext cx="3054096" cy="256032"/>
          </a:xfrm>
          <a:prstGeom prst="rect">
            <a:avLst/>
          </a:prstGeom>
          <a:noFill/>
        </p:spPr>
        <p:txBody>
          <a:bodyPr wrap="square"/>
          <a:lstStyle/>
          <a:p>
            <a:pPr algn="l"/>
            <a:r>
              <a:rPr sz="800" b="0" i="0">
                <a:solidFill>
                  <a:srgbClr val="1E293B"/>
                </a:solidFill>
                <a:latin typeface="Calibri"/>
              </a:rPr>
              <a:t>Coaching kickoff — revenue goal + targets set</a:t>
            </a:r>
          </a:p>
        </p:txBody>
      </p:sp>
      <p:sp>
        <p:nvSpPr>
          <p:cNvPr id="52" name="Rectangle 51"/>
          <p:cNvSpPr/>
          <p:nvPr/>
        </p:nvSpPr>
        <p:spPr>
          <a:xfrm>
            <a:off x="0" y="4425696"/>
            <a:ext cx="9144000" cy="402336"/>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74320" y="4425696"/>
            <a:ext cx="8595360" cy="402336"/>
          </a:xfrm>
          <a:prstGeom prst="rect">
            <a:avLst/>
          </a:prstGeom>
          <a:noFill/>
        </p:spPr>
        <p:txBody>
          <a:bodyPr wrap="square"/>
          <a:lstStyle/>
          <a:p>
            <a:pPr algn="ctr"/>
            <a:r>
              <a:rPr sz="900" b="0" i="1">
                <a:solidFill>
                  <a:srgbClr val="8BADD0"/>
                </a:solidFill>
                <a:latin typeface="Calibri"/>
              </a:rPr>
              <a:t>“For 40 years, you’ve fought for people who couldn’t fight for themselves. Now it’s time for your firm to fight for you — generating the cases, the revenue, and the freedom your work has earned.”</a:t>
            </a:r>
          </a:p>
        </p:txBody>
      </p:sp>
      <p:sp>
        <p:nvSpPr>
          <p:cNvPr id="54" name="Rectangle 53"/>
          <p:cNvSpPr/>
          <p:nvPr/>
        </p:nvSpPr>
        <p:spPr>
          <a:xfrm>
            <a:off x="0" y="4828032"/>
            <a:ext cx="9144000" cy="320040"/>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5" name="Picture 54" descr="smb_team_logo.png"/>
          <p:cNvPicPr>
            <a:picLocks noChangeAspect="1"/>
          </p:cNvPicPr>
          <p:nvPr/>
        </p:nvPicPr>
        <p:blipFill>
          <a:blip r:embed="rId2"/>
          <a:stretch>
            <a:fillRect/>
          </a:stretch>
        </p:blipFill>
        <p:spPr>
          <a:xfrm>
            <a:off x="201168" y="4837176"/>
            <a:ext cx="1170432" cy="237744"/>
          </a:xfrm>
          <a:prstGeom prst="rect">
            <a:avLst/>
          </a:prstGeom>
        </p:spPr>
      </p:pic>
      <p:sp>
        <p:nvSpPr>
          <p:cNvPr id="56" name="TextBox 55"/>
          <p:cNvSpPr txBox="1"/>
          <p:nvPr/>
        </p:nvSpPr>
        <p:spPr>
          <a:xfrm>
            <a:off x="1609344" y="4837176"/>
            <a:ext cx="5303520" cy="274320"/>
          </a:xfrm>
          <a:prstGeom prst="rect">
            <a:avLst/>
          </a:prstGeom>
          <a:noFill/>
        </p:spPr>
        <p:txBody>
          <a:bodyPr wrap="square"/>
          <a:lstStyle/>
          <a:p>
            <a:pPr algn="l"/>
            <a:r>
              <a:rPr sz="800" b="0" i="0">
                <a:solidFill>
                  <a:srgbClr val="5A7A9A"/>
                </a:solidFill>
                <a:latin typeface="Calibri"/>
              </a:rPr>
              <a:t>CONFIDENTIAL  ·  Prepared by Nick Holderman | SMB Team</a:t>
            </a:r>
          </a:p>
        </p:txBody>
      </p:sp>
      <p:sp>
        <p:nvSpPr>
          <p:cNvPr id="57" name="TextBox 56"/>
          <p:cNvSpPr txBox="1"/>
          <p:nvPr/>
        </p:nvSpPr>
        <p:spPr>
          <a:xfrm>
            <a:off x="8138160" y="4837176"/>
            <a:ext cx="786384" cy="274320"/>
          </a:xfrm>
          <a:prstGeom prst="rect">
            <a:avLst/>
          </a:prstGeom>
          <a:noFill/>
        </p:spPr>
        <p:txBody>
          <a:bodyPr wrap="square"/>
          <a:lstStyle/>
          <a:p>
            <a:pPr algn="r"/>
            <a:r>
              <a:rPr sz="800" b="0" i="0">
                <a:solidFill>
                  <a:srgbClr val="5A7A9A"/>
                </a:solidFill>
                <a:latin typeface="Calibri"/>
              </a:rPr>
              <a:t>3 /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