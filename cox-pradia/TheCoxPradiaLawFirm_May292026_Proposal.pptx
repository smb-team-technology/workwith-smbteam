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THE COX PRADIA LAW FIRM</a:t>
            </a:r>
          </a:p>
        </p:txBody>
      </p:sp>
      <p:sp>
        <p:nvSpPr>
          <p:cNvPr id="4" name="TextBox 3"/>
          <p:cNvSpPr txBox="1"/>
          <p:nvPr/>
        </p:nvSpPr>
        <p:spPr>
          <a:xfrm>
            <a:off x="292608" y="310896"/>
            <a:ext cx="8595360" cy="548640"/>
          </a:xfrm>
          <a:prstGeom prst="rect">
            <a:avLst/>
          </a:prstGeom>
          <a:noFill/>
        </p:spPr>
        <p:txBody>
          <a:bodyPr wrap="square"/>
          <a:lstStyle/>
          <a:p>
            <a:pPr algn="l"/>
            <a:r>
              <a:rPr sz="2400" b="1" i="0">
                <a:solidFill>
                  <a:srgbClr val="FFFFFF"/>
                </a:solidFill>
                <a:latin typeface="Calibri"/>
              </a:rPr>
              <a:t>Where The Cox Pradia Law Firm Stands Today</a:t>
            </a:r>
          </a:p>
        </p:txBody>
      </p:sp>
      <p:sp>
        <p:nvSpPr>
          <p:cNvPr id="5" name="Rectangle 4"/>
          <p:cNvSpPr/>
          <p:nvPr/>
        </p:nvSpPr>
        <p:spPr>
          <a:xfrm>
            <a:off x="0" y="960120"/>
            <a:ext cx="146304" cy="3867912"/>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005840"/>
            <a:ext cx="1298448" cy="841248"/>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1005840"/>
            <a:ext cx="1298448" cy="566928"/>
          </a:xfrm>
          <a:prstGeom prst="rect">
            <a:avLst/>
          </a:prstGeom>
          <a:noFill/>
        </p:spPr>
        <p:txBody>
          <a:bodyPr wrap="square"/>
          <a:lstStyle/>
          <a:p>
            <a:pPr algn="ctr"/>
            <a:r>
              <a:rPr sz="2800" b="1" i="0">
                <a:solidFill>
                  <a:srgbClr val="FFFFFF"/>
                </a:solidFill>
                <a:latin typeface="Calibri"/>
              </a:rPr>
              <a:t>8</a:t>
            </a:r>
          </a:p>
        </p:txBody>
      </p:sp>
      <p:sp>
        <p:nvSpPr>
          <p:cNvPr id="8" name="TextBox 7"/>
          <p:cNvSpPr txBox="1"/>
          <p:nvPr/>
        </p:nvSpPr>
        <p:spPr>
          <a:xfrm>
            <a:off x="256032" y="1572768"/>
            <a:ext cx="1298448" cy="274320"/>
          </a:xfrm>
          <a:prstGeom prst="rect">
            <a:avLst/>
          </a:prstGeom>
          <a:noFill/>
        </p:spPr>
        <p:txBody>
          <a:bodyPr wrap="square"/>
          <a:lstStyle/>
          <a:p>
            <a:pPr algn="ctr"/>
            <a:r>
              <a:rPr sz="600" b="1" i="0">
                <a:solidFill>
                  <a:srgbClr val="FFFFFF"/>
                </a:solidFill>
                <a:latin typeface="Calibri"/>
              </a:rPr>
              <a:t>COMPETITIVE URGENCY</a:t>
            </a:r>
          </a:p>
        </p:txBody>
      </p:sp>
      <p:sp>
        <p:nvSpPr>
          <p:cNvPr id="9" name="Rectangle 8"/>
          <p:cNvSpPr/>
          <p:nvPr/>
        </p:nvSpPr>
        <p:spPr>
          <a:xfrm>
            <a:off x="1682496"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82496"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37360" y="1188720"/>
            <a:ext cx="694944" cy="237744"/>
          </a:xfrm>
          <a:prstGeom prst="rect">
            <a:avLst/>
          </a:prstGeom>
          <a:noFill/>
        </p:spPr>
        <p:txBody>
          <a:bodyPr wrap="square"/>
          <a:lstStyle/>
          <a:p>
            <a:pPr algn="l"/>
            <a:r>
              <a:rPr sz="800" b="1" i="0">
                <a:solidFill>
                  <a:srgbClr val="FFFFFF"/>
                </a:solidFill>
                <a:latin typeface="Calibri"/>
              </a:rPr>
              <a:t>Lead Generation</a:t>
            </a:r>
          </a:p>
        </p:txBody>
      </p:sp>
      <p:sp>
        <p:nvSpPr>
          <p:cNvPr id="12" name="TextBox 11"/>
          <p:cNvSpPr txBox="1"/>
          <p:nvPr/>
        </p:nvSpPr>
        <p:spPr>
          <a:xfrm>
            <a:off x="1737360"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13" name="TextBox 12"/>
          <p:cNvSpPr txBox="1"/>
          <p:nvPr/>
        </p:nvSpPr>
        <p:spPr>
          <a:xfrm>
            <a:off x="1737360" y="1591056"/>
            <a:ext cx="694944" cy="237744"/>
          </a:xfrm>
          <a:prstGeom prst="rect">
            <a:avLst/>
          </a:prstGeom>
          <a:noFill/>
        </p:spPr>
        <p:txBody>
          <a:bodyPr wrap="square"/>
          <a:lstStyle/>
          <a:p>
            <a:pPr algn="l"/>
            <a:r>
              <a:rPr sz="700" b="0" i="0">
                <a:solidFill>
                  <a:srgbClr val="8BADD0"/>
                </a:solidFill>
                <a:latin typeface="Calibri"/>
              </a:rPr>
              <a:t>No ads — invisible</a:t>
            </a:r>
          </a:p>
        </p:txBody>
      </p:sp>
      <p:sp>
        <p:nvSpPr>
          <p:cNvPr id="14" name="Rectangle 13"/>
          <p:cNvSpPr/>
          <p:nvPr/>
        </p:nvSpPr>
        <p:spPr>
          <a:xfrm>
            <a:off x="2542032"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42032"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1188720"/>
            <a:ext cx="694944" cy="237744"/>
          </a:xfrm>
          <a:prstGeom prst="rect">
            <a:avLst/>
          </a:prstGeom>
          <a:noFill/>
        </p:spPr>
        <p:txBody>
          <a:bodyPr wrap="square"/>
          <a:lstStyle/>
          <a:p>
            <a:pPr algn="l"/>
            <a:r>
              <a:rPr sz="800" b="1" i="0">
                <a:solidFill>
                  <a:srgbClr val="FFFFFF"/>
                </a:solidFill>
                <a:latin typeface="Calibri"/>
              </a:rPr>
              <a:t>Intake</a:t>
            </a:r>
          </a:p>
        </p:txBody>
      </p:sp>
      <p:sp>
        <p:nvSpPr>
          <p:cNvPr id="17" name="TextBox 16"/>
          <p:cNvSpPr txBox="1"/>
          <p:nvPr/>
        </p:nvSpPr>
        <p:spPr>
          <a:xfrm>
            <a:off x="2596896" y="1417320"/>
            <a:ext cx="694944" cy="182880"/>
          </a:xfrm>
          <a:prstGeom prst="rect">
            <a:avLst/>
          </a:prstGeom>
          <a:noFill/>
        </p:spPr>
        <p:txBody>
          <a:bodyPr wrap="square"/>
          <a:lstStyle/>
          <a:p>
            <a:pPr algn="l"/>
            <a:r>
              <a:rPr sz="700" b="1" i="0">
                <a:solidFill>
                  <a:srgbClr val="D97706"/>
                </a:solidFill>
                <a:latin typeface="Calibri"/>
              </a:rPr>
              <a:t>AMBER</a:t>
            </a:r>
          </a:p>
        </p:txBody>
      </p:sp>
      <p:sp>
        <p:nvSpPr>
          <p:cNvPr id="18" name="TextBox 17"/>
          <p:cNvSpPr txBox="1"/>
          <p:nvPr/>
        </p:nvSpPr>
        <p:spPr>
          <a:xfrm>
            <a:off x="2596896" y="1591056"/>
            <a:ext cx="694944" cy="237744"/>
          </a:xfrm>
          <a:prstGeom prst="rect">
            <a:avLst/>
          </a:prstGeom>
          <a:noFill/>
        </p:spPr>
        <p:txBody>
          <a:bodyPr wrap="square"/>
          <a:lstStyle/>
          <a:p>
            <a:pPr algn="l"/>
            <a:r>
              <a:rPr sz="700" b="0" i="0">
                <a:solidFill>
                  <a:srgbClr val="8BADD0"/>
                </a:solidFill>
                <a:latin typeface="Calibri"/>
              </a:rPr>
              <a:t>Footer form only</a:t>
            </a:r>
          </a:p>
        </p:txBody>
      </p:sp>
      <p:sp>
        <p:nvSpPr>
          <p:cNvPr id="19" name="Rectangle 18"/>
          <p:cNvSpPr/>
          <p:nvPr/>
        </p:nvSpPr>
        <p:spPr>
          <a:xfrm>
            <a:off x="3401568"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01568"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56432" y="1188720"/>
            <a:ext cx="694944" cy="237744"/>
          </a:xfrm>
          <a:prstGeom prst="rect">
            <a:avLst/>
          </a:prstGeom>
          <a:noFill/>
        </p:spPr>
        <p:txBody>
          <a:bodyPr wrap="square"/>
          <a:lstStyle/>
          <a:p>
            <a:pPr algn="l"/>
            <a:r>
              <a:rPr sz="800" b="1" i="0">
                <a:solidFill>
                  <a:srgbClr val="FFFFFF"/>
                </a:solidFill>
                <a:latin typeface="Calibri"/>
              </a:rPr>
              <a:t>Team</a:t>
            </a:r>
          </a:p>
        </p:txBody>
      </p:sp>
      <p:sp>
        <p:nvSpPr>
          <p:cNvPr id="22" name="TextBox 21"/>
          <p:cNvSpPr txBox="1"/>
          <p:nvPr/>
        </p:nvSpPr>
        <p:spPr>
          <a:xfrm>
            <a:off x="3456432" y="1417320"/>
            <a:ext cx="694944" cy="182880"/>
          </a:xfrm>
          <a:prstGeom prst="rect">
            <a:avLst/>
          </a:prstGeom>
          <a:noFill/>
        </p:spPr>
        <p:txBody>
          <a:bodyPr wrap="square"/>
          <a:lstStyle/>
          <a:p>
            <a:pPr algn="l"/>
            <a:r>
              <a:rPr sz="700" b="1" i="0">
                <a:solidFill>
                  <a:srgbClr val="D97706"/>
                </a:solidFill>
                <a:latin typeface="Calibri"/>
              </a:rPr>
              <a:t>AMBER</a:t>
            </a:r>
          </a:p>
        </p:txBody>
      </p:sp>
      <p:sp>
        <p:nvSpPr>
          <p:cNvPr id="23" name="TextBox 22"/>
          <p:cNvSpPr txBox="1"/>
          <p:nvPr/>
        </p:nvSpPr>
        <p:spPr>
          <a:xfrm>
            <a:off x="3456432" y="1591056"/>
            <a:ext cx="694944" cy="237744"/>
          </a:xfrm>
          <a:prstGeom prst="rect">
            <a:avLst/>
          </a:prstGeom>
          <a:noFill/>
        </p:spPr>
        <p:txBody>
          <a:bodyPr wrap="square"/>
          <a:lstStyle/>
          <a:p>
            <a:pPr algn="l"/>
            <a:r>
              <a:rPr sz="700" b="0" i="0">
                <a:solidFill>
                  <a:srgbClr val="8BADD0"/>
                </a:solidFill>
                <a:latin typeface="Calibri"/>
              </a:rPr>
              <a:t>10-person team built</a:t>
            </a:r>
          </a:p>
        </p:txBody>
      </p:sp>
      <p:sp>
        <p:nvSpPr>
          <p:cNvPr id="24" name="Rectangle 23"/>
          <p:cNvSpPr/>
          <p:nvPr/>
        </p:nvSpPr>
        <p:spPr>
          <a:xfrm>
            <a:off x="4261104"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61104"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15968" y="1188720"/>
            <a:ext cx="694944" cy="237744"/>
          </a:xfrm>
          <a:prstGeom prst="rect">
            <a:avLst/>
          </a:prstGeom>
          <a:noFill/>
        </p:spPr>
        <p:txBody>
          <a:bodyPr wrap="square"/>
          <a:lstStyle/>
          <a:p>
            <a:pPr algn="l"/>
            <a:r>
              <a:rPr sz="800" b="1" i="0">
                <a:solidFill>
                  <a:srgbClr val="FFFFFF"/>
                </a:solidFill>
                <a:latin typeface="Calibri"/>
              </a:rPr>
              <a:t>Profit Plan</a:t>
            </a:r>
          </a:p>
        </p:txBody>
      </p:sp>
      <p:sp>
        <p:nvSpPr>
          <p:cNvPr id="27" name="TextBox 26"/>
          <p:cNvSpPr txBox="1"/>
          <p:nvPr/>
        </p:nvSpPr>
        <p:spPr>
          <a:xfrm>
            <a:off x="4315968"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28" name="TextBox 27"/>
          <p:cNvSpPr txBox="1"/>
          <p:nvPr/>
        </p:nvSpPr>
        <p:spPr>
          <a:xfrm>
            <a:off x="4315968" y="1591056"/>
            <a:ext cx="694944" cy="237744"/>
          </a:xfrm>
          <a:prstGeom prst="rect">
            <a:avLst/>
          </a:prstGeom>
          <a:noFill/>
        </p:spPr>
        <p:txBody>
          <a:bodyPr wrap="square"/>
          <a:lstStyle/>
          <a:p>
            <a:pPr algn="l"/>
            <a:r>
              <a:rPr sz="700" b="0" i="0">
                <a:solidFill>
                  <a:srgbClr val="8BADD0"/>
                </a:solidFill>
                <a:latin typeface="Calibri"/>
              </a:rPr>
              <a:t>No revenue data</a:t>
            </a:r>
          </a:p>
        </p:txBody>
      </p:sp>
      <p:sp>
        <p:nvSpPr>
          <p:cNvPr id="29" name="TextBox 28"/>
          <p:cNvSpPr txBox="1"/>
          <p:nvPr/>
        </p:nvSpPr>
        <p:spPr>
          <a:xfrm>
            <a:off x="256032" y="1956816"/>
            <a:ext cx="4846320" cy="219456"/>
          </a:xfrm>
          <a:prstGeom prst="rect">
            <a:avLst/>
          </a:prstGeom>
          <a:noFill/>
        </p:spPr>
        <p:txBody>
          <a:bodyPr wrap="square"/>
          <a:lstStyle/>
          <a:p>
            <a:pPr algn="l"/>
            <a:r>
              <a:rPr sz="800" b="1" i="0">
                <a:solidFill>
                  <a:srgbClr val="F5C400"/>
                </a:solidFill>
                <a:latin typeface="Calibri"/>
              </a:rPr>
              <a:t>KEY FINDINGS</a:t>
            </a:r>
          </a:p>
        </p:txBody>
      </p:sp>
      <p:sp>
        <p:nvSpPr>
          <p:cNvPr id="30" name="Rectangle 29"/>
          <p:cNvSpPr/>
          <p:nvPr/>
        </p:nvSpPr>
        <p:spPr>
          <a:xfrm>
            <a:off x="256032" y="2212848"/>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2386584"/>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2368296"/>
            <a:ext cx="219456" cy="237744"/>
          </a:xfrm>
          <a:prstGeom prst="rect">
            <a:avLst/>
          </a:prstGeom>
          <a:noFill/>
        </p:spPr>
        <p:txBody>
          <a:bodyPr wrap="square"/>
          <a:lstStyle/>
          <a:p>
            <a:pPr algn="ctr"/>
            <a:r>
              <a:rPr sz="900" b="1" i="0">
                <a:solidFill>
                  <a:srgbClr val="FFFFFF"/>
                </a:solidFill>
                <a:latin typeface="Calibri"/>
              </a:rPr>
              <a:t>X</a:t>
            </a:r>
          </a:p>
        </p:txBody>
      </p:sp>
      <p:sp>
        <p:nvSpPr>
          <p:cNvPr id="33" name="TextBox 32"/>
          <p:cNvSpPr txBox="1"/>
          <p:nvPr/>
        </p:nvSpPr>
        <p:spPr>
          <a:xfrm>
            <a:off x="676656" y="2286000"/>
            <a:ext cx="4352544" cy="420624"/>
          </a:xfrm>
          <a:prstGeom prst="rect">
            <a:avLst/>
          </a:prstGeom>
          <a:noFill/>
        </p:spPr>
        <p:txBody>
          <a:bodyPr wrap="square"/>
          <a:lstStyle/>
          <a:p>
            <a:pPr algn="l"/>
            <a:r>
              <a:rPr sz="1000" b="0" i="0">
                <a:solidFill>
                  <a:srgbClr val="F0BABA"/>
                </a:solidFill>
                <a:latin typeface="Calibri"/>
              </a:rPr>
              <a:t>Invisible on paid search — Zehl spends $913K+/yr on Google Ads alone</a:t>
            </a:r>
          </a:p>
        </p:txBody>
      </p:sp>
      <p:sp>
        <p:nvSpPr>
          <p:cNvPr id="34" name="Rectangle 33"/>
          <p:cNvSpPr/>
          <p:nvPr/>
        </p:nvSpPr>
        <p:spPr>
          <a:xfrm>
            <a:off x="256032" y="2834640"/>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3008376"/>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2990088"/>
            <a:ext cx="219456" cy="237744"/>
          </a:xfrm>
          <a:prstGeom prst="rect">
            <a:avLst/>
          </a:prstGeom>
          <a:noFill/>
        </p:spPr>
        <p:txBody>
          <a:bodyPr wrap="square"/>
          <a:lstStyle/>
          <a:p>
            <a:pPr algn="ctr"/>
            <a:r>
              <a:rPr sz="900" b="1" i="0">
                <a:solidFill>
                  <a:srgbClr val="FFFFFF"/>
                </a:solidFill>
                <a:latin typeface="Calibri"/>
              </a:rPr>
              <a:t>X</a:t>
            </a:r>
          </a:p>
        </p:txBody>
      </p:sp>
      <p:sp>
        <p:nvSpPr>
          <p:cNvPr id="37" name="TextBox 36"/>
          <p:cNvSpPr txBox="1"/>
          <p:nvPr/>
        </p:nvSpPr>
        <p:spPr>
          <a:xfrm>
            <a:off x="676656" y="2907792"/>
            <a:ext cx="4352544" cy="420624"/>
          </a:xfrm>
          <a:prstGeom prst="rect">
            <a:avLst/>
          </a:prstGeom>
          <a:noFill/>
        </p:spPr>
        <p:txBody>
          <a:bodyPr wrap="square"/>
          <a:lstStyle/>
          <a:p>
            <a:pPr algn="l"/>
            <a:r>
              <a:rPr sz="1000" b="0" i="0">
                <a:solidFill>
                  <a:srgbClr val="F0BABA"/>
                </a:solidFill>
                <a:latin typeface="Calibri"/>
              </a:rPr>
              <a:t>2 addresses + 3 phone numbers hurt Google 3-pack ranking signals</a:t>
            </a:r>
          </a:p>
        </p:txBody>
      </p:sp>
      <p:sp>
        <p:nvSpPr>
          <p:cNvPr id="38" name="Rectangle 37"/>
          <p:cNvSpPr/>
          <p:nvPr/>
        </p:nvSpPr>
        <p:spPr>
          <a:xfrm>
            <a:off x="256032" y="3456432"/>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3630168"/>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3611879"/>
            <a:ext cx="219456" cy="237744"/>
          </a:xfrm>
          <a:prstGeom prst="rect">
            <a:avLst/>
          </a:prstGeom>
          <a:noFill/>
        </p:spPr>
        <p:txBody>
          <a:bodyPr wrap="square"/>
          <a:lstStyle/>
          <a:p>
            <a:pPr algn="ctr"/>
            <a:r>
              <a:rPr sz="900" b="1" i="0">
                <a:solidFill>
                  <a:srgbClr val="FFFFFF"/>
                </a:solidFill>
                <a:latin typeface="Calibri"/>
              </a:rPr>
              <a:t>X</a:t>
            </a:r>
          </a:p>
        </p:txBody>
      </p:sp>
      <p:sp>
        <p:nvSpPr>
          <p:cNvPr id="41" name="TextBox 40"/>
          <p:cNvSpPr txBox="1"/>
          <p:nvPr/>
        </p:nvSpPr>
        <p:spPr>
          <a:xfrm>
            <a:off x="676656" y="3529584"/>
            <a:ext cx="4352544" cy="420624"/>
          </a:xfrm>
          <a:prstGeom prst="rect">
            <a:avLst/>
          </a:prstGeom>
          <a:noFill/>
        </p:spPr>
        <p:txBody>
          <a:bodyPr wrap="square"/>
          <a:lstStyle/>
          <a:p>
            <a:pPr algn="l"/>
            <a:r>
              <a:rPr sz="1000" b="0" i="0">
                <a:solidFill>
                  <a:srgbClr val="F0BABA"/>
                </a:solidFill>
                <a:latin typeface="Calibri"/>
              </a:rPr>
              <a:t>Footer-only form means after-hours visitors leave with no intake path</a:t>
            </a:r>
          </a:p>
        </p:txBody>
      </p:sp>
      <p:sp>
        <p:nvSpPr>
          <p:cNvPr id="42" name="Rectangle 41"/>
          <p:cNvSpPr/>
          <p:nvPr/>
        </p:nvSpPr>
        <p:spPr>
          <a:xfrm>
            <a:off x="256032" y="4078224"/>
            <a:ext cx="4846320" cy="566928"/>
          </a:xfrm>
          <a:prstGeom prst="rect">
            <a:avLst/>
          </a:prstGeom>
          <a:solidFill>
            <a:srgbClr val="0C281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4251960"/>
            <a:ext cx="219456" cy="219456"/>
          </a:xfrm>
          <a:prstGeom prst="rect">
            <a:avLst/>
          </a:prstGeom>
          <a:solidFill>
            <a:srgbClr val="16A3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4233672"/>
            <a:ext cx="219456" cy="237744"/>
          </a:xfrm>
          <a:prstGeom prst="rect">
            <a:avLst/>
          </a:prstGeom>
          <a:noFill/>
        </p:spPr>
        <p:txBody>
          <a:bodyPr wrap="square"/>
          <a:lstStyle/>
          <a:p>
            <a:pPr algn="ctr"/>
            <a:r>
              <a:rPr sz="900" b="1" i="0">
                <a:solidFill>
                  <a:srgbClr val="FFFFFF"/>
                </a:solidFill>
                <a:latin typeface="Calibri"/>
              </a:rPr>
              <a:t>+</a:t>
            </a:r>
          </a:p>
        </p:txBody>
      </p:sp>
      <p:sp>
        <p:nvSpPr>
          <p:cNvPr id="45" name="TextBox 44"/>
          <p:cNvSpPr txBox="1"/>
          <p:nvPr/>
        </p:nvSpPr>
        <p:spPr>
          <a:xfrm>
            <a:off x="676656" y="4151376"/>
            <a:ext cx="4352544" cy="420624"/>
          </a:xfrm>
          <a:prstGeom prst="rect">
            <a:avLst/>
          </a:prstGeom>
          <a:noFill/>
        </p:spPr>
        <p:txBody>
          <a:bodyPr wrap="square"/>
          <a:lstStyle/>
          <a:p>
            <a:pPr algn="l"/>
            <a:r>
              <a:rPr sz="1000" b="0" i="0">
                <a:solidFill>
                  <a:srgbClr val="86EFAC"/>
                </a:solidFill>
                <a:latin typeface="Calibri"/>
              </a:rPr>
              <a:t>10-person team with intake coordinators &amp; case manager already in place</a:t>
            </a:r>
          </a:p>
        </p:txBody>
      </p:sp>
      <p:sp>
        <p:nvSpPr>
          <p:cNvPr id="46" name="Rectangle 45"/>
          <p:cNvSpPr/>
          <p:nvPr/>
        </p:nvSpPr>
        <p:spPr>
          <a:xfrm>
            <a:off x="5257800" y="960120"/>
            <a:ext cx="3886200" cy="386791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257800" y="1024128"/>
            <a:ext cx="3886200" cy="694944"/>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257800" y="1024128"/>
            <a:ext cx="128016" cy="694944"/>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0" y="1042415"/>
            <a:ext cx="3474720" cy="201168"/>
          </a:xfrm>
          <a:prstGeom prst="rect">
            <a:avLst/>
          </a:prstGeom>
          <a:noFill/>
        </p:spPr>
        <p:txBody>
          <a:bodyPr wrap="square"/>
          <a:lstStyle/>
          <a:p>
            <a:pPr algn="l"/>
            <a:r>
              <a:rPr sz="800" b="1" i="0">
                <a:solidFill>
                  <a:srgbClr val="F5C400"/>
                </a:solidFill>
                <a:latin typeface="Calibri"/>
              </a:rPr>
              <a:t>YOU ARE HERE</a:t>
            </a:r>
          </a:p>
        </p:txBody>
      </p:sp>
      <p:sp>
        <p:nvSpPr>
          <p:cNvPr id="50" name="TextBox 49"/>
          <p:cNvSpPr txBox="1"/>
          <p:nvPr/>
        </p:nvSpPr>
        <p:spPr>
          <a:xfrm>
            <a:off x="5486400" y="1243584"/>
            <a:ext cx="3474720" cy="402336"/>
          </a:xfrm>
          <a:prstGeom prst="rect">
            <a:avLst/>
          </a:prstGeom>
          <a:noFill/>
        </p:spPr>
        <p:txBody>
          <a:bodyPr wrap="square"/>
          <a:lstStyle/>
          <a:p>
            <a:pPr algn="l"/>
            <a:r>
              <a:rPr sz="1000" b="1" i="0">
                <a:solidFill>
                  <a:srgbClr val="FFFFFF"/>
                </a:solidFill>
                <a:latin typeface="Calibri"/>
              </a:rPr>
              <a:t>Stage 4: Small Business Manager  -&gt;  Goal: Stage 6, Law Firm Owner</a:t>
            </a:r>
          </a:p>
        </p:txBody>
      </p:sp>
      <p:sp>
        <p:nvSpPr>
          <p:cNvPr id="51" name="TextBox 50"/>
          <p:cNvSpPr txBox="1"/>
          <p:nvPr/>
        </p:nvSpPr>
        <p:spPr>
          <a:xfrm>
            <a:off x="5394960" y="1920240"/>
            <a:ext cx="3566160" cy="219456"/>
          </a:xfrm>
          <a:prstGeom prst="rect">
            <a:avLst/>
          </a:prstGeom>
          <a:noFill/>
        </p:spPr>
        <p:txBody>
          <a:bodyPr wrap="square"/>
          <a:lstStyle/>
          <a:p>
            <a:pPr algn="l"/>
            <a:r>
              <a:rPr sz="800" b="1" i="0">
                <a:solidFill>
                  <a:srgbClr val="64748B"/>
                </a:solidFill>
                <a:latin typeface="Calibri"/>
              </a:rPr>
              <a:t>COMPETITOR LANDSCAPE</a:t>
            </a:r>
          </a:p>
        </p:txBody>
      </p:sp>
      <p:sp>
        <p:nvSpPr>
          <p:cNvPr id="52" name="Rectangle 51"/>
          <p:cNvSpPr/>
          <p:nvPr/>
        </p:nvSpPr>
        <p:spPr>
          <a:xfrm>
            <a:off x="5257800" y="2176272"/>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13248" y="2221991"/>
            <a:ext cx="1828800" cy="219456"/>
          </a:xfrm>
          <a:prstGeom prst="rect">
            <a:avLst/>
          </a:prstGeom>
          <a:noFill/>
        </p:spPr>
        <p:txBody>
          <a:bodyPr wrap="square"/>
          <a:lstStyle/>
          <a:p>
            <a:pPr algn="l"/>
            <a:r>
              <a:rPr sz="800" b="0" i="0">
                <a:solidFill>
                  <a:srgbClr val="1E293B"/>
                </a:solidFill>
                <a:latin typeface="Calibri"/>
              </a:rPr>
              <a:t>Zehl &amp; Associates</a:t>
            </a:r>
          </a:p>
        </p:txBody>
      </p:sp>
      <p:sp>
        <p:nvSpPr>
          <p:cNvPr id="54" name="TextBox 53"/>
          <p:cNvSpPr txBox="1"/>
          <p:nvPr/>
        </p:nvSpPr>
        <p:spPr>
          <a:xfrm>
            <a:off x="7260336" y="2221991"/>
            <a:ext cx="914400" cy="219456"/>
          </a:xfrm>
          <a:prstGeom prst="rect">
            <a:avLst/>
          </a:prstGeom>
          <a:noFill/>
        </p:spPr>
        <p:txBody>
          <a:bodyPr wrap="square"/>
          <a:lstStyle/>
          <a:p>
            <a:pPr algn="l"/>
            <a:r>
              <a:rPr sz="800" b="0" i="0">
                <a:solidFill>
                  <a:srgbClr val="16A34A"/>
                </a:solidFill>
                <a:latin typeface="Calibri"/>
              </a:rPr>
              <a:t>1,262 reviews 5.0</a:t>
            </a:r>
          </a:p>
        </p:txBody>
      </p:sp>
      <p:sp>
        <p:nvSpPr>
          <p:cNvPr id="55" name="TextBox 54"/>
          <p:cNvSpPr txBox="1"/>
          <p:nvPr/>
        </p:nvSpPr>
        <p:spPr>
          <a:xfrm>
            <a:off x="8193024" y="2240279"/>
            <a:ext cx="822960" cy="201168"/>
          </a:xfrm>
          <a:prstGeom prst="rect">
            <a:avLst/>
          </a:prstGeom>
          <a:noFill/>
        </p:spPr>
        <p:txBody>
          <a:bodyPr wrap="square"/>
          <a:lstStyle/>
          <a:p>
            <a:pPr algn="l"/>
            <a:r>
              <a:rPr sz="600" b="0" i="0">
                <a:solidFill>
                  <a:srgbClr val="64748B"/>
                </a:solidFill>
                <a:latin typeface="Calibri"/>
              </a:rPr>
              <a:t>Google Screened, $913K/yr ads</a:t>
            </a:r>
          </a:p>
        </p:txBody>
      </p:sp>
      <p:sp>
        <p:nvSpPr>
          <p:cNvPr id="56" name="Rectangle 55"/>
          <p:cNvSpPr/>
          <p:nvPr/>
        </p:nvSpPr>
        <p:spPr>
          <a:xfrm>
            <a:off x="5257800" y="2523744"/>
            <a:ext cx="3886200" cy="31089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13248" y="2569463"/>
            <a:ext cx="1828800" cy="219456"/>
          </a:xfrm>
          <a:prstGeom prst="rect">
            <a:avLst/>
          </a:prstGeom>
          <a:noFill/>
        </p:spPr>
        <p:txBody>
          <a:bodyPr wrap="square"/>
          <a:lstStyle/>
          <a:p>
            <a:pPr algn="l"/>
            <a:r>
              <a:rPr sz="800" b="0" i="0">
                <a:solidFill>
                  <a:srgbClr val="1E293B"/>
                </a:solidFill>
                <a:latin typeface="Calibri"/>
              </a:rPr>
              <a:t>Simmons and Fletcher</a:t>
            </a:r>
          </a:p>
        </p:txBody>
      </p:sp>
      <p:sp>
        <p:nvSpPr>
          <p:cNvPr id="58" name="TextBox 57"/>
          <p:cNvSpPr txBox="1"/>
          <p:nvPr/>
        </p:nvSpPr>
        <p:spPr>
          <a:xfrm>
            <a:off x="7260336" y="2569463"/>
            <a:ext cx="914400" cy="219456"/>
          </a:xfrm>
          <a:prstGeom prst="rect">
            <a:avLst/>
          </a:prstGeom>
          <a:noFill/>
        </p:spPr>
        <p:txBody>
          <a:bodyPr wrap="square"/>
          <a:lstStyle/>
          <a:p>
            <a:pPr algn="l"/>
            <a:r>
              <a:rPr sz="800" b="0" i="0">
                <a:solidFill>
                  <a:srgbClr val="16A34A"/>
                </a:solidFill>
                <a:latin typeface="Calibri"/>
              </a:rPr>
              <a:t>502 reviews 4.9</a:t>
            </a:r>
          </a:p>
        </p:txBody>
      </p:sp>
      <p:sp>
        <p:nvSpPr>
          <p:cNvPr id="59" name="TextBox 58"/>
          <p:cNvSpPr txBox="1"/>
          <p:nvPr/>
        </p:nvSpPr>
        <p:spPr>
          <a:xfrm>
            <a:off x="8193024" y="2587751"/>
            <a:ext cx="822960" cy="201168"/>
          </a:xfrm>
          <a:prstGeom prst="rect">
            <a:avLst/>
          </a:prstGeom>
          <a:noFill/>
        </p:spPr>
        <p:txBody>
          <a:bodyPr wrap="square"/>
          <a:lstStyle/>
          <a:p>
            <a:pPr algn="l"/>
            <a:r>
              <a:rPr sz="600" b="0" i="0">
                <a:solidFill>
                  <a:srgbClr val="64748B"/>
                </a:solidFill>
                <a:latin typeface="Calibri"/>
              </a:rPr>
              <a:t>Google Screened, $384K/yr ads</a:t>
            </a:r>
          </a:p>
        </p:txBody>
      </p:sp>
      <p:sp>
        <p:nvSpPr>
          <p:cNvPr id="60" name="Rectangle 59"/>
          <p:cNvSpPr/>
          <p:nvPr/>
        </p:nvSpPr>
        <p:spPr>
          <a:xfrm>
            <a:off x="5257800" y="2871216"/>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13248" y="2916936"/>
            <a:ext cx="1828800" cy="219456"/>
          </a:xfrm>
          <a:prstGeom prst="rect">
            <a:avLst/>
          </a:prstGeom>
          <a:noFill/>
        </p:spPr>
        <p:txBody>
          <a:bodyPr wrap="square"/>
          <a:lstStyle/>
          <a:p>
            <a:pPr algn="l"/>
            <a:r>
              <a:rPr sz="800" b="0" i="0">
                <a:solidFill>
                  <a:srgbClr val="1E293B"/>
                </a:solidFill>
                <a:latin typeface="Calibri"/>
              </a:rPr>
              <a:t>Terry Bryant Injury Law</a:t>
            </a:r>
          </a:p>
        </p:txBody>
      </p:sp>
      <p:sp>
        <p:nvSpPr>
          <p:cNvPr id="62" name="TextBox 61"/>
          <p:cNvSpPr txBox="1"/>
          <p:nvPr/>
        </p:nvSpPr>
        <p:spPr>
          <a:xfrm>
            <a:off x="7260336" y="2916936"/>
            <a:ext cx="914400" cy="219456"/>
          </a:xfrm>
          <a:prstGeom prst="rect">
            <a:avLst/>
          </a:prstGeom>
          <a:noFill/>
        </p:spPr>
        <p:txBody>
          <a:bodyPr wrap="square"/>
          <a:lstStyle/>
          <a:p>
            <a:pPr algn="l"/>
            <a:r>
              <a:rPr sz="800" b="0" i="0">
                <a:solidFill>
                  <a:srgbClr val="16A34A"/>
                </a:solidFill>
                <a:latin typeface="Calibri"/>
              </a:rPr>
              <a:t>100 reviews 4.6</a:t>
            </a:r>
          </a:p>
        </p:txBody>
      </p:sp>
      <p:sp>
        <p:nvSpPr>
          <p:cNvPr id="63" name="TextBox 62"/>
          <p:cNvSpPr txBox="1"/>
          <p:nvPr/>
        </p:nvSpPr>
        <p:spPr>
          <a:xfrm>
            <a:off x="8193024" y="2935224"/>
            <a:ext cx="822960" cy="201168"/>
          </a:xfrm>
          <a:prstGeom prst="rect">
            <a:avLst/>
          </a:prstGeom>
          <a:noFill/>
        </p:spPr>
        <p:txBody>
          <a:bodyPr wrap="square"/>
          <a:lstStyle/>
          <a:p>
            <a:pPr algn="l"/>
            <a:r>
              <a:rPr sz="600" b="0" i="0">
                <a:solidFill>
                  <a:srgbClr val="64748B"/>
                </a:solidFill>
                <a:latin typeface="Calibri"/>
              </a:rPr>
              <a:t>$272K/yr ads, board certified</a:t>
            </a:r>
          </a:p>
        </p:txBody>
      </p:sp>
      <p:sp>
        <p:nvSpPr>
          <p:cNvPr id="64" name="Rectangle 63"/>
          <p:cNvSpPr/>
          <p:nvPr/>
        </p:nvSpPr>
        <p:spPr>
          <a:xfrm>
            <a:off x="5257800" y="3218688"/>
            <a:ext cx="3886200" cy="310896"/>
          </a:xfrm>
          <a:prstGeom prst="rect">
            <a:avLst/>
          </a:prstGeom>
          <a:solidFill>
            <a:srgbClr val="FFF0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257800" y="3218688"/>
            <a:ext cx="91440" cy="31089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13248" y="3264408"/>
            <a:ext cx="1828800" cy="219456"/>
          </a:xfrm>
          <a:prstGeom prst="rect">
            <a:avLst/>
          </a:prstGeom>
          <a:noFill/>
        </p:spPr>
        <p:txBody>
          <a:bodyPr wrap="square"/>
          <a:lstStyle/>
          <a:p>
            <a:pPr algn="l"/>
            <a:r>
              <a:rPr sz="900" b="1" i="0">
                <a:solidFill>
                  <a:srgbClr val="C0392B"/>
                </a:solidFill>
                <a:latin typeface="Calibri"/>
              </a:rPr>
              <a:t>The Cox Pradia Law Firm</a:t>
            </a:r>
          </a:p>
        </p:txBody>
      </p:sp>
      <p:sp>
        <p:nvSpPr>
          <p:cNvPr id="67" name="TextBox 66"/>
          <p:cNvSpPr txBox="1"/>
          <p:nvPr/>
        </p:nvSpPr>
        <p:spPr>
          <a:xfrm>
            <a:off x="7260336" y="3264408"/>
            <a:ext cx="914400" cy="219456"/>
          </a:xfrm>
          <a:prstGeom prst="rect">
            <a:avLst/>
          </a:prstGeom>
          <a:noFill/>
        </p:spPr>
        <p:txBody>
          <a:bodyPr wrap="square"/>
          <a:lstStyle/>
          <a:p>
            <a:pPr algn="l"/>
            <a:r>
              <a:rPr sz="800" b="1" i="0">
                <a:solidFill>
                  <a:srgbClr val="C0392B"/>
                </a:solidFill>
                <a:latin typeface="Calibri"/>
              </a:rPr>
              <a:t>51 reviews 4.4</a:t>
            </a:r>
          </a:p>
        </p:txBody>
      </p:sp>
      <p:sp>
        <p:nvSpPr>
          <p:cNvPr id="68" name="TextBox 67"/>
          <p:cNvSpPr txBox="1"/>
          <p:nvPr/>
        </p:nvSpPr>
        <p:spPr>
          <a:xfrm>
            <a:off x="8193024" y="3282696"/>
            <a:ext cx="822960" cy="201168"/>
          </a:xfrm>
          <a:prstGeom prst="rect">
            <a:avLst/>
          </a:prstGeom>
          <a:noFill/>
        </p:spPr>
        <p:txBody>
          <a:bodyPr wrap="square"/>
          <a:lstStyle/>
          <a:p>
            <a:pPr algn="l"/>
            <a:r>
              <a:rPr sz="600" b="0" i="0">
                <a:solidFill>
                  <a:srgbClr val="64748B"/>
                </a:solidFill>
                <a:latin typeface="Calibri"/>
              </a:rPr>
              <a:t>You are here</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Picture 69" descr="smb_team_logo.png"/>
          <p:cNvPicPr>
            <a:picLocks noChangeAspect="1"/>
          </p:cNvPicPr>
          <p:nvPr/>
        </p:nvPicPr>
        <p:blipFill>
          <a:blip r:embed="rId2"/>
          <a:stretch>
            <a:fillRect/>
          </a:stretch>
        </p:blipFill>
        <p:spPr>
          <a:xfrm>
            <a:off x="201168" y="4837176"/>
            <a:ext cx="1170432" cy="237744"/>
          </a:xfrm>
          <a:prstGeom prst="rect">
            <a:avLst/>
          </a:prstGeom>
        </p:spPr>
      </p:pic>
      <p:sp>
        <p:nvSpPr>
          <p:cNvPr id="71" name="TextBox 70"/>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Nick Holderman | SMB Team</a:t>
            </a:r>
          </a:p>
        </p:txBody>
      </p:sp>
      <p:sp>
        <p:nvSpPr>
          <p:cNvPr id="72" name="TextBox 71"/>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THE COX PRADIA LAW FIRM</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Growth Plan: 3 Priorities for The Cox Pradia Law Firm</a:t>
            </a:r>
          </a:p>
        </p:txBody>
      </p:sp>
      <p:sp>
        <p:nvSpPr>
          <p:cNvPr id="5" name="Rectangle 4"/>
          <p:cNvSpPr/>
          <p:nvPr/>
        </p:nvSpPr>
        <p:spPr>
          <a:xfrm>
            <a:off x="182880" y="1024128"/>
            <a:ext cx="2487168" cy="363931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042415"/>
            <a:ext cx="2487168" cy="1828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97280"/>
            <a:ext cx="2267712" cy="201168"/>
          </a:xfrm>
          <a:prstGeom prst="rect">
            <a:avLst/>
          </a:prstGeom>
          <a:noFill/>
        </p:spPr>
        <p:txBody>
          <a:bodyPr wrap="square"/>
          <a:lstStyle/>
          <a:p>
            <a:pPr algn="l"/>
            <a:r>
              <a:rPr sz="800" b="1" i="0">
                <a:solidFill>
                  <a:srgbClr val="F5C400"/>
                </a:solidFill>
                <a:latin typeface="Calibri"/>
              </a:rPr>
              <a:t>THE SMB TEAM MODEL</a:t>
            </a:r>
          </a:p>
        </p:txBody>
      </p:sp>
      <p:sp>
        <p:nvSpPr>
          <p:cNvPr id="8" name="TextBox 7"/>
          <p:cNvSpPr txBox="1"/>
          <p:nvPr/>
        </p:nvSpPr>
        <p:spPr>
          <a:xfrm>
            <a:off x="292608" y="1335024"/>
            <a:ext cx="2267712" cy="1572768"/>
          </a:xfrm>
          <a:prstGeom prst="rect">
            <a:avLst/>
          </a:prstGeom>
          <a:noFill/>
        </p:spPr>
        <p:txBody>
          <a:bodyPr wrap="square"/>
          <a:lstStyle/>
          <a:p>
            <a:pPr algn="l"/>
            <a:r>
              <a:rPr sz="900" b="0" i="0">
                <a:solidFill>
                  <a:srgbClr val="A8BFDA"/>
                </a:solidFill>
                <a:latin typeface="Calibri"/>
              </a:rPr>
              <a:t>Lead Generation. Intake. Self-Managing Team. Profit Plan. All four must work together. Cox Pradia has the team and track record. When the marketing engine is added, the firm grows without the partners personally driving every case.</a:t>
            </a:r>
          </a:p>
        </p:txBody>
      </p:sp>
      <p:sp>
        <p:nvSpPr>
          <p:cNvPr id="9" name="Rectangle 8"/>
          <p:cNvSpPr/>
          <p:nvPr/>
        </p:nvSpPr>
        <p:spPr>
          <a:xfrm>
            <a:off x="182880" y="2999232"/>
            <a:ext cx="2487168" cy="74980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3017520"/>
            <a:ext cx="2286000" cy="274320"/>
          </a:xfrm>
          <a:prstGeom prst="rect">
            <a:avLst/>
          </a:prstGeom>
          <a:noFill/>
        </p:spPr>
        <p:txBody>
          <a:bodyPr wrap="square"/>
          <a:lstStyle/>
          <a:p>
            <a:pPr algn="l"/>
            <a:r>
              <a:rPr sz="1200" b="1" i="0">
                <a:solidFill>
                  <a:srgbClr val="0D1F3C"/>
                </a:solidFill>
                <a:latin typeface="Calibri"/>
              </a:rPr>
              <a:t>40 yrs of reputation -&gt; predictable case flow</a:t>
            </a:r>
          </a:p>
        </p:txBody>
      </p:sp>
      <p:sp>
        <p:nvSpPr>
          <p:cNvPr id="11" name="TextBox 10"/>
          <p:cNvSpPr txBox="1"/>
          <p:nvPr/>
        </p:nvSpPr>
        <p:spPr>
          <a:xfrm>
            <a:off x="292608" y="3291840"/>
            <a:ext cx="2286000" cy="402336"/>
          </a:xfrm>
          <a:prstGeom prst="rect">
            <a:avLst/>
          </a:prstGeom>
          <a:noFill/>
        </p:spPr>
        <p:txBody>
          <a:bodyPr wrap="square"/>
          <a:lstStyle/>
          <a:p>
            <a:pPr algn="l"/>
            <a:r>
              <a:rPr sz="900" b="0" i="0">
                <a:solidFill>
                  <a:srgbClr val="0D1F3C"/>
                </a:solidFill>
                <a:latin typeface="Calibri"/>
              </a:rPr>
              <a:t>Focus on cases -- not finding them</a:t>
            </a:r>
          </a:p>
        </p:txBody>
      </p:sp>
      <p:sp>
        <p:nvSpPr>
          <p:cNvPr id="12" name="Rectangle 11"/>
          <p:cNvSpPr/>
          <p:nvPr/>
        </p:nvSpPr>
        <p:spPr>
          <a:xfrm>
            <a:off x="2816352" y="1024128"/>
            <a:ext cx="2048256" cy="84124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0" y="1042415"/>
            <a:ext cx="457200" cy="274320"/>
          </a:xfrm>
          <a:prstGeom prst="rect">
            <a:avLst/>
          </a:prstGeom>
          <a:noFill/>
        </p:spPr>
        <p:txBody>
          <a:bodyPr wrap="square"/>
          <a:lstStyle/>
          <a:p>
            <a:pPr algn="l"/>
            <a:r>
              <a:rPr sz="1000" b="1" i="0">
                <a:solidFill>
                  <a:srgbClr val="FFFFFF"/>
                </a:solidFill>
                <a:latin typeface="Calibri"/>
              </a:rPr>
              <a:t>01</a:t>
            </a:r>
          </a:p>
        </p:txBody>
      </p:sp>
      <p:sp>
        <p:nvSpPr>
          <p:cNvPr id="14" name="TextBox 13"/>
          <p:cNvSpPr txBox="1"/>
          <p:nvPr/>
        </p:nvSpPr>
        <p:spPr>
          <a:xfrm>
            <a:off x="2926080" y="1316736"/>
            <a:ext cx="1865376" cy="256032"/>
          </a:xfrm>
          <a:prstGeom prst="rect">
            <a:avLst/>
          </a:prstGeom>
          <a:noFill/>
        </p:spPr>
        <p:txBody>
          <a:bodyPr wrap="square"/>
          <a:lstStyle/>
          <a:p>
            <a:pPr algn="l"/>
            <a:r>
              <a:rPr sz="1200" b="1" i="0">
                <a:solidFill>
                  <a:srgbClr val="FFFFFF"/>
                </a:solidFill>
                <a:latin typeface="Calibri"/>
              </a:rPr>
              <a:t>Build the</a:t>
            </a:r>
          </a:p>
        </p:txBody>
      </p:sp>
      <p:sp>
        <p:nvSpPr>
          <p:cNvPr id="15" name="TextBox 14"/>
          <p:cNvSpPr txBox="1"/>
          <p:nvPr/>
        </p:nvSpPr>
        <p:spPr>
          <a:xfrm>
            <a:off x="2926080" y="1554480"/>
            <a:ext cx="1865376" cy="256032"/>
          </a:xfrm>
          <a:prstGeom prst="rect">
            <a:avLst/>
          </a:prstGeom>
          <a:noFill/>
        </p:spPr>
        <p:txBody>
          <a:bodyPr wrap="square"/>
          <a:lstStyle/>
          <a:p>
            <a:pPr algn="l"/>
            <a:r>
              <a:rPr sz="1200" b="1" i="0">
                <a:solidFill>
                  <a:srgbClr val="FFFFFF"/>
                </a:solidFill>
                <a:latin typeface="Calibri"/>
              </a:rPr>
              <a:t>Marketing Engine</a:t>
            </a:r>
          </a:p>
        </p:txBody>
      </p:sp>
      <p:sp>
        <p:nvSpPr>
          <p:cNvPr id="16" name="Rectangle 15"/>
          <p:cNvSpPr/>
          <p:nvPr/>
        </p:nvSpPr>
        <p:spPr>
          <a:xfrm>
            <a:off x="2816352" y="1865376"/>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07792" y="2084832"/>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54096" y="1920240"/>
            <a:ext cx="1755648" cy="475488"/>
          </a:xfrm>
          <a:prstGeom prst="rect">
            <a:avLst/>
          </a:prstGeom>
          <a:noFill/>
        </p:spPr>
        <p:txBody>
          <a:bodyPr wrap="square"/>
          <a:lstStyle/>
          <a:p>
            <a:pPr algn="l"/>
            <a:r>
              <a:rPr sz="800" b="0" i="0">
                <a:solidFill>
                  <a:srgbClr val="1E293B"/>
                </a:solidFill>
                <a:latin typeface="Calibri"/>
              </a:rPr>
              <a:t>Turn Google into a client pipeline that runs itself</a:t>
            </a:r>
          </a:p>
        </p:txBody>
      </p:sp>
      <p:sp>
        <p:nvSpPr>
          <p:cNvPr id="19" name="Rectangle 18"/>
          <p:cNvSpPr/>
          <p:nvPr/>
        </p:nvSpPr>
        <p:spPr>
          <a:xfrm>
            <a:off x="2816352"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07792" y="2688336"/>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54096" y="2523744"/>
            <a:ext cx="1755648" cy="475488"/>
          </a:xfrm>
          <a:prstGeom prst="rect">
            <a:avLst/>
          </a:prstGeom>
          <a:noFill/>
        </p:spPr>
        <p:txBody>
          <a:bodyPr wrap="square"/>
          <a:lstStyle/>
          <a:p>
            <a:pPr algn="l"/>
            <a:r>
              <a:rPr sz="800" b="0" i="0">
                <a:solidFill>
                  <a:srgbClr val="1E293B"/>
                </a:solidFill>
                <a:latin typeface="Calibri"/>
              </a:rPr>
              <a:t>Win the top LSA spot above every paid ad</a:t>
            </a:r>
          </a:p>
        </p:txBody>
      </p:sp>
      <p:sp>
        <p:nvSpPr>
          <p:cNvPr id="22" name="Rectangle 21"/>
          <p:cNvSpPr/>
          <p:nvPr/>
        </p:nvSpPr>
        <p:spPr>
          <a:xfrm>
            <a:off x="2816352" y="3072384"/>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07792" y="3291839"/>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54096" y="3127248"/>
            <a:ext cx="1755648" cy="475488"/>
          </a:xfrm>
          <a:prstGeom prst="rect">
            <a:avLst/>
          </a:prstGeom>
          <a:noFill/>
        </p:spPr>
        <p:txBody>
          <a:bodyPr wrap="square"/>
          <a:lstStyle/>
          <a:p>
            <a:pPr algn="l"/>
            <a:r>
              <a:rPr sz="800" b="0" i="0">
                <a:solidFill>
                  <a:srgbClr val="1E293B"/>
                </a:solidFill>
                <a:latin typeface="Calibri"/>
              </a:rPr>
              <a:t>Fix directory listings to reclaim 3-pack eligibility</a:t>
            </a:r>
          </a:p>
        </p:txBody>
      </p:sp>
      <p:sp>
        <p:nvSpPr>
          <p:cNvPr id="25" name="Rectangle 24"/>
          <p:cNvSpPr/>
          <p:nvPr/>
        </p:nvSpPr>
        <p:spPr>
          <a:xfrm>
            <a:off x="2816352"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07792" y="3895344"/>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54096" y="3730751"/>
            <a:ext cx="1755648" cy="475488"/>
          </a:xfrm>
          <a:prstGeom prst="rect">
            <a:avLst/>
          </a:prstGeom>
          <a:noFill/>
        </p:spPr>
        <p:txBody>
          <a:bodyPr wrap="square"/>
          <a:lstStyle/>
          <a:p>
            <a:pPr algn="l"/>
            <a:r>
              <a:rPr sz="800" b="0" i="0">
                <a:solidFill>
                  <a:srgbClr val="1E293B"/>
                </a:solidFill>
                <a:latin typeface="Calibri"/>
              </a:rPr>
              <a:t>Build review velocity to outpace Houston competitors</a:t>
            </a:r>
          </a:p>
        </p:txBody>
      </p:sp>
      <p:sp>
        <p:nvSpPr>
          <p:cNvPr id="28" name="Rectangle 27"/>
          <p:cNvSpPr/>
          <p:nvPr/>
        </p:nvSpPr>
        <p:spPr>
          <a:xfrm>
            <a:off x="2816352" y="4279392"/>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07792" y="4498848"/>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54096" y="4334255"/>
            <a:ext cx="1755648" cy="475488"/>
          </a:xfrm>
          <a:prstGeom prst="rect">
            <a:avLst/>
          </a:prstGeom>
          <a:noFill/>
        </p:spPr>
        <p:txBody>
          <a:bodyPr wrap="square"/>
          <a:lstStyle/>
          <a:p>
            <a:pPr algn="l"/>
            <a:r>
              <a:rPr sz="800" b="0" i="0">
                <a:solidFill>
                  <a:srgbClr val="1E293B"/>
                </a:solidFill>
                <a:latin typeface="Calibri"/>
              </a:rPr>
              <a:t>Add suburb pages for Katy, Sugar Land, Woodlands</a:t>
            </a:r>
          </a:p>
        </p:txBody>
      </p:sp>
      <p:sp>
        <p:nvSpPr>
          <p:cNvPr id="31" name="Rectangle 30"/>
          <p:cNvSpPr/>
          <p:nvPr/>
        </p:nvSpPr>
        <p:spPr>
          <a:xfrm>
            <a:off x="4937760" y="1024128"/>
            <a:ext cx="2048256" cy="841248"/>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47488" y="1042415"/>
            <a:ext cx="457200" cy="274320"/>
          </a:xfrm>
          <a:prstGeom prst="rect">
            <a:avLst/>
          </a:prstGeom>
          <a:noFill/>
        </p:spPr>
        <p:txBody>
          <a:bodyPr wrap="square"/>
          <a:lstStyle/>
          <a:p>
            <a:pPr algn="l"/>
            <a:r>
              <a:rPr sz="1000" b="1" i="0">
                <a:solidFill>
                  <a:srgbClr val="FFFFFF"/>
                </a:solidFill>
                <a:latin typeface="Calibri"/>
              </a:rPr>
              <a:t>02</a:t>
            </a:r>
          </a:p>
        </p:txBody>
      </p:sp>
      <p:sp>
        <p:nvSpPr>
          <p:cNvPr id="33" name="TextBox 32"/>
          <p:cNvSpPr txBox="1"/>
          <p:nvPr/>
        </p:nvSpPr>
        <p:spPr>
          <a:xfrm>
            <a:off x="5047488" y="1316736"/>
            <a:ext cx="1865376" cy="256032"/>
          </a:xfrm>
          <a:prstGeom prst="rect">
            <a:avLst/>
          </a:prstGeom>
          <a:noFill/>
        </p:spPr>
        <p:txBody>
          <a:bodyPr wrap="square"/>
          <a:lstStyle/>
          <a:p>
            <a:pPr algn="l"/>
            <a:r>
              <a:rPr sz="1200" b="1" i="0">
                <a:solidFill>
                  <a:srgbClr val="FFFFFF"/>
                </a:solidFill>
                <a:latin typeface="Calibri"/>
              </a:rPr>
              <a:t>Fix Intake &amp;</a:t>
            </a:r>
          </a:p>
        </p:txBody>
      </p:sp>
      <p:sp>
        <p:nvSpPr>
          <p:cNvPr id="34" name="TextBox 33"/>
          <p:cNvSpPr txBox="1"/>
          <p:nvPr/>
        </p:nvSpPr>
        <p:spPr>
          <a:xfrm>
            <a:off x="5047488" y="1554480"/>
            <a:ext cx="1865376" cy="256032"/>
          </a:xfrm>
          <a:prstGeom prst="rect">
            <a:avLst/>
          </a:prstGeom>
          <a:noFill/>
        </p:spPr>
        <p:txBody>
          <a:bodyPr wrap="square"/>
          <a:lstStyle/>
          <a:p>
            <a:pPr algn="l"/>
            <a:r>
              <a:rPr sz="1200" b="1" i="0">
                <a:solidFill>
                  <a:srgbClr val="FFFFFF"/>
                </a:solidFill>
                <a:latin typeface="Calibri"/>
              </a:rPr>
              <a:t>Stop Losing Cases</a:t>
            </a:r>
          </a:p>
        </p:txBody>
      </p:sp>
      <p:sp>
        <p:nvSpPr>
          <p:cNvPr id="35" name="Rectangle 34"/>
          <p:cNvSpPr/>
          <p:nvPr/>
        </p:nvSpPr>
        <p:spPr>
          <a:xfrm>
            <a:off x="4937760" y="1865376"/>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0" y="2084832"/>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75504" y="1920240"/>
            <a:ext cx="1755648" cy="475488"/>
          </a:xfrm>
          <a:prstGeom prst="rect">
            <a:avLst/>
          </a:prstGeom>
          <a:noFill/>
        </p:spPr>
        <p:txBody>
          <a:bodyPr wrap="square"/>
          <a:lstStyle/>
          <a:p>
            <a:pPr algn="l"/>
            <a:r>
              <a:rPr sz="800" b="0" i="0">
                <a:solidFill>
                  <a:srgbClr val="1E293B"/>
                </a:solidFill>
                <a:latin typeface="Calibri"/>
              </a:rPr>
              <a:t>Add above-fold form to capture leads before they leave</a:t>
            </a:r>
          </a:p>
        </p:txBody>
      </p:sp>
      <p:sp>
        <p:nvSpPr>
          <p:cNvPr id="38" name="Rectangle 37"/>
          <p:cNvSpPr/>
          <p:nvPr/>
        </p:nvSpPr>
        <p:spPr>
          <a:xfrm>
            <a:off x="4937760"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0" y="2688336"/>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75504" y="2523744"/>
            <a:ext cx="1755648" cy="475488"/>
          </a:xfrm>
          <a:prstGeom prst="rect">
            <a:avLst/>
          </a:prstGeom>
          <a:noFill/>
        </p:spPr>
        <p:txBody>
          <a:bodyPr wrap="square"/>
          <a:lstStyle/>
          <a:p>
            <a:pPr algn="l"/>
            <a:r>
              <a:rPr sz="800" b="0" i="0">
                <a:solidFill>
                  <a:srgbClr val="1E293B"/>
                </a:solidFill>
                <a:latin typeface="Calibri"/>
              </a:rPr>
              <a:t>Activate Avvo reviews to close the directory trust gap</a:t>
            </a:r>
          </a:p>
        </p:txBody>
      </p:sp>
      <p:sp>
        <p:nvSpPr>
          <p:cNvPr id="41" name="Rectangle 40"/>
          <p:cNvSpPr/>
          <p:nvPr/>
        </p:nvSpPr>
        <p:spPr>
          <a:xfrm>
            <a:off x="4937760" y="3072384"/>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0" y="3291839"/>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75504" y="3127248"/>
            <a:ext cx="1755648" cy="475488"/>
          </a:xfrm>
          <a:prstGeom prst="rect">
            <a:avLst/>
          </a:prstGeom>
          <a:noFill/>
        </p:spPr>
        <p:txBody>
          <a:bodyPr wrap="square"/>
          <a:lstStyle/>
          <a:p>
            <a:pPr algn="l"/>
            <a:r>
              <a:rPr sz="800" b="0" i="0">
                <a:solidFill>
                  <a:srgbClr val="1E293B"/>
                </a:solidFill>
                <a:latin typeface="Calibri"/>
              </a:rPr>
              <a:t>Set response standards -- first to respond wins cases</a:t>
            </a:r>
          </a:p>
        </p:txBody>
      </p:sp>
      <p:sp>
        <p:nvSpPr>
          <p:cNvPr id="44" name="Rectangle 43"/>
          <p:cNvSpPr/>
          <p:nvPr/>
        </p:nvSpPr>
        <p:spPr>
          <a:xfrm>
            <a:off x="4937760"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0" y="3895344"/>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75504" y="3730751"/>
            <a:ext cx="1755648" cy="475488"/>
          </a:xfrm>
          <a:prstGeom prst="rect">
            <a:avLst/>
          </a:prstGeom>
          <a:noFill/>
        </p:spPr>
        <p:txBody>
          <a:bodyPr wrap="square"/>
          <a:lstStyle/>
          <a:p>
            <a:pPr algn="l"/>
            <a:r>
              <a:rPr sz="800" b="0" i="0">
                <a:solidFill>
                  <a:srgbClr val="1E293B"/>
                </a:solidFill>
                <a:latin typeface="Calibri"/>
              </a:rPr>
              <a:t>Launch post-case Google review collection system</a:t>
            </a:r>
          </a:p>
        </p:txBody>
      </p:sp>
      <p:sp>
        <p:nvSpPr>
          <p:cNvPr id="47" name="Rectangle 46"/>
          <p:cNvSpPr/>
          <p:nvPr/>
        </p:nvSpPr>
        <p:spPr>
          <a:xfrm>
            <a:off x="4937760" y="4279392"/>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0" y="4498848"/>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75504" y="4334255"/>
            <a:ext cx="1755648" cy="475488"/>
          </a:xfrm>
          <a:prstGeom prst="rect">
            <a:avLst/>
          </a:prstGeom>
          <a:noFill/>
        </p:spPr>
        <p:txBody>
          <a:bodyPr wrap="square"/>
          <a:lstStyle/>
          <a:p>
            <a:pPr algn="l"/>
            <a:r>
              <a:rPr sz="800" b="0" i="0">
                <a:solidFill>
                  <a:srgbClr val="1E293B"/>
                </a:solidFill>
                <a:latin typeface="Calibri"/>
              </a:rPr>
              <a:t>Track close rate and case value by lead source</a:t>
            </a:r>
          </a:p>
        </p:txBody>
      </p:sp>
      <p:sp>
        <p:nvSpPr>
          <p:cNvPr id="50" name="Rectangle 49"/>
          <p:cNvSpPr/>
          <p:nvPr/>
        </p:nvSpPr>
        <p:spPr>
          <a:xfrm>
            <a:off x="7059168" y="1024128"/>
            <a:ext cx="2048256" cy="84124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68896" y="1042415"/>
            <a:ext cx="457200" cy="274320"/>
          </a:xfrm>
          <a:prstGeom prst="rect">
            <a:avLst/>
          </a:prstGeom>
          <a:noFill/>
        </p:spPr>
        <p:txBody>
          <a:bodyPr wrap="square"/>
          <a:lstStyle/>
          <a:p>
            <a:pPr algn="l"/>
            <a:r>
              <a:rPr sz="1000" b="1" i="0">
                <a:solidFill>
                  <a:srgbClr val="FFFFFF"/>
                </a:solidFill>
                <a:latin typeface="Calibri"/>
              </a:rPr>
              <a:t>03</a:t>
            </a:r>
          </a:p>
        </p:txBody>
      </p:sp>
      <p:sp>
        <p:nvSpPr>
          <p:cNvPr id="52" name="TextBox 51"/>
          <p:cNvSpPr txBox="1"/>
          <p:nvPr/>
        </p:nvSpPr>
        <p:spPr>
          <a:xfrm>
            <a:off x="7168896" y="1316736"/>
            <a:ext cx="1865376" cy="256032"/>
          </a:xfrm>
          <a:prstGeom prst="rect">
            <a:avLst/>
          </a:prstGeom>
          <a:noFill/>
        </p:spPr>
        <p:txBody>
          <a:bodyPr wrap="square"/>
          <a:lstStyle/>
          <a:p>
            <a:pPr algn="l"/>
            <a:r>
              <a:rPr sz="1200" b="1" i="0">
                <a:solidFill>
                  <a:srgbClr val="FFFFFF"/>
                </a:solidFill>
                <a:latin typeface="Calibri"/>
              </a:rPr>
              <a:t>Install Team &amp;</a:t>
            </a:r>
          </a:p>
        </p:txBody>
      </p:sp>
      <p:sp>
        <p:nvSpPr>
          <p:cNvPr id="53" name="TextBox 52"/>
          <p:cNvSpPr txBox="1"/>
          <p:nvPr/>
        </p:nvSpPr>
        <p:spPr>
          <a:xfrm>
            <a:off x="7168896" y="1554480"/>
            <a:ext cx="1865376" cy="256032"/>
          </a:xfrm>
          <a:prstGeom prst="rect">
            <a:avLst/>
          </a:prstGeom>
          <a:noFill/>
        </p:spPr>
        <p:txBody>
          <a:bodyPr wrap="square"/>
          <a:lstStyle/>
          <a:p>
            <a:pPr algn="l"/>
            <a:r>
              <a:rPr sz="1200" b="1" i="0">
                <a:solidFill>
                  <a:srgbClr val="FFFFFF"/>
                </a:solidFill>
                <a:latin typeface="Calibri"/>
              </a:rPr>
              <a:t>Profit Systems</a:t>
            </a:r>
          </a:p>
        </p:txBody>
      </p:sp>
      <p:sp>
        <p:nvSpPr>
          <p:cNvPr id="54" name="Rectangle 53"/>
          <p:cNvSpPr/>
          <p:nvPr/>
        </p:nvSpPr>
        <p:spPr>
          <a:xfrm>
            <a:off x="7059168" y="1865376"/>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150607" y="2084832"/>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96912" y="1920240"/>
            <a:ext cx="1755648" cy="475488"/>
          </a:xfrm>
          <a:prstGeom prst="rect">
            <a:avLst/>
          </a:prstGeom>
          <a:noFill/>
        </p:spPr>
        <p:txBody>
          <a:bodyPr wrap="square"/>
          <a:lstStyle/>
          <a:p>
            <a:pPr algn="l"/>
            <a:r>
              <a:rPr sz="800" b="0" i="0">
                <a:solidFill>
                  <a:srgbClr val="1E293B"/>
                </a:solidFill>
                <a:latin typeface="Calibri"/>
              </a:rPr>
              <a:t>Define KPIs so the team runs without daily oversight</a:t>
            </a:r>
          </a:p>
        </p:txBody>
      </p:sp>
      <p:sp>
        <p:nvSpPr>
          <p:cNvPr id="57" name="Rectangle 56"/>
          <p:cNvSpPr/>
          <p:nvPr/>
        </p:nvSpPr>
        <p:spPr>
          <a:xfrm>
            <a:off x="7059168"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150607" y="2688336"/>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96912" y="2523744"/>
            <a:ext cx="1755648" cy="475488"/>
          </a:xfrm>
          <a:prstGeom prst="rect">
            <a:avLst/>
          </a:prstGeom>
          <a:noFill/>
        </p:spPr>
        <p:txBody>
          <a:bodyPr wrap="square"/>
          <a:lstStyle/>
          <a:p>
            <a:pPr algn="l"/>
            <a:r>
              <a:rPr sz="800" b="0" i="0">
                <a:solidFill>
                  <a:srgbClr val="1E293B"/>
                </a:solidFill>
                <a:latin typeface="Calibri"/>
              </a:rPr>
              <a:t>Document intake SLAs for consistent follow-up</a:t>
            </a:r>
          </a:p>
        </p:txBody>
      </p:sp>
      <p:sp>
        <p:nvSpPr>
          <p:cNvPr id="60" name="Rectangle 59"/>
          <p:cNvSpPr/>
          <p:nvPr/>
        </p:nvSpPr>
        <p:spPr>
          <a:xfrm>
            <a:off x="7059168" y="3072384"/>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150607" y="3291839"/>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96912" y="3127248"/>
            <a:ext cx="1755648" cy="475488"/>
          </a:xfrm>
          <a:prstGeom prst="rect">
            <a:avLst/>
          </a:prstGeom>
          <a:noFill/>
        </p:spPr>
        <p:txBody>
          <a:bodyPr wrap="square"/>
          <a:lstStyle/>
          <a:p>
            <a:pPr algn="l"/>
            <a:r>
              <a:rPr sz="800" b="0" i="0">
                <a:solidFill>
                  <a:srgbClr val="1E293B"/>
                </a:solidFill>
                <a:latin typeface="Calibri"/>
              </a:rPr>
              <a:t>Build monthly profit dashboard -- know the margins</a:t>
            </a:r>
          </a:p>
        </p:txBody>
      </p:sp>
      <p:sp>
        <p:nvSpPr>
          <p:cNvPr id="63" name="Rectangle 62"/>
          <p:cNvSpPr/>
          <p:nvPr/>
        </p:nvSpPr>
        <p:spPr>
          <a:xfrm>
            <a:off x="7059168"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150607" y="3895344"/>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96912" y="3730751"/>
            <a:ext cx="1755648" cy="475488"/>
          </a:xfrm>
          <a:prstGeom prst="rect">
            <a:avLst/>
          </a:prstGeom>
          <a:noFill/>
        </p:spPr>
        <p:txBody>
          <a:bodyPr wrap="square"/>
          <a:lstStyle/>
          <a:p>
            <a:pPr algn="l"/>
            <a:r>
              <a:rPr sz="800" b="0" i="0">
                <a:solidFill>
                  <a:srgbClr val="1E293B"/>
                </a:solidFill>
                <a:latin typeface="Calibri"/>
              </a:rPr>
              <a:t>Track cost-per-case and double down on winners</a:t>
            </a:r>
          </a:p>
        </p:txBody>
      </p:sp>
      <p:sp>
        <p:nvSpPr>
          <p:cNvPr id="66" name="Rectangle 65"/>
          <p:cNvSpPr/>
          <p:nvPr/>
        </p:nvSpPr>
        <p:spPr>
          <a:xfrm>
            <a:off x="7059168" y="4279392"/>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150607" y="4498848"/>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96912" y="4334255"/>
            <a:ext cx="1755648" cy="475488"/>
          </a:xfrm>
          <a:prstGeom prst="rect">
            <a:avLst/>
          </a:prstGeom>
          <a:noFill/>
        </p:spPr>
        <p:txBody>
          <a:bodyPr wrap="square"/>
          <a:lstStyle/>
          <a:p>
            <a:pPr algn="l"/>
            <a:r>
              <a:rPr sz="800" b="0" i="0">
                <a:solidFill>
                  <a:srgbClr val="1E293B"/>
                </a:solidFill>
                <a:latin typeface="Calibri"/>
              </a:rPr>
              <a:t>Build a referral engine to convert case wins into new clients</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Picture 69" descr="smb_team_logo.png"/>
          <p:cNvPicPr>
            <a:picLocks noChangeAspect="1"/>
          </p:cNvPicPr>
          <p:nvPr/>
        </p:nvPicPr>
        <p:blipFill>
          <a:blip r:embed="rId2"/>
          <a:stretch>
            <a:fillRect/>
          </a:stretch>
        </p:blipFill>
        <p:spPr>
          <a:xfrm>
            <a:off x="201168" y="4837176"/>
            <a:ext cx="1170432" cy="237744"/>
          </a:xfrm>
          <a:prstGeom prst="rect">
            <a:avLst/>
          </a:prstGeom>
        </p:spPr>
      </p:pic>
      <p:sp>
        <p:nvSpPr>
          <p:cNvPr id="71" name="TextBox 70"/>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Nick Holderman | SMB Team</a:t>
            </a:r>
          </a:p>
        </p:txBody>
      </p:sp>
      <p:sp>
        <p:nvSpPr>
          <p:cNvPr id="72" name="TextBox 71"/>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THE COX PRADIA LAW FIRM</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Investment &amp; What Happens Next</a:t>
            </a:r>
          </a:p>
        </p:txBody>
      </p:sp>
      <p:sp>
        <p:nvSpPr>
          <p:cNvPr id="5" name="Rectangle 4"/>
          <p:cNvSpPr/>
          <p:nvPr/>
        </p:nvSpPr>
        <p:spPr>
          <a:xfrm>
            <a:off x="201168" y="1024128"/>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024128"/>
            <a:ext cx="182880" cy="102412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115568"/>
            <a:ext cx="3803904" cy="201168"/>
          </a:xfrm>
          <a:prstGeom prst="rect">
            <a:avLst/>
          </a:prstGeom>
          <a:noFill/>
        </p:spPr>
        <p:txBody>
          <a:bodyPr wrap="square"/>
          <a:lstStyle/>
          <a:p>
            <a:pPr algn="l"/>
            <a:r>
              <a:rPr sz="800" b="1" i="0">
                <a:solidFill>
                  <a:srgbClr val="1D4ED8"/>
                </a:solidFill>
                <a:latin typeface="Calibri"/>
              </a:rPr>
              <a:t>FULL SERVICE MARKETING -- GROWTH</a:t>
            </a:r>
          </a:p>
        </p:txBody>
      </p:sp>
      <p:sp>
        <p:nvSpPr>
          <p:cNvPr id="8" name="TextBox 7"/>
          <p:cNvSpPr txBox="1"/>
          <p:nvPr/>
        </p:nvSpPr>
        <p:spPr>
          <a:xfrm>
            <a:off x="475488" y="1298448"/>
            <a:ext cx="1828800" cy="438912"/>
          </a:xfrm>
          <a:prstGeom prst="rect">
            <a:avLst/>
          </a:prstGeom>
          <a:noFill/>
        </p:spPr>
        <p:txBody>
          <a:bodyPr wrap="square"/>
          <a:lstStyle/>
          <a:p>
            <a:pPr algn="l"/>
            <a:r>
              <a:rPr sz="3200" b="1" i="0">
                <a:solidFill>
                  <a:srgbClr val="0D1F3C"/>
                </a:solidFill>
                <a:latin typeface="Calibri"/>
              </a:rPr>
              <a:t>$8,997</a:t>
            </a:r>
          </a:p>
        </p:txBody>
      </p:sp>
      <p:sp>
        <p:nvSpPr>
          <p:cNvPr id="9" name="TextBox 8"/>
          <p:cNvSpPr txBox="1"/>
          <p:nvPr/>
        </p:nvSpPr>
        <p:spPr>
          <a:xfrm>
            <a:off x="1865376" y="1408176"/>
            <a:ext cx="420624" cy="256032"/>
          </a:xfrm>
          <a:prstGeom prst="rect">
            <a:avLst/>
          </a:prstGeom>
          <a:noFill/>
        </p:spPr>
        <p:txBody>
          <a:bodyPr wrap="square"/>
          <a:lstStyle/>
          <a:p>
            <a:pPr algn="l"/>
            <a:r>
              <a:rPr sz="1100" b="0" i="0">
                <a:solidFill>
                  <a:srgbClr val="64748B"/>
                </a:solidFill>
                <a:latin typeface="Calibri"/>
              </a:rPr>
              <a:t>/mo</a:t>
            </a:r>
          </a:p>
        </p:txBody>
      </p:sp>
      <p:sp>
        <p:nvSpPr>
          <p:cNvPr id="10" name="TextBox 9"/>
          <p:cNvSpPr txBox="1"/>
          <p:nvPr/>
        </p:nvSpPr>
        <p:spPr>
          <a:xfrm>
            <a:off x="2322576" y="1426464"/>
            <a:ext cx="914400" cy="237744"/>
          </a:xfrm>
          <a:prstGeom prst="rect">
            <a:avLst/>
          </a:prstGeom>
          <a:noFill/>
        </p:spPr>
        <p:txBody>
          <a:bodyPr wrap="square"/>
          <a:lstStyle/>
          <a:p>
            <a:pPr algn="l"/>
            <a:r>
              <a:rPr sz="1100" b="0" i="0">
                <a:solidFill>
                  <a:srgbClr val="334155"/>
                </a:solidFill>
                <a:latin typeface="Calibri"/>
              </a:rPr>
              <a:t/>
            </a:r>
          </a:p>
        </p:txBody>
      </p:sp>
      <p:sp>
        <p:nvSpPr>
          <p:cNvPr id="11" name="Rectangle 10"/>
          <p:cNvSpPr/>
          <p:nvPr/>
        </p:nvSpPr>
        <p:spPr>
          <a:xfrm>
            <a:off x="2322576" y="1527048"/>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1792224"/>
            <a:ext cx="3803904" cy="201168"/>
          </a:xfrm>
          <a:prstGeom prst="rect">
            <a:avLst/>
          </a:prstGeom>
          <a:noFill/>
        </p:spPr>
        <p:txBody>
          <a:bodyPr wrap="square"/>
          <a:lstStyle/>
          <a:p>
            <a:pPr algn="l"/>
            <a:r>
              <a:rPr sz="800" b="0" i="0">
                <a:solidFill>
                  <a:srgbClr val="64748B"/>
                </a:solidFill>
                <a:latin typeface="Calibri"/>
              </a:rPr>
              <a:t>Google Ads, LSA, Meta Ads, SEO, Website Optimization</a:t>
            </a:r>
          </a:p>
        </p:txBody>
      </p:sp>
      <p:sp>
        <p:nvSpPr>
          <p:cNvPr id="13" name="Rectangle 12"/>
          <p:cNvSpPr/>
          <p:nvPr/>
        </p:nvSpPr>
        <p:spPr>
          <a:xfrm>
            <a:off x="201168" y="2139696"/>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1168" y="2139696"/>
            <a:ext cx="182880" cy="102412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2231136"/>
            <a:ext cx="3803904" cy="201168"/>
          </a:xfrm>
          <a:prstGeom prst="rect">
            <a:avLst/>
          </a:prstGeom>
          <a:noFill/>
        </p:spPr>
        <p:txBody>
          <a:bodyPr wrap="square"/>
          <a:lstStyle/>
          <a:p>
            <a:pPr algn="l"/>
            <a:r>
              <a:rPr sz="800" b="1" i="0">
                <a:solidFill>
                  <a:srgbClr val="F5C400"/>
                </a:solidFill>
                <a:latin typeface="Calibri"/>
              </a:rPr>
              <a:t>ONE-TIME SETUP FEE</a:t>
            </a:r>
          </a:p>
        </p:txBody>
      </p:sp>
      <p:sp>
        <p:nvSpPr>
          <p:cNvPr id="16" name="TextBox 15"/>
          <p:cNvSpPr txBox="1"/>
          <p:nvPr/>
        </p:nvSpPr>
        <p:spPr>
          <a:xfrm>
            <a:off x="475488" y="2395728"/>
            <a:ext cx="1828800" cy="438912"/>
          </a:xfrm>
          <a:prstGeom prst="rect">
            <a:avLst/>
          </a:prstGeom>
          <a:noFill/>
        </p:spPr>
        <p:txBody>
          <a:bodyPr wrap="square"/>
          <a:lstStyle/>
          <a:p>
            <a:pPr algn="l"/>
            <a:r>
              <a:rPr sz="3200" b="1" i="0">
                <a:solidFill>
                  <a:srgbClr val="0D1F3C"/>
                </a:solidFill>
                <a:latin typeface="Calibri"/>
              </a:rPr>
              <a:t>$2,200</a:t>
            </a:r>
          </a:p>
        </p:txBody>
      </p:sp>
      <p:sp>
        <p:nvSpPr>
          <p:cNvPr id="17" name="TextBox 16"/>
          <p:cNvSpPr txBox="1"/>
          <p:nvPr/>
        </p:nvSpPr>
        <p:spPr>
          <a:xfrm>
            <a:off x="1865376" y="2505456"/>
            <a:ext cx="731520" cy="256032"/>
          </a:xfrm>
          <a:prstGeom prst="rect">
            <a:avLst/>
          </a:prstGeom>
          <a:noFill/>
        </p:spPr>
        <p:txBody>
          <a:bodyPr wrap="square"/>
          <a:lstStyle/>
          <a:p>
            <a:pPr algn="l"/>
            <a:r>
              <a:rPr sz="1100" b="0" i="0">
                <a:solidFill>
                  <a:srgbClr val="64748B"/>
                </a:solidFill>
                <a:latin typeface="Calibri"/>
              </a:rPr>
              <a:t>one-time</a:t>
            </a:r>
          </a:p>
        </p:txBody>
      </p:sp>
      <p:sp>
        <p:nvSpPr>
          <p:cNvPr id="18" name="TextBox 17"/>
          <p:cNvSpPr txBox="1"/>
          <p:nvPr/>
        </p:nvSpPr>
        <p:spPr>
          <a:xfrm>
            <a:off x="475488" y="2926080"/>
            <a:ext cx="3803904" cy="201168"/>
          </a:xfrm>
          <a:prstGeom prst="rect">
            <a:avLst/>
          </a:prstGeom>
          <a:noFill/>
        </p:spPr>
        <p:txBody>
          <a:bodyPr wrap="square"/>
          <a:lstStyle/>
          <a:p>
            <a:pPr algn="l"/>
            <a:r>
              <a:rPr sz="800" b="0" i="0">
                <a:solidFill>
                  <a:srgbClr val="64748B"/>
                </a:solidFill>
                <a:latin typeface="Calibri"/>
              </a:rPr>
              <a:t>Campaign build, tracking setup, and account configuration</a:t>
            </a:r>
          </a:p>
        </p:txBody>
      </p:sp>
      <p:sp>
        <p:nvSpPr>
          <p:cNvPr id="19" name="Rectangle 18"/>
          <p:cNvSpPr/>
          <p:nvPr/>
        </p:nvSpPr>
        <p:spPr>
          <a:xfrm>
            <a:off x="201168" y="3255264"/>
            <a:ext cx="4133087" cy="402336"/>
          </a:xfrm>
          <a:prstGeom prst="rect">
            <a:avLst/>
          </a:prstGeom>
          <a:solidFill>
            <a:srgbClr val="EEF2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9184" y="3282696"/>
            <a:ext cx="3931920" cy="347472"/>
          </a:xfrm>
          <a:prstGeom prst="rect">
            <a:avLst/>
          </a:prstGeom>
          <a:noFill/>
        </p:spPr>
        <p:txBody>
          <a:bodyPr wrap="square"/>
          <a:lstStyle/>
          <a:p>
            <a:pPr algn="l"/>
            <a:r>
              <a:rPr sz="800" b="0" i="0">
                <a:solidFill>
                  <a:srgbClr val="64748B"/>
                </a:solidFill>
                <a:latin typeface="Calibri"/>
              </a:rPr>
              <a:t>+ Recommended ad spend: $19,500-$50,000/mo paid directly to Google/Meta</a:t>
            </a:r>
          </a:p>
        </p:txBody>
      </p:sp>
      <p:sp>
        <p:nvSpPr>
          <p:cNvPr id="21" name="Rectangle 20"/>
          <p:cNvSpPr/>
          <p:nvPr/>
        </p:nvSpPr>
        <p:spPr>
          <a:xfrm>
            <a:off x="4535424" y="1024128"/>
            <a:ext cx="4407408" cy="1316736"/>
          </a:xfrm>
          <a:prstGeom prst="rect">
            <a:avLst/>
          </a:prstGeom>
          <a:solidFill>
            <a:srgbClr val="ECFD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00016" y="1078992"/>
            <a:ext cx="4133087" cy="219456"/>
          </a:xfrm>
          <a:prstGeom prst="rect">
            <a:avLst/>
          </a:prstGeom>
          <a:noFill/>
        </p:spPr>
        <p:txBody>
          <a:bodyPr wrap="square"/>
          <a:lstStyle/>
          <a:p>
            <a:pPr algn="l"/>
            <a:r>
              <a:rPr sz="800" b="1" i="0">
                <a:solidFill>
                  <a:srgbClr val="065F46"/>
                </a:solidFill>
                <a:latin typeface="Calibri"/>
              </a:rPr>
              <a:t>PROJECTED RETURN ON AD SPEND</a:t>
            </a:r>
          </a:p>
        </p:txBody>
      </p:sp>
      <p:sp>
        <p:nvSpPr>
          <p:cNvPr id="23" name="TextBox 22"/>
          <p:cNvSpPr txBox="1"/>
          <p:nvPr/>
        </p:nvSpPr>
        <p:spPr>
          <a:xfrm>
            <a:off x="4700016" y="1335024"/>
            <a:ext cx="1920240" cy="256032"/>
          </a:xfrm>
          <a:prstGeom prst="rect">
            <a:avLst/>
          </a:prstGeom>
          <a:noFill/>
        </p:spPr>
        <p:txBody>
          <a:bodyPr wrap="square"/>
          <a:lstStyle/>
          <a:p>
            <a:pPr algn="l"/>
            <a:r>
              <a:rPr sz="900" b="1" i="0">
                <a:solidFill>
                  <a:srgbClr val="1E293B"/>
                </a:solidFill>
                <a:latin typeface="Calibri"/>
              </a:rPr>
              <a:t>Average case value:</a:t>
            </a:r>
          </a:p>
        </p:txBody>
      </p:sp>
      <p:sp>
        <p:nvSpPr>
          <p:cNvPr id="24" name="TextBox 23"/>
          <p:cNvSpPr txBox="1"/>
          <p:nvPr/>
        </p:nvSpPr>
        <p:spPr>
          <a:xfrm>
            <a:off x="6729984" y="1335024"/>
            <a:ext cx="2103120" cy="256032"/>
          </a:xfrm>
          <a:prstGeom prst="rect">
            <a:avLst/>
          </a:prstGeom>
          <a:noFill/>
        </p:spPr>
        <p:txBody>
          <a:bodyPr wrap="square"/>
          <a:lstStyle/>
          <a:p>
            <a:pPr algn="l"/>
            <a:r>
              <a:rPr sz="900" b="0" i="0">
                <a:solidFill>
                  <a:srgbClr val="065F46"/>
                </a:solidFill>
                <a:latin typeface="Calibri"/>
              </a:rPr>
              <a:t>$50,000</a:t>
            </a:r>
          </a:p>
        </p:txBody>
      </p:sp>
      <p:sp>
        <p:nvSpPr>
          <p:cNvPr id="25" name="Rectangle 24"/>
          <p:cNvSpPr/>
          <p:nvPr/>
        </p:nvSpPr>
        <p:spPr>
          <a:xfrm>
            <a:off x="4645152" y="1609344"/>
            <a:ext cx="4187952" cy="310896"/>
          </a:xfrm>
          <a:prstGeom prst="rect">
            <a:avLst/>
          </a:prstGeom>
          <a:solidFill>
            <a:srgbClr val="D1FAE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00016" y="1645920"/>
            <a:ext cx="1920240" cy="256032"/>
          </a:xfrm>
          <a:prstGeom prst="rect">
            <a:avLst/>
          </a:prstGeom>
          <a:noFill/>
        </p:spPr>
        <p:txBody>
          <a:bodyPr wrap="square"/>
          <a:lstStyle/>
          <a:p>
            <a:pPr algn="l"/>
            <a:r>
              <a:rPr sz="900" b="1" i="0">
                <a:solidFill>
                  <a:srgbClr val="1E293B"/>
                </a:solidFill>
                <a:latin typeface="Calibri"/>
              </a:rPr>
              <a:t>Conservative  (6 cases/mo):</a:t>
            </a:r>
          </a:p>
        </p:txBody>
      </p:sp>
      <p:sp>
        <p:nvSpPr>
          <p:cNvPr id="27" name="TextBox 26"/>
          <p:cNvSpPr txBox="1"/>
          <p:nvPr/>
        </p:nvSpPr>
        <p:spPr>
          <a:xfrm>
            <a:off x="6729984" y="1645920"/>
            <a:ext cx="2103120" cy="256032"/>
          </a:xfrm>
          <a:prstGeom prst="rect">
            <a:avLst/>
          </a:prstGeom>
          <a:noFill/>
        </p:spPr>
        <p:txBody>
          <a:bodyPr wrap="square"/>
          <a:lstStyle/>
          <a:p>
            <a:pPr algn="l"/>
            <a:r>
              <a:rPr sz="900" b="1" i="0">
                <a:solidFill>
                  <a:srgbClr val="065F46"/>
                </a:solidFill>
                <a:latin typeface="Calibri"/>
              </a:rPr>
              <a:t>$300,000 revenue  15x ROAS</a:t>
            </a:r>
          </a:p>
        </p:txBody>
      </p:sp>
      <p:sp>
        <p:nvSpPr>
          <p:cNvPr id="28" name="TextBox 27"/>
          <p:cNvSpPr txBox="1"/>
          <p:nvPr/>
        </p:nvSpPr>
        <p:spPr>
          <a:xfrm>
            <a:off x="4700016" y="1956816"/>
            <a:ext cx="1920240" cy="256032"/>
          </a:xfrm>
          <a:prstGeom prst="rect">
            <a:avLst/>
          </a:prstGeom>
          <a:noFill/>
        </p:spPr>
        <p:txBody>
          <a:bodyPr wrap="square"/>
          <a:lstStyle/>
          <a:p>
            <a:pPr algn="l"/>
            <a:r>
              <a:rPr sz="900" b="1" i="0">
                <a:solidFill>
                  <a:srgbClr val="1E293B"/>
                </a:solidFill>
                <a:latin typeface="Calibri"/>
              </a:rPr>
              <a:t>Aggressive  (17 cases/mo):</a:t>
            </a:r>
          </a:p>
        </p:txBody>
      </p:sp>
      <p:sp>
        <p:nvSpPr>
          <p:cNvPr id="29" name="TextBox 28"/>
          <p:cNvSpPr txBox="1"/>
          <p:nvPr/>
        </p:nvSpPr>
        <p:spPr>
          <a:xfrm>
            <a:off x="6729984" y="1956816"/>
            <a:ext cx="2103120" cy="256032"/>
          </a:xfrm>
          <a:prstGeom prst="rect">
            <a:avLst/>
          </a:prstGeom>
          <a:noFill/>
        </p:spPr>
        <p:txBody>
          <a:bodyPr wrap="square"/>
          <a:lstStyle/>
          <a:p>
            <a:pPr algn="l"/>
            <a:r>
              <a:rPr sz="900" b="1" i="0">
                <a:solidFill>
                  <a:srgbClr val="065F46"/>
                </a:solidFill>
                <a:latin typeface="Calibri"/>
              </a:rPr>
              <a:t>$850,000 revenue  17x ROAS</a:t>
            </a:r>
          </a:p>
        </p:txBody>
      </p:sp>
      <p:sp>
        <p:nvSpPr>
          <p:cNvPr id="30" name="TextBox 29"/>
          <p:cNvSpPr txBox="1"/>
          <p:nvPr/>
        </p:nvSpPr>
        <p:spPr>
          <a:xfrm>
            <a:off x="4535424" y="2468880"/>
            <a:ext cx="4407408" cy="237744"/>
          </a:xfrm>
          <a:prstGeom prst="rect">
            <a:avLst/>
          </a:prstGeom>
          <a:noFill/>
        </p:spPr>
        <p:txBody>
          <a:bodyPr wrap="square"/>
          <a:lstStyle/>
          <a:p>
            <a:pPr algn="l"/>
            <a:r>
              <a:rPr sz="800" b="1" i="0">
                <a:solidFill>
                  <a:srgbClr val="0D1F3C"/>
                </a:solidFill>
                <a:latin typeface="Calibri"/>
              </a:rPr>
              <a:t>WHAT HAPPENS IN THE FIRST 90 DAYS</a:t>
            </a:r>
          </a:p>
        </p:txBody>
      </p:sp>
      <p:sp>
        <p:nvSpPr>
          <p:cNvPr id="31" name="Rectangle 30"/>
          <p:cNvSpPr/>
          <p:nvPr/>
        </p:nvSpPr>
        <p:spPr>
          <a:xfrm>
            <a:off x="4590288" y="2724912"/>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937760" y="2734056"/>
            <a:ext cx="804672" cy="256032"/>
          </a:xfrm>
          <a:prstGeom prst="rect">
            <a:avLst/>
          </a:prstGeom>
          <a:noFill/>
        </p:spPr>
        <p:txBody>
          <a:bodyPr wrap="square"/>
          <a:lstStyle/>
          <a:p>
            <a:pPr algn="l"/>
            <a:r>
              <a:rPr sz="800" b="1" i="0">
                <a:solidFill>
                  <a:srgbClr val="0D1F3C"/>
                </a:solidFill>
                <a:latin typeface="Calibri"/>
              </a:rPr>
              <a:t>Day 1</a:t>
            </a:r>
          </a:p>
        </p:txBody>
      </p:sp>
      <p:sp>
        <p:nvSpPr>
          <p:cNvPr id="33" name="TextBox 32"/>
          <p:cNvSpPr txBox="1"/>
          <p:nvPr/>
        </p:nvSpPr>
        <p:spPr>
          <a:xfrm>
            <a:off x="5815584" y="2734056"/>
            <a:ext cx="3054096" cy="256032"/>
          </a:xfrm>
          <a:prstGeom prst="rect">
            <a:avLst/>
          </a:prstGeom>
          <a:noFill/>
        </p:spPr>
        <p:txBody>
          <a:bodyPr wrap="square"/>
          <a:lstStyle/>
          <a:p>
            <a:pPr algn="l"/>
            <a:r>
              <a:rPr sz="800" b="0" i="0">
                <a:solidFill>
                  <a:srgbClr val="1E293B"/>
                </a:solidFill>
                <a:latin typeface="Calibri"/>
              </a:rPr>
              <a:t>Google Ads &amp; LSA campaigns launched</a:t>
            </a:r>
          </a:p>
        </p:txBody>
      </p:sp>
      <p:sp>
        <p:nvSpPr>
          <p:cNvPr id="34" name="Rectangle 33"/>
          <p:cNvSpPr/>
          <p:nvPr/>
        </p:nvSpPr>
        <p:spPr>
          <a:xfrm>
            <a:off x="4590288" y="3081528"/>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37760" y="3090672"/>
            <a:ext cx="804672" cy="256032"/>
          </a:xfrm>
          <a:prstGeom prst="rect">
            <a:avLst/>
          </a:prstGeom>
          <a:noFill/>
        </p:spPr>
        <p:txBody>
          <a:bodyPr wrap="square"/>
          <a:lstStyle/>
          <a:p>
            <a:pPr algn="l"/>
            <a:r>
              <a:rPr sz="800" b="1" i="0">
                <a:solidFill>
                  <a:srgbClr val="0D1F3C"/>
                </a:solidFill>
                <a:latin typeface="Calibri"/>
              </a:rPr>
              <a:t>Day 14</a:t>
            </a:r>
          </a:p>
        </p:txBody>
      </p:sp>
      <p:sp>
        <p:nvSpPr>
          <p:cNvPr id="36" name="TextBox 35"/>
          <p:cNvSpPr txBox="1"/>
          <p:nvPr/>
        </p:nvSpPr>
        <p:spPr>
          <a:xfrm>
            <a:off x="5815584" y="3090672"/>
            <a:ext cx="3054096" cy="256032"/>
          </a:xfrm>
          <a:prstGeom prst="rect">
            <a:avLst/>
          </a:prstGeom>
          <a:noFill/>
        </p:spPr>
        <p:txBody>
          <a:bodyPr wrap="square"/>
          <a:lstStyle/>
          <a:p>
            <a:pPr algn="l"/>
            <a:r>
              <a:rPr sz="800" b="0" i="0">
                <a:solidFill>
                  <a:srgbClr val="1E293B"/>
                </a:solidFill>
                <a:latin typeface="Calibri"/>
              </a:rPr>
              <a:t>NAP corrections across all directories</a:t>
            </a:r>
          </a:p>
        </p:txBody>
      </p:sp>
      <p:sp>
        <p:nvSpPr>
          <p:cNvPr id="37" name="Rectangle 36"/>
          <p:cNvSpPr/>
          <p:nvPr/>
        </p:nvSpPr>
        <p:spPr>
          <a:xfrm>
            <a:off x="4590288" y="3438144"/>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37760" y="3447287"/>
            <a:ext cx="804672" cy="256032"/>
          </a:xfrm>
          <a:prstGeom prst="rect">
            <a:avLst/>
          </a:prstGeom>
          <a:noFill/>
        </p:spPr>
        <p:txBody>
          <a:bodyPr wrap="square"/>
          <a:lstStyle/>
          <a:p>
            <a:pPr algn="l"/>
            <a:r>
              <a:rPr sz="800" b="1" i="0">
                <a:solidFill>
                  <a:srgbClr val="0D1F3C"/>
                </a:solidFill>
                <a:latin typeface="Calibri"/>
              </a:rPr>
              <a:t>Week 2</a:t>
            </a:r>
          </a:p>
        </p:txBody>
      </p:sp>
      <p:sp>
        <p:nvSpPr>
          <p:cNvPr id="39" name="TextBox 38"/>
          <p:cNvSpPr txBox="1"/>
          <p:nvPr/>
        </p:nvSpPr>
        <p:spPr>
          <a:xfrm>
            <a:off x="5815584" y="3447287"/>
            <a:ext cx="3054096" cy="256032"/>
          </a:xfrm>
          <a:prstGeom prst="rect">
            <a:avLst/>
          </a:prstGeom>
          <a:noFill/>
        </p:spPr>
        <p:txBody>
          <a:bodyPr wrap="square"/>
          <a:lstStyle/>
          <a:p>
            <a:pPr algn="l"/>
            <a:r>
              <a:rPr sz="800" b="0" i="0">
                <a:solidFill>
                  <a:srgbClr val="1E293B"/>
                </a:solidFill>
                <a:latin typeface="Calibri"/>
              </a:rPr>
              <a:t>Above-fold form + Katy/Sugar Land pages live</a:t>
            </a:r>
          </a:p>
        </p:txBody>
      </p:sp>
      <p:sp>
        <p:nvSpPr>
          <p:cNvPr id="40" name="Rectangle 39"/>
          <p:cNvSpPr/>
          <p:nvPr/>
        </p:nvSpPr>
        <p:spPr>
          <a:xfrm>
            <a:off x="4590288" y="3794760"/>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37760" y="3803904"/>
            <a:ext cx="804672" cy="256032"/>
          </a:xfrm>
          <a:prstGeom prst="rect">
            <a:avLst/>
          </a:prstGeom>
          <a:noFill/>
        </p:spPr>
        <p:txBody>
          <a:bodyPr wrap="square"/>
          <a:lstStyle/>
          <a:p>
            <a:pPr algn="l"/>
            <a:r>
              <a:rPr sz="800" b="1" i="0">
                <a:solidFill>
                  <a:srgbClr val="0D1F3C"/>
                </a:solidFill>
                <a:latin typeface="Calibri"/>
              </a:rPr>
              <a:t>Week 3</a:t>
            </a:r>
          </a:p>
        </p:txBody>
      </p:sp>
      <p:sp>
        <p:nvSpPr>
          <p:cNvPr id="42" name="TextBox 41"/>
          <p:cNvSpPr txBox="1"/>
          <p:nvPr/>
        </p:nvSpPr>
        <p:spPr>
          <a:xfrm>
            <a:off x="5815584" y="3803904"/>
            <a:ext cx="3054096" cy="256032"/>
          </a:xfrm>
          <a:prstGeom prst="rect">
            <a:avLst/>
          </a:prstGeom>
          <a:noFill/>
        </p:spPr>
        <p:txBody>
          <a:bodyPr wrap="square"/>
          <a:lstStyle/>
          <a:p>
            <a:pPr algn="l"/>
            <a:r>
              <a:rPr sz="800" b="0" i="0">
                <a:solidFill>
                  <a:srgbClr val="1E293B"/>
                </a:solidFill>
                <a:latin typeface="Calibri"/>
              </a:rPr>
              <a:t>Google review request system activated</a:t>
            </a:r>
          </a:p>
        </p:txBody>
      </p:sp>
      <p:sp>
        <p:nvSpPr>
          <p:cNvPr id="43" name="Rectangle 42"/>
          <p:cNvSpPr/>
          <p:nvPr/>
        </p:nvSpPr>
        <p:spPr>
          <a:xfrm>
            <a:off x="4590288" y="4151376"/>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937760" y="4160520"/>
            <a:ext cx="804672" cy="256032"/>
          </a:xfrm>
          <a:prstGeom prst="rect">
            <a:avLst/>
          </a:prstGeom>
          <a:noFill/>
        </p:spPr>
        <p:txBody>
          <a:bodyPr wrap="square"/>
          <a:lstStyle/>
          <a:p>
            <a:pPr algn="l"/>
            <a:r>
              <a:rPr sz="800" b="1" i="0">
                <a:solidFill>
                  <a:srgbClr val="0D1F3C"/>
                </a:solidFill>
                <a:latin typeface="Calibri"/>
              </a:rPr>
              <a:t>Month 3</a:t>
            </a:r>
          </a:p>
        </p:txBody>
      </p:sp>
      <p:sp>
        <p:nvSpPr>
          <p:cNvPr id="45" name="TextBox 44"/>
          <p:cNvSpPr txBox="1"/>
          <p:nvPr/>
        </p:nvSpPr>
        <p:spPr>
          <a:xfrm>
            <a:off x="5815584" y="4160520"/>
            <a:ext cx="3054096" cy="256032"/>
          </a:xfrm>
          <a:prstGeom prst="rect">
            <a:avLst/>
          </a:prstGeom>
          <a:noFill/>
        </p:spPr>
        <p:txBody>
          <a:bodyPr wrap="square"/>
          <a:lstStyle/>
          <a:p>
            <a:pPr algn="l"/>
            <a:r>
              <a:rPr sz="800" b="0" i="0">
                <a:solidFill>
                  <a:srgbClr val="1E293B"/>
                </a:solidFill>
                <a:latin typeface="Calibri"/>
              </a:rPr>
              <a:t>ROI dashboard live + review velocity targets set</a:t>
            </a:r>
          </a:p>
        </p:txBody>
      </p:sp>
      <p:sp>
        <p:nvSpPr>
          <p:cNvPr id="46" name="Rectangle 45"/>
          <p:cNvSpPr/>
          <p:nvPr/>
        </p:nvSpPr>
        <p:spPr>
          <a:xfrm>
            <a:off x="0" y="4425696"/>
            <a:ext cx="9144000" cy="402336"/>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74320" y="4425696"/>
            <a:ext cx="8595360" cy="402336"/>
          </a:xfrm>
          <a:prstGeom prst="rect">
            <a:avLst/>
          </a:prstGeom>
          <a:noFill/>
        </p:spPr>
        <p:txBody>
          <a:bodyPr wrap="square"/>
          <a:lstStyle/>
          <a:p>
            <a:pPr algn="ctr"/>
            <a:r>
              <a:rPr sz="900" b="0" i="1">
                <a:solidFill>
                  <a:srgbClr val="8BADD0"/>
                </a:solidFill>
                <a:latin typeface="Calibri"/>
              </a:rPr>
              <a:t>"The cases are in this market. The team is already in place. The only thing missing is the system that turns this firm's reputation into revenue -- and that is exactly what we build."</a:t>
            </a:r>
          </a:p>
        </p:txBody>
      </p:sp>
      <p:sp>
        <p:nvSpPr>
          <p:cNvPr id="48" name="Rectangle 47"/>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smb_team_logo.png"/>
          <p:cNvPicPr>
            <a:picLocks noChangeAspect="1"/>
          </p:cNvPicPr>
          <p:nvPr/>
        </p:nvPicPr>
        <p:blipFill>
          <a:blip r:embed="rId2"/>
          <a:stretch>
            <a:fillRect/>
          </a:stretch>
        </p:blipFill>
        <p:spPr>
          <a:xfrm>
            <a:off x="201168" y="4837176"/>
            <a:ext cx="1170432" cy="237744"/>
          </a:xfrm>
          <a:prstGeom prst="rect">
            <a:avLst/>
          </a:prstGeom>
        </p:spPr>
      </p:pic>
      <p:sp>
        <p:nvSpPr>
          <p:cNvPr id="50" name="TextBox 49"/>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Nick Holderman | SMB Team</a:t>
            </a:r>
          </a:p>
        </p:txBody>
      </p:sp>
      <p:sp>
        <p:nvSpPr>
          <p:cNvPr id="51" name="TextBox 50"/>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