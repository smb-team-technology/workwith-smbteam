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TOMES LAW FIRM, PC</a:t>
            </a:r>
          </a:p>
        </p:txBody>
      </p:sp>
      <p:sp>
        <p:nvSpPr>
          <p:cNvPr id="4" name="TextBox 3"/>
          <p:cNvSpPr txBox="1"/>
          <p:nvPr/>
        </p:nvSpPr>
        <p:spPr>
          <a:xfrm>
            <a:off x="292608" y="310896"/>
            <a:ext cx="8595360" cy="548640"/>
          </a:xfrm>
          <a:prstGeom prst="rect">
            <a:avLst/>
          </a:prstGeom>
          <a:noFill/>
        </p:spPr>
        <p:txBody>
          <a:bodyPr wrap="square"/>
          <a:lstStyle/>
          <a:p>
            <a:pPr algn="l"/>
            <a:r>
              <a:rPr sz="2400" b="1" i="0">
                <a:solidFill>
                  <a:srgbClr val="FFFFFF"/>
                </a:solidFill>
                <a:latin typeface="Calibri"/>
              </a:rPr>
              <a:t>Where Tomes Law Firm, PC Stands Today</a:t>
            </a:r>
          </a:p>
        </p:txBody>
      </p:sp>
      <p:sp>
        <p:nvSpPr>
          <p:cNvPr id="5" name="Rectangle 4"/>
          <p:cNvSpPr/>
          <p:nvPr/>
        </p:nvSpPr>
        <p:spPr>
          <a:xfrm>
            <a:off x="0" y="960120"/>
            <a:ext cx="146304" cy="3867912"/>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1005840"/>
            <a:ext cx="1298448" cy="841248"/>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1005840"/>
            <a:ext cx="1298448" cy="566928"/>
          </a:xfrm>
          <a:prstGeom prst="rect">
            <a:avLst/>
          </a:prstGeom>
          <a:noFill/>
        </p:spPr>
        <p:txBody>
          <a:bodyPr wrap="square"/>
          <a:lstStyle/>
          <a:p>
            <a:pPr algn="ctr"/>
            <a:r>
              <a:rPr sz="2800" b="1" i="0">
                <a:solidFill>
                  <a:srgbClr val="FFFFFF"/>
                </a:solidFill>
                <a:latin typeface="Calibri"/>
              </a:rPr>
              <a:t>5</a:t>
            </a:r>
          </a:p>
        </p:txBody>
      </p:sp>
      <p:sp>
        <p:nvSpPr>
          <p:cNvPr id="8" name="TextBox 7"/>
          <p:cNvSpPr txBox="1"/>
          <p:nvPr/>
        </p:nvSpPr>
        <p:spPr>
          <a:xfrm>
            <a:off x="256032" y="1572768"/>
            <a:ext cx="1298448" cy="274320"/>
          </a:xfrm>
          <a:prstGeom prst="rect">
            <a:avLst/>
          </a:prstGeom>
          <a:noFill/>
        </p:spPr>
        <p:txBody>
          <a:bodyPr wrap="square"/>
          <a:lstStyle/>
          <a:p>
            <a:pPr algn="ctr"/>
            <a:r>
              <a:rPr sz="600" b="1" i="0">
                <a:solidFill>
                  <a:srgbClr val="FFFFFF"/>
                </a:solidFill>
                <a:latin typeface="Calibri"/>
              </a:rPr>
              <a:t>COMPETITIVE URGENCY</a:t>
            </a:r>
          </a:p>
        </p:txBody>
      </p:sp>
      <p:sp>
        <p:nvSpPr>
          <p:cNvPr id="9" name="Rectangle 8"/>
          <p:cNvSpPr/>
          <p:nvPr/>
        </p:nvSpPr>
        <p:spPr>
          <a:xfrm>
            <a:off x="1682496"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82496"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37360" y="1188720"/>
            <a:ext cx="694944" cy="237744"/>
          </a:xfrm>
          <a:prstGeom prst="rect">
            <a:avLst/>
          </a:prstGeom>
          <a:noFill/>
        </p:spPr>
        <p:txBody>
          <a:bodyPr wrap="square"/>
          <a:lstStyle/>
          <a:p>
            <a:pPr algn="l"/>
            <a:r>
              <a:rPr sz="800" b="1" i="0">
                <a:solidFill>
                  <a:srgbClr val="FFFFFF"/>
                </a:solidFill>
                <a:latin typeface="Calibri"/>
              </a:rPr>
              <a:t>Lead Generation</a:t>
            </a:r>
          </a:p>
        </p:txBody>
      </p:sp>
      <p:sp>
        <p:nvSpPr>
          <p:cNvPr id="12" name="TextBox 11"/>
          <p:cNvSpPr txBox="1"/>
          <p:nvPr/>
        </p:nvSpPr>
        <p:spPr>
          <a:xfrm>
            <a:off x="1737360" y="1417320"/>
            <a:ext cx="694944" cy="182880"/>
          </a:xfrm>
          <a:prstGeom prst="rect">
            <a:avLst/>
          </a:prstGeom>
          <a:noFill/>
        </p:spPr>
        <p:txBody>
          <a:bodyPr wrap="square"/>
          <a:lstStyle/>
          <a:p>
            <a:pPr algn="l"/>
            <a:r>
              <a:rPr sz="700" b="1" i="0">
                <a:solidFill>
                  <a:srgbClr val="D97706"/>
                </a:solidFill>
                <a:latin typeface="Calibri"/>
              </a:rPr>
              <a:t>AMBER</a:t>
            </a:r>
          </a:p>
        </p:txBody>
      </p:sp>
      <p:sp>
        <p:nvSpPr>
          <p:cNvPr id="13" name="TextBox 12"/>
          <p:cNvSpPr txBox="1"/>
          <p:nvPr/>
        </p:nvSpPr>
        <p:spPr>
          <a:xfrm>
            <a:off x="1737360" y="1591056"/>
            <a:ext cx="694944" cy="237744"/>
          </a:xfrm>
          <a:prstGeom prst="rect">
            <a:avLst/>
          </a:prstGeom>
          <a:noFill/>
        </p:spPr>
        <p:txBody>
          <a:bodyPr wrap="square"/>
          <a:lstStyle/>
          <a:p>
            <a:pPr algn="l"/>
            <a:r>
              <a:rPr sz="700" b="0" i="0">
                <a:solidFill>
                  <a:srgbClr val="8BADD0"/>
                </a:solidFill>
                <a:latin typeface="Calibri"/>
              </a:rPr>
              <a:t>No defined channel</a:t>
            </a:r>
          </a:p>
        </p:txBody>
      </p:sp>
      <p:sp>
        <p:nvSpPr>
          <p:cNvPr id="14" name="Rectangle 13"/>
          <p:cNvSpPr/>
          <p:nvPr/>
        </p:nvSpPr>
        <p:spPr>
          <a:xfrm>
            <a:off x="2542032"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42032"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1188720"/>
            <a:ext cx="694944" cy="237744"/>
          </a:xfrm>
          <a:prstGeom prst="rect">
            <a:avLst/>
          </a:prstGeom>
          <a:noFill/>
        </p:spPr>
        <p:txBody>
          <a:bodyPr wrap="square"/>
          <a:lstStyle/>
          <a:p>
            <a:pPr algn="l"/>
            <a:r>
              <a:rPr sz="800" b="1" i="0">
                <a:solidFill>
                  <a:srgbClr val="FFFFFF"/>
                </a:solidFill>
                <a:latin typeface="Calibri"/>
              </a:rPr>
              <a:t>Intake</a:t>
            </a:r>
          </a:p>
        </p:txBody>
      </p:sp>
      <p:sp>
        <p:nvSpPr>
          <p:cNvPr id="17" name="TextBox 16"/>
          <p:cNvSpPr txBox="1"/>
          <p:nvPr/>
        </p:nvSpPr>
        <p:spPr>
          <a:xfrm>
            <a:off x="2596896" y="1417320"/>
            <a:ext cx="694944" cy="182880"/>
          </a:xfrm>
          <a:prstGeom prst="rect">
            <a:avLst/>
          </a:prstGeom>
          <a:noFill/>
        </p:spPr>
        <p:txBody>
          <a:bodyPr wrap="square"/>
          <a:lstStyle/>
          <a:p>
            <a:pPr algn="l"/>
            <a:r>
              <a:rPr sz="700" b="1" i="0">
                <a:solidFill>
                  <a:srgbClr val="C0392B"/>
                </a:solidFill>
                <a:latin typeface="Calibri"/>
              </a:rPr>
              <a:t>CRITICAL</a:t>
            </a:r>
          </a:p>
        </p:txBody>
      </p:sp>
      <p:sp>
        <p:nvSpPr>
          <p:cNvPr id="18" name="TextBox 17"/>
          <p:cNvSpPr txBox="1"/>
          <p:nvPr/>
        </p:nvSpPr>
        <p:spPr>
          <a:xfrm>
            <a:off x="2596896" y="1591056"/>
            <a:ext cx="694944" cy="237744"/>
          </a:xfrm>
          <a:prstGeom prst="rect">
            <a:avLst/>
          </a:prstGeom>
          <a:noFill/>
        </p:spPr>
        <p:txBody>
          <a:bodyPr wrap="square"/>
          <a:lstStyle/>
          <a:p>
            <a:pPr algn="l"/>
            <a:r>
              <a:rPr sz="700" b="0" i="0">
                <a:solidFill>
                  <a:srgbClr val="8BADD0"/>
                </a:solidFill>
                <a:latin typeface="Calibri"/>
              </a:rPr>
              <a:t>No intake process</a:t>
            </a:r>
          </a:p>
        </p:txBody>
      </p:sp>
      <p:sp>
        <p:nvSpPr>
          <p:cNvPr id="19" name="Rectangle 18"/>
          <p:cNvSpPr/>
          <p:nvPr/>
        </p:nvSpPr>
        <p:spPr>
          <a:xfrm>
            <a:off x="3401568"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01568"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56432" y="1188720"/>
            <a:ext cx="694944" cy="237744"/>
          </a:xfrm>
          <a:prstGeom prst="rect">
            <a:avLst/>
          </a:prstGeom>
          <a:noFill/>
        </p:spPr>
        <p:txBody>
          <a:bodyPr wrap="square"/>
          <a:lstStyle/>
          <a:p>
            <a:pPr algn="l"/>
            <a:r>
              <a:rPr sz="800" b="1" i="0">
                <a:solidFill>
                  <a:srgbClr val="FFFFFF"/>
                </a:solidFill>
                <a:latin typeface="Calibri"/>
              </a:rPr>
              <a:t>Team</a:t>
            </a:r>
          </a:p>
        </p:txBody>
      </p:sp>
      <p:sp>
        <p:nvSpPr>
          <p:cNvPr id="22" name="TextBox 21"/>
          <p:cNvSpPr txBox="1"/>
          <p:nvPr/>
        </p:nvSpPr>
        <p:spPr>
          <a:xfrm>
            <a:off x="3456432" y="1417320"/>
            <a:ext cx="694944" cy="182880"/>
          </a:xfrm>
          <a:prstGeom prst="rect">
            <a:avLst/>
          </a:prstGeom>
          <a:noFill/>
        </p:spPr>
        <p:txBody>
          <a:bodyPr wrap="square"/>
          <a:lstStyle/>
          <a:p>
            <a:pPr algn="l"/>
            <a:r>
              <a:rPr sz="700" b="1" i="0">
                <a:solidFill>
                  <a:srgbClr val="C0392B"/>
                </a:solidFill>
                <a:latin typeface="Calibri"/>
              </a:rPr>
              <a:t>CRITICAL</a:t>
            </a:r>
          </a:p>
        </p:txBody>
      </p:sp>
      <p:sp>
        <p:nvSpPr>
          <p:cNvPr id="23" name="TextBox 22"/>
          <p:cNvSpPr txBox="1"/>
          <p:nvPr/>
        </p:nvSpPr>
        <p:spPr>
          <a:xfrm>
            <a:off x="3456432" y="1591056"/>
            <a:ext cx="694944" cy="237744"/>
          </a:xfrm>
          <a:prstGeom prst="rect">
            <a:avLst/>
          </a:prstGeom>
          <a:noFill/>
        </p:spPr>
        <p:txBody>
          <a:bodyPr wrap="square"/>
          <a:lstStyle/>
          <a:p>
            <a:pPr algn="l"/>
            <a:r>
              <a:rPr sz="700" b="0" i="0">
                <a:solidFill>
                  <a:srgbClr val="8BADD0"/>
                </a:solidFill>
                <a:latin typeface="Calibri"/>
              </a:rPr>
              <a:t>Constant oversight</a:t>
            </a:r>
          </a:p>
        </p:txBody>
      </p:sp>
      <p:sp>
        <p:nvSpPr>
          <p:cNvPr id="24" name="Rectangle 23"/>
          <p:cNvSpPr/>
          <p:nvPr/>
        </p:nvSpPr>
        <p:spPr>
          <a:xfrm>
            <a:off x="4261104"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61104"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15968" y="1188720"/>
            <a:ext cx="694944" cy="237744"/>
          </a:xfrm>
          <a:prstGeom prst="rect">
            <a:avLst/>
          </a:prstGeom>
          <a:noFill/>
        </p:spPr>
        <p:txBody>
          <a:bodyPr wrap="square"/>
          <a:lstStyle/>
          <a:p>
            <a:pPr algn="l"/>
            <a:r>
              <a:rPr sz="800" b="1" i="0">
                <a:solidFill>
                  <a:srgbClr val="FFFFFF"/>
                </a:solidFill>
                <a:latin typeface="Calibri"/>
              </a:rPr>
              <a:t>Profit Plan</a:t>
            </a:r>
          </a:p>
        </p:txBody>
      </p:sp>
      <p:sp>
        <p:nvSpPr>
          <p:cNvPr id="27" name="TextBox 26"/>
          <p:cNvSpPr txBox="1"/>
          <p:nvPr/>
        </p:nvSpPr>
        <p:spPr>
          <a:xfrm>
            <a:off x="4315968" y="1417320"/>
            <a:ext cx="694944" cy="182880"/>
          </a:xfrm>
          <a:prstGeom prst="rect">
            <a:avLst/>
          </a:prstGeom>
          <a:noFill/>
        </p:spPr>
        <p:txBody>
          <a:bodyPr wrap="square"/>
          <a:lstStyle/>
          <a:p>
            <a:pPr algn="l"/>
            <a:r>
              <a:rPr sz="700" b="1" i="0">
                <a:solidFill>
                  <a:srgbClr val="C0392B"/>
                </a:solidFill>
                <a:latin typeface="Calibri"/>
              </a:rPr>
              <a:t>CRITICAL</a:t>
            </a:r>
          </a:p>
        </p:txBody>
      </p:sp>
      <p:sp>
        <p:nvSpPr>
          <p:cNvPr id="28" name="TextBox 27"/>
          <p:cNvSpPr txBox="1"/>
          <p:nvPr/>
        </p:nvSpPr>
        <p:spPr>
          <a:xfrm>
            <a:off x="4315968" y="1591056"/>
            <a:ext cx="694944" cy="237744"/>
          </a:xfrm>
          <a:prstGeom prst="rect">
            <a:avLst/>
          </a:prstGeom>
          <a:noFill/>
        </p:spPr>
        <p:txBody>
          <a:bodyPr wrap="square"/>
          <a:lstStyle/>
          <a:p>
            <a:pPr algn="l"/>
            <a:r>
              <a:rPr sz="700" b="0" i="0">
                <a:solidFill>
                  <a:srgbClr val="8BADD0"/>
                </a:solidFill>
                <a:latin typeface="Calibri"/>
              </a:rPr>
              <a:t>No margin data</a:t>
            </a:r>
          </a:p>
        </p:txBody>
      </p:sp>
      <p:sp>
        <p:nvSpPr>
          <p:cNvPr id="29" name="TextBox 28"/>
          <p:cNvSpPr txBox="1"/>
          <p:nvPr/>
        </p:nvSpPr>
        <p:spPr>
          <a:xfrm>
            <a:off x="256032" y="1956816"/>
            <a:ext cx="4846320" cy="219456"/>
          </a:xfrm>
          <a:prstGeom prst="rect">
            <a:avLst/>
          </a:prstGeom>
          <a:noFill/>
        </p:spPr>
        <p:txBody>
          <a:bodyPr wrap="square"/>
          <a:lstStyle/>
          <a:p>
            <a:pPr algn="l"/>
            <a:r>
              <a:rPr sz="800" b="1" i="0">
                <a:solidFill>
                  <a:srgbClr val="F5C400"/>
                </a:solidFill>
                <a:latin typeface="Calibri"/>
              </a:rPr>
              <a:t>KEY FINDINGS</a:t>
            </a:r>
          </a:p>
        </p:txBody>
      </p:sp>
      <p:sp>
        <p:nvSpPr>
          <p:cNvPr id="30" name="Rectangle 29"/>
          <p:cNvSpPr/>
          <p:nvPr/>
        </p:nvSpPr>
        <p:spPr>
          <a:xfrm>
            <a:off x="256032" y="2212848"/>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2386584"/>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2368296"/>
            <a:ext cx="219456" cy="237744"/>
          </a:xfrm>
          <a:prstGeom prst="rect">
            <a:avLst/>
          </a:prstGeom>
          <a:noFill/>
        </p:spPr>
        <p:txBody>
          <a:bodyPr wrap="square"/>
          <a:lstStyle/>
          <a:p>
            <a:pPr algn="ctr"/>
            <a:r>
              <a:rPr sz="900" b="1" i="0">
                <a:solidFill>
                  <a:srgbClr val="FFFFFF"/>
                </a:solidFill>
                <a:latin typeface="Calibri"/>
              </a:rPr>
              <a:t>✕</a:t>
            </a:r>
          </a:p>
        </p:txBody>
      </p:sp>
      <p:sp>
        <p:nvSpPr>
          <p:cNvPr id="33" name="TextBox 32"/>
          <p:cNvSpPr txBox="1"/>
          <p:nvPr/>
        </p:nvSpPr>
        <p:spPr>
          <a:xfrm>
            <a:off x="676656" y="2286000"/>
            <a:ext cx="4352544" cy="420624"/>
          </a:xfrm>
          <a:prstGeom prst="rect">
            <a:avLst/>
          </a:prstGeom>
          <a:noFill/>
        </p:spPr>
        <p:txBody>
          <a:bodyPr wrap="square"/>
          <a:lstStyle/>
          <a:p>
            <a:pPr algn="l"/>
            <a:r>
              <a:rPr sz="1000" b="0" i="0">
                <a:solidFill>
                  <a:srgbClr val="F0BABA"/>
                </a:solidFill>
                <a:latin typeface="Calibri"/>
              </a:rPr>
              <a:t>A 7-person team still needs Frances managing every day</a:t>
            </a:r>
          </a:p>
        </p:txBody>
      </p:sp>
      <p:sp>
        <p:nvSpPr>
          <p:cNvPr id="34" name="Rectangle 33"/>
          <p:cNvSpPr/>
          <p:nvPr/>
        </p:nvSpPr>
        <p:spPr>
          <a:xfrm>
            <a:off x="256032" y="2834640"/>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5760" y="3008376"/>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2990088"/>
            <a:ext cx="219456" cy="237744"/>
          </a:xfrm>
          <a:prstGeom prst="rect">
            <a:avLst/>
          </a:prstGeom>
          <a:noFill/>
        </p:spPr>
        <p:txBody>
          <a:bodyPr wrap="square"/>
          <a:lstStyle/>
          <a:p>
            <a:pPr algn="ctr"/>
            <a:r>
              <a:rPr sz="900" b="1" i="0">
                <a:solidFill>
                  <a:srgbClr val="FFFFFF"/>
                </a:solidFill>
                <a:latin typeface="Calibri"/>
              </a:rPr>
              <a:t>✕</a:t>
            </a:r>
          </a:p>
        </p:txBody>
      </p:sp>
      <p:sp>
        <p:nvSpPr>
          <p:cNvPr id="37" name="TextBox 36"/>
          <p:cNvSpPr txBox="1"/>
          <p:nvPr/>
        </p:nvSpPr>
        <p:spPr>
          <a:xfrm>
            <a:off x="676656" y="2907792"/>
            <a:ext cx="4352544" cy="420624"/>
          </a:xfrm>
          <a:prstGeom prst="rect">
            <a:avLst/>
          </a:prstGeom>
          <a:noFill/>
        </p:spPr>
        <p:txBody>
          <a:bodyPr wrap="square"/>
          <a:lstStyle/>
          <a:p>
            <a:pPr algn="l"/>
            <a:r>
              <a:rPr sz="1000" b="0" i="0">
                <a:solidFill>
                  <a:srgbClr val="F0BABA"/>
                </a:solidFill>
                <a:latin typeface="Calibri"/>
              </a:rPr>
              <a:t>No defined intake process — leads get inconsistent follow-up</a:t>
            </a:r>
          </a:p>
        </p:txBody>
      </p:sp>
      <p:sp>
        <p:nvSpPr>
          <p:cNvPr id="38" name="Rectangle 37"/>
          <p:cNvSpPr/>
          <p:nvPr/>
        </p:nvSpPr>
        <p:spPr>
          <a:xfrm>
            <a:off x="256032" y="3456432"/>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3630168"/>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3611879"/>
            <a:ext cx="219456" cy="237744"/>
          </a:xfrm>
          <a:prstGeom prst="rect">
            <a:avLst/>
          </a:prstGeom>
          <a:noFill/>
        </p:spPr>
        <p:txBody>
          <a:bodyPr wrap="square"/>
          <a:lstStyle/>
          <a:p>
            <a:pPr algn="ctr"/>
            <a:r>
              <a:rPr sz="900" b="1" i="0">
                <a:solidFill>
                  <a:srgbClr val="FFFFFF"/>
                </a:solidFill>
                <a:latin typeface="Calibri"/>
              </a:rPr>
              <a:t>✕</a:t>
            </a:r>
          </a:p>
        </p:txBody>
      </p:sp>
      <p:sp>
        <p:nvSpPr>
          <p:cNvPr id="41" name="TextBox 40"/>
          <p:cNvSpPr txBox="1"/>
          <p:nvPr/>
        </p:nvSpPr>
        <p:spPr>
          <a:xfrm>
            <a:off x="676656" y="3529584"/>
            <a:ext cx="4352544" cy="420624"/>
          </a:xfrm>
          <a:prstGeom prst="rect">
            <a:avLst/>
          </a:prstGeom>
          <a:noFill/>
        </p:spPr>
        <p:txBody>
          <a:bodyPr wrap="square"/>
          <a:lstStyle/>
          <a:p>
            <a:pPr algn="l"/>
            <a:r>
              <a:rPr sz="1000" b="0" i="0">
                <a:solidFill>
                  <a:srgbClr val="F0BABA"/>
                </a:solidFill>
                <a:latin typeface="Calibri"/>
              </a:rPr>
              <a:t>No profit margin or resolved revenue figure exists yet</a:t>
            </a:r>
          </a:p>
        </p:txBody>
      </p:sp>
      <p:sp>
        <p:nvSpPr>
          <p:cNvPr id="42" name="Rectangle 41"/>
          <p:cNvSpPr/>
          <p:nvPr/>
        </p:nvSpPr>
        <p:spPr>
          <a:xfrm>
            <a:off x="256032" y="4078224"/>
            <a:ext cx="4846320" cy="566928"/>
          </a:xfrm>
          <a:prstGeom prst="rect">
            <a:avLst/>
          </a:prstGeom>
          <a:solidFill>
            <a:srgbClr val="0C281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5760" y="4251960"/>
            <a:ext cx="219456" cy="219456"/>
          </a:xfrm>
          <a:prstGeom prst="rect">
            <a:avLst/>
          </a:prstGeom>
          <a:solidFill>
            <a:srgbClr val="16A3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5760" y="4233672"/>
            <a:ext cx="219456" cy="237744"/>
          </a:xfrm>
          <a:prstGeom prst="rect">
            <a:avLst/>
          </a:prstGeom>
          <a:noFill/>
        </p:spPr>
        <p:txBody>
          <a:bodyPr wrap="square"/>
          <a:lstStyle/>
          <a:p>
            <a:pPr algn="ctr"/>
            <a:r>
              <a:rPr sz="900" b="1" i="0">
                <a:solidFill>
                  <a:srgbClr val="FFFFFF"/>
                </a:solidFill>
                <a:latin typeface="Calibri"/>
              </a:rPr>
              <a:t>✓</a:t>
            </a:r>
          </a:p>
        </p:txBody>
      </p:sp>
      <p:sp>
        <p:nvSpPr>
          <p:cNvPr id="45" name="TextBox 44"/>
          <p:cNvSpPr txBox="1"/>
          <p:nvPr/>
        </p:nvSpPr>
        <p:spPr>
          <a:xfrm>
            <a:off x="676656" y="4151376"/>
            <a:ext cx="4352544" cy="420624"/>
          </a:xfrm>
          <a:prstGeom prst="rect">
            <a:avLst/>
          </a:prstGeom>
          <a:noFill/>
        </p:spPr>
        <p:txBody>
          <a:bodyPr wrap="square"/>
          <a:lstStyle/>
          <a:p>
            <a:pPr algn="l"/>
            <a:r>
              <a:rPr sz="1000" b="0" i="0">
                <a:solidFill>
                  <a:srgbClr val="86EFAC"/>
                </a:solidFill>
                <a:latin typeface="Calibri"/>
              </a:rPr>
              <a:t>99 reviews at 4.9 stars outperforms nearly every named competitor</a:t>
            </a:r>
          </a:p>
        </p:txBody>
      </p:sp>
      <p:sp>
        <p:nvSpPr>
          <p:cNvPr id="46" name="Rectangle 45"/>
          <p:cNvSpPr/>
          <p:nvPr/>
        </p:nvSpPr>
        <p:spPr>
          <a:xfrm>
            <a:off x="5257800" y="960120"/>
            <a:ext cx="3886200" cy="386791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257800" y="1024128"/>
            <a:ext cx="3886200" cy="694944"/>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257800" y="1024128"/>
            <a:ext cx="128016" cy="694944"/>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0" y="1042415"/>
            <a:ext cx="3474720" cy="201168"/>
          </a:xfrm>
          <a:prstGeom prst="rect">
            <a:avLst/>
          </a:prstGeom>
          <a:noFill/>
        </p:spPr>
        <p:txBody>
          <a:bodyPr wrap="square"/>
          <a:lstStyle/>
          <a:p>
            <a:pPr algn="l"/>
            <a:r>
              <a:rPr sz="800" b="1" i="0">
                <a:solidFill>
                  <a:srgbClr val="F5C400"/>
                </a:solidFill>
                <a:latin typeface="Calibri"/>
              </a:rPr>
              <a:t>YOU ARE HERE</a:t>
            </a:r>
          </a:p>
        </p:txBody>
      </p:sp>
      <p:sp>
        <p:nvSpPr>
          <p:cNvPr id="50" name="TextBox 49"/>
          <p:cNvSpPr txBox="1"/>
          <p:nvPr/>
        </p:nvSpPr>
        <p:spPr>
          <a:xfrm>
            <a:off x="5486400" y="1243584"/>
            <a:ext cx="3474720" cy="402336"/>
          </a:xfrm>
          <a:prstGeom prst="rect">
            <a:avLst/>
          </a:prstGeom>
          <a:noFill/>
        </p:spPr>
        <p:txBody>
          <a:bodyPr wrap="square"/>
          <a:lstStyle/>
          <a:p>
            <a:pPr algn="l"/>
            <a:r>
              <a:rPr sz="1000" b="1" i="0">
                <a:solidFill>
                  <a:srgbClr val="FFFFFF"/>
                </a:solidFill>
                <a:latin typeface="Calibri"/>
              </a:rPr>
              <a:t>Stage 4: Small Business Manager  →  Goal: Stage 6, Law Firm Owner</a:t>
            </a:r>
          </a:p>
        </p:txBody>
      </p:sp>
      <p:sp>
        <p:nvSpPr>
          <p:cNvPr id="51" name="TextBox 50"/>
          <p:cNvSpPr txBox="1"/>
          <p:nvPr/>
        </p:nvSpPr>
        <p:spPr>
          <a:xfrm>
            <a:off x="5394960" y="1920240"/>
            <a:ext cx="3566160" cy="219456"/>
          </a:xfrm>
          <a:prstGeom prst="rect">
            <a:avLst/>
          </a:prstGeom>
          <a:noFill/>
        </p:spPr>
        <p:txBody>
          <a:bodyPr wrap="square"/>
          <a:lstStyle/>
          <a:p>
            <a:pPr algn="l"/>
            <a:r>
              <a:rPr sz="800" b="1" i="0">
                <a:solidFill>
                  <a:srgbClr val="64748B"/>
                </a:solidFill>
                <a:latin typeface="Calibri"/>
              </a:rPr>
              <a:t>COMPETITOR LANDSCAPE</a:t>
            </a:r>
          </a:p>
        </p:txBody>
      </p:sp>
      <p:sp>
        <p:nvSpPr>
          <p:cNvPr id="52" name="Rectangle 51"/>
          <p:cNvSpPr/>
          <p:nvPr/>
        </p:nvSpPr>
        <p:spPr>
          <a:xfrm>
            <a:off x="5257800" y="2176272"/>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13248" y="2221991"/>
            <a:ext cx="1828800" cy="219456"/>
          </a:xfrm>
          <a:prstGeom prst="rect">
            <a:avLst/>
          </a:prstGeom>
          <a:noFill/>
        </p:spPr>
        <p:txBody>
          <a:bodyPr wrap="square"/>
          <a:lstStyle/>
          <a:p>
            <a:pPr algn="l"/>
            <a:r>
              <a:rPr sz="800" b="0" i="0">
                <a:solidFill>
                  <a:srgbClr val="1E293B"/>
                </a:solidFill>
                <a:latin typeface="Calibri"/>
              </a:rPr>
              <a:t>Lyons &amp; Associates</a:t>
            </a:r>
          </a:p>
        </p:txBody>
      </p:sp>
      <p:sp>
        <p:nvSpPr>
          <p:cNvPr id="54" name="TextBox 53"/>
          <p:cNvSpPr txBox="1"/>
          <p:nvPr/>
        </p:nvSpPr>
        <p:spPr>
          <a:xfrm>
            <a:off x="7260336" y="2221991"/>
            <a:ext cx="914400" cy="219456"/>
          </a:xfrm>
          <a:prstGeom prst="rect">
            <a:avLst/>
          </a:prstGeom>
          <a:noFill/>
        </p:spPr>
        <p:txBody>
          <a:bodyPr wrap="square"/>
          <a:lstStyle/>
          <a:p>
            <a:pPr algn="l"/>
            <a:r>
              <a:rPr sz="800" b="0" i="0">
                <a:solidFill>
                  <a:srgbClr val="16A34A"/>
                </a:solidFill>
                <a:latin typeface="Calibri"/>
              </a:rPr>
              <a:t>124 reviews</a:t>
            </a:r>
          </a:p>
        </p:txBody>
      </p:sp>
      <p:sp>
        <p:nvSpPr>
          <p:cNvPr id="55" name="TextBox 54"/>
          <p:cNvSpPr txBox="1"/>
          <p:nvPr/>
        </p:nvSpPr>
        <p:spPr>
          <a:xfrm>
            <a:off x="8193024" y="2240279"/>
            <a:ext cx="822960" cy="201168"/>
          </a:xfrm>
          <a:prstGeom prst="rect">
            <a:avLst/>
          </a:prstGeom>
          <a:noFill/>
        </p:spPr>
        <p:txBody>
          <a:bodyPr wrap="square"/>
          <a:lstStyle/>
          <a:p>
            <a:pPr algn="l"/>
            <a:r>
              <a:rPr sz="600" b="0" i="0">
                <a:solidFill>
                  <a:srgbClr val="64748B"/>
                </a:solidFill>
                <a:latin typeface="Calibri"/>
              </a:rPr>
              <a:t>4.6★ · multi-office</a:t>
            </a:r>
          </a:p>
        </p:txBody>
      </p:sp>
      <p:sp>
        <p:nvSpPr>
          <p:cNvPr id="56" name="Rectangle 55"/>
          <p:cNvSpPr/>
          <p:nvPr/>
        </p:nvSpPr>
        <p:spPr>
          <a:xfrm>
            <a:off x="5257800" y="2523744"/>
            <a:ext cx="3886200" cy="31089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13248" y="2569463"/>
            <a:ext cx="1828800" cy="219456"/>
          </a:xfrm>
          <a:prstGeom prst="rect">
            <a:avLst/>
          </a:prstGeom>
          <a:noFill/>
        </p:spPr>
        <p:txBody>
          <a:bodyPr wrap="square"/>
          <a:lstStyle/>
          <a:p>
            <a:pPr algn="l"/>
            <a:r>
              <a:rPr sz="800" b="0" i="0">
                <a:solidFill>
                  <a:srgbClr val="1E293B"/>
                </a:solidFill>
                <a:latin typeface="Calibri"/>
              </a:rPr>
              <a:t>Detzky, Hunter &amp; DeFillippo</a:t>
            </a:r>
          </a:p>
        </p:txBody>
      </p:sp>
      <p:sp>
        <p:nvSpPr>
          <p:cNvPr id="58" name="TextBox 57"/>
          <p:cNvSpPr txBox="1"/>
          <p:nvPr/>
        </p:nvSpPr>
        <p:spPr>
          <a:xfrm>
            <a:off x="7260336" y="2569463"/>
            <a:ext cx="914400" cy="219456"/>
          </a:xfrm>
          <a:prstGeom prst="rect">
            <a:avLst/>
          </a:prstGeom>
          <a:noFill/>
        </p:spPr>
        <p:txBody>
          <a:bodyPr wrap="square"/>
          <a:lstStyle/>
          <a:p>
            <a:pPr algn="l"/>
            <a:r>
              <a:rPr sz="800" b="0" i="0">
                <a:solidFill>
                  <a:srgbClr val="16A34A"/>
                </a:solidFill>
                <a:latin typeface="Calibri"/>
              </a:rPr>
              <a:t>71 reviews</a:t>
            </a:r>
          </a:p>
        </p:txBody>
      </p:sp>
      <p:sp>
        <p:nvSpPr>
          <p:cNvPr id="59" name="TextBox 58"/>
          <p:cNvSpPr txBox="1"/>
          <p:nvPr/>
        </p:nvSpPr>
        <p:spPr>
          <a:xfrm>
            <a:off x="8193024" y="2587751"/>
            <a:ext cx="822960" cy="201168"/>
          </a:xfrm>
          <a:prstGeom prst="rect">
            <a:avLst/>
          </a:prstGeom>
          <a:noFill/>
        </p:spPr>
        <p:txBody>
          <a:bodyPr wrap="square"/>
          <a:lstStyle/>
          <a:p>
            <a:pPr algn="l"/>
            <a:r>
              <a:rPr sz="600" b="0" i="0">
                <a:solidFill>
                  <a:srgbClr val="64748B"/>
                </a:solidFill>
                <a:latin typeface="Calibri"/>
              </a:rPr>
              <a:t>4.9★ · same street</a:t>
            </a:r>
          </a:p>
        </p:txBody>
      </p:sp>
      <p:sp>
        <p:nvSpPr>
          <p:cNvPr id="60" name="Rectangle 59"/>
          <p:cNvSpPr/>
          <p:nvPr/>
        </p:nvSpPr>
        <p:spPr>
          <a:xfrm>
            <a:off x="5257800" y="2871216"/>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13248" y="2916936"/>
            <a:ext cx="1828800" cy="219456"/>
          </a:xfrm>
          <a:prstGeom prst="rect">
            <a:avLst/>
          </a:prstGeom>
          <a:noFill/>
        </p:spPr>
        <p:txBody>
          <a:bodyPr wrap="square"/>
          <a:lstStyle/>
          <a:p>
            <a:pPr algn="l"/>
            <a:r>
              <a:rPr sz="800" b="0" i="0">
                <a:solidFill>
                  <a:srgbClr val="1E293B"/>
                </a:solidFill>
                <a:latin typeface="Calibri"/>
              </a:rPr>
              <a:t>Robert Manchel, Esq.</a:t>
            </a:r>
          </a:p>
        </p:txBody>
      </p:sp>
      <p:sp>
        <p:nvSpPr>
          <p:cNvPr id="62" name="TextBox 61"/>
          <p:cNvSpPr txBox="1"/>
          <p:nvPr/>
        </p:nvSpPr>
        <p:spPr>
          <a:xfrm>
            <a:off x="7260336" y="2916936"/>
            <a:ext cx="914400" cy="219456"/>
          </a:xfrm>
          <a:prstGeom prst="rect">
            <a:avLst/>
          </a:prstGeom>
          <a:noFill/>
        </p:spPr>
        <p:txBody>
          <a:bodyPr wrap="square"/>
          <a:lstStyle/>
          <a:p>
            <a:pPr algn="l"/>
            <a:r>
              <a:rPr sz="800" b="0" i="0">
                <a:solidFill>
                  <a:srgbClr val="16A34A"/>
                </a:solidFill>
                <a:latin typeface="Calibri"/>
              </a:rPr>
              <a:t>45 reviews</a:t>
            </a:r>
          </a:p>
        </p:txBody>
      </p:sp>
      <p:sp>
        <p:nvSpPr>
          <p:cNvPr id="63" name="TextBox 62"/>
          <p:cNvSpPr txBox="1"/>
          <p:nvPr/>
        </p:nvSpPr>
        <p:spPr>
          <a:xfrm>
            <a:off x="8193024" y="2935224"/>
            <a:ext cx="822960" cy="201168"/>
          </a:xfrm>
          <a:prstGeom prst="rect">
            <a:avLst/>
          </a:prstGeom>
          <a:noFill/>
        </p:spPr>
        <p:txBody>
          <a:bodyPr wrap="square"/>
          <a:lstStyle/>
          <a:p>
            <a:pPr algn="l"/>
            <a:r>
              <a:rPr sz="600" b="0" i="0">
                <a:solidFill>
                  <a:srgbClr val="64748B"/>
                </a:solidFill>
                <a:latin typeface="Calibri"/>
              </a:rPr>
              <a:t>5.0★ · bankruptcy-only</a:t>
            </a:r>
          </a:p>
        </p:txBody>
      </p:sp>
      <p:sp>
        <p:nvSpPr>
          <p:cNvPr id="64" name="Rectangle 63"/>
          <p:cNvSpPr/>
          <p:nvPr/>
        </p:nvSpPr>
        <p:spPr>
          <a:xfrm>
            <a:off x="5257800" y="3218688"/>
            <a:ext cx="3886200" cy="310896"/>
          </a:xfrm>
          <a:prstGeom prst="rect">
            <a:avLst/>
          </a:prstGeom>
          <a:solidFill>
            <a:srgbClr val="FFF0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257800" y="3218688"/>
            <a:ext cx="91440" cy="31089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413248" y="3264408"/>
            <a:ext cx="1828800" cy="219456"/>
          </a:xfrm>
          <a:prstGeom prst="rect">
            <a:avLst/>
          </a:prstGeom>
          <a:noFill/>
        </p:spPr>
        <p:txBody>
          <a:bodyPr wrap="square"/>
          <a:lstStyle/>
          <a:p>
            <a:pPr algn="l"/>
            <a:r>
              <a:rPr sz="900" b="1" i="0">
                <a:solidFill>
                  <a:srgbClr val="C0392B"/>
                </a:solidFill>
                <a:latin typeface="Calibri"/>
              </a:rPr>
              <a:t>Tomes Law Firm, PC</a:t>
            </a:r>
          </a:p>
        </p:txBody>
      </p:sp>
      <p:sp>
        <p:nvSpPr>
          <p:cNvPr id="67" name="TextBox 66"/>
          <p:cNvSpPr txBox="1"/>
          <p:nvPr/>
        </p:nvSpPr>
        <p:spPr>
          <a:xfrm>
            <a:off x="7260336" y="3264408"/>
            <a:ext cx="914400" cy="219456"/>
          </a:xfrm>
          <a:prstGeom prst="rect">
            <a:avLst/>
          </a:prstGeom>
          <a:noFill/>
        </p:spPr>
        <p:txBody>
          <a:bodyPr wrap="square"/>
          <a:lstStyle/>
          <a:p>
            <a:pPr algn="l"/>
            <a:r>
              <a:rPr sz="800" b="1" i="0">
                <a:solidFill>
                  <a:srgbClr val="C0392B"/>
                </a:solidFill>
                <a:latin typeface="Calibri"/>
              </a:rPr>
              <a:t>99 reviews</a:t>
            </a:r>
          </a:p>
        </p:txBody>
      </p:sp>
      <p:sp>
        <p:nvSpPr>
          <p:cNvPr id="68" name="TextBox 67"/>
          <p:cNvSpPr txBox="1"/>
          <p:nvPr/>
        </p:nvSpPr>
        <p:spPr>
          <a:xfrm>
            <a:off x="8193024" y="3282696"/>
            <a:ext cx="822960" cy="201168"/>
          </a:xfrm>
          <a:prstGeom prst="rect">
            <a:avLst/>
          </a:prstGeom>
          <a:noFill/>
        </p:spPr>
        <p:txBody>
          <a:bodyPr wrap="square"/>
          <a:lstStyle/>
          <a:p>
            <a:pPr algn="l"/>
            <a:r>
              <a:rPr sz="600" b="0" i="0">
                <a:solidFill>
                  <a:srgbClr val="64748B"/>
                </a:solidFill>
                <a:latin typeface="Calibri"/>
              </a:rPr>
              <a:t>← You are here</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Jonathan Farace | SMB Team</a:t>
            </a:r>
          </a:p>
        </p:txBody>
      </p:sp>
      <p:sp>
        <p:nvSpPr>
          <p:cNvPr id="71" name="TextBox 70"/>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TOMES LAW FIRM, PC</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Growth Plan: 3 Priorities to Run the Firm Without You</a:t>
            </a:r>
          </a:p>
        </p:txBody>
      </p:sp>
      <p:sp>
        <p:nvSpPr>
          <p:cNvPr id="5" name="Rectangle 4"/>
          <p:cNvSpPr/>
          <p:nvPr/>
        </p:nvSpPr>
        <p:spPr>
          <a:xfrm>
            <a:off x="182880" y="1024128"/>
            <a:ext cx="2487168" cy="363931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1042415"/>
            <a:ext cx="2487168" cy="1828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97280"/>
            <a:ext cx="2267712" cy="201168"/>
          </a:xfrm>
          <a:prstGeom prst="rect">
            <a:avLst/>
          </a:prstGeom>
          <a:noFill/>
        </p:spPr>
        <p:txBody>
          <a:bodyPr wrap="square"/>
          <a:lstStyle/>
          <a:p>
            <a:pPr algn="l"/>
            <a:r>
              <a:rPr sz="800" b="1" i="0">
                <a:solidFill>
                  <a:srgbClr val="F5C400"/>
                </a:solidFill>
                <a:latin typeface="Calibri"/>
              </a:rPr>
              <a:t>THE SMB TEAM MODEL</a:t>
            </a:r>
          </a:p>
        </p:txBody>
      </p:sp>
      <p:sp>
        <p:nvSpPr>
          <p:cNvPr id="8" name="TextBox 7"/>
          <p:cNvSpPr txBox="1"/>
          <p:nvPr/>
        </p:nvSpPr>
        <p:spPr>
          <a:xfrm>
            <a:off x="292608" y="1335024"/>
            <a:ext cx="2267712" cy="1572768"/>
          </a:xfrm>
          <a:prstGeom prst="rect">
            <a:avLst/>
          </a:prstGeom>
          <a:noFill/>
        </p:spPr>
        <p:txBody>
          <a:bodyPr wrap="square"/>
          <a:lstStyle/>
          <a:p>
            <a:pPr algn="l"/>
            <a:r>
              <a:rPr sz="900" b="0" i="0">
                <a:solidFill>
                  <a:srgbClr val="A8BFDA"/>
                </a:solidFill>
                <a:latin typeface="Calibri"/>
              </a:rPr>
              <a:t>All four pillars must work together — but right now, the team and intake pillars need to run without Frances before marketing can scale safely. When they do, Frances can finally step away and trust the firm runs.</a:t>
            </a:r>
          </a:p>
        </p:txBody>
      </p:sp>
      <p:sp>
        <p:nvSpPr>
          <p:cNvPr id="9" name="Rectangle 8"/>
          <p:cNvSpPr/>
          <p:nvPr/>
        </p:nvSpPr>
        <p:spPr>
          <a:xfrm>
            <a:off x="182880" y="2999232"/>
            <a:ext cx="2487168" cy="74980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3017520"/>
            <a:ext cx="2286000" cy="274320"/>
          </a:xfrm>
          <a:prstGeom prst="rect">
            <a:avLst/>
          </a:prstGeom>
          <a:noFill/>
        </p:spPr>
        <p:txBody>
          <a:bodyPr wrap="square"/>
          <a:lstStyle/>
          <a:p>
            <a:pPr algn="l"/>
            <a:r>
              <a:rPr sz="1200" b="1" i="0">
                <a:solidFill>
                  <a:srgbClr val="0D1F3C"/>
                </a:solidFill>
                <a:latin typeface="Calibri"/>
              </a:rPr>
              <a:t>60-hour weeks → a firm that runs itself</a:t>
            </a:r>
          </a:p>
        </p:txBody>
      </p:sp>
      <p:sp>
        <p:nvSpPr>
          <p:cNvPr id="11" name="TextBox 10"/>
          <p:cNvSpPr txBox="1"/>
          <p:nvPr/>
        </p:nvSpPr>
        <p:spPr>
          <a:xfrm>
            <a:off x="292608" y="3291840"/>
            <a:ext cx="2286000" cy="402336"/>
          </a:xfrm>
          <a:prstGeom prst="rect">
            <a:avLst/>
          </a:prstGeom>
          <a:noFill/>
        </p:spPr>
        <p:txBody>
          <a:bodyPr wrap="square"/>
          <a:lstStyle/>
          <a:p>
            <a:pPr algn="l"/>
            <a:r>
              <a:rPr sz="900" b="0" i="0">
                <a:solidFill>
                  <a:srgbClr val="0D1F3C"/>
                </a:solidFill>
                <a:latin typeface="Calibri"/>
              </a:rPr>
              <a:t>Step away and trust the team runs</a:t>
            </a:r>
          </a:p>
        </p:txBody>
      </p:sp>
      <p:sp>
        <p:nvSpPr>
          <p:cNvPr id="12" name="Rectangle 11"/>
          <p:cNvSpPr/>
          <p:nvPr/>
        </p:nvSpPr>
        <p:spPr>
          <a:xfrm>
            <a:off x="2816352" y="1024128"/>
            <a:ext cx="2048256" cy="84124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0" y="1042415"/>
            <a:ext cx="457200" cy="274320"/>
          </a:xfrm>
          <a:prstGeom prst="rect">
            <a:avLst/>
          </a:prstGeom>
          <a:noFill/>
        </p:spPr>
        <p:txBody>
          <a:bodyPr wrap="square"/>
          <a:lstStyle/>
          <a:p>
            <a:pPr algn="l"/>
            <a:r>
              <a:rPr sz="1000" b="1" i="0">
                <a:solidFill>
                  <a:srgbClr val="FFFFFF"/>
                </a:solidFill>
                <a:latin typeface="Calibri"/>
              </a:rPr>
              <a:t>01</a:t>
            </a:r>
          </a:p>
        </p:txBody>
      </p:sp>
      <p:sp>
        <p:nvSpPr>
          <p:cNvPr id="14" name="TextBox 13"/>
          <p:cNvSpPr txBox="1"/>
          <p:nvPr/>
        </p:nvSpPr>
        <p:spPr>
          <a:xfrm>
            <a:off x="2926080" y="1316736"/>
            <a:ext cx="1865376" cy="256032"/>
          </a:xfrm>
          <a:prstGeom prst="rect">
            <a:avLst/>
          </a:prstGeom>
          <a:noFill/>
        </p:spPr>
        <p:txBody>
          <a:bodyPr wrap="square"/>
          <a:lstStyle/>
          <a:p>
            <a:pPr algn="l"/>
            <a:r>
              <a:rPr sz="1200" b="1" i="0">
                <a:solidFill>
                  <a:srgbClr val="FFFFFF"/>
                </a:solidFill>
                <a:latin typeface="Calibri"/>
              </a:rPr>
              <a:t>Build a</a:t>
            </a:r>
          </a:p>
        </p:txBody>
      </p:sp>
      <p:sp>
        <p:nvSpPr>
          <p:cNvPr id="15" name="TextBox 14"/>
          <p:cNvSpPr txBox="1"/>
          <p:nvPr/>
        </p:nvSpPr>
        <p:spPr>
          <a:xfrm>
            <a:off x="2926080" y="1554480"/>
            <a:ext cx="1865376" cy="256032"/>
          </a:xfrm>
          <a:prstGeom prst="rect">
            <a:avLst/>
          </a:prstGeom>
          <a:noFill/>
        </p:spPr>
        <p:txBody>
          <a:bodyPr wrap="square"/>
          <a:lstStyle/>
          <a:p>
            <a:pPr algn="l"/>
            <a:r>
              <a:rPr sz="1200" b="1" i="0">
                <a:solidFill>
                  <a:srgbClr val="FFFFFF"/>
                </a:solidFill>
                <a:latin typeface="Calibri"/>
              </a:rPr>
              <a:t>Self-Managing Team</a:t>
            </a:r>
          </a:p>
        </p:txBody>
      </p:sp>
      <p:sp>
        <p:nvSpPr>
          <p:cNvPr id="16" name="Rectangle 15"/>
          <p:cNvSpPr/>
          <p:nvPr/>
        </p:nvSpPr>
        <p:spPr>
          <a:xfrm>
            <a:off x="2816352" y="1865376"/>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07792" y="2084832"/>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54096" y="1920240"/>
            <a:ext cx="1755648" cy="475488"/>
          </a:xfrm>
          <a:prstGeom prst="rect">
            <a:avLst/>
          </a:prstGeom>
          <a:noFill/>
        </p:spPr>
        <p:txBody>
          <a:bodyPr wrap="square"/>
          <a:lstStyle/>
          <a:p>
            <a:pPr algn="l"/>
            <a:r>
              <a:rPr sz="800" b="0" i="0">
                <a:solidFill>
                  <a:srgbClr val="1E293B"/>
                </a:solidFill>
                <a:latin typeface="Calibri"/>
              </a:rPr>
              <a:t>FCOO Advisor audits your team &amp; process</a:t>
            </a:r>
          </a:p>
        </p:txBody>
      </p:sp>
      <p:sp>
        <p:nvSpPr>
          <p:cNvPr id="19" name="Rectangle 18"/>
          <p:cNvSpPr/>
          <p:nvPr/>
        </p:nvSpPr>
        <p:spPr>
          <a:xfrm>
            <a:off x="2816352"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07792" y="2688336"/>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54096" y="2523744"/>
            <a:ext cx="1755648" cy="475488"/>
          </a:xfrm>
          <a:prstGeom prst="rect">
            <a:avLst/>
          </a:prstGeom>
          <a:noFill/>
        </p:spPr>
        <p:txBody>
          <a:bodyPr wrap="square"/>
          <a:lstStyle/>
          <a:p>
            <a:pPr algn="l"/>
            <a:r>
              <a:rPr sz="800" b="0" i="0">
                <a:solidFill>
                  <a:srgbClr val="1E293B"/>
                </a:solidFill>
                <a:latin typeface="Calibri"/>
              </a:rPr>
              <a:t>Replace WhatsApp chaos with one system</a:t>
            </a:r>
          </a:p>
        </p:txBody>
      </p:sp>
      <p:sp>
        <p:nvSpPr>
          <p:cNvPr id="22" name="Rectangle 21"/>
          <p:cNvSpPr/>
          <p:nvPr/>
        </p:nvSpPr>
        <p:spPr>
          <a:xfrm>
            <a:off x="2816352" y="3072384"/>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907792" y="3291839"/>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54096" y="3127248"/>
            <a:ext cx="1755648" cy="475488"/>
          </a:xfrm>
          <a:prstGeom prst="rect">
            <a:avLst/>
          </a:prstGeom>
          <a:noFill/>
        </p:spPr>
        <p:txBody>
          <a:bodyPr wrap="square"/>
          <a:lstStyle/>
          <a:p>
            <a:pPr algn="l"/>
            <a:r>
              <a:rPr sz="800" b="0" i="0">
                <a:solidFill>
                  <a:srgbClr val="1E293B"/>
                </a:solidFill>
                <a:latin typeface="Calibri"/>
              </a:rPr>
              <a:t>Enforce the 180-page manual you built</a:t>
            </a:r>
          </a:p>
        </p:txBody>
      </p:sp>
      <p:sp>
        <p:nvSpPr>
          <p:cNvPr id="25" name="Rectangle 24"/>
          <p:cNvSpPr/>
          <p:nvPr/>
        </p:nvSpPr>
        <p:spPr>
          <a:xfrm>
            <a:off x="2816352"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907792" y="3895344"/>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54096" y="3730751"/>
            <a:ext cx="1755648" cy="475488"/>
          </a:xfrm>
          <a:prstGeom prst="rect">
            <a:avLst/>
          </a:prstGeom>
          <a:noFill/>
        </p:spPr>
        <p:txBody>
          <a:bodyPr wrap="square"/>
          <a:lstStyle/>
          <a:p>
            <a:pPr algn="l"/>
            <a:r>
              <a:rPr sz="800" b="0" i="0">
                <a:solidFill>
                  <a:srgbClr val="1E293B"/>
                </a:solidFill>
                <a:latin typeface="Calibri"/>
              </a:rPr>
              <a:t>Stop retraining — cut turnover for good</a:t>
            </a:r>
          </a:p>
        </p:txBody>
      </p:sp>
      <p:sp>
        <p:nvSpPr>
          <p:cNvPr id="28" name="Rectangle 27"/>
          <p:cNvSpPr/>
          <p:nvPr/>
        </p:nvSpPr>
        <p:spPr>
          <a:xfrm>
            <a:off x="2816352" y="4279392"/>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907792" y="4498848"/>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54096" y="4334255"/>
            <a:ext cx="1755648" cy="475488"/>
          </a:xfrm>
          <a:prstGeom prst="rect">
            <a:avLst/>
          </a:prstGeom>
          <a:noFill/>
        </p:spPr>
        <p:txBody>
          <a:bodyPr wrap="square"/>
          <a:lstStyle/>
          <a:p>
            <a:pPr algn="l"/>
            <a:r>
              <a:rPr sz="800" b="0" i="0">
                <a:solidFill>
                  <a:srgbClr val="1E293B"/>
                </a:solidFill>
                <a:latin typeface="Calibri"/>
              </a:rPr>
              <a:t>A team that runs without you checking in</a:t>
            </a:r>
          </a:p>
        </p:txBody>
      </p:sp>
      <p:sp>
        <p:nvSpPr>
          <p:cNvPr id="31" name="Rectangle 30"/>
          <p:cNvSpPr/>
          <p:nvPr/>
        </p:nvSpPr>
        <p:spPr>
          <a:xfrm>
            <a:off x="4937760" y="1024128"/>
            <a:ext cx="2048256" cy="841248"/>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47488" y="1042415"/>
            <a:ext cx="457200" cy="274320"/>
          </a:xfrm>
          <a:prstGeom prst="rect">
            <a:avLst/>
          </a:prstGeom>
          <a:noFill/>
        </p:spPr>
        <p:txBody>
          <a:bodyPr wrap="square"/>
          <a:lstStyle/>
          <a:p>
            <a:pPr algn="l"/>
            <a:r>
              <a:rPr sz="1000" b="1" i="0">
                <a:solidFill>
                  <a:srgbClr val="FFFFFF"/>
                </a:solidFill>
                <a:latin typeface="Calibri"/>
              </a:rPr>
              <a:t>02</a:t>
            </a:r>
          </a:p>
        </p:txBody>
      </p:sp>
      <p:sp>
        <p:nvSpPr>
          <p:cNvPr id="33" name="TextBox 32"/>
          <p:cNvSpPr txBox="1"/>
          <p:nvPr/>
        </p:nvSpPr>
        <p:spPr>
          <a:xfrm>
            <a:off x="5047488" y="1316736"/>
            <a:ext cx="1865376" cy="256032"/>
          </a:xfrm>
          <a:prstGeom prst="rect">
            <a:avLst/>
          </a:prstGeom>
          <a:noFill/>
        </p:spPr>
        <p:txBody>
          <a:bodyPr wrap="square"/>
          <a:lstStyle/>
          <a:p>
            <a:pPr algn="l"/>
            <a:r>
              <a:rPr sz="1200" b="1" i="0">
                <a:solidFill>
                  <a:srgbClr val="FFFFFF"/>
                </a:solidFill>
                <a:latin typeface="Calibri"/>
              </a:rPr>
              <a:t>Fix Intake &amp;</a:t>
            </a:r>
          </a:p>
        </p:txBody>
      </p:sp>
      <p:sp>
        <p:nvSpPr>
          <p:cNvPr id="34" name="TextBox 33"/>
          <p:cNvSpPr txBox="1"/>
          <p:nvPr/>
        </p:nvSpPr>
        <p:spPr>
          <a:xfrm>
            <a:off x="5047488" y="1554480"/>
            <a:ext cx="1865376" cy="256032"/>
          </a:xfrm>
          <a:prstGeom prst="rect">
            <a:avLst/>
          </a:prstGeom>
          <a:noFill/>
        </p:spPr>
        <p:txBody>
          <a:bodyPr wrap="square"/>
          <a:lstStyle/>
          <a:p>
            <a:pPr algn="l"/>
            <a:r>
              <a:rPr sz="1200" b="1" i="0">
                <a:solidFill>
                  <a:srgbClr val="FFFFFF"/>
                </a:solidFill>
                <a:latin typeface="Calibri"/>
              </a:rPr>
              <a:t>Stop Losing Cases</a:t>
            </a:r>
          </a:p>
        </p:txBody>
      </p:sp>
      <p:sp>
        <p:nvSpPr>
          <p:cNvPr id="35" name="Rectangle 34"/>
          <p:cNvSpPr/>
          <p:nvPr/>
        </p:nvSpPr>
        <p:spPr>
          <a:xfrm>
            <a:off x="4937760" y="1865376"/>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0" y="2084832"/>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75504" y="1920240"/>
            <a:ext cx="1755648" cy="475488"/>
          </a:xfrm>
          <a:prstGeom prst="rect">
            <a:avLst/>
          </a:prstGeom>
          <a:noFill/>
        </p:spPr>
        <p:txBody>
          <a:bodyPr wrap="square"/>
          <a:lstStyle/>
          <a:p>
            <a:pPr algn="l"/>
            <a:r>
              <a:rPr sz="800" b="0" i="0">
                <a:solidFill>
                  <a:srgbClr val="1E293B"/>
                </a:solidFill>
                <a:latin typeface="Calibri"/>
              </a:rPr>
              <a:t>Define what happens after the phone rings</a:t>
            </a:r>
          </a:p>
        </p:txBody>
      </p:sp>
      <p:sp>
        <p:nvSpPr>
          <p:cNvPr id="38" name="Rectangle 37"/>
          <p:cNvSpPr/>
          <p:nvPr/>
        </p:nvSpPr>
        <p:spPr>
          <a:xfrm>
            <a:off x="4937760"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0" y="2688336"/>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75504" y="2523744"/>
            <a:ext cx="1755648" cy="475488"/>
          </a:xfrm>
          <a:prstGeom prst="rect">
            <a:avLst/>
          </a:prstGeom>
          <a:noFill/>
        </p:spPr>
        <p:txBody>
          <a:bodyPr wrap="square"/>
          <a:lstStyle/>
          <a:p>
            <a:pPr algn="l"/>
            <a:r>
              <a:rPr sz="800" b="0" i="0">
                <a:solidFill>
                  <a:srgbClr val="1E293B"/>
                </a:solidFill>
                <a:latin typeface="Calibri"/>
              </a:rPr>
              <a:t>Close the after-hours coverage gap</a:t>
            </a:r>
          </a:p>
        </p:txBody>
      </p:sp>
      <p:sp>
        <p:nvSpPr>
          <p:cNvPr id="41" name="Rectangle 40"/>
          <p:cNvSpPr/>
          <p:nvPr/>
        </p:nvSpPr>
        <p:spPr>
          <a:xfrm>
            <a:off x="4937760" y="3072384"/>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29200" y="3291839"/>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75504" y="3127248"/>
            <a:ext cx="1755648" cy="475488"/>
          </a:xfrm>
          <a:prstGeom prst="rect">
            <a:avLst/>
          </a:prstGeom>
          <a:noFill/>
        </p:spPr>
        <p:txBody>
          <a:bodyPr wrap="square"/>
          <a:lstStyle/>
          <a:p>
            <a:pPr algn="l"/>
            <a:r>
              <a:rPr sz="800" b="0" i="0">
                <a:solidFill>
                  <a:srgbClr val="1E293B"/>
                </a:solidFill>
                <a:latin typeface="Calibri"/>
              </a:rPr>
              <a:t>Convert more of the leads you already have</a:t>
            </a:r>
          </a:p>
        </p:txBody>
      </p:sp>
      <p:sp>
        <p:nvSpPr>
          <p:cNvPr id="44" name="Rectangle 43"/>
          <p:cNvSpPr/>
          <p:nvPr/>
        </p:nvSpPr>
        <p:spPr>
          <a:xfrm>
            <a:off x="4937760"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029200" y="3895344"/>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75504" y="3730751"/>
            <a:ext cx="1755648" cy="475488"/>
          </a:xfrm>
          <a:prstGeom prst="rect">
            <a:avLst/>
          </a:prstGeom>
          <a:noFill/>
        </p:spPr>
        <p:txBody>
          <a:bodyPr wrap="square"/>
          <a:lstStyle/>
          <a:p>
            <a:pPr algn="l"/>
            <a:r>
              <a:rPr sz="800" b="0" i="0">
                <a:solidFill>
                  <a:srgbClr val="1E293B"/>
                </a:solidFill>
                <a:latin typeface="Calibri"/>
              </a:rPr>
              <a:t>No new marketing dollars needed first</a:t>
            </a:r>
          </a:p>
        </p:txBody>
      </p:sp>
      <p:sp>
        <p:nvSpPr>
          <p:cNvPr id="47" name="Rectangle 46"/>
          <p:cNvSpPr/>
          <p:nvPr/>
        </p:nvSpPr>
        <p:spPr>
          <a:xfrm>
            <a:off x="4937760" y="4279392"/>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29200" y="4498848"/>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75504" y="4334255"/>
            <a:ext cx="1755648" cy="475488"/>
          </a:xfrm>
          <a:prstGeom prst="rect">
            <a:avLst/>
          </a:prstGeom>
          <a:noFill/>
        </p:spPr>
        <p:txBody>
          <a:bodyPr wrap="square"/>
          <a:lstStyle/>
          <a:p>
            <a:pPr algn="l"/>
            <a:r>
              <a:rPr sz="800" b="0" i="0">
                <a:solidFill>
                  <a:srgbClr val="1E293B"/>
                </a:solidFill>
                <a:latin typeface="Calibri"/>
              </a:rPr>
              <a:t>Stop chasing leads yourself — trust the process</a:t>
            </a:r>
          </a:p>
        </p:txBody>
      </p:sp>
      <p:sp>
        <p:nvSpPr>
          <p:cNvPr id="50" name="Rectangle 49"/>
          <p:cNvSpPr/>
          <p:nvPr/>
        </p:nvSpPr>
        <p:spPr>
          <a:xfrm>
            <a:off x="7059168" y="1024128"/>
            <a:ext cx="2048256" cy="84124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168896" y="1042415"/>
            <a:ext cx="457200" cy="274320"/>
          </a:xfrm>
          <a:prstGeom prst="rect">
            <a:avLst/>
          </a:prstGeom>
          <a:noFill/>
        </p:spPr>
        <p:txBody>
          <a:bodyPr wrap="square"/>
          <a:lstStyle/>
          <a:p>
            <a:pPr algn="l"/>
            <a:r>
              <a:rPr sz="1000" b="1" i="0">
                <a:solidFill>
                  <a:srgbClr val="FFFFFF"/>
                </a:solidFill>
                <a:latin typeface="Calibri"/>
              </a:rPr>
              <a:t>03</a:t>
            </a:r>
          </a:p>
        </p:txBody>
      </p:sp>
      <p:sp>
        <p:nvSpPr>
          <p:cNvPr id="52" name="TextBox 51"/>
          <p:cNvSpPr txBox="1"/>
          <p:nvPr/>
        </p:nvSpPr>
        <p:spPr>
          <a:xfrm>
            <a:off x="7168896" y="1316736"/>
            <a:ext cx="1865376" cy="256032"/>
          </a:xfrm>
          <a:prstGeom prst="rect">
            <a:avLst/>
          </a:prstGeom>
          <a:noFill/>
        </p:spPr>
        <p:txBody>
          <a:bodyPr wrap="square"/>
          <a:lstStyle/>
          <a:p>
            <a:pPr algn="l"/>
            <a:r>
              <a:rPr sz="1200" b="1" i="0">
                <a:solidFill>
                  <a:srgbClr val="FFFFFF"/>
                </a:solidFill>
                <a:latin typeface="Calibri"/>
              </a:rPr>
              <a:t>Install Profit</a:t>
            </a:r>
          </a:p>
        </p:txBody>
      </p:sp>
      <p:sp>
        <p:nvSpPr>
          <p:cNvPr id="53" name="TextBox 52"/>
          <p:cNvSpPr txBox="1"/>
          <p:nvPr/>
        </p:nvSpPr>
        <p:spPr>
          <a:xfrm>
            <a:off x="7168896" y="1554480"/>
            <a:ext cx="1865376" cy="256032"/>
          </a:xfrm>
          <a:prstGeom prst="rect">
            <a:avLst/>
          </a:prstGeom>
          <a:noFill/>
        </p:spPr>
        <p:txBody>
          <a:bodyPr wrap="square"/>
          <a:lstStyle/>
          <a:p>
            <a:pPr algn="l"/>
            <a:r>
              <a:rPr sz="1200" b="1" i="0">
                <a:solidFill>
                  <a:srgbClr val="FFFFFF"/>
                </a:solidFill>
                <a:latin typeface="Calibri"/>
              </a:rPr>
              <a:t>Visibility</a:t>
            </a:r>
          </a:p>
        </p:txBody>
      </p:sp>
      <p:sp>
        <p:nvSpPr>
          <p:cNvPr id="54" name="Rectangle 53"/>
          <p:cNvSpPr/>
          <p:nvPr/>
        </p:nvSpPr>
        <p:spPr>
          <a:xfrm>
            <a:off x="7059168" y="1865376"/>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150607" y="2084832"/>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296912" y="1920240"/>
            <a:ext cx="1755648" cy="475488"/>
          </a:xfrm>
          <a:prstGeom prst="rect">
            <a:avLst/>
          </a:prstGeom>
          <a:noFill/>
        </p:spPr>
        <p:txBody>
          <a:bodyPr wrap="square"/>
          <a:lstStyle/>
          <a:p>
            <a:pPr algn="l"/>
            <a:r>
              <a:rPr sz="800" b="0" i="0">
                <a:solidFill>
                  <a:srgbClr val="1E293B"/>
                </a:solidFill>
                <a:latin typeface="Calibri"/>
              </a:rPr>
              <a:t>Resolve the $650K vs $250K discrepancy</a:t>
            </a:r>
          </a:p>
        </p:txBody>
      </p:sp>
      <p:sp>
        <p:nvSpPr>
          <p:cNvPr id="57" name="Rectangle 56"/>
          <p:cNvSpPr/>
          <p:nvPr/>
        </p:nvSpPr>
        <p:spPr>
          <a:xfrm>
            <a:off x="7059168"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150607" y="2688336"/>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296912" y="2523744"/>
            <a:ext cx="1755648" cy="475488"/>
          </a:xfrm>
          <a:prstGeom prst="rect">
            <a:avLst/>
          </a:prstGeom>
          <a:noFill/>
        </p:spPr>
        <p:txBody>
          <a:bodyPr wrap="square"/>
          <a:lstStyle/>
          <a:p>
            <a:pPr algn="l"/>
            <a:r>
              <a:rPr sz="800" b="0" i="0">
                <a:solidFill>
                  <a:srgbClr val="1E293B"/>
                </a:solidFill>
                <a:latin typeface="Calibri"/>
              </a:rPr>
              <a:t>Build practice-area case value baselines</a:t>
            </a:r>
          </a:p>
        </p:txBody>
      </p:sp>
      <p:sp>
        <p:nvSpPr>
          <p:cNvPr id="60" name="Rectangle 59"/>
          <p:cNvSpPr/>
          <p:nvPr/>
        </p:nvSpPr>
        <p:spPr>
          <a:xfrm>
            <a:off x="7059168" y="3072384"/>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150607" y="3291839"/>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96912" y="3127248"/>
            <a:ext cx="1755648" cy="475488"/>
          </a:xfrm>
          <a:prstGeom prst="rect">
            <a:avLst/>
          </a:prstGeom>
          <a:noFill/>
        </p:spPr>
        <p:txBody>
          <a:bodyPr wrap="square"/>
          <a:lstStyle/>
          <a:p>
            <a:pPr algn="l"/>
            <a:r>
              <a:rPr sz="800" b="0" i="0">
                <a:solidFill>
                  <a:srgbClr val="1E293B"/>
                </a:solidFill>
                <a:latin typeface="Calibri"/>
              </a:rPr>
              <a:t>Add a Fractional CFO Advisor in Phase 3</a:t>
            </a:r>
          </a:p>
        </p:txBody>
      </p:sp>
      <p:sp>
        <p:nvSpPr>
          <p:cNvPr id="63" name="Rectangle 62"/>
          <p:cNvSpPr/>
          <p:nvPr/>
        </p:nvSpPr>
        <p:spPr>
          <a:xfrm>
            <a:off x="7059168"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150607" y="3895344"/>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296912" y="3730751"/>
            <a:ext cx="1755648" cy="475488"/>
          </a:xfrm>
          <a:prstGeom prst="rect">
            <a:avLst/>
          </a:prstGeom>
          <a:noFill/>
        </p:spPr>
        <p:txBody>
          <a:bodyPr wrap="square"/>
          <a:lstStyle/>
          <a:p>
            <a:pPr algn="l"/>
            <a:r>
              <a:rPr sz="800" b="0" i="0">
                <a:solidFill>
                  <a:srgbClr val="1E293B"/>
                </a:solidFill>
                <a:latin typeface="Calibri"/>
              </a:rPr>
              <a:t>See real margin, not just top-line revenue</a:t>
            </a:r>
          </a:p>
        </p:txBody>
      </p:sp>
      <p:sp>
        <p:nvSpPr>
          <p:cNvPr id="66" name="Rectangle 65"/>
          <p:cNvSpPr/>
          <p:nvPr/>
        </p:nvSpPr>
        <p:spPr>
          <a:xfrm>
            <a:off x="7059168" y="4279392"/>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7150607" y="4498848"/>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296912" y="4334255"/>
            <a:ext cx="1755648" cy="475488"/>
          </a:xfrm>
          <a:prstGeom prst="rect">
            <a:avLst/>
          </a:prstGeom>
          <a:noFill/>
        </p:spPr>
        <p:txBody>
          <a:bodyPr wrap="square"/>
          <a:lstStyle/>
          <a:p>
            <a:pPr algn="l"/>
            <a:r>
              <a:rPr sz="800" b="0" i="0">
                <a:solidFill>
                  <a:srgbClr val="1E293B"/>
                </a:solidFill>
                <a:latin typeface="Calibri"/>
              </a:rPr>
              <a:t>Know your 60-hour weeks are building wealth</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Jonathan Farace | SMB Team</a:t>
            </a:r>
          </a:p>
        </p:txBody>
      </p:sp>
      <p:sp>
        <p:nvSpPr>
          <p:cNvPr id="71" name="TextBox 70"/>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TOMES LAW FIRM, PC</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Investment &amp; What Happens Next</a:t>
            </a:r>
          </a:p>
        </p:txBody>
      </p:sp>
      <p:sp>
        <p:nvSpPr>
          <p:cNvPr id="5" name="Rectangle 4"/>
          <p:cNvSpPr/>
          <p:nvPr/>
        </p:nvSpPr>
        <p:spPr>
          <a:xfrm>
            <a:off x="201168" y="1024128"/>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024128"/>
            <a:ext cx="182880" cy="102412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115568"/>
            <a:ext cx="3803904" cy="201168"/>
          </a:xfrm>
          <a:prstGeom prst="rect">
            <a:avLst/>
          </a:prstGeom>
          <a:noFill/>
        </p:spPr>
        <p:txBody>
          <a:bodyPr wrap="square"/>
          <a:lstStyle/>
          <a:p>
            <a:pPr algn="l"/>
            <a:r>
              <a:rPr sz="800" b="1" i="0">
                <a:solidFill>
                  <a:srgbClr val="6D28D9"/>
                </a:solidFill>
                <a:latin typeface="Calibri"/>
              </a:rPr>
              <a:t>ELITE COACH PLUS + FCOO ADVISOR</a:t>
            </a:r>
          </a:p>
        </p:txBody>
      </p:sp>
      <p:sp>
        <p:nvSpPr>
          <p:cNvPr id="8" name="TextBox 7"/>
          <p:cNvSpPr txBox="1"/>
          <p:nvPr/>
        </p:nvSpPr>
        <p:spPr>
          <a:xfrm>
            <a:off x="475488" y="1298448"/>
            <a:ext cx="1828800" cy="438912"/>
          </a:xfrm>
          <a:prstGeom prst="rect">
            <a:avLst/>
          </a:prstGeom>
          <a:noFill/>
        </p:spPr>
        <p:txBody>
          <a:bodyPr wrap="square"/>
          <a:lstStyle/>
          <a:p>
            <a:pPr algn="l"/>
            <a:r>
              <a:rPr sz="3200" b="1" i="0">
                <a:solidFill>
                  <a:srgbClr val="0D1F3C"/>
                </a:solidFill>
                <a:latin typeface="Calibri"/>
              </a:rPr>
              <a:t>$5,694</a:t>
            </a:r>
          </a:p>
        </p:txBody>
      </p:sp>
      <p:sp>
        <p:nvSpPr>
          <p:cNvPr id="9" name="TextBox 8"/>
          <p:cNvSpPr txBox="1"/>
          <p:nvPr/>
        </p:nvSpPr>
        <p:spPr>
          <a:xfrm>
            <a:off x="1865376" y="1408176"/>
            <a:ext cx="420624" cy="256032"/>
          </a:xfrm>
          <a:prstGeom prst="rect">
            <a:avLst/>
          </a:prstGeom>
          <a:noFill/>
        </p:spPr>
        <p:txBody>
          <a:bodyPr wrap="square"/>
          <a:lstStyle/>
          <a:p>
            <a:pPr algn="l"/>
            <a:r>
              <a:rPr sz="1100" b="0" i="0">
                <a:solidFill>
                  <a:srgbClr val="64748B"/>
                </a:solidFill>
                <a:latin typeface="Calibri"/>
              </a:rPr>
              <a:t>/mo</a:t>
            </a:r>
          </a:p>
        </p:txBody>
      </p:sp>
      <p:sp>
        <p:nvSpPr>
          <p:cNvPr id="10" name="TextBox 9"/>
          <p:cNvSpPr txBox="1"/>
          <p:nvPr/>
        </p:nvSpPr>
        <p:spPr>
          <a:xfrm>
            <a:off x="2322576" y="1426464"/>
            <a:ext cx="914400" cy="237744"/>
          </a:xfrm>
          <a:prstGeom prst="rect">
            <a:avLst/>
          </a:prstGeom>
          <a:noFill/>
        </p:spPr>
        <p:txBody>
          <a:bodyPr wrap="square"/>
          <a:lstStyle/>
          <a:p>
            <a:pPr algn="l"/>
            <a:r>
              <a:rPr sz="1100" b="0" i="0">
                <a:solidFill>
                  <a:srgbClr val="334155"/>
                </a:solidFill>
                <a:latin typeface="Calibri"/>
              </a:rPr>
              <a:t>$7,294/mo</a:t>
            </a:r>
          </a:p>
        </p:txBody>
      </p:sp>
      <p:sp>
        <p:nvSpPr>
          <p:cNvPr id="11" name="Rectangle 10"/>
          <p:cNvSpPr/>
          <p:nvPr/>
        </p:nvSpPr>
        <p:spPr>
          <a:xfrm>
            <a:off x="2322576" y="1527048"/>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1792224"/>
            <a:ext cx="3803904" cy="201168"/>
          </a:xfrm>
          <a:prstGeom prst="rect">
            <a:avLst/>
          </a:prstGeom>
          <a:noFill/>
        </p:spPr>
        <p:txBody>
          <a:bodyPr wrap="square"/>
          <a:lstStyle/>
          <a:p>
            <a:pPr algn="l"/>
            <a:r>
              <a:rPr sz="800" b="0" i="0">
                <a:solidFill>
                  <a:srgbClr val="64748B"/>
                </a:solidFill>
                <a:latin typeface="Calibri"/>
              </a:rPr>
              <a:t>Weekly coaching · FCOO Advisor · Masterminds · Workshops</a:t>
            </a:r>
          </a:p>
        </p:txBody>
      </p:sp>
      <p:sp>
        <p:nvSpPr>
          <p:cNvPr id="13" name="Rectangle 12"/>
          <p:cNvSpPr/>
          <p:nvPr/>
        </p:nvSpPr>
        <p:spPr>
          <a:xfrm>
            <a:off x="201168" y="3255264"/>
            <a:ext cx="4133087" cy="658368"/>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4048" y="3291840"/>
            <a:ext cx="1645920" cy="237744"/>
          </a:xfrm>
          <a:prstGeom prst="rect">
            <a:avLst/>
          </a:prstGeom>
          <a:noFill/>
        </p:spPr>
        <p:txBody>
          <a:bodyPr wrap="square"/>
          <a:lstStyle/>
          <a:p>
            <a:pPr algn="l"/>
            <a:r>
              <a:rPr sz="800" b="1" i="0">
                <a:solidFill>
                  <a:srgbClr val="7CA0C0"/>
                </a:solidFill>
                <a:latin typeface="Calibri"/>
              </a:rPr>
              <a:t>BUNDLE TOTAL</a:t>
            </a:r>
          </a:p>
        </p:txBody>
      </p:sp>
      <p:sp>
        <p:nvSpPr>
          <p:cNvPr id="15" name="TextBox 14"/>
          <p:cNvSpPr txBox="1"/>
          <p:nvPr/>
        </p:nvSpPr>
        <p:spPr>
          <a:xfrm>
            <a:off x="384048" y="3493008"/>
            <a:ext cx="2194560" cy="347472"/>
          </a:xfrm>
          <a:prstGeom prst="rect">
            <a:avLst/>
          </a:prstGeom>
          <a:noFill/>
        </p:spPr>
        <p:txBody>
          <a:bodyPr wrap="square"/>
          <a:lstStyle/>
          <a:p>
            <a:pPr algn="l"/>
            <a:r>
              <a:rPr sz="2200" b="1" i="0">
                <a:solidFill>
                  <a:srgbClr val="F5C400"/>
                </a:solidFill>
                <a:latin typeface="Calibri"/>
              </a:rPr>
              <a:t>$5,694 / mo</a:t>
            </a:r>
          </a:p>
        </p:txBody>
      </p:sp>
      <p:sp>
        <p:nvSpPr>
          <p:cNvPr id="16" name="TextBox 15"/>
          <p:cNvSpPr txBox="1"/>
          <p:nvPr/>
        </p:nvSpPr>
        <p:spPr>
          <a:xfrm>
            <a:off x="2670048" y="3493008"/>
            <a:ext cx="1737360" cy="347472"/>
          </a:xfrm>
          <a:prstGeom prst="rect">
            <a:avLst/>
          </a:prstGeom>
          <a:noFill/>
        </p:spPr>
        <p:txBody>
          <a:bodyPr wrap="square"/>
          <a:lstStyle/>
          <a:p>
            <a:pPr algn="l"/>
            <a:r>
              <a:rPr sz="800" b="0" i="0">
                <a:solidFill>
                  <a:srgbClr val="7CA0C0"/>
                </a:solidFill>
                <a:latin typeface="Calibri"/>
              </a:rPr>
              <a:t>Save $1,600/mo by bundling</a:t>
            </a:r>
          </a:p>
        </p:txBody>
      </p:sp>
      <p:sp>
        <p:nvSpPr>
          <p:cNvPr id="17" name="Rectangle 16"/>
          <p:cNvSpPr/>
          <p:nvPr/>
        </p:nvSpPr>
        <p:spPr>
          <a:xfrm>
            <a:off x="201168" y="3968496"/>
            <a:ext cx="4133087" cy="402336"/>
          </a:xfrm>
          <a:prstGeom prst="rect">
            <a:avLst/>
          </a:prstGeom>
          <a:solidFill>
            <a:srgbClr val="EEF2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9184" y="3995928"/>
            <a:ext cx="3931920" cy="347472"/>
          </a:xfrm>
          <a:prstGeom prst="rect">
            <a:avLst/>
          </a:prstGeom>
          <a:noFill/>
        </p:spPr>
        <p:txBody>
          <a:bodyPr wrap="square"/>
          <a:lstStyle/>
          <a:p>
            <a:pPr algn="l"/>
            <a:r>
              <a:rPr sz="800" b="0" i="0">
                <a:solidFill>
                  <a:srgbClr val="64748B"/>
                </a:solidFill>
                <a:latin typeface="Calibri"/>
              </a:rPr>
              <a:t>No ad spend this phase — lead generation resumes in Phase 2, once operations are stable</a:t>
            </a:r>
          </a:p>
        </p:txBody>
      </p:sp>
      <p:sp>
        <p:nvSpPr>
          <p:cNvPr id="19" name="Rectangle 18"/>
          <p:cNvSpPr/>
          <p:nvPr/>
        </p:nvSpPr>
        <p:spPr>
          <a:xfrm>
            <a:off x="4535424" y="1024128"/>
            <a:ext cx="4407408" cy="1316736"/>
          </a:xfrm>
          <a:prstGeom prst="rect">
            <a:avLst/>
          </a:prstGeom>
          <a:solidFill>
            <a:srgbClr val="ECFD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00016" y="1078992"/>
            <a:ext cx="4133087" cy="219456"/>
          </a:xfrm>
          <a:prstGeom prst="rect">
            <a:avLst/>
          </a:prstGeom>
          <a:noFill/>
        </p:spPr>
        <p:txBody>
          <a:bodyPr wrap="square"/>
          <a:lstStyle/>
          <a:p>
            <a:pPr algn="l"/>
            <a:r>
              <a:rPr sz="800" b="1" i="0">
                <a:solidFill>
                  <a:srgbClr val="065F46"/>
                </a:solidFill>
                <a:latin typeface="Calibri"/>
              </a:rPr>
              <a:t>PROJECTED RETURN ON AD SPEND</a:t>
            </a:r>
          </a:p>
        </p:txBody>
      </p:sp>
      <p:sp>
        <p:nvSpPr>
          <p:cNvPr id="21" name="TextBox 20"/>
          <p:cNvSpPr txBox="1"/>
          <p:nvPr/>
        </p:nvSpPr>
        <p:spPr>
          <a:xfrm>
            <a:off x="4700016" y="1335024"/>
            <a:ext cx="1920240" cy="256032"/>
          </a:xfrm>
          <a:prstGeom prst="rect">
            <a:avLst/>
          </a:prstGeom>
          <a:noFill/>
        </p:spPr>
        <p:txBody>
          <a:bodyPr wrap="square"/>
          <a:lstStyle/>
          <a:p>
            <a:pPr algn="l"/>
            <a:r>
              <a:rPr sz="900" b="1" i="0">
                <a:solidFill>
                  <a:srgbClr val="1E293B"/>
                </a:solidFill>
                <a:latin typeface="Calibri"/>
              </a:rPr>
              <a:t>Average case value:</a:t>
            </a:r>
          </a:p>
        </p:txBody>
      </p:sp>
      <p:sp>
        <p:nvSpPr>
          <p:cNvPr id="22" name="TextBox 21"/>
          <p:cNvSpPr txBox="1"/>
          <p:nvPr/>
        </p:nvSpPr>
        <p:spPr>
          <a:xfrm>
            <a:off x="6729984" y="1335024"/>
            <a:ext cx="2103120" cy="256032"/>
          </a:xfrm>
          <a:prstGeom prst="rect">
            <a:avLst/>
          </a:prstGeom>
          <a:noFill/>
        </p:spPr>
        <p:txBody>
          <a:bodyPr wrap="square"/>
          <a:lstStyle/>
          <a:p>
            <a:pPr algn="l"/>
            <a:r>
              <a:rPr sz="900" b="0" i="0">
                <a:solidFill>
                  <a:srgbClr val="065F46"/>
                </a:solidFill>
                <a:latin typeface="Calibri"/>
              </a:rPr>
              <a:t>Deferred to Phase 2</a:t>
            </a:r>
          </a:p>
        </p:txBody>
      </p:sp>
      <p:sp>
        <p:nvSpPr>
          <p:cNvPr id="23" name="Rectangle 22"/>
          <p:cNvSpPr/>
          <p:nvPr/>
        </p:nvSpPr>
        <p:spPr>
          <a:xfrm>
            <a:off x="4645152" y="1609344"/>
            <a:ext cx="4187952" cy="310896"/>
          </a:xfrm>
          <a:prstGeom prst="rect">
            <a:avLst/>
          </a:prstGeom>
          <a:solidFill>
            <a:srgbClr val="D1FAE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00016" y="1645920"/>
            <a:ext cx="1920240" cy="256032"/>
          </a:xfrm>
          <a:prstGeom prst="rect">
            <a:avLst/>
          </a:prstGeom>
          <a:noFill/>
        </p:spPr>
        <p:txBody>
          <a:bodyPr wrap="square"/>
          <a:lstStyle/>
          <a:p>
            <a:pPr algn="l"/>
            <a:r>
              <a:rPr sz="900" b="1" i="0">
                <a:solidFill>
                  <a:srgbClr val="1E293B"/>
                </a:solidFill>
                <a:latin typeface="Calibri"/>
              </a:rPr>
              <a:t>Phase 1 ad spend:</a:t>
            </a:r>
          </a:p>
        </p:txBody>
      </p:sp>
      <p:sp>
        <p:nvSpPr>
          <p:cNvPr id="25" name="TextBox 24"/>
          <p:cNvSpPr txBox="1"/>
          <p:nvPr/>
        </p:nvSpPr>
        <p:spPr>
          <a:xfrm>
            <a:off x="6729984" y="1645920"/>
            <a:ext cx="2103120" cy="256032"/>
          </a:xfrm>
          <a:prstGeom prst="rect">
            <a:avLst/>
          </a:prstGeom>
          <a:noFill/>
        </p:spPr>
        <p:txBody>
          <a:bodyPr wrap="square"/>
          <a:lstStyle/>
          <a:p>
            <a:pPr algn="l"/>
            <a:r>
              <a:rPr sz="900" b="1" i="0">
                <a:solidFill>
                  <a:srgbClr val="065F46"/>
                </a:solidFill>
                <a:latin typeface="Calibri"/>
              </a:rPr>
              <a:t>$0 — foundation first</a:t>
            </a:r>
          </a:p>
        </p:txBody>
      </p:sp>
      <p:sp>
        <p:nvSpPr>
          <p:cNvPr id="26" name="TextBox 25"/>
          <p:cNvSpPr txBox="1"/>
          <p:nvPr/>
        </p:nvSpPr>
        <p:spPr>
          <a:xfrm>
            <a:off x="4700016" y="1956816"/>
            <a:ext cx="1920240" cy="256032"/>
          </a:xfrm>
          <a:prstGeom prst="rect">
            <a:avLst/>
          </a:prstGeom>
          <a:noFill/>
        </p:spPr>
        <p:txBody>
          <a:bodyPr wrap="square"/>
          <a:lstStyle/>
          <a:p>
            <a:pPr algn="l"/>
            <a:r>
              <a:rPr sz="900" b="1" i="0">
                <a:solidFill>
                  <a:srgbClr val="1E293B"/>
                </a:solidFill>
                <a:latin typeface="Calibri"/>
              </a:rPr>
              <a:t>Phase 2 ad spend:</a:t>
            </a:r>
          </a:p>
        </p:txBody>
      </p:sp>
      <p:sp>
        <p:nvSpPr>
          <p:cNvPr id="27" name="TextBox 26"/>
          <p:cNvSpPr txBox="1"/>
          <p:nvPr/>
        </p:nvSpPr>
        <p:spPr>
          <a:xfrm>
            <a:off x="6729984" y="1956816"/>
            <a:ext cx="2103120" cy="256032"/>
          </a:xfrm>
          <a:prstGeom prst="rect">
            <a:avLst/>
          </a:prstGeom>
          <a:noFill/>
        </p:spPr>
        <p:txBody>
          <a:bodyPr wrap="square"/>
          <a:lstStyle/>
          <a:p>
            <a:pPr algn="l"/>
            <a:r>
              <a:rPr sz="900" b="1" i="0">
                <a:solidFill>
                  <a:srgbClr val="065F46"/>
                </a:solidFill>
                <a:latin typeface="Calibri"/>
              </a:rPr>
              <a:t>Scoped after ops stabilize</a:t>
            </a:r>
          </a:p>
        </p:txBody>
      </p:sp>
      <p:sp>
        <p:nvSpPr>
          <p:cNvPr id="28" name="TextBox 27"/>
          <p:cNvSpPr txBox="1"/>
          <p:nvPr/>
        </p:nvSpPr>
        <p:spPr>
          <a:xfrm>
            <a:off x="4535424" y="2468880"/>
            <a:ext cx="4407408" cy="237744"/>
          </a:xfrm>
          <a:prstGeom prst="rect">
            <a:avLst/>
          </a:prstGeom>
          <a:noFill/>
        </p:spPr>
        <p:txBody>
          <a:bodyPr wrap="square"/>
          <a:lstStyle/>
          <a:p>
            <a:pPr algn="l"/>
            <a:r>
              <a:rPr sz="800" b="1" i="0">
                <a:solidFill>
                  <a:srgbClr val="0D1F3C"/>
                </a:solidFill>
                <a:latin typeface="Calibri"/>
              </a:rPr>
              <a:t>WHAT HAPPENS IN THE FIRST 90 DAYS</a:t>
            </a:r>
          </a:p>
        </p:txBody>
      </p:sp>
      <p:sp>
        <p:nvSpPr>
          <p:cNvPr id="29" name="Rectangle 28"/>
          <p:cNvSpPr/>
          <p:nvPr/>
        </p:nvSpPr>
        <p:spPr>
          <a:xfrm>
            <a:off x="4590288" y="2724912"/>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937760" y="2734056"/>
            <a:ext cx="804672" cy="256032"/>
          </a:xfrm>
          <a:prstGeom prst="rect">
            <a:avLst/>
          </a:prstGeom>
          <a:noFill/>
        </p:spPr>
        <p:txBody>
          <a:bodyPr wrap="square"/>
          <a:lstStyle/>
          <a:p>
            <a:pPr algn="l"/>
            <a:r>
              <a:rPr sz="800" b="1" i="0">
                <a:solidFill>
                  <a:srgbClr val="0D1F3C"/>
                </a:solidFill>
                <a:latin typeface="Calibri"/>
              </a:rPr>
              <a:t>Day 1</a:t>
            </a:r>
          </a:p>
        </p:txBody>
      </p:sp>
      <p:sp>
        <p:nvSpPr>
          <p:cNvPr id="31" name="TextBox 30"/>
          <p:cNvSpPr txBox="1"/>
          <p:nvPr/>
        </p:nvSpPr>
        <p:spPr>
          <a:xfrm>
            <a:off x="5815584" y="2734056"/>
            <a:ext cx="3054096" cy="256032"/>
          </a:xfrm>
          <a:prstGeom prst="rect">
            <a:avLst/>
          </a:prstGeom>
          <a:noFill/>
        </p:spPr>
        <p:txBody>
          <a:bodyPr wrap="square"/>
          <a:lstStyle/>
          <a:p>
            <a:pPr algn="l"/>
            <a:r>
              <a:rPr sz="800" b="0" i="0">
                <a:solidFill>
                  <a:srgbClr val="1E293B"/>
                </a:solidFill>
                <a:latin typeface="Calibri"/>
              </a:rPr>
              <a:t>Elite Coach Plus + FCOO Advisor kickoff</a:t>
            </a:r>
          </a:p>
        </p:txBody>
      </p:sp>
      <p:sp>
        <p:nvSpPr>
          <p:cNvPr id="32" name="Rectangle 31"/>
          <p:cNvSpPr/>
          <p:nvPr/>
        </p:nvSpPr>
        <p:spPr>
          <a:xfrm>
            <a:off x="4590288" y="3081528"/>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937760" y="3090672"/>
            <a:ext cx="804672" cy="256032"/>
          </a:xfrm>
          <a:prstGeom prst="rect">
            <a:avLst/>
          </a:prstGeom>
          <a:noFill/>
        </p:spPr>
        <p:txBody>
          <a:bodyPr wrap="square"/>
          <a:lstStyle/>
          <a:p>
            <a:pPr algn="l"/>
            <a:r>
              <a:rPr sz="800" b="1" i="0">
                <a:solidFill>
                  <a:srgbClr val="0D1F3C"/>
                </a:solidFill>
                <a:latin typeface="Calibri"/>
              </a:rPr>
              <a:t>Day 14</a:t>
            </a:r>
          </a:p>
        </p:txBody>
      </p:sp>
      <p:sp>
        <p:nvSpPr>
          <p:cNvPr id="34" name="TextBox 33"/>
          <p:cNvSpPr txBox="1"/>
          <p:nvPr/>
        </p:nvSpPr>
        <p:spPr>
          <a:xfrm>
            <a:off x="5815584" y="3090672"/>
            <a:ext cx="3054096" cy="256032"/>
          </a:xfrm>
          <a:prstGeom prst="rect">
            <a:avLst/>
          </a:prstGeom>
          <a:noFill/>
        </p:spPr>
        <p:txBody>
          <a:bodyPr wrap="square"/>
          <a:lstStyle/>
          <a:p>
            <a:pPr algn="l"/>
            <a:r>
              <a:rPr sz="800" b="0" i="0">
                <a:solidFill>
                  <a:srgbClr val="1E293B"/>
                </a:solidFill>
                <a:latin typeface="Calibri"/>
              </a:rPr>
              <a:t>FCOO Advisor completes operational audit</a:t>
            </a:r>
          </a:p>
        </p:txBody>
      </p:sp>
      <p:sp>
        <p:nvSpPr>
          <p:cNvPr id="35" name="Rectangle 34"/>
          <p:cNvSpPr/>
          <p:nvPr/>
        </p:nvSpPr>
        <p:spPr>
          <a:xfrm>
            <a:off x="4590288" y="3438144"/>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937760" y="3447287"/>
            <a:ext cx="804672" cy="256032"/>
          </a:xfrm>
          <a:prstGeom prst="rect">
            <a:avLst/>
          </a:prstGeom>
          <a:noFill/>
        </p:spPr>
        <p:txBody>
          <a:bodyPr wrap="square"/>
          <a:lstStyle/>
          <a:p>
            <a:pPr algn="l"/>
            <a:r>
              <a:rPr sz="800" b="1" i="0">
                <a:solidFill>
                  <a:srgbClr val="0D1F3C"/>
                </a:solidFill>
                <a:latin typeface="Calibri"/>
              </a:rPr>
              <a:t>Week 2</a:t>
            </a:r>
          </a:p>
        </p:txBody>
      </p:sp>
      <p:sp>
        <p:nvSpPr>
          <p:cNvPr id="37" name="TextBox 36"/>
          <p:cNvSpPr txBox="1"/>
          <p:nvPr/>
        </p:nvSpPr>
        <p:spPr>
          <a:xfrm>
            <a:off x="5815584" y="3447287"/>
            <a:ext cx="3054096" cy="256032"/>
          </a:xfrm>
          <a:prstGeom prst="rect">
            <a:avLst/>
          </a:prstGeom>
          <a:noFill/>
        </p:spPr>
        <p:txBody>
          <a:bodyPr wrap="square"/>
          <a:lstStyle/>
          <a:p>
            <a:pPr algn="l"/>
            <a:r>
              <a:rPr sz="800" b="0" i="0">
                <a:solidFill>
                  <a:srgbClr val="1E293B"/>
                </a:solidFill>
                <a:latin typeface="Calibri"/>
              </a:rPr>
              <a:t>New accountability system replaces WhatsApp</a:t>
            </a:r>
          </a:p>
        </p:txBody>
      </p:sp>
      <p:sp>
        <p:nvSpPr>
          <p:cNvPr id="38" name="Rectangle 37"/>
          <p:cNvSpPr/>
          <p:nvPr/>
        </p:nvSpPr>
        <p:spPr>
          <a:xfrm>
            <a:off x="4590288" y="3794760"/>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937760" y="3803904"/>
            <a:ext cx="804672" cy="256032"/>
          </a:xfrm>
          <a:prstGeom prst="rect">
            <a:avLst/>
          </a:prstGeom>
          <a:noFill/>
        </p:spPr>
        <p:txBody>
          <a:bodyPr wrap="square"/>
          <a:lstStyle/>
          <a:p>
            <a:pPr algn="l"/>
            <a:r>
              <a:rPr sz="800" b="1" i="0">
                <a:solidFill>
                  <a:srgbClr val="0D1F3C"/>
                </a:solidFill>
                <a:latin typeface="Calibri"/>
              </a:rPr>
              <a:t>Week 3</a:t>
            </a:r>
          </a:p>
        </p:txBody>
      </p:sp>
      <p:sp>
        <p:nvSpPr>
          <p:cNvPr id="40" name="TextBox 39"/>
          <p:cNvSpPr txBox="1"/>
          <p:nvPr/>
        </p:nvSpPr>
        <p:spPr>
          <a:xfrm>
            <a:off x="5815584" y="3803904"/>
            <a:ext cx="3054096" cy="256032"/>
          </a:xfrm>
          <a:prstGeom prst="rect">
            <a:avLst/>
          </a:prstGeom>
          <a:noFill/>
        </p:spPr>
        <p:txBody>
          <a:bodyPr wrap="square"/>
          <a:lstStyle/>
          <a:p>
            <a:pPr algn="l"/>
            <a:r>
              <a:rPr sz="800" b="0" i="0">
                <a:solidFill>
                  <a:srgbClr val="1E293B"/>
                </a:solidFill>
                <a:latin typeface="Calibri"/>
              </a:rPr>
              <a:t>Intake follow-up process defined &amp; live</a:t>
            </a:r>
          </a:p>
        </p:txBody>
      </p:sp>
      <p:sp>
        <p:nvSpPr>
          <p:cNvPr id="41" name="Rectangle 40"/>
          <p:cNvSpPr/>
          <p:nvPr/>
        </p:nvSpPr>
        <p:spPr>
          <a:xfrm>
            <a:off x="4590288" y="4151376"/>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937760" y="4160520"/>
            <a:ext cx="804672" cy="256032"/>
          </a:xfrm>
          <a:prstGeom prst="rect">
            <a:avLst/>
          </a:prstGeom>
          <a:noFill/>
        </p:spPr>
        <p:txBody>
          <a:bodyPr wrap="square"/>
          <a:lstStyle/>
          <a:p>
            <a:pPr algn="l"/>
            <a:r>
              <a:rPr sz="800" b="1" i="0">
                <a:solidFill>
                  <a:srgbClr val="0D1F3C"/>
                </a:solidFill>
                <a:latin typeface="Calibri"/>
              </a:rPr>
              <a:t>Month 3</a:t>
            </a:r>
          </a:p>
        </p:txBody>
      </p:sp>
      <p:sp>
        <p:nvSpPr>
          <p:cNvPr id="43" name="TextBox 42"/>
          <p:cNvSpPr txBox="1"/>
          <p:nvPr/>
        </p:nvSpPr>
        <p:spPr>
          <a:xfrm>
            <a:off x="5815584" y="4160520"/>
            <a:ext cx="3054096" cy="256032"/>
          </a:xfrm>
          <a:prstGeom prst="rect">
            <a:avLst/>
          </a:prstGeom>
          <a:noFill/>
        </p:spPr>
        <p:txBody>
          <a:bodyPr wrap="square"/>
          <a:lstStyle/>
          <a:p>
            <a:pPr algn="l"/>
            <a:r>
              <a:rPr sz="800" b="0" i="0">
                <a:solidFill>
                  <a:srgbClr val="1E293B"/>
                </a:solidFill>
                <a:latin typeface="Calibri"/>
              </a:rPr>
              <a:t>Baseline profit picture established</a:t>
            </a:r>
          </a:p>
        </p:txBody>
      </p:sp>
      <p:sp>
        <p:nvSpPr>
          <p:cNvPr id="44" name="Rectangle 43"/>
          <p:cNvSpPr/>
          <p:nvPr/>
        </p:nvSpPr>
        <p:spPr>
          <a:xfrm>
            <a:off x="0" y="4425696"/>
            <a:ext cx="9144000" cy="402336"/>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74320" y="4425696"/>
            <a:ext cx="8595360" cy="402336"/>
          </a:xfrm>
          <a:prstGeom prst="rect">
            <a:avLst/>
          </a:prstGeom>
          <a:noFill/>
        </p:spPr>
        <p:txBody>
          <a:bodyPr wrap="square"/>
          <a:lstStyle/>
          <a:p>
            <a:pPr algn="ctr"/>
            <a:r>
              <a:rPr sz="900" b="0" i="1">
                <a:solidFill>
                  <a:srgbClr val="8BADD0"/>
                </a:solidFill>
                <a:latin typeface="Calibri"/>
              </a:rPr>
              <a:t>"You take a real vacation, and the cases keep coming in — handled by a team you trust, not one you have to manage from your phone."</a:t>
            </a:r>
          </a:p>
        </p:txBody>
      </p:sp>
      <p:sp>
        <p:nvSpPr>
          <p:cNvPr id="46" name="Rectangle 45"/>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Jonathan Farace | SMB Team</a:t>
            </a:r>
          </a:p>
        </p:txBody>
      </p:sp>
      <p:sp>
        <p:nvSpPr>
          <p:cNvPr id="48" name="TextBox 47"/>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