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THE LAW OFFICES OF DAVID P. SHAPIRO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Where The Law Offices of David P. Shapiro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paid ads confirmed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Form buried, no chat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No mgmt layer yet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16294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Calibri"/>
              </a:rPr>
              <a:t>IN PROGRESS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Calibri"/>
              </a:rPr>
              <a:t>Revenue unconfirmed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No Google Ads or LSA — Sevens Legal captures every emergency search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davidshapiro.com leads to a Baltimore attorney — active lead loss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Calibri"/>
              </a:rPr>
              <a:t>Contact form buried below fold, no after-hours response path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Calibri"/>
              </a:rPr>
              <a:t>4.9 Google stars · 12x Super Lawyers · BBB Torch Award — elite reputation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Stage 4: Small Business Manager  →  Goal: Stage 6, Law Firm Owner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Calibri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Sevens Legal, APC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800+ reviews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SD Best Criminal &amp; DUI 2024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Dod Law, APC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5.0 stars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2023 Trial Lawyer of the Year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sandiegoduilawyers.com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Calibri"/>
              </a:rPr>
              <a:t>N/A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Dedicated DUI PPC capture funnel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Calibri"/>
              </a:rPr>
              <a:t>The Law Offices of David P. Shapiro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Calibri"/>
              </a:rPr>
              <a:t>~204 Google reviews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Calibri"/>
              </a:rPr>
              <a:t>← You are here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Jacob Meissner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THE LAW OFFICES OF DAVID P. SHAPIRO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Growth Plan: 3 Priorities to Become San Diego's #1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Calibri"/>
              </a:rPr>
              <a:t>Lead Generation, Intake, Team, and Profit — all four must work together. When they do, David P. Shapiro becomes the recognized #1 criminal defense firm in San Diego County and the firm runs on systems, not on him alone.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F5C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D1F3C"/>
                </a:solidFill>
                <a:latin typeface="Calibri"/>
              </a:rPr>
              <a:t>Est. $500K → $1M+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D1F3C"/>
                </a:solidFill>
                <a:latin typeface="Calibri"/>
              </a:rPr>
              <a:t>Recognized #1 in San Diego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Turn Google into a criminal case pipeline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Activate LSA — pay per lead, not per click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Fix dead domain, recover lost referrals now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Meta retargeting converts visitors who didn't call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FF6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Close the 4:1 review gap with Sevens Legal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Add above-fold capture to the homepage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Install after-hours response for 2am arrests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Track every lead: source, speed, close rate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Cut response time — first to answer wins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F0FD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0F76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Convert more leads already earned by reputation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Build a management layer below David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Track revenue and margin by practice area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Elevate Partner Molea to operational lead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Establish KPIs and weekly team accountability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F5F3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Know your profit — not just your revenue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Jacob Meissner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5C400"/>
                </a:solidFill>
                <a:latin typeface="Calibri"/>
              </a:rPr>
              <a:t>LAW FIRM GROWTH AUDIT  ·  THE LAW OFFICES OF DAVID P. SHAPIRO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1D4ED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1D4ED8"/>
                </a:solidFill>
                <a:latin typeface="Calibri"/>
              </a:rPr>
              <a:t>FULL SERVICE MARKETING — 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$4,847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$5,697/mo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Google Ads · LSA · Meta Ads · SEO · Website CRO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2139696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" y="2139696"/>
            <a:ext cx="182880" cy="1024128"/>
          </a:xfrm>
          <a:prstGeom prst="rect">
            <a:avLst/>
          </a:prstGeom>
          <a:solidFill>
            <a:srgbClr val="6D28D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231136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D28D9"/>
                </a:solidFill>
                <a:latin typeface="Calibri"/>
              </a:rPr>
              <a:t>ELITE COACH PLUS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2414015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D1F3C"/>
                </a:solidFill>
                <a:latin typeface="Calibri"/>
              </a:rPr>
              <a:t>$3,200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65376" y="2523744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/mo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2576" y="2542032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Calibri"/>
              </a:rPr>
              <a:t>$3,497/mo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2576" y="2642615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907791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Weekly coaching · Masterminds · Workshops · Annual event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Calibri"/>
              </a:rPr>
              <a:t>BUNDLE TOTAL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5C400"/>
                </a:solidFill>
                <a:latin typeface="Calibri"/>
              </a:rPr>
              <a:t>$8,047 / 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Calibri"/>
              </a:rPr>
              <a:t>Save $1,147/mo by bundling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Calibri"/>
              </a:rPr>
              <a:t>+ Recommended ad spend: $5,500–$22,000/mo paid directly to Google/Meta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Calibri"/>
              </a:rPr>
              <a:t>PROJECTED RETURN ON AD SPEND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Average case value: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Calibri"/>
              </a:rPr>
              <a:t>$4,000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Conservative  (2–3 cases/mo):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$10,000 revenue · 1.8× ROAS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Calibri"/>
              </a:rPr>
              <a:t>Aggressive  (12–13 cases/mo):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Calibri"/>
              </a:rPr>
              <a:t>$52,000 revenue · 2.4× ROAS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WHAT HAPPENS IN THE FIRST 90 DAYS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Coaching kickoff + onboarding begins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Day 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Google Ads + LSA campaigns go live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Meta retargeting campaign launches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Week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Homepage capture + after-hours intake live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D1F3C"/>
                </a:solidFill>
                <a:latin typeface="Calibri"/>
              </a:rPr>
              <a:t>Month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Calibri"/>
              </a:rPr>
              <a:t>Review gen: 15–30 new Google reviews/month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Calibri"/>
              </a:rPr>
              <a:t>"16 years of building something exceptional — now it's time to make sure San Diego sees it the moment they need help."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D1F3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Calibri"/>
              </a:rPr>
              <a:t>CONFIDENTIAL  ·  Prepared by Jacob Meissner | SMB Team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Calibri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