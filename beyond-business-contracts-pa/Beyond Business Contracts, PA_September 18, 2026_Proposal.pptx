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8288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BEYOND BUSINESS CONTRACTS, 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65760"/>
            <a:ext cx="63093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Beyond Business Contracts, PA Stands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784848" y="164592"/>
            <a:ext cx="2066543" cy="512064"/>
          </a:xfrm>
          <a:prstGeom prst="rect">
            <a:avLst/>
          </a:prstGeom>
          <a:solidFill>
            <a:srgbClr val="0B4C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31152" y="210312"/>
            <a:ext cx="38404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Poppins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51775" y="274320"/>
            <a:ext cx="14173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1" i="0">
                <a:solidFill>
                  <a:srgbClr val="69CD2B"/>
                </a:solidFill>
                <a:latin typeface="Poppins"/>
              </a:rPr>
              <a:t>COMPETITIVE URGENCY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51775" y="429768"/>
            <a:ext cx="14173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9CC0D6"/>
                </a:solidFill>
                <a:latin typeface="Poppins"/>
              </a:rPr>
              <a:t>Score out of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005840"/>
            <a:ext cx="2066543" cy="36576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3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Lead Generation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3" y="1426464"/>
            <a:ext cx="585216" cy="173736"/>
          </a:xfrm>
          <a:prstGeom prst="roundRect">
            <a:avLst/>
          </a:prstGeom>
          <a:solidFill>
            <a:srgbClr val="FB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3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32D2D"/>
                </a:solidFill>
                <a:latin typeface="Poppins"/>
              </a:rPr>
              <a:t>CRITICAL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3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100% networking, no system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50592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50592" y="1005840"/>
            <a:ext cx="2066543" cy="36576"/>
          </a:xfrm>
          <a:prstGeom prst="rect">
            <a:avLst/>
          </a:prstGeom>
          <a:solidFill>
            <a:srgbClr val="B577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96896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Intake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96896" y="1426464"/>
            <a:ext cx="585216" cy="173736"/>
          </a:xfrm>
          <a:prstGeom prst="roundRect">
            <a:avLst/>
          </a:prstGeom>
          <a:solidFill>
            <a:srgbClr val="FDF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96896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5770B"/>
                </a:solidFill>
                <a:latin typeface="Poppins"/>
              </a:rPr>
              <a:t>AMBER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96896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No documented process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36008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36008" y="1005840"/>
            <a:ext cx="2066543" cy="36576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82312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Team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82312" y="1426464"/>
            <a:ext cx="585216" cy="173736"/>
          </a:xfrm>
          <a:prstGeom prst="roundRect">
            <a:avLst/>
          </a:prstGeom>
          <a:solidFill>
            <a:srgbClr val="FB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2312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32D2D"/>
                </a:solidFill>
                <a:latin typeface="Poppins"/>
              </a:rPr>
              <a:t>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2312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Just owner + 1 part-time VA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80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12280" y="1005840"/>
            <a:ext cx="2066543" cy="36576"/>
          </a:xfrm>
          <a:prstGeom prst="rect">
            <a:avLst/>
          </a:prstGeom>
          <a:solidFill>
            <a:srgbClr val="B577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58584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Profit Plan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58584" y="1426464"/>
            <a:ext cx="585216" cy="173736"/>
          </a:xfrm>
          <a:prstGeom prst="roundRect">
            <a:avLst/>
          </a:prstGeom>
          <a:solidFill>
            <a:srgbClr val="FDF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58584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5770B"/>
                </a:solidFill>
                <a:latin typeface="Poppins"/>
              </a:rPr>
              <a:t>AMBER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58584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No margin visibility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2011680"/>
            <a:ext cx="4297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KEY FINDINGS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267712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2267712"/>
            <a:ext cx="36576" cy="557784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29768" y="2459736"/>
            <a:ext cx="164592" cy="164592"/>
          </a:xfrm>
          <a:prstGeom prst="roundRect">
            <a:avLst/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469270" y="2499238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69270" y="2499238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85800" y="2386584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You are the entire team, carrying litigation and the transactional pivot alone.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2889504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2889504"/>
            <a:ext cx="36576" cy="557784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29768" y="3081528"/>
            <a:ext cx="164592" cy="164592"/>
          </a:xfrm>
          <a:prstGeom prst="roundRect">
            <a:avLst/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469270" y="3121030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69270" y="3121030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85800" y="3008376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New business runs entirely on personal networking, with no digital system to scale beyond your own hours.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511296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4320" y="3511296"/>
            <a:ext cx="36576" cy="557784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29768" y="3703320"/>
            <a:ext cx="164592" cy="164592"/>
          </a:xfrm>
          <a:prstGeom prst="roundRect">
            <a:avLst/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469270" y="3742822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69270" y="3742822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85800" y="3630168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Intake runs through one part-time VA with no documented process or after-hours coverage.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133087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74320" y="4133087"/>
            <a:ext cx="36576" cy="557784"/>
          </a:xfrm>
          <a:prstGeom prst="rect">
            <a:avLst/>
          </a:prstGeom>
          <a:solidFill>
            <a:srgbClr val="3F8F1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29768" y="4325112"/>
            <a:ext cx="164592" cy="164592"/>
          </a:xfrm>
          <a:prstGeom prst="roundRect">
            <a:avLst/>
          </a:prstGeom>
          <a:solidFill>
            <a:srgbClr val="3F8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465978" y="4415637"/>
            <a:ext cx="32918" cy="31273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98896" y="4367905"/>
            <a:ext cx="62545" cy="79005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85800" y="4251959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A 2026 Avvo Client's Choice award and Martindale Client Champion award show real credibility already.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28032" y="2011680"/>
            <a:ext cx="4041648" cy="67665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828032" y="2011680"/>
            <a:ext cx="36576" cy="67665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10912" y="2130552"/>
            <a:ext cx="3675887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YOU ARE HERE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10912" y="2322576"/>
            <a:ext cx="3675887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Stage 3: Solo Practitioner  →  Goal: Stage 6, Law Firm Owner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28032" y="2871216"/>
            <a:ext cx="40416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COMPETITOR LANDSCAPE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28032" y="3127248"/>
            <a:ext cx="4041648" cy="356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992624" y="3127248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B2A38"/>
                </a:solidFill>
                <a:latin typeface="Poppins"/>
              </a:rPr>
              <a:t>Dean &amp; Dean, LLP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38544" y="3127248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3F8F1A"/>
                </a:solidFill>
                <a:latin typeface="Poppins"/>
              </a:rPr>
              <a:t>Established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28431" y="3127248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Real estate/closings leader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28032" y="3529584"/>
            <a:ext cx="4041648" cy="356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992624" y="3529584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B2A38"/>
                </a:solidFill>
                <a:latin typeface="Poppins"/>
              </a:rPr>
              <a:t>Glover Law Firm, PLLC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38544" y="3529584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3F8F1A"/>
                </a:solidFill>
                <a:latin typeface="Poppins"/>
              </a:rPr>
              <a:t>Established reviews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28431" y="3529584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Dominant local legal brand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828032" y="3931920"/>
            <a:ext cx="4041648" cy="356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92624" y="3931920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B2A38"/>
                </a:solidFill>
                <a:latin typeface="Poppins"/>
              </a:rPr>
              <a:t>Michael J. Cooper, P.A.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38544" y="3931920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3F8F1A"/>
                </a:solidFill>
                <a:latin typeface="Poppins"/>
              </a:rPr>
              <a:t>Few reviews found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28431" y="3931920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Business law competitor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28032" y="4334256"/>
            <a:ext cx="4041648" cy="356616"/>
          </a:xfrm>
          <a:prstGeom prst="rect">
            <a:avLst/>
          </a:prstGeom>
          <a:solidFill>
            <a:srgbClr val="FBEEE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828032" y="4334256"/>
            <a:ext cx="36576" cy="356616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992624" y="4334256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 i="0">
                <a:solidFill>
                  <a:srgbClr val="B32D2D"/>
                </a:solidFill>
                <a:latin typeface="Poppins"/>
              </a:rPr>
              <a:t>Beyond Business Contracts, PA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38544" y="4334256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B32D2D"/>
                </a:solidFill>
                <a:latin typeface="Poppins"/>
              </a:rPr>
              <a:t>Not yet verified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28431" y="4334256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← You are here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MICHAEL KOPP | SMB TEAM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8288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BEYOND BUSINESS CONTRACTS, 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65760"/>
            <a:ext cx="8503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Reach a Million-Dollar Firm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212848" cy="228600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2212848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847088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THE SMB TEAM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26464"/>
            <a:ext cx="1847088" cy="1737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B8CDDD"/>
                </a:solidFill>
                <a:latin typeface="Poppins"/>
              </a:rPr>
              <a:t>All four pillars — lead gen, intake, team, and profit — have to work together for sustainable growth. When they do, Tania can finally step back from carrying every case herself.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456432"/>
            <a:ext cx="2212848" cy="1124712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621024"/>
            <a:ext cx="184708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43306"/>
                </a:solidFill>
                <a:latin typeface="Poppins"/>
              </a:rPr>
              <a:t>$250K → $1M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33087"/>
            <a:ext cx="184708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F470C"/>
                </a:solidFill>
                <a:latin typeface="Poppins"/>
              </a:rPr>
              <a:t>Step back and lead as CEO, not caseworker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1005840"/>
            <a:ext cx="2066543" cy="84124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1097280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1316736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Deploy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536192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AI Systems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70048" y="1865376"/>
            <a:ext cx="2066543" cy="512064"/>
          </a:xfrm>
          <a:prstGeom prst="rect">
            <a:avLst/>
          </a:prstGeom>
          <a:solidFill>
            <a:srgbClr val="ECF5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2093976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1965960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Stand up AI workspace + first Skill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70048" y="242316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6352" y="2651760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71800" y="252374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Deploy AI agent for document collection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70048" y="2971800"/>
            <a:ext cx="2066543" cy="512064"/>
          </a:xfrm>
          <a:prstGeom prst="rect">
            <a:avLst/>
          </a:prstGeom>
          <a:solidFill>
            <a:srgbClr val="ECF5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6352" y="3200400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71800" y="307238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Automate deadline tracking for closings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70048" y="352044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816352" y="3749039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71800" y="362102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Add AI-assisted closing coordination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70048" y="4078224"/>
            <a:ext cx="2066543" cy="512064"/>
          </a:xfrm>
          <a:prstGeom prst="rect">
            <a:avLst/>
          </a:prstGeom>
          <a:solidFill>
            <a:srgbClr val="ECF5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16352" y="4306824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71800" y="4178808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Fractional CTO leads the AI rollout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0" y="1005840"/>
            <a:ext cx="2066543" cy="84124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10912" y="1097280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 i="0">
                <a:solidFill>
                  <a:srgbClr val="143306"/>
                </a:solidFill>
                <a:latin typeface="Poppins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10912" y="1316736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Fix Intake &amp;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10912" y="1536192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Stop Losing Cases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46320" y="1865376"/>
            <a:ext cx="2066543" cy="512064"/>
          </a:xfrm>
          <a:prstGeom prst="rect">
            <a:avLst/>
          </a:prstGeom>
          <a:solidFill>
            <a:srgbClr val="ECF7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992624" y="2093976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48072" y="1965960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Document a real intake workflow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242316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992624" y="2651760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48072" y="252374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Add after-hours coverage for inquiries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46320" y="2971800"/>
            <a:ext cx="2066543" cy="512064"/>
          </a:xfrm>
          <a:prstGeom prst="rect">
            <a:avLst/>
          </a:prstGeom>
          <a:solidFill>
            <a:srgbClr val="ECF7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92624" y="3200400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48072" y="307238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Track every lead from call to signed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352044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992624" y="3749039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48072" y="362102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Standardize follow-up for slow responses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46320" y="4078224"/>
            <a:ext cx="2066543" cy="512064"/>
          </a:xfrm>
          <a:prstGeom prst="rect">
            <a:avLst/>
          </a:prstGeom>
          <a:solidFill>
            <a:srgbClr val="ECF7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92624" y="4306824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48072" y="4178808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Turn networking contacts into a pipeline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22592" y="1005840"/>
            <a:ext cx="2066543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87183" y="1097280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87183" y="1316736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Build Team &amp;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87183" y="1536192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Profit Clarity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22592" y="1865376"/>
            <a:ext cx="2066543" cy="512064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168896" y="2093976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24344" y="1965960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Weekly coaching + 90-day game plan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22592" y="242316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168896" y="2651760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24344" y="252374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Map path to hiring first associate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22592" y="2971800"/>
            <a:ext cx="2066543" cy="512064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168896" y="3200400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24344" y="307238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Track margin, not just gross revenue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22592" y="352044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168896" y="3749039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24344" y="362102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Build org structure beyond just 2 people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022592" y="4078224"/>
            <a:ext cx="2066543" cy="512064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168896" y="4306824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24344" y="4178808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Plan next phase: CFO once past $400K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MICHAEL KOPP | SMB TEAM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8288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BEYOND BUSINESS CONTRACTS, 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65760"/>
            <a:ext cx="8503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143000"/>
            <a:ext cx="3584448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AI ACCELERATOR L1 — FRACTIONAL 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335024"/>
            <a:ext cx="17373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$3,297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536192"/>
            <a:ext cx="365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536192"/>
            <a:ext cx="10058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$3,797/mo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1783080"/>
            <a:ext cx="35844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AI workspace · document + deadline agents · closings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05740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057400"/>
            <a:ext cx="36576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2194560"/>
            <a:ext cx="3584448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ELITE COACH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2386584"/>
            <a:ext cx="17373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$2,600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587752"/>
            <a:ext cx="365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587752"/>
            <a:ext cx="10058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$3,497/mo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2834640"/>
            <a:ext cx="35844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Weekly coaching · 90-day plan · practice masterminds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246120"/>
            <a:ext cx="15544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3429000"/>
            <a:ext cx="20116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$5,897 / 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3493008"/>
            <a:ext cx="1463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Save $1,397/mo by bundling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1005840"/>
            <a:ext cx="4297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HAPPENS IN THE FIRST 90 DAYS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133502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00016" y="1417320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01184" y="1385316"/>
            <a:ext cx="685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50992" y="1385316"/>
            <a:ext cx="30632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AI workspace setup begins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1801368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00016" y="188366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01184" y="1851660"/>
            <a:ext cx="685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50992" y="1851660"/>
            <a:ext cx="30632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First AI Skill deployed for documents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2267712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00016" y="2350008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01184" y="2318004"/>
            <a:ext cx="685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50992" y="2318004"/>
            <a:ext cx="30632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Fractional CTO workflow-mapping session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2734056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00016" y="2816352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01184" y="2784348"/>
            <a:ext cx="685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50992" y="2784348"/>
            <a:ext cx="30632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Coaching kickoff + 90-day game plan set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3200400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700016" y="328269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01184" y="3250692"/>
            <a:ext cx="6858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Month 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50992" y="3250692"/>
            <a:ext cx="30632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Deadline tracking &amp; closing coordination live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407408"/>
            <a:ext cx="786384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"A scalable, AI-driven firm that lets me finally step back from litigation — and become the top title attorney in Ocala."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MICHAEL KOPP | SMB TEAM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