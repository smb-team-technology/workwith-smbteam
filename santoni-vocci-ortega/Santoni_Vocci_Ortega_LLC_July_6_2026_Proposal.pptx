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SANTONI, VOCCI &amp; ORTEGA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Where Santoni, Vocci &amp; Ortega LLC Stands Today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46304" cy="3867912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1005840"/>
            <a:ext cx="1298448" cy="841248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1005840"/>
            <a:ext cx="1298448" cy="56692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1572768"/>
            <a:ext cx="1298448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600" b="1" i="0">
                <a:solidFill>
                  <a:srgbClr val="FFFFFF"/>
                </a:solidFill>
                <a:latin typeface="Calibri"/>
              </a:rPr>
              <a:t>COMPETITIVE URGENCY</a:t>
            </a:r>
          </a:p>
        </p:txBody>
      </p:sp>
      <p:sp>
        <p:nvSpPr>
          <p:cNvPr id="9" name="Rectangle 8"/>
          <p:cNvSpPr/>
          <p:nvPr/>
        </p:nvSpPr>
        <p:spPr>
          <a:xfrm>
            <a:off x="1682496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682496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0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Lead Generation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Calibri"/>
              </a:rPr>
              <a:t>CRITICAL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No paid ads observed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42032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42032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96896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Intake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96896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Calibri"/>
              </a:rPr>
              <a:t>CRITICAL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96896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No after-hours coverage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01568" y="1005840"/>
            <a:ext cx="804672" cy="164592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01568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56432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Team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56432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D97706"/>
                </a:solidFill>
                <a:latin typeface="Calibri"/>
              </a:rPr>
              <a:t>AMBER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56432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Partners absorb all ops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61104" y="1005840"/>
            <a:ext cx="804672" cy="164592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61104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15968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Profit Plan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15968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D97706"/>
                </a:solidFill>
                <a:latin typeface="Calibri"/>
              </a:rPr>
              <a:t>AMBER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15968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No profit framework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6032" y="1956816"/>
            <a:ext cx="484632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KEY FINDINGS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6032" y="2212848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" y="2386584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2368296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" y="2286000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No paid ads or LSA — PI leads route to Leppler and Portner &amp; Shure daily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6032" y="2834640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65760" y="3008376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2990088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" y="2907792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No after-hours intake system — ad leads lost before morning response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56032" y="3456432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65760" y="3630168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3611879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6656" y="3529584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NAP address gap across directories suppresses both office profiles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56032" y="4078224"/>
            <a:ext cx="4846320" cy="566928"/>
          </a:xfrm>
          <a:prstGeom prst="rect">
            <a:avLst/>
          </a:prstGeom>
          <a:solidFill>
            <a:srgbClr val="0C281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65760" y="4251960"/>
            <a:ext cx="219456" cy="219456"/>
          </a:xfrm>
          <a:prstGeom prst="rect">
            <a:avLst/>
          </a:prstGeom>
          <a:solidFill>
            <a:srgbClr val="16A34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5760" y="4233672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6656" y="4151376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86EFAC"/>
                </a:solidFill>
                <a:latin typeface="Calibri"/>
              </a:rPr>
              <a:t>102 Google reviews at 4.6 stars + Super Lawyers credentials for all 3 partners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257800" y="960120"/>
            <a:ext cx="3886200" cy="386791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257800" y="1024128"/>
            <a:ext cx="3886200" cy="694944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257800" y="1024128"/>
            <a:ext cx="128016" cy="694944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86400" y="1042415"/>
            <a:ext cx="34747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YOU ARE HERE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0" y="1243584"/>
            <a:ext cx="347472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Stage 4: Small Business Manager  →  Goal: Stage 6, Law Firm Owner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394960" y="1920240"/>
            <a:ext cx="356616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4748B"/>
                </a:solidFill>
                <a:latin typeface="Calibri"/>
              </a:rPr>
              <a:t>COMPETITOR LANDSCAPE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257800" y="2176272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13248" y="2221991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Leppler Injury Law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260336" y="2221991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407 reviews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93024" y="2240279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5.0 stars · PI 3-pack leader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257800" y="2523744"/>
            <a:ext cx="3886200" cy="31089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413248" y="2569463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Portner &amp; Shure, P.A.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260336" y="2569463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133+ reviews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193024" y="2587751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Multi-office · active PPC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257800" y="2871216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413248" y="2916936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Whitney, LLP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260336" y="2916936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15 Yelp reviews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193024" y="2935224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Consumer rights · est. 1992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257800" y="3218688"/>
            <a:ext cx="3886200" cy="310896"/>
          </a:xfrm>
          <a:prstGeom prst="rect">
            <a:avLst/>
          </a:prstGeom>
          <a:solidFill>
            <a:srgbClr val="FFF0F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257800" y="3218688"/>
            <a:ext cx="91440" cy="31089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413248" y="3264408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C0392B"/>
                </a:solidFill>
                <a:latin typeface="Calibri"/>
              </a:rPr>
              <a:t>Santoni, Vocci &amp; Ortega LLC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260336" y="3264408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C0392B"/>
                </a:solidFill>
                <a:latin typeface="Calibri"/>
              </a:rPr>
              <a:t>102 reviews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193024" y="3282696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← You are here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Jacob Meissner | SMB Team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1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SANTONI, VOCCI &amp; ORTEGA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Your Growth Plan: 3 Priorities to Reach $200K/Month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1024128"/>
            <a:ext cx="2487168" cy="363931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" y="1042415"/>
            <a:ext cx="2487168" cy="18288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" y="1097280"/>
            <a:ext cx="2267712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THE SMB TEAM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335024"/>
            <a:ext cx="2267712" cy="15727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A8BFDA"/>
                </a:solidFill>
                <a:latin typeface="Calibri"/>
              </a:rPr>
              <a:t>Lead Generation, Intake, Team, and Profit Plan must all work together or growth stalls. When all four run in sync, Santoni, Vocci &amp; Ortega reaches more of the clients who need them — without Jane, Matthew, or Chelsea personally driving every new client relationship.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2999232"/>
            <a:ext cx="2487168" cy="749808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" y="301752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D1F3C"/>
                </a:solidFill>
                <a:latin typeface="Calibri"/>
              </a:rPr>
              <a:t>$1.2M  →  $2.4M revenue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" y="3291840"/>
            <a:ext cx="228600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D1F3C"/>
                </a:solidFill>
                <a:latin typeface="Calibri"/>
              </a:rPr>
              <a:t>Reach more clients — without more hours from the partners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16352" y="1024128"/>
            <a:ext cx="2048256" cy="841248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0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Build the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Marketing Engine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16352" y="1865376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07792" y="2084832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54096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Turn Google into an inbound client pipeline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16352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907792" y="2688336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54096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Launch LSA — pay only per verified PI call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16352" y="3072384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907792" y="3291839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54096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First-mover paid ads in consumer rights niche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16352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07792" y="3895344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54096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Close the 305-review gap with Leppler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16352" y="4279392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907792" y="4498848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54096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Build city pages for the Baltimore metro area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37760" y="1024128"/>
            <a:ext cx="2048256" cy="841248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47488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47488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Fix Intake &amp;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47488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Stop Losing Cases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937760" y="1865376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029200" y="2084832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75504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Automated after-hours response for web leads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937760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029200" y="2688336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75504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Speed-to-lead: respond in under 5 minutes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937760" y="3072384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029200" y="3291839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175504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Define intake script and follow-up sequence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937760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029200" y="3895344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175504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Hire or designate dedicated intake coordinator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937760" y="4279392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029200" y="4498848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175504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Track lead-to-client rate by marketing channel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059168" y="1024128"/>
            <a:ext cx="2048256" cy="841248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168896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68896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Install Team &amp;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68896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Profit Systems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059168" y="1865376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150607" y="2084832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296912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Separate partner roles from operational work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059168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150607" y="2688336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296912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Set revenue targets and profit distributions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059168" y="3072384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150607" y="3291839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296912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Build team accountability with KPI scorecards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059168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150607" y="3895344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296912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Track cost per case by practice area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059168" y="4279392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150607" y="4498848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296912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Scale firm capacity without scaling partner hours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Jacob Meissner | SMB Team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2 /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SANTONI, VOCCI &amp; ORTEGA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Your Investment &amp; What Happens Next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1024128"/>
            <a:ext cx="4133087" cy="10241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" y="1024128"/>
            <a:ext cx="182880" cy="1024128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115568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1D4ED8"/>
                </a:solidFill>
                <a:latin typeface="Calibri"/>
              </a:rPr>
              <a:t>FULL SERVICE MARKETING — GROWTH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1298448"/>
            <a:ext cx="1828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0D1F3C"/>
                </a:solidFill>
                <a:latin typeface="Calibri"/>
              </a:rPr>
              <a:t>$7,397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65376" y="1408176"/>
            <a:ext cx="42062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/mo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22576" y="1426464"/>
            <a:ext cx="914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$7,997/mo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22576" y="1527048"/>
            <a:ext cx="804672" cy="9144"/>
          </a:xfrm>
          <a:prstGeom prst="rect">
            <a:avLst/>
          </a:prstGeom>
          <a:solidFill>
            <a:srgbClr val="33415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1792224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Website rebuild · Google Ads · LSA · Meta Ads · GBP optimization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1168" y="2139696"/>
            <a:ext cx="4133087" cy="10241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1168" y="2139696"/>
            <a:ext cx="182880" cy="1024128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" y="2231136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D28D9"/>
                </a:solidFill>
                <a:latin typeface="Calibri"/>
              </a:rPr>
              <a:t>ELITE COACH PLUS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2414015"/>
            <a:ext cx="1828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0D1F3C"/>
                </a:solidFill>
                <a:latin typeface="Calibri"/>
              </a:rPr>
              <a:t>$3,200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65376" y="2523744"/>
            <a:ext cx="42062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/mo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22576" y="2542032"/>
            <a:ext cx="914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$3,497/mo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22576" y="2642615"/>
            <a:ext cx="804672" cy="9144"/>
          </a:xfrm>
          <a:prstGeom prst="rect">
            <a:avLst/>
          </a:prstGeom>
          <a:solidFill>
            <a:srgbClr val="33415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" y="2907791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Weekly coaching · Intake framework · Profit plan · Team structure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01168" y="3255264"/>
            <a:ext cx="4133087" cy="658368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048" y="3291840"/>
            <a:ext cx="164592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7CA0C0"/>
                </a:solidFill>
                <a:latin typeface="Calibri"/>
              </a:rPr>
              <a:t>BUNDLE TOTAL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" y="3493008"/>
            <a:ext cx="21945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5C400"/>
                </a:solidFill>
                <a:latin typeface="Calibri"/>
              </a:rPr>
              <a:t>$10,597 / mo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70048" y="3493008"/>
            <a:ext cx="17373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7CA0C0"/>
                </a:solidFill>
                <a:latin typeface="Calibri"/>
              </a:rPr>
              <a:t>Save $897/mo by bundling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1168" y="3968496"/>
            <a:ext cx="4133087" cy="402336"/>
          </a:xfrm>
          <a:prstGeom prst="rect">
            <a:avLst/>
          </a:prstGeom>
          <a:solidFill>
            <a:srgbClr val="EEF2F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9184" y="3995928"/>
            <a:ext cx="39319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+ Recommended ad spend: $10,000–$15,000/mo paid directly to Google/Meta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35424" y="1024128"/>
            <a:ext cx="4407408" cy="1316736"/>
          </a:xfrm>
          <a:prstGeom prst="rect">
            <a:avLst/>
          </a:prstGeom>
          <a:solidFill>
            <a:srgbClr val="ECFD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00016" y="1078992"/>
            <a:ext cx="4133087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65F46"/>
                </a:solidFill>
                <a:latin typeface="Calibri"/>
              </a:rPr>
              <a:t>PROJECTED RETURN ON AD SPEND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00016" y="1335024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Average case value: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9984" y="1335024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65F46"/>
                </a:solidFill>
                <a:latin typeface="Calibri"/>
              </a:rPr>
              <a:t>$25,000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1609344"/>
            <a:ext cx="4187952" cy="310896"/>
          </a:xfrm>
          <a:prstGeom prst="rect">
            <a:avLst/>
          </a:prstGeom>
          <a:solidFill>
            <a:srgbClr val="D1FAE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00016" y="1645920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Conservative  (~6 cases/mo):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29984" y="1645920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5F46"/>
                </a:solidFill>
                <a:latin typeface="Calibri"/>
              </a:rPr>
              <a:t>~$150,000 revenue · 15× ROAS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00016" y="1956816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Aggressive  (~11 cases/mo):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9984" y="1956816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5F46"/>
                </a:solidFill>
                <a:latin typeface="Calibri"/>
              </a:rPr>
              <a:t>~$275,000 revenue · 18× ROAS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35424" y="2468880"/>
            <a:ext cx="4407408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WHAT HAPPENS IN THE FIRST 90 DAYS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90288" y="2724912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937760" y="2734056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Day 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15584" y="2734056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Launch consumer rights &amp; PI Google Ads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90288" y="3081528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937760" y="3090672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Day 14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15584" y="3090672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Enroll in LSA for PI and consumer rights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90288" y="3438144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937760" y="3447287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Week 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15584" y="3447287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Website rebuild: homepage CTA + city pages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90288" y="3794760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937760" y="3803904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Week 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15584" y="3803904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NAP audit: fix address inconsistency across dirs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90288" y="4151376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937760" y="4160520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Month 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815584" y="4160520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Coaching kickoff: intake protocol + profit targets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4425696"/>
            <a:ext cx="9144000" cy="402336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74320" y="4425696"/>
            <a:ext cx="8595360" cy="40233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 i="1">
                <a:solidFill>
                  <a:srgbClr val="8BADD0"/>
                </a:solidFill>
                <a:latin typeface="Calibri"/>
              </a:rPr>
              <a:t>“Ten years of fighting for clients who had no one else to call. The only thing that changes now is how many of them can find you.”</a:t>
            </a:r>
          </a:p>
        </p:txBody>
      </p:sp>
      <p:sp>
        <p:nvSpPr>
          <p:cNvPr id="54" name="Rectangle 53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Jacob Meissner | SMB Team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