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MCADOO ESTATE PLANNING, LLC</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Calibri"/>
              </a:rPr>
              <a:t>Where McAdoo Estate Planning, LLC Stands Today</a:t>
            </a:r>
          </a:p>
        </p:txBody>
      </p:sp>
      <p:sp>
        <p:nvSpPr>
          <p:cNvPr id="5" name="Rectangle 4"/>
          <p:cNvSpPr/>
          <p:nvPr/>
        </p:nvSpPr>
        <p:spPr>
          <a:xfrm>
            <a:off x="0" y="960120"/>
            <a:ext cx="146304" cy="3867912"/>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Calibri"/>
              </a:rPr>
              <a:t>6</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Calibri"/>
              </a:rPr>
              <a:t>COMPETITIVE URGENCY</a:t>
            </a:r>
          </a:p>
        </p:txBody>
      </p:sp>
      <p:sp>
        <p:nvSpPr>
          <p:cNvPr id="9" name="Rectangle 8"/>
          <p:cNvSpPr/>
          <p:nvPr/>
        </p:nvSpPr>
        <p:spPr>
          <a:xfrm>
            <a:off x="1682496"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Calibri"/>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D97706"/>
                </a:solidFill>
                <a:latin typeface="Calibri"/>
              </a:rPr>
              <a:t>AMBER</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Calibri"/>
              </a:rPr>
              <a:t>Generalist ad vendor</a:t>
            </a:r>
          </a:p>
        </p:txBody>
      </p:sp>
      <p:sp>
        <p:nvSpPr>
          <p:cNvPr id="14" name="Rectangle 13"/>
          <p:cNvSpPr/>
          <p:nvPr/>
        </p:nvSpPr>
        <p:spPr>
          <a:xfrm>
            <a:off x="2542032"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Calibri"/>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D97706"/>
                </a:solidFill>
                <a:latin typeface="Calibri"/>
              </a:rPr>
              <a:t>AMBER</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Calibri"/>
              </a:rPr>
              <a:t>No after-hours coverage</a:t>
            </a:r>
          </a:p>
        </p:txBody>
      </p:sp>
      <p:sp>
        <p:nvSpPr>
          <p:cNvPr id="19" name="Rectangle 18"/>
          <p:cNvSpPr/>
          <p:nvPr/>
        </p:nvSpPr>
        <p:spPr>
          <a:xfrm>
            <a:off x="3401568"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Calibri"/>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D97706"/>
                </a:solidFill>
                <a:latin typeface="Calibri"/>
              </a:rPr>
              <a:t>AMBER</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Calibri"/>
              </a:rPr>
              <a:t>Scott is the bottleneck</a:t>
            </a:r>
          </a:p>
        </p:txBody>
      </p:sp>
      <p:sp>
        <p:nvSpPr>
          <p:cNvPr id="24" name="Rectangle 23"/>
          <p:cNvSpPr/>
          <p:nvPr/>
        </p:nvSpPr>
        <p:spPr>
          <a:xfrm>
            <a:off x="4261104"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Calibri"/>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Calibri"/>
              </a:rPr>
              <a:t>No financial visibility</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F5C400"/>
                </a:solidFill>
                <a:latin typeface="Calibri"/>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Calibri"/>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Calibri"/>
              </a:rPr>
              <a:t>Homepage still leads with probate, not estate planning.</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Calibri"/>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Calibri"/>
              </a:rPr>
              <a:t>NAP errors now spreading into Google's own review data.</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Calibri"/>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Calibri"/>
              </a:rPr>
              <a:t>Ad spend rose to $8K/mo with no cost-per-case tracking.</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Calibri"/>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Calibri"/>
              </a:rPr>
              <a:t>Your 4.9-star, 275-review profile beats every named competitor.</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F5C400"/>
                </a:solidFill>
                <a:latin typeface="Calibri"/>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Calibri"/>
              </a:rPr>
              <a:t>Stage 4: Small Business Manager  →  Goal: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Calibri"/>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Calibri"/>
              </a:rPr>
              <a:t>Morgan Legal Group</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Calibri"/>
              </a:rPr>
              <a:t>157 reviews</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Calibri"/>
              </a:rPr>
              <a:t>5.0★ · geo pages</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Calibri"/>
              </a:rPr>
              <a:t>Roman Aminov</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Calibri"/>
              </a:rPr>
              <a:t>41 reviews</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Calibri"/>
              </a:rPr>
              <a:t>5.0★ · branch page</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Calibri"/>
              </a:rPr>
              <a:t>Simon &amp; Gilman</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Calibri"/>
              </a:rPr>
              <a:t>128 reviews</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Calibri"/>
              </a:rPr>
              <a:t>4.4★ · Queens Blvd</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Calibri"/>
              </a:rPr>
              <a:t>McAdoo Estate Planning, LLC</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Calibri"/>
              </a:rPr>
              <a:t>275 reviews</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Calibri"/>
              </a:rPr>
              <a:t>← You are here</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Dan Bryant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MCADOO ESTATE PLANNING, LLC</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Growth Plan: 3 Priorities to Reach $500,000/Month</a:t>
            </a:r>
          </a:p>
        </p:txBody>
      </p:sp>
      <p:sp>
        <p:nvSpPr>
          <p:cNvPr id="5" name="Rectangle 4"/>
          <p:cNvSpPr/>
          <p:nvPr/>
        </p:nvSpPr>
        <p:spPr>
          <a:xfrm>
            <a:off x="182880" y="1024128"/>
            <a:ext cx="2487168" cy="363931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F5C400"/>
                </a:solidFill>
                <a:latin typeface="Calibri"/>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Calibri"/>
              </a:rPr>
              <a:t>All four pillars — marketing, intake, team, and profit — must work together, or growth stalls no matter how much you spend on ads. When all four work together, Scott can finally stop patching every gap by hand and start running the firm instead of rescuing it.</a:t>
            </a:r>
          </a:p>
        </p:txBody>
      </p:sp>
      <p:sp>
        <p:nvSpPr>
          <p:cNvPr id="9" name="Rectangle 8"/>
          <p:cNvSpPr/>
          <p:nvPr/>
        </p:nvSpPr>
        <p:spPr>
          <a:xfrm>
            <a:off x="182880" y="2999232"/>
            <a:ext cx="2487168" cy="74980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D1F3C"/>
                </a:solidFill>
                <a:latin typeface="Calibri"/>
              </a:rPr>
              <a:t>$3M → $6M revenue</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D1F3C"/>
                </a:solidFill>
                <a:latin typeface="Calibri"/>
              </a:rPr>
              <a:t>Systems that run without you holding it together</a:t>
            </a:r>
          </a:p>
        </p:txBody>
      </p:sp>
      <p:sp>
        <p:nvSpPr>
          <p:cNvPr id="12" name="Rectangle 11"/>
          <p:cNvSpPr/>
          <p:nvPr/>
        </p:nvSpPr>
        <p:spPr>
          <a:xfrm>
            <a:off x="2816352" y="1024128"/>
            <a:ext cx="2048256" cy="84124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Calibri"/>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Calibri"/>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Calibri"/>
              </a:rPr>
              <a:t>Marketing Engine</a:t>
            </a:r>
          </a:p>
        </p:txBody>
      </p:sp>
      <p:sp>
        <p:nvSpPr>
          <p:cNvPr id="16" name="Rectangle 15"/>
          <p:cNvSpPr/>
          <p:nvPr/>
        </p:nvSpPr>
        <p:spPr>
          <a:xfrm>
            <a:off x="2816352" y="1865376"/>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Calibri"/>
              </a:rPr>
              <a:t>Replace Grow My Ads with legal-specific ads</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Calibri"/>
              </a:rPr>
              <a:t>Rebalance the site to lead with estate planning</a:t>
            </a:r>
          </a:p>
        </p:txBody>
      </p:sp>
      <p:sp>
        <p:nvSpPr>
          <p:cNvPr id="22" name="Rectangle 21"/>
          <p:cNvSpPr/>
          <p:nvPr/>
        </p:nvSpPr>
        <p:spPr>
          <a:xfrm>
            <a:off x="2816352" y="3072384"/>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Calibri"/>
              </a:rPr>
              <a:t>Fix NAP data across Avvo, Justia, Yelp</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Calibri"/>
              </a:rPr>
              <a:t>Build geo pages for Queens Village, Hollis</a:t>
            </a:r>
          </a:p>
        </p:txBody>
      </p:sp>
      <p:sp>
        <p:nvSpPr>
          <p:cNvPr id="28" name="Rectangle 27"/>
          <p:cNvSpPr/>
          <p:nvPr/>
        </p:nvSpPr>
        <p:spPr>
          <a:xfrm>
            <a:off x="2816352" y="4279392"/>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Calibri"/>
              </a:rPr>
              <a:t>Turn Google Ads into a pipeline that runs itself</a:t>
            </a:r>
          </a:p>
        </p:txBody>
      </p:sp>
      <p:sp>
        <p:nvSpPr>
          <p:cNvPr id="31" name="Rectangle 30"/>
          <p:cNvSpPr/>
          <p:nvPr/>
        </p:nvSpPr>
        <p:spPr>
          <a:xfrm>
            <a:off x="4937760" y="1024128"/>
            <a:ext cx="2048256" cy="841248"/>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FFFFFF"/>
                </a:solidFill>
                <a:latin typeface="Calibri"/>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FFFFFF"/>
                </a:solidFill>
                <a:latin typeface="Calibri"/>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FFFFFF"/>
                </a:solidFill>
                <a:latin typeface="Calibri"/>
              </a:rPr>
              <a:t>Stop Losing Cases</a:t>
            </a:r>
          </a:p>
        </p:txBody>
      </p:sp>
      <p:sp>
        <p:nvSpPr>
          <p:cNvPr id="35" name="Rectangle 34"/>
          <p:cNvSpPr/>
          <p:nvPr/>
        </p:nvSpPr>
        <p:spPr>
          <a:xfrm>
            <a:off x="4937760" y="1865376"/>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Calibri"/>
              </a:rPr>
              <a:t>Add after-hours lead coverage</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Calibri"/>
              </a:rPr>
              <a:t>Automate CRM hygiene, stop manual tracking</a:t>
            </a:r>
          </a:p>
        </p:txBody>
      </p:sp>
      <p:sp>
        <p:nvSpPr>
          <p:cNvPr id="41" name="Rectangle 40"/>
          <p:cNvSpPr/>
          <p:nvPr/>
        </p:nvSpPr>
        <p:spPr>
          <a:xfrm>
            <a:off x="4937760" y="3072384"/>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Calibri"/>
              </a:rPr>
              <a:t>Build a follow-up sequence for cold leads</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Calibri"/>
              </a:rPr>
              <a:t>Streamline the consultation booking flow</a:t>
            </a:r>
          </a:p>
        </p:txBody>
      </p:sp>
      <p:sp>
        <p:nvSpPr>
          <p:cNvPr id="47" name="Rectangle 46"/>
          <p:cNvSpPr/>
          <p:nvPr/>
        </p:nvSpPr>
        <p:spPr>
          <a:xfrm>
            <a:off x="4937760" y="4279392"/>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Calibri"/>
              </a:rPr>
              <a:t>Free Scott from chasing every lead by hand</a:t>
            </a:r>
          </a:p>
        </p:txBody>
      </p:sp>
      <p:sp>
        <p:nvSpPr>
          <p:cNvPr id="50" name="Rectangle 49"/>
          <p:cNvSpPr/>
          <p:nvPr/>
        </p:nvSpPr>
        <p:spPr>
          <a:xfrm>
            <a:off x="7059168" y="1024128"/>
            <a:ext cx="2048256" cy="84124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Calibri"/>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Calibri"/>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Calibri"/>
              </a:rPr>
              <a:t>Profit Systems</a:t>
            </a:r>
          </a:p>
        </p:txBody>
      </p:sp>
      <p:sp>
        <p:nvSpPr>
          <p:cNvPr id="54" name="Rectangle 53"/>
          <p:cNvSpPr/>
          <p:nvPr/>
        </p:nvSpPr>
        <p:spPr>
          <a:xfrm>
            <a:off x="7059168" y="1865376"/>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Calibri"/>
              </a:rPr>
              <a:t>Take vendor coordination off Scott's plate</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Calibri"/>
              </a:rPr>
              <a:t>Launch Elite Coach Plus for Kim and Scott</a:t>
            </a:r>
          </a:p>
        </p:txBody>
      </p:sp>
      <p:sp>
        <p:nvSpPr>
          <p:cNvPr id="60" name="Rectangle 59"/>
          <p:cNvSpPr/>
          <p:nvPr/>
        </p:nvSpPr>
        <p:spPr>
          <a:xfrm>
            <a:off x="7059168" y="3072384"/>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Calibri"/>
              </a:rPr>
              <a:t>Track cost-per-case across every practice area</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Calibri"/>
              </a:rPr>
              <a:t>Bring the Garden City office fully online</a:t>
            </a:r>
          </a:p>
        </p:txBody>
      </p:sp>
      <p:sp>
        <p:nvSpPr>
          <p:cNvPr id="66" name="Rectangle 65"/>
          <p:cNvSpPr/>
          <p:nvPr/>
        </p:nvSpPr>
        <p:spPr>
          <a:xfrm>
            <a:off x="7059168" y="4279392"/>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Calibri"/>
              </a:rPr>
              <a:t>Build a firm that runs without Scott doing it all</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Dan Bryant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MCADOO ESTATE PLANNING, LLC</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1D4ED8"/>
                </a:solidFill>
                <a:latin typeface="Calibri"/>
              </a:rPr>
              <a:t>FULL SERVICE MARKETING — PLATINUM</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D1F3C"/>
                </a:solidFill>
                <a:latin typeface="Calibri"/>
              </a:rPr>
              <a:t>$15,997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Calibri"/>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Calibri"/>
              </a:rPr>
              <a:t>$18,997/mo</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Calibri"/>
              </a:rPr>
              <a:t>Legal-specific ads · Local SEO/NAP · Geo pages · Meta launch</a:t>
            </a:r>
          </a:p>
        </p:txBody>
      </p:sp>
      <p:sp>
        <p:nvSpPr>
          <p:cNvPr id="13" name="Rectangle 12"/>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 y="2139696"/>
            <a:ext cx="182880" cy="102412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231136"/>
            <a:ext cx="3803904" cy="201168"/>
          </a:xfrm>
          <a:prstGeom prst="rect">
            <a:avLst/>
          </a:prstGeom>
          <a:noFill/>
        </p:spPr>
        <p:txBody>
          <a:bodyPr wrap="square"/>
          <a:lstStyle/>
          <a:p>
            <a:pPr algn="l"/>
            <a:r>
              <a:rPr sz="800" b="1" i="0">
                <a:solidFill>
                  <a:srgbClr val="6D28D9"/>
                </a:solidFill>
                <a:latin typeface="Calibri"/>
              </a:rPr>
              <a:t>ELITE COACH PLUS</a:t>
            </a:r>
          </a:p>
        </p:txBody>
      </p:sp>
      <p:sp>
        <p:nvSpPr>
          <p:cNvPr id="16" name="TextBox 15"/>
          <p:cNvSpPr txBox="1"/>
          <p:nvPr/>
        </p:nvSpPr>
        <p:spPr>
          <a:xfrm>
            <a:off x="475488" y="2414015"/>
            <a:ext cx="1828800" cy="438912"/>
          </a:xfrm>
          <a:prstGeom prst="rect">
            <a:avLst/>
          </a:prstGeom>
          <a:noFill/>
        </p:spPr>
        <p:txBody>
          <a:bodyPr wrap="square"/>
          <a:lstStyle/>
          <a:p>
            <a:pPr algn="l"/>
            <a:r>
              <a:rPr sz="3200" b="1" i="0">
                <a:solidFill>
                  <a:srgbClr val="0D1F3C"/>
                </a:solidFill>
                <a:latin typeface="Calibri"/>
              </a:rPr>
              <a:t>$3,200</a:t>
            </a:r>
          </a:p>
        </p:txBody>
      </p:sp>
      <p:sp>
        <p:nvSpPr>
          <p:cNvPr id="17" name="TextBox 16"/>
          <p:cNvSpPr txBox="1"/>
          <p:nvPr/>
        </p:nvSpPr>
        <p:spPr>
          <a:xfrm>
            <a:off x="1865376" y="2523744"/>
            <a:ext cx="420624" cy="256032"/>
          </a:xfrm>
          <a:prstGeom prst="rect">
            <a:avLst/>
          </a:prstGeom>
          <a:noFill/>
        </p:spPr>
        <p:txBody>
          <a:bodyPr wrap="square"/>
          <a:lstStyle/>
          <a:p>
            <a:pPr algn="l"/>
            <a:r>
              <a:rPr sz="1100" b="0" i="0">
                <a:solidFill>
                  <a:srgbClr val="64748B"/>
                </a:solidFill>
                <a:latin typeface="Calibri"/>
              </a:rPr>
              <a:t>/mo</a:t>
            </a:r>
          </a:p>
        </p:txBody>
      </p:sp>
      <p:sp>
        <p:nvSpPr>
          <p:cNvPr id="18" name="TextBox 17"/>
          <p:cNvSpPr txBox="1"/>
          <p:nvPr/>
        </p:nvSpPr>
        <p:spPr>
          <a:xfrm>
            <a:off x="2322576" y="2542032"/>
            <a:ext cx="914400" cy="237744"/>
          </a:xfrm>
          <a:prstGeom prst="rect">
            <a:avLst/>
          </a:prstGeom>
          <a:noFill/>
        </p:spPr>
        <p:txBody>
          <a:bodyPr wrap="square"/>
          <a:lstStyle/>
          <a:p>
            <a:pPr algn="l"/>
            <a:r>
              <a:rPr sz="1100" b="0" i="0">
                <a:solidFill>
                  <a:srgbClr val="334155"/>
                </a:solidFill>
                <a:latin typeface="Calibri"/>
              </a:rPr>
              <a:t>$3,497/mo</a:t>
            </a:r>
          </a:p>
        </p:txBody>
      </p:sp>
      <p:sp>
        <p:nvSpPr>
          <p:cNvPr id="19" name="Rectangle 18"/>
          <p:cNvSpPr/>
          <p:nvPr/>
        </p:nvSpPr>
        <p:spPr>
          <a:xfrm>
            <a:off x="2322576" y="2642615"/>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2907791"/>
            <a:ext cx="3803904" cy="201168"/>
          </a:xfrm>
          <a:prstGeom prst="rect">
            <a:avLst/>
          </a:prstGeom>
          <a:noFill/>
        </p:spPr>
        <p:txBody>
          <a:bodyPr wrap="square"/>
          <a:lstStyle/>
          <a:p>
            <a:pPr algn="l"/>
            <a:r>
              <a:rPr sz="800" b="0" i="0">
                <a:solidFill>
                  <a:srgbClr val="64748B"/>
                </a:solidFill>
                <a:latin typeface="Calibri"/>
              </a:rPr>
              <a:t>Weekly coaching · Masterminds · Quarterly workshops</a:t>
            </a:r>
          </a:p>
        </p:txBody>
      </p:sp>
      <p:sp>
        <p:nvSpPr>
          <p:cNvPr id="21" name="Rectangle 20"/>
          <p:cNvSpPr/>
          <p:nvPr/>
        </p:nvSpPr>
        <p:spPr>
          <a:xfrm>
            <a:off x="201168" y="3255264"/>
            <a:ext cx="4133087" cy="658368"/>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291840"/>
            <a:ext cx="1645920" cy="237744"/>
          </a:xfrm>
          <a:prstGeom prst="rect">
            <a:avLst/>
          </a:prstGeom>
          <a:noFill/>
        </p:spPr>
        <p:txBody>
          <a:bodyPr wrap="square"/>
          <a:lstStyle/>
          <a:p>
            <a:pPr algn="l"/>
            <a:r>
              <a:rPr sz="800" b="1" i="0">
                <a:solidFill>
                  <a:srgbClr val="7CA0C0"/>
                </a:solidFill>
                <a:latin typeface="Calibri"/>
              </a:rPr>
              <a:t>BUNDLE TOTAL</a:t>
            </a:r>
          </a:p>
        </p:txBody>
      </p:sp>
      <p:sp>
        <p:nvSpPr>
          <p:cNvPr id="23" name="TextBox 22"/>
          <p:cNvSpPr txBox="1"/>
          <p:nvPr/>
        </p:nvSpPr>
        <p:spPr>
          <a:xfrm>
            <a:off x="384048" y="3493008"/>
            <a:ext cx="2194560" cy="347472"/>
          </a:xfrm>
          <a:prstGeom prst="rect">
            <a:avLst/>
          </a:prstGeom>
          <a:noFill/>
        </p:spPr>
        <p:txBody>
          <a:bodyPr wrap="square"/>
          <a:lstStyle/>
          <a:p>
            <a:pPr algn="l"/>
            <a:r>
              <a:rPr sz="2200" b="1" i="0">
                <a:solidFill>
                  <a:srgbClr val="F5C400"/>
                </a:solidFill>
                <a:latin typeface="Calibri"/>
              </a:rPr>
              <a:t>$19,197 / mo</a:t>
            </a:r>
          </a:p>
        </p:txBody>
      </p:sp>
      <p:sp>
        <p:nvSpPr>
          <p:cNvPr id="24" name="TextBox 23"/>
          <p:cNvSpPr txBox="1"/>
          <p:nvPr/>
        </p:nvSpPr>
        <p:spPr>
          <a:xfrm>
            <a:off x="2670048" y="3493008"/>
            <a:ext cx="1737360" cy="347472"/>
          </a:xfrm>
          <a:prstGeom prst="rect">
            <a:avLst/>
          </a:prstGeom>
          <a:noFill/>
        </p:spPr>
        <p:txBody>
          <a:bodyPr wrap="square"/>
          <a:lstStyle/>
          <a:p>
            <a:pPr algn="l"/>
            <a:r>
              <a:rPr sz="800" b="0" i="0">
                <a:solidFill>
                  <a:srgbClr val="7CA0C0"/>
                </a:solidFill>
                <a:latin typeface="Calibri"/>
              </a:rPr>
              <a:t>Save $3,297/mo by bundling</a:t>
            </a:r>
          </a:p>
        </p:txBody>
      </p:sp>
      <p:sp>
        <p:nvSpPr>
          <p:cNvPr id="25" name="Rectangle 24"/>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 y="3995928"/>
            <a:ext cx="3931920" cy="347472"/>
          </a:xfrm>
          <a:prstGeom prst="rect">
            <a:avLst/>
          </a:prstGeom>
          <a:noFill/>
        </p:spPr>
        <p:txBody>
          <a:bodyPr wrap="square"/>
          <a:lstStyle/>
          <a:p>
            <a:pPr algn="l"/>
            <a:r>
              <a:rPr sz="800" b="0" i="0">
                <a:solidFill>
                  <a:srgbClr val="64748B"/>
                </a:solidFill>
                <a:latin typeface="Calibri"/>
              </a:rPr>
              <a:t>+ Recommended ad spend: $3,500–$14,000/mo paid directly to Google/Meta</a:t>
            </a:r>
          </a:p>
        </p:txBody>
      </p:sp>
      <p:sp>
        <p:nvSpPr>
          <p:cNvPr id="27" name="Rectangle 26"/>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078992"/>
            <a:ext cx="4133087" cy="219456"/>
          </a:xfrm>
          <a:prstGeom prst="rect">
            <a:avLst/>
          </a:prstGeom>
          <a:noFill/>
        </p:spPr>
        <p:txBody>
          <a:bodyPr wrap="square"/>
          <a:lstStyle/>
          <a:p>
            <a:pPr algn="l"/>
            <a:r>
              <a:rPr sz="800" b="1" i="0">
                <a:solidFill>
                  <a:srgbClr val="065F46"/>
                </a:solidFill>
                <a:latin typeface="Calibri"/>
              </a:rPr>
              <a:t>PROJECTED RETURN ON AD SPEND</a:t>
            </a:r>
          </a:p>
        </p:txBody>
      </p:sp>
      <p:sp>
        <p:nvSpPr>
          <p:cNvPr id="29" name="TextBox 28"/>
          <p:cNvSpPr txBox="1"/>
          <p:nvPr/>
        </p:nvSpPr>
        <p:spPr>
          <a:xfrm>
            <a:off x="4700016" y="1335024"/>
            <a:ext cx="1920240" cy="256032"/>
          </a:xfrm>
          <a:prstGeom prst="rect">
            <a:avLst/>
          </a:prstGeom>
          <a:noFill/>
        </p:spPr>
        <p:txBody>
          <a:bodyPr wrap="square"/>
          <a:lstStyle/>
          <a:p>
            <a:pPr algn="l"/>
            <a:r>
              <a:rPr sz="900" b="1" i="0">
                <a:solidFill>
                  <a:srgbClr val="1E293B"/>
                </a:solidFill>
                <a:latin typeface="Calibri"/>
              </a:rPr>
              <a:t>Average case value:</a:t>
            </a:r>
          </a:p>
        </p:txBody>
      </p:sp>
      <p:sp>
        <p:nvSpPr>
          <p:cNvPr id="30" name="TextBox 29"/>
          <p:cNvSpPr txBox="1"/>
          <p:nvPr/>
        </p:nvSpPr>
        <p:spPr>
          <a:xfrm>
            <a:off x="6729984" y="1335024"/>
            <a:ext cx="2103120" cy="256032"/>
          </a:xfrm>
          <a:prstGeom prst="rect">
            <a:avLst/>
          </a:prstGeom>
          <a:noFill/>
        </p:spPr>
        <p:txBody>
          <a:bodyPr wrap="square"/>
          <a:lstStyle/>
          <a:p>
            <a:pPr algn="l"/>
            <a:r>
              <a:rPr sz="900" b="0" i="0">
                <a:solidFill>
                  <a:srgbClr val="065F46"/>
                </a:solidFill>
                <a:latin typeface="Calibri"/>
              </a:rPr>
              <a:t>$1,500–$3,000</a:t>
            </a:r>
          </a:p>
        </p:txBody>
      </p:sp>
      <p:sp>
        <p:nvSpPr>
          <p:cNvPr id="31" name="Rectangle 30"/>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1645920"/>
            <a:ext cx="1920240" cy="256032"/>
          </a:xfrm>
          <a:prstGeom prst="rect">
            <a:avLst/>
          </a:prstGeom>
          <a:noFill/>
        </p:spPr>
        <p:txBody>
          <a:bodyPr wrap="square"/>
          <a:lstStyle/>
          <a:p>
            <a:pPr algn="l"/>
            <a:r>
              <a:rPr sz="900" b="1" i="0">
                <a:solidFill>
                  <a:srgbClr val="1E293B"/>
                </a:solidFill>
                <a:latin typeface="Calibri"/>
              </a:rPr>
              <a:t>Conservative  (3 cases/mo):</a:t>
            </a:r>
          </a:p>
        </p:txBody>
      </p:sp>
      <p:sp>
        <p:nvSpPr>
          <p:cNvPr id="33" name="TextBox 32"/>
          <p:cNvSpPr txBox="1"/>
          <p:nvPr/>
        </p:nvSpPr>
        <p:spPr>
          <a:xfrm>
            <a:off x="6729984" y="1645920"/>
            <a:ext cx="2103120" cy="256032"/>
          </a:xfrm>
          <a:prstGeom prst="rect">
            <a:avLst/>
          </a:prstGeom>
          <a:noFill/>
        </p:spPr>
        <p:txBody>
          <a:bodyPr wrap="square"/>
          <a:lstStyle/>
          <a:p>
            <a:pPr algn="l"/>
            <a:r>
              <a:rPr sz="900" b="1" i="0">
                <a:solidFill>
                  <a:srgbClr val="065F46"/>
                </a:solidFill>
                <a:latin typeface="Calibri"/>
              </a:rPr>
              <a:t>$6,750 revenue · 1.9× ROAS</a:t>
            </a:r>
          </a:p>
        </p:txBody>
      </p:sp>
      <p:sp>
        <p:nvSpPr>
          <p:cNvPr id="34" name="TextBox 33"/>
          <p:cNvSpPr txBox="1"/>
          <p:nvPr/>
        </p:nvSpPr>
        <p:spPr>
          <a:xfrm>
            <a:off x="4700016" y="1956816"/>
            <a:ext cx="1920240" cy="256032"/>
          </a:xfrm>
          <a:prstGeom prst="rect">
            <a:avLst/>
          </a:prstGeom>
          <a:noFill/>
        </p:spPr>
        <p:txBody>
          <a:bodyPr wrap="square"/>
          <a:lstStyle/>
          <a:p>
            <a:pPr algn="l"/>
            <a:r>
              <a:rPr sz="900" b="1" i="0">
                <a:solidFill>
                  <a:srgbClr val="1E293B"/>
                </a:solidFill>
                <a:latin typeface="Calibri"/>
              </a:rPr>
              <a:t>Aggressive  (25 cases/mo):</a:t>
            </a:r>
          </a:p>
        </p:txBody>
      </p:sp>
      <p:sp>
        <p:nvSpPr>
          <p:cNvPr id="35" name="TextBox 34"/>
          <p:cNvSpPr txBox="1"/>
          <p:nvPr/>
        </p:nvSpPr>
        <p:spPr>
          <a:xfrm>
            <a:off x="6729984" y="1956816"/>
            <a:ext cx="2103120" cy="256032"/>
          </a:xfrm>
          <a:prstGeom prst="rect">
            <a:avLst/>
          </a:prstGeom>
          <a:noFill/>
        </p:spPr>
        <p:txBody>
          <a:bodyPr wrap="square"/>
          <a:lstStyle/>
          <a:p>
            <a:pPr algn="l"/>
            <a:r>
              <a:rPr sz="900" b="1" i="0">
                <a:solidFill>
                  <a:srgbClr val="065F46"/>
                </a:solidFill>
                <a:latin typeface="Calibri"/>
              </a:rPr>
              <a:t>$56,250 revenue · 4.0× ROAS</a:t>
            </a:r>
          </a:p>
        </p:txBody>
      </p:sp>
      <p:sp>
        <p:nvSpPr>
          <p:cNvPr id="36" name="TextBox 35"/>
          <p:cNvSpPr txBox="1"/>
          <p:nvPr/>
        </p:nvSpPr>
        <p:spPr>
          <a:xfrm>
            <a:off x="4535424" y="2468880"/>
            <a:ext cx="4407408" cy="237744"/>
          </a:xfrm>
          <a:prstGeom prst="rect">
            <a:avLst/>
          </a:prstGeom>
          <a:noFill/>
        </p:spPr>
        <p:txBody>
          <a:bodyPr wrap="square"/>
          <a:lstStyle/>
          <a:p>
            <a:pPr algn="l"/>
            <a:r>
              <a:rPr sz="800" b="1" i="0">
                <a:solidFill>
                  <a:srgbClr val="0D1F3C"/>
                </a:solidFill>
                <a:latin typeface="Calibri"/>
              </a:rPr>
              <a:t>WHAT HAPPENS IN THE FIRST 90 DAYS</a:t>
            </a:r>
          </a:p>
        </p:txBody>
      </p:sp>
      <p:sp>
        <p:nvSpPr>
          <p:cNvPr id="37" name="Rectangle 36"/>
          <p:cNvSpPr/>
          <p:nvPr/>
        </p:nvSpPr>
        <p:spPr>
          <a:xfrm>
            <a:off x="4590288" y="2724912"/>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2734056"/>
            <a:ext cx="804672" cy="256032"/>
          </a:xfrm>
          <a:prstGeom prst="rect">
            <a:avLst/>
          </a:prstGeom>
          <a:noFill/>
        </p:spPr>
        <p:txBody>
          <a:bodyPr wrap="square"/>
          <a:lstStyle/>
          <a:p>
            <a:pPr algn="l"/>
            <a:r>
              <a:rPr sz="800" b="1" i="0">
                <a:solidFill>
                  <a:srgbClr val="0D1F3C"/>
                </a:solidFill>
                <a:latin typeface="Calibri"/>
              </a:rPr>
              <a:t>Day 1</a:t>
            </a:r>
          </a:p>
        </p:txBody>
      </p:sp>
      <p:sp>
        <p:nvSpPr>
          <p:cNvPr id="39" name="TextBox 38"/>
          <p:cNvSpPr txBox="1"/>
          <p:nvPr/>
        </p:nvSpPr>
        <p:spPr>
          <a:xfrm>
            <a:off x="5815584" y="2734056"/>
            <a:ext cx="3054096" cy="256032"/>
          </a:xfrm>
          <a:prstGeom prst="rect">
            <a:avLst/>
          </a:prstGeom>
          <a:noFill/>
        </p:spPr>
        <p:txBody>
          <a:bodyPr wrap="square"/>
          <a:lstStyle/>
          <a:p>
            <a:pPr algn="l"/>
            <a:r>
              <a:rPr sz="800" b="0" i="0">
                <a:solidFill>
                  <a:srgbClr val="1E293B"/>
                </a:solidFill>
                <a:latin typeface="Calibri"/>
              </a:rPr>
              <a:t>Launch legal-specific Google Ads &amp; LSA mgmt</a:t>
            </a:r>
          </a:p>
        </p:txBody>
      </p:sp>
      <p:sp>
        <p:nvSpPr>
          <p:cNvPr id="40" name="Rectangle 39"/>
          <p:cNvSpPr/>
          <p:nvPr/>
        </p:nvSpPr>
        <p:spPr>
          <a:xfrm>
            <a:off x="4590288" y="3081528"/>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3090672"/>
            <a:ext cx="804672" cy="256032"/>
          </a:xfrm>
          <a:prstGeom prst="rect">
            <a:avLst/>
          </a:prstGeom>
          <a:noFill/>
        </p:spPr>
        <p:txBody>
          <a:bodyPr wrap="square"/>
          <a:lstStyle/>
          <a:p>
            <a:pPr algn="l"/>
            <a:r>
              <a:rPr sz="800" b="1" i="0">
                <a:solidFill>
                  <a:srgbClr val="0D1F3C"/>
                </a:solidFill>
                <a:latin typeface="Calibri"/>
              </a:rPr>
              <a:t>Day 14</a:t>
            </a:r>
          </a:p>
        </p:txBody>
      </p:sp>
      <p:sp>
        <p:nvSpPr>
          <p:cNvPr id="42" name="TextBox 41"/>
          <p:cNvSpPr txBox="1"/>
          <p:nvPr/>
        </p:nvSpPr>
        <p:spPr>
          <a:xfrm>
            <a:off x="5815584" y="3090672"/>
            <a:ext cx="3054096" cy="256032"/>
          </a:xfrm>
          <a:prstGeom prst="rect">
            <a:avLst/>
          </a:prstGeom>
          <a:noFill/>
        </p:spPr>
        <p:txBody>
          <a:bodyPr wrap="square"/>
          <a:lstStyle/>
          <a:p>
            <a:pPr algn="l"/>
            <a:r>
              <a:rPr sz="800" b="0" i="0">
                <a:solidFill>
                  <a:srgbClr val="1E293B"/>
                </a:solidFill>
                <a:latin typeface="Calibri"/>
              </a:rPr>
              <a:t>Clean up NAP across Avvo, Justia, Yelp</a:t>
            </a:r>
          </a:p>
        </p:txBody>
      </p:sp>
      <p:sp>
        <p:nvSpPr>
          <p:cNvPr id="43" name="Rectangle 42"/>
          <p:cNvSpPr/>
          <p:nvPr/>
        </p:nvSpPr>
        <p:spPr>
          <a:xfrm>
            <a:off x="4590288" y="3438144"/>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3447287"/>
            <a:ext cx="804672" cy="256032"/>
          </a:xfrm>
          <a:prstGeom prst="rect">
            <a:avLst/>
          </a:prstGeom>
          <a:noFill/>
        </p:spPr>
        <p:txBody>
          <a:bodyPr wrap="square"/>
          <a:lstStyle/>
          <a:p>
            <a:pPr algn="l"/>
            <a:r>
              <a:rPr sz="800" b="1" i="0">
                <a:solidFill>
                  <a:srgbClr val="0D1F3C"/>
                </a:solidFill>
                <a:latin typeface="Calibri"/>
              </a:rPr>
              <a:t>Week 2</a:t>
            </a:r>
          </a:p>
        </p:txBody>
      </p:sp>
      <p:sp>
        <p:nvSpPr>
          <p:cNvPr id="45" name="TextBox 44"/>
          <p:cNvSpPr txBox="1"/>
          <p:nvPr/>
        </p:nvSpPr>
        <p:spPr>
          <a:xfrm>
            <a:off x="5815584" y="3447287"/>
            <a:ext cx="3054096" cy="256032"/>
          </a:xfrm>
          <a:prstGeom prst="rect">
            <a:avLst/>
          </a:prstGeom>
          <a:noFill/>
        </p:spPr>
        <p:txBody>
          <a:bodyPr wrap="square"/>
          <a:lstStyle/>
          <a:p>
            <a:pPr algn="l"/>
            <a:r>
              <a:rPr sz="800" b="0" i="0">
                <a:solidFill>
                  <a:srgbClr val="1E293B"/>
                </a:solidFill>
                <a:latin typeface="Calibri"/>
              </a:rPr>
              <a:t>Rebalance site toward estate planning</a:t>
            </a:r>
          </a:p>
        </p:txBody>
      </p:sp>
      <p:sp>
        <p:nvSpPr>
          <p:cNvPr id="46" name="Rectangle 45"/>
          <p:cNvSpPr/>
          <p:nvPr/>
        </p:nvSpPr>
        <p:spPr>
          <a:xfrm>
            <a:off x="4590288" y="3794760"/>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3803904"/>
            <a:ext cx="804672" cy="256032"/>
          </a:xfrm>
          <a:prstGeom prst="rect">
            <a:avLst/>
          </a:prstGeom>
          <a:noFill/>
        </p:spPr>
        <p:txBody>
          <a:bodyPr wrap="square"/>
          <a:lstStyle/>
          <a:p>
            <a:pPr algn="l"/>
            <a:r>
              <a:rPr sz="800" b="1" i="0">
                <a:solidFill>
                  <a:srgbClr val="0D1F3C"/>
                </a:solidFill>
                <a:latin typeface="Calibri"/>
              </a:rPr>
              <a:t>Week 3</a:t>
            </a:r>
          </a:p>
        </p:txBody>
      </p:sp>
      <p:sp>
        <p:nvSpPr>
          <p:cNvPr id="48" name="TextBox 47"/>
          <p:cNvSpPr txBox="1"/>
          <p:nvPr/>
        </p:nvSpPr>
        <p:spPr>
          <a:xfrm>
            <a:off x="5815584" y="3803904"/>
            <a:ext cx="3054096" cy="256032"/>
          </a:xfrm>
          <a:prstGeom prst="rect">
            <a:avLst/>
          </a:prstGeom>
          <a:noFill/>
        </p:spPr>
        <p:txBody>
          <a:bodyPr wrap="square"/>
          <a:lstStyle/>
          <a:p>
            <a:pPr algn="l"/>
            <a:r>
              <a:rPr sz="800" b="0" i="0">
                <a:solidFill>
                  <a:srgbClr val="1E293B"/>
                </a:solidFill>
                <a:latin typeface="Calibri"/>
              </a:rPr>
              <a:t>Launch geo pages &amp; Meta retargeting</a:t>
            </a:r>
          </a:p>
        </p:txBody>
      </p:sp>
      <p:sp>
        <p:nvSpPr>
          <p:cNvPr id="49" name="Rectangle 48"/>
          <p:cNvSpPr/>
          <p:nvPr/>
        </p:nvSpPr>
        <p:spPr>
          <a:xfrm>
            <a:off x="4590288" y="4151376"/>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0" y="4160520"/>
            <a:ext cx="804672" cy="256032"/>
          </a:xfrm>
          <a:prstGeom prst="rect">
            <a:avLst/>
          </a:prstGeom>
          <a:noFill/>
        </p:spPr>
        <p:txBody>
          <a:bodyPr wrap="square"/>
          <a:lstStyle/>
          <a:p>
            <a:pPr algn="l"/>
            <a:r>
              <a:rPr sz="800" b="1" i="0">
                <a:solidFill>
                  <a:srgbClr val="0D1F3C"/>
                </a:solidFill>
                <a:latin typeface="Calibri"/>
              </a:rPr>
              <a:t>Month 3</a:t>
            </a:r>
          </a:p>
        </p:txBody>
      </p:sp>
      <p:sp>
        <p:nvSpPr>
          <p:cNvPr id="51" name="TextBox 50"/>
          <p:cNvSpPr txBox="1"/>
          <p:nvPr/>
        </p:nvSpPr>
        <p:spPr>
          <a:xfrm>
            <a:off x="5815584" y="4160520"/>
            <a:ext cx="3054096" cy="256032"/>
          </a:xfrm>
          <a:prstGeom prst="rect">
            <a:avLst/>
          </a:prstGeom>
          <a:noFill/>
        </p:spPr>
        <p:txBody>
          <a:bodyPr wrap="square"/>
          <a:lstStyle/>
          <a:p>
            <a:pPr algn="l"/>
            <a:r>
              <a:rPr sz="800" b="0" i="0">
                <a:solidFill>
                  <a:srgbClr val="1E293B"/>
                </a:solidFill>
                <a:latin typeface="Calibri"/>
              </a:rPr>
              <a:t>Kick off Elite Coach Plus with Kim &amp; Scott</a:t>
            </a:r>
          </a:p>
        </p:txBody>
      </p:sp>
      <p:sp>
        <p:nvSpPr>
          <p:cNvPr id="52" name="Rectangle 51"/>
          <p:cNvSpPr/>
          <p:nvPr/>
        </p:nvSpPr>
        <p:spPr>
          <a:xfrm>
            <a:off x="0" y="4425696"/>
            <a:ext cx="9144000" cy="402336"/>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4425696"/>
            <a:ext cx="8595360" cy="402336"/>
          </a:xfrm>
          <a:prstGeom prst="rect">
            <a:avLst/>
          </a:prstGeom>
          <a:noFill/>
        </p:spPr>
        <p:txBody>
          <a:bodyPr wrap="square"/>
          <a:lstStyle/>
          <a:p>
            <a:pPr algn="ctr"/>
            <a:r>
              <a:rPr sz="900" b="0" i="1">
                <a:solidFill>
                  <a:srgbClr val="8BADD0"/>
                </a:solidFill>
                <a:latin typeface="Calibri"/>
              </a:rPr>
              <a:t>"I want a system that runs the marketing and intake — so I'm not the one patching every gap."</a:t>
            </a:r>
          </a:p>
        </p:txBody>
      </p:sp>
      <p:sp>
        <p:nvSpPr>
          <p:cNvPr id="54" name="Rectangle 53"/>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Dan Bryant | SMB Team</a:t>
            </a:r>
          </a:p>
        </p:txBody>
      </p:sp>
      <p:sp>
        <p:nvSpPr>
          <p:cNvPr id="56" name="TextBox 55"/>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