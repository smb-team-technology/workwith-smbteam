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8595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69CD2B"/>
                </a:solidFill>
                <a:latin typeface="Poppins"/>
              </a:rPr>
              <a:t>LAW FIRM GROWTH AUDIT  ·  DUMAS &amp; SANCLEMENTE, PLLC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310896"/>
            <a:ext cx="8595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400" b="1" i="0">
                <a:solidFill>
                  <a:srgbClr val="FFFFFF"/>
                </a:solidFill>
                <a:latin typeface="Poppins"/>
              </a:rPr>
              <a:t>Where Dumas &amp; Sanclemente, PLLC Stands Today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46304" cy="3867912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6032" y="1005840"/>
            <a:ext cx="1298448" cy="841248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6032" y="1005840"/>
            <a:ext cx="1298448" cy="56692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800" b="1" i="0">
                <a:solidFill>
                  <a:srgbClr val="FFFFFF"/>
                </a:solidFill>
                <a:latin typeface="Poppins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" y="1572768"/>
            <a:ext cx="1298448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600" b="1" i="0">
                <a:solidFill>
                  <a:srgbClr val="FFFFFF"/>
                </a:solidFill>
                <a:latin typeface="Poppins"/>
              </a:rPr>
              <a:t>COMPETITIVE URGENCY</a:t>
            </a:r>
          </a:p>
        </p:txBody>
      </p:sp>
      <p:sp>
        <p:nvSpPr>
          <p:cNvPr id="9" name="Rectangle 8"/>
          <p:cNvSpPr/>
          <p:nvPr/>
        </p:nvSpPr>
        <p:spPr>
          <a:xfrm>
            <a:off x="1682496" y="1005840"/>
            <a:ext cx="804672" cy="164592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682496" y="1170432"/>
            <a:ext cx="804672" cy="676656"/>
          </a:xfrm>
          <a:prstGeom prst="rect">
            <a:avLst/>
          </a:prstGeom>
          <a:solidFill>
            <a:srgbClr val="26587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0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Poppins"/>
              </a:rPr>
              <a:t>Lead Generation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C0392B"/>
                </a:solidFill>
                <a:latin typeface="Poppins"/>
              </a:rPr>
              <a:t>CRITICAL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Poppins"/>
              </a:rPr>
              <a:t>No paid ads ever run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42032" y="1005840"/>
            <a:ext cx="804672" cy="164592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542032" y="1170432"/>
            <a:ext cx="804672" cy="676656"/>
          </a:xfrm>
          <a:prstGeom prst="rect">
            <a:avLst/>
          </a:prstGeom>
          <a:solidFill>
            <a:srgbClr val="26587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96896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Poppins"/>
              </a:rPr>
              <a:t>Intake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96896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C0392B"/>
                </a:solidFill>
                <a:latin typeface="Poppins"/>
              </a:rPr>
              <a:t>CRITICAL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96896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Poppins"/>
              </a:rPr>
              <a:t>No defined process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01568" y="1005840"/>
            <a:ext cx="804672" cy="164592"/>
          </a:xfrm>
          <a:prstGeom prst="rect">
            <a:avLst/>
          </a:prstGeom>
          <a:solidFill>
            <a:srgbClr val="D9770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401568" y="1170432"/>
            <a:ext cx="804672" cy="676656"/>
          </a:xfrm>
          <a:prstGeom prst="rect">
            <a:avLst/>
          </a:prstGeom>
          <a:solidFill>
            <a:srgbClr val="26587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56432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Poppins"/>
              </a:rPr>
              <a:t>Team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56432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D97706"/>
                </a:solidFill>
                <a:latin typeface="Poppins"/>
              </a:rPr>
              <a:t>AMBER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56432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Poppins"/>
              </a:rPr>
              <a:t>Two-attorney core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61104" y="1005840"/>
            <a:ext cx="804672" cy="164592"/>
          </a:xfrm>
          <a:prstGeom prst="rect">
            <a:avLst/>
          </a:prstGeom>
          <a:solidFill>
            <a:srgbClr val="D9770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261104" y="1170432"/>
            <a:ext cx="804672" cy="676656"/>
          </a:xfrm>
          <a:prstGeom prst="rect">
            <a:avLst/>
          </a:prstGeom>
          <a:solidFill>
            <a:srgbClr val="26587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15968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Poppins"/>
              </a:rPr>
              <a:t>Profit Plan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15968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D97706"/>
                </a:solidFill>
                <a:latin typeface="Poppins"/>
              </a:rPr>
              <a:t>AMBER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15968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Poppins"/>
              </a:rPr>
              <a:t>No profit visibility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6032" y="1956816"/>
            <a:ext cx="484632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69CD2B"/>
                </a:solidFill>
                <a:latin typeface="Poppins"/>
              </a:rPr>
              <a:t>KEY FINDINGS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56032" y="2212848"/>
            <a:ext cx="4846320" cy="566928"/>
          </a:xfrm>
          <a:prstGeom prst="rect">
            <a:avLst/>
          </a:prstGeom>
          <a:solidFill>
            <a:srgbClr val="2C101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65760" y="2386584"/>
            <a:ext cx="219456" cy="21945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" y="2368296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Poppins"/>
              </a:rPr>
              <a:t>✕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6656" y="2286000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0BABA"/>
                </a:solidFill>
                <a:latin typeface="Poppins"/>
              </a:rPr>
              <a:t>Zero paid marketing means the firm is invisible where named competitors already win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56032" y="2834640"/>
            <a:ext cx="4846320" cy="566928"/>
          </a:xfrm>
          <a:prstGeom prst="rect">
            <a:avLst/>
          </a:prstGeom>
          <a:solidFill>
            <a:srgbClr val="2C101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65760" y="3008376"/>
            <a:ext cx="219456" cy="21945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5760" y="2990088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Poppins"/>
              </a:rPr>
              <a:t>✕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6656" y="2907792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0BABA"/>
                </a:solidFill>
                <a:latin typeface="Poppins"/>
              </a:rPr>
              <a:t>NAP inconsistencies across 3 addresses are suppressing local map-pack rankings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56032" y="3456432"/>
            <a:ext cx="4846320" cy="566928"/>
          </a:xfrm>
          <a:prstGeom prst="rect">
            <a:avLst/>
          </a:prstGeom>
          <a:solidFill>
            <a:srgbClr val="2C101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65760" y="3630168"/>
            <a:ext cx="219456" cy="21945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5760" y="3611879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Poppins"/>
              </a:rPr>
              <a:t>✕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76656" y="3529584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0BABA"/>
                </a:solidFill>
                <a:latin typeface="Poppins"/>
              </a:rPr>
              <a:t>No intake tracking means the firm can't measure how many referrals actually convert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56032" y="4078224"/>
            <a:ext cx="4846320" cy="566928"/>
          </a:xfrm>
          <a:prstGeom prst="rect">
            <a:avLst/>
          </a:prstGeom>
          <a:solidFill>
            <a:srgbClr val="0C281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65760" y="4251960"/>
            <a:ext cx="219456" cy="219456"/>
          </a:xfrm>
          <a:prstGeom prst="rect">
            <a:avLst/>
          </a:prstGeom>
          <a:solidFill>
            <a:srgbClr val="16A34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65760" y="4233672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Poppins"/>
              </a:rPr>
              <a:t>✓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76656" y="4151376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86EFAC"/>
                </a:solidFill>
                <a:latin typeface="Poppins"/>
              </a:rPr>
              <a:t>Two experienced, complementary attorneys and 250+ litigated cases give real credibility to build on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257800" y="960120"/>
            <a:ext cx="3886200" cy="386791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5257800" y="1024128"/>
            <a:ext cx="3886200" cy="694944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257800" y="1024128"/>
            <a:ext cx="128016" cy="694944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486400" y="1042415"/>
            <a:ext cx="34747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69CD2B"/>
                </a:solidFill>
                <a:latin typeface="Poppins"/>
              </a:rPr>
              <a:t>YOU ARE HERE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86400" y="1243584"/>
            <a:ext cx="3474720" cy="40233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Poppins"/>
              </a:rPr>
              <a:t>Stage 3: Solo Practitioner  →  Goal: Stage 6, Law Firm Owner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394960" y="1920240"/>
            <a:ext cx="356616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64748B"/>
                </a:solidFill>
                <a:latin typeface="Poppins"/>
              </a:rPr>
              <a:t>COMPETITOR LANDSCAPE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257800" y="2176272"/>
            <a:ext cx="3886200" cy="310896"/>
          </a:xfrm>
          <a:prstGeom prst="rect">
            <a:avLst/>
          </a:prstGeom>
          <a:solidFill>
            <a:srgbClr val="F0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413248" y="2221991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Englander Peebles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260336" y="2221991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6A34A"/>
                </a:solidFill>
                <a:latin typeface="Poppins"/>
              </a:rPr>
              <a:t>202 reviews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193024" y="2240279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Poppins"/>
              </a:rPr>
              <a:t>4.9★ · Ft. Lauderdale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257800" y="2523744"/>
            <a:ext cx="3886200" cy="31089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413248" y="2569463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Diaco Law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260336" y="2569463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6A34A"/>
                </a:solidFill>
                <a:latin typeface="Poppins"/>
              </a:rPr>
              <a:t>126-157 reviews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193024" y="2587751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Poppins"/>
              </a:rPr>
              <a:t>4.6-4.8★ · Tampa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257800" y="2871216"/>
            <a:ext cx="3886200" cy="310896"/>
          </a:xfrm>
          <a:prstGeom prst="rect">
            <a:avLst/>
          </a:prstGeom>
          <a:solidFill>
            <a:srgbClr val="F0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413248" y="2916936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Swope, Rodante P.A.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260336" y="2916936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6A34A"/>
                </a:solidFill>
                <a:latin typeface="Poppins"/>
              </a:rPr>
              <a:t>43 reviews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193024" y="2935224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Poppins"/>
              </a:rPr>
              <a:t>4.7-4.8★ · Tampa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257800" y="3218688"/>
            <a:ext cx="3886200" cy="310896"/>
          </a:xfrm>
          <a:prstGeom prst="rect">
            <a:avLst/>
          </a:prstGeom>
          <a:solidFill>
            <a:srgbClr val="FFF0F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257800" y="3218688"/>
            <a:ext cx="91440" cy="31089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413248" y="3264408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C0392B"/>
                </a:solidFill>
                <a:latin typeface="Poppins"/>
              </a:rPr>
              <a:t>Dumas &amp; Sanclemente, PLLC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260336" y="3264408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C0392B"/>
                </a:solidFill>
                <a:latin typeface="Poppins"/>
              </a:rPr>
              <a:t>~121 (unverified)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193024" y="3282696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Poppins"/>
              </a:rPr>
              <a:t>← You are here</a:t>
            </a:r>
          </a:p>
        </p:txBody>
      </p:sp>
      <p:sp>
        <p:nvSpPr>
          <p:cNvPr id="69" name="Rectangle 68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609344" y="4837176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5A7A9A"/>
                </a:solidFill>
                <a:latin typeface="Poppins"/>
              </a:rPr>
              <a:t>CONFIDENTIAL  ·  Prepared by Jacob Meissner | SMB Team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138160" y="4837176"/>
            <a:ext cx="786384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5A7A9A"/>
                </a:solidFill>
                <a:latin typeface="Poppins"/>
              </a:rPr>
              <a:t>1 /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8595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69CD2B"/>
                </a:solidFill>
                <a:latin typeface="Poppins"/>
              </a:rPr>
              <a:t>LAW FIRM GROWTH AUDIT  ·  DUMAS &amp; SANCLEMENTE, PLLC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310896"/>
            <a:ext cx="8595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FFFFFF"/>
                </a:solidFill>
                <a:latin typeface="Poppins"/>
              </a:rPr>
              <a:t>Your Growth Plan: 3 Priorities to Reach $2.5M+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1024128"/>
            <a:ext cx="2487168" cy="3639312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2880" y="1042415"/>
            <a:ext cx="2487168" cy="18288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2608" y="1097280"/>
            <a:ext cx="2267712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69CD2B"/>
                </a:solidFill>
                <a:latin typeface="Poppins"/>
              </a:rPr>
              <a:t>THE SMB TEAM 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335024"/>
            <a:ext cx="2267712" cy="15727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A8BFDA"/>
                </a:solidFill>
                <a:latin typeface="Poppins"/>
              </a:rPr>
              <a:t>All four pillars — leads, intake, team, and profit — must work together. When they do, Axel and Jonathan can finally step back and let the firm run without them.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" y="2999232"/>
            <a:ext cx="2487168" cy="749808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2608" y="3017520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003A59"/>
                </a:solidFill>
                <a:latin typeface="Poppins"/>
              </a:rPr>
              <a:t>$1.2M → $2.5M+ revenue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" y="3291840"/>
            <a:ext cx="2286000" cy="40233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003A59"/>
                </a:solidFill>
                <a:latin typeface="Poppins"/>
              </a:rPr>
              <a:t>Become the go-to PI firm in your markets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16352" y="1024128"/>
            <a:ext cx="2048256" cy="841248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26080" y="1042415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Poppins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1316736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Poppins"/>
              </a:rPr>
              <a:t>Build the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1554480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Poppins"/>
              </a:rPr>
              <a:t>Marketing Engine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816352" y="1865376"/>
            <a:ext cx="2048256" cy="566928"/>
          </a:xfrm>
          <a:prstGeom prst="rect">
            <a:avLst/>
          </a:prstGeom>
          <a:solidFill>
            <a:srgbClr val="E3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907792" y="2084832"/>
            <a:ext cx="91440" cy="91440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54096" y="1920240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Launch Google Ads in Tampa Bay &amp; Ft. Lauderdale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816352" y="2468880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907792" y="2688336"/>
            <a:ext cx="91440" cy="91440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54096" y="2523744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Add Local Service Ads for pay-per-lead visibility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816352" y="3072384"/>
            <a:ext cx="2048256" cy="566928"/>
          </a:xfrm>
          <a:prstGeom prst="rect">
            <a:avLst/>
          </a:prstGeom>
          <a:solidFill>
            <a:srgbClr val="E3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907792" y="3291839"/>
            <a:ext cx="91440" cy="91440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054096" y="3127248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Fix NAP across all directories to boost rankings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816352" y="3675887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907792" y="3895344"/>
            <a:ext cx="91440" cy="91440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54096" y="3730751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Launch a Spanish-language ad campaign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816352" y="4279392"/>
            <a:ext cx="2048256" cy="566928"/>
          </a:xfrm>
          <a:prstGeom prst="rect">
            <a:avLst/>
          </a:prstGeom>
          <a:solidFill>
            <a:srgbClr val="E3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907792" y="4498848"/>
            <a:ext cx="91440" cy="91440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054096" y="4334255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Turn Google into a pipeline that runs without you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937760" y="1024128"/>
            <a:ext cx="2048256" cy="841248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47488" y="1042415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003A59"/>
                </a:solidFill>
                <a:latin typeface="Poppins"/>
              </a:rPr>
              <a:t>02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47488" y="1316736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003A59"/>
                </a:solidFill>
                <a:latin typeface="Poppins"/>
              </a:rPr>
              <a:t>Fix Intake &amp;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47488" y="1554480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003A59"/>
                </a:solidFill>
                <a:latin typeface="Poppins"/>
              </a:rPr>
              <a:t>Stop Losing Cases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937760" y="1865376"/>
            <a:ext cx="2048256" cy="566928"/>
          </a:xfrm>
          <a:prstGeom prst="rect">
            <a:avLst/>
          </a:prstGeom>
          <a:solidFill>
            <a:srgbClr val="EDF9E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029200" y="2084832"/>
            <a:ext cx="91440" cy="91440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175504" y="1920240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Build a defined intake process with tracking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937760" y="2468880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029200" y="2688336"/>
            <a:ext cx="91440" cy="91440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175504" y="2523744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Add after-hours coverage for referral calls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937760" y="3072384"/>
            <a:ext cx="2048256" cy="566928"/>
          </a:xfrm>
          <a:prstGeom prst="rect">
            <a:avLst/>
          </a:prstGeom>
          <a:solidFill>
            <a:srgbClr val="EDF9E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029200" y="3291839"/>
            <a:ext cx="91440" cy="91440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175504" y="3127248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Track which leads convert and which go quiet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937760" y="3675887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029200" y="3895344"/>
            <a:ext cx="91440" cy="91440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175504" y="3730751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Train a consistent follow-up sequence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937760" y="4279392"/>
            <a:ext cx="2048256" cy="566928"/>
          </a:xfrm>
          <a:prstGeom prst="rect">
            <a:avLst/>
          </a:prstGeom>
          <a:solidFill>
            <a:srgbClr val="EDF9E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029200" y="4498848"/>
            <a:ext cx="91440" cy="91440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175504" y="4334255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Convert more of the leads you already have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059168" y="1024128"/>
            <a:ext cx="2048256" cy="841248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168896" y="1042415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Poppins"/>
              </a:rPr>
              <a:t>03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168896" y="1316736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Poppins"/>
              </a:rPr>
              <a:t>Install Team &amp;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168896" y="1554480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Poppins"/>
              </a:rPr>
              <a:t>Profit Systems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059168" y="1865376"/>
            <a:ext cx="2048256" cy="566928"/>
          </a:xfrm>
          <a:prstGeom prst="rect">
            <a:avLst/>
          </a:prstGeom>
          <a:solidFill>
            <a:srgbClr val="E0E7E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150607" y="2084832"/>
            <a:ext cx="91440" cy="9144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296912" y="1920240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Add a leadership layer beyond the two of you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059168" y="2468880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7150607" y="2688336"/>
            <a:ext cx="91440" cy="9144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296912" y="2523744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Build profit visibility — know your true margins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059168" y="3072384"/>
            <a:ext cx="2048256" cy="566928"/>
          </a:xfrm>
          <a:prstGeom prst="rect">
            <a:avLst/>
          </a:prstGeom>
          <a:solidFill>
            <a:srgbClr val="E0E7E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7150607" y="3291839"/>
            <a:ext cx="91440" cy="9144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296912" y="3127248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Start Elite Coach Plus group coaching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059168" y="3675887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150607" y="3895344"/>
            <a:ext cx="91440" cy="9144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296912" y="3730751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Plan for a Fractional COO as caseload grows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059168" y="4279392"/>
            <a:ext cx="2048256" cy="566928"/>
          </a:xfrm>
          <a:prstGeom prst="rect">
            <a:avLst/>
          </a:prstGeom>
          <a:solidFill>
            <a:srgbClr val="E0E7E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7150607" y="4498848"/>
            <a:ext cx="91440" cy="9144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296912" y="4334255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Let the firm grow without more hours from you</a:t>
            </a:r>
          </a:p>
        </p:txBody>
      </p:sp>
      <p:sp>
        <p:nvSpPr>
          <p:cNvPr id="69" name="Rectangle 68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609344" y="4837176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5A7A9A"/>
                </a:solidFill>
                <a:latin typeface="Poppins"/>
              </a:rPr>
              <a:t>CONFIDENTIAL  ·  Prepared by Jacob Meissner | SMB Team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138160" y="4837176"/>
            <a:ext cx="786384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5A7A9A"/>
                </a:solidFill>
                <a:latin typeface="Poppins"/>
              </a:rPr>
              <a:t>2 /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8595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69CD2B"/>
                </a:solidFill>
                <a:latin typeface="Poppins"/>
              </a:rPr>
              <a:t>LAW FIRM GROWTH AUDIT  ·  DUMAS &amp; SANCLEMENTE, PLLC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310896"/>
            <a:ext cx="8595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FFFFFF"/>
                </a:solidFill>
                <a:latin typeface="Poppins"/>
              </a:rPr>
              <a:t>Your Investment &amp; What Happens Next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" y="1024128"/>
            <a:ext cx="4133087" cy="10241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01168" y="1024128"/>
            <a:ext cx="182880" cy="1024128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1115568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091C9"/>
                </a:solidFill>
                <a:latin typeface="Poppins"/>
              </a:rPr>
              <a:t>FULL SERVICE MARKETING — GROWTH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" y="1298448"/>
            <a:ext cx="182880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 i="0">
                <a:solidFill>
                  <a:srgbClr val="003A59"/>
                </a:solidFill>
                <a:latin typeface="Poppins"/>
              </a:rPr>
              <a:t>$7,497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65376" y="1408176"/>
            <a:ext cx="420624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64748B"/>
                </a:solidFill>
                <a:latin typeface="Poppins"/>
              </a:rPr>
              <a:t>/mo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22576" y="1426464"/>
            <a:ext cx="91440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334155"/>
                </a:solidFill>
                <a:latin typeface="Poppins"/>
              </a:rPr>
              <a:t>$8,997/mo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22576" y="1527048"/>
            <a:ext cx="804672" cy="9144"/>
          </a:xfrm>
          <a:prstGeom prst="rect">
            <a:avLst/>
          </a:prstGeom>
          <a:solidFill>
            <a:srgbClr val="33415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" y="1792224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4748B"/>
                </a:solidFill>
                <a:latin typeface="Poppins"/>
              </a:rPr>
              <a:t>Google Ads · LSA · Meta Ads · Local SEO · Spanish campaign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01168" y="2139696"/>
            <a:ext cx="4133087" cy="10241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01168" y="2139696"/>
            <a:ext cx="182880" cy="1024128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88" y="2231136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ELITE COACH PLUS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" y="2414015"/>
            <a:ext cx="182880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 i="0">
                <a:solidFill>
                  <a:srgbClr val="003A59"/>
                </a:solidFill>
                <a:latin typeface="Poppins"/>
              </a:rPr>
              <a:t>$3,200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65376" y="2523744"/>
            <a:ext cx="420624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64748B"/>
                </a:solidFill>
                <a:latin typeface="Poppins"/>
              </a:rPr>
              <a:t>/mo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22576" y="2542032"/>
            <a:ext cx="91440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334155"/>
                </a:solidFill>
                <a:latin typeface="Poppins"/>
              </a:rPr>
              <a:t>$3,497/mo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322576" y="2642615"/>
            <a:ext cx="804672" cy="9144"/>
          </a:xfrm>
          <a:prstGeom prst="rect">
            <a:avLst/>
          </a:prstGeom>
          <a:solidFill>
            <a:srgbClr val="33415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5488" y="2907791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4748B"/>
                </a:solidFill>
                <a:latin typeface="Poppins"/>
              </a:rPr>
              <a:t>Weekly group coaching · masterminds · quarterly workshops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01168" y="3255264"/>
            <a:ext cx="4133087" cy="658368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4048" y="3291840"/>
            <a:ext cx="164592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7CA0C0"/>
                </a:solidFill>
                <a:latin typeface="Poppins"/>
              </a:rPr>
              <a:t>BUNDLE TOTAL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8" y="3493008"/>
            <a:ext cx="21945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0091C9"/>
                </a:solidFill>
                <a:latin typeface="Poppins"/>
              </a:rPr>
              <a:t>$10,697 / mo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70048" y="3493008"/>
            <a:ext cx="17373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7CA0C0"/>
                </a:solidFill>
                <a:latin typeface="Poppins"/>
              </a:rPr>
              <a:t>Save $1,797/mo by bundling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01168" y="3968496"/>
            <a:ext cx="4133087" cy="402336"/>
          </a:xfrm>
          <a:prstGeom prst="rect">
            <a:avLst/>
          </a:prstGeom>
          <a:solidFill>
            <a:srgbClr val="EEF2F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9184" y="3995928"/>
            <a:ext cx="393192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4748B"/>
                </a:solidFill>
                <a:latin typeface="Poppins"/>
              </a:rPr>
              <a:t>+ Recommended ad spend: $19,500–$24,000/mo paid directly to Google/Meta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35424" y="1024128"/>
            <a:ext cx="4407408" cy="1316736"/>
          </a:xfrm>
          <a:prstGeom prst="rect">
            <a:avLst/>
          </a:prstGeom>
          <a:solidFill>
            <a:srgbClr val="ECFDF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00016" y="1078992"/>
            <a:ext cx="4133087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65F46"/>
                </a:solidFill>
                <a:latin typeface="Poppins"/>
              </a:rPr>
              <a:t>PROJECTED RETURN ON AD SPEND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00016" y="1335024"/>
            <a:ext cx="1920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1E293B"/>
                </a:solidFill>
                <a:latin typeface="Poppins"/>
              </a:rPr>
              <a:t>Average case value: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29984" y="1335024"/>
            <a:ext cx="2103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065F46"/>
                </a:solidFill>
                <a:latin typeface="Poppins"/>
              </a:rPr>
              <a:t>$7,500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45152" y="1609344"/>
            <a:ext cx="4187952" cy="310896"/>
          </a:xfrm>
          <a:prstGeom prst="rect">
            <a:avLst/>
          </a:prstGeom>
          <a:solidFill>
            <a:srgbClr val="D1FAE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700016" y="1645920"/>
            <a:ext cx="1920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1E293B"/>
                </a:solidFill>
                <a:latin typeface="Poppins"/>
              </a:rPr>
              <a:t>Conservative  (5 cases/mo):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29984" y="1645920"/>
            <a:ext cx="2103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065F46"/>
                </a:solidFill>
                <a:latin typeface="Poppins"/>
              </a:rPr>
              <a:t>$41,100 revenue · 2.1× ROAS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00016" y="1956816"/>
            <a:ext cx="1920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1E293B"/>
                </a:solidFill>
                <a:latin typeface="Poppins"/>
              </a:rPr>
              <a:t>Aggressive  (8 cases/mo):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29984" y="1956816"/>
            <a:ext cx="2103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065F46"/>
                </a:solidFill>
                <a:latin typeface="Poppins"/>
              </a:rPr>
              <a:t>$60,700 revenue · 2.5× ROAS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35424" y="2468880"/>
            <a:ext cx="4407408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WHAT HAPPENS IN THE FIRST 90 DAYS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90288" y="2724912"/>
            <a:ext cx="256032" cy="256032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937760" y="2734056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Day 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15584" y="2734056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Launch Google Ads &amp; LSA in both markets + Spanish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90288" y="3081528"/>
            <a:ext cx="256032" cy="256032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937760" y="3090672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Day 14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15584" y="3090672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NAP cleanup complete across all directory listings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90288" y="3438144"/>
            <a:ext cx="256032" cy="256032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937760" y="3447287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Week 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815584" y="3447287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New geo-targeted landing pages live for key cities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90288" y="3794760"/>
            <a:ext cx="256032" cy="256032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937760" y="3803904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Week 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815584" y="3803904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Elite Coach Plus kickoff — build intake tracking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590288" y="4151376"/>
            <a:ext cx="256032" cy="256032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937760" y="4160520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Month 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815584" y="4160520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Poppins"/>
              </a:rPr>
              <a:t>Meta retargeting &amp; video ads live; profit baseline set</a:t>
            </a:r>
          </a:p>
        </p:txBody>
      </p:sp>
      <p:sp>
        <p:nvSpPr>
          <p:cNvPr id="52" name="Rectangle 51"/>
          <p:cNvSpPr/>
          <p:nvPr/>
        </p:nvSpPr>
        <p:spPr>
          <a:xfrm>
            <a:off x="0" y="4425696"/>
            <a:ext cx="9144000" cy="402336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74320" y="4425696"/>
            <a:ext cx="8595360" cy="402336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0" i="1">
                <a:solidFill>
                  <a:srgbClr val="8BADD0"/>
                </a:solidFill>
                <a:latin typeface="Poppins"/>
              </a:rPr>
              <a:t>"Step away from referrals alone — and become the firm people in Tampa Bay and South Florida call first."</a:t>
            </a:r>
          </a:p>
        </p:txBody>
      </p:sp>
      <p:sp>
        <p:nvSpPr>
          <p:cNvPr id="54" name="Rectangle 53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609344" y="4837176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5A7A9A"/>
                </a:solidFill>
                <a:latin typeface="Poppins"/>
              </a:rPr>
              <a:t>CONFIDENTIAL  ·  Prepared by Jacob Meissner | SMB Team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138160" y="4837176"/>
            <a:ext cx="786384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5A7A9A"/>
                </a:solidFill>
                <a:latin typeface="Poppins"/>
              </a:rPr>
              <a:t>3 /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