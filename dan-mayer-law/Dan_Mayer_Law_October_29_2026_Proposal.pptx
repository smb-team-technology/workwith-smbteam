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DAN MAYER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Where Dan Mayer Law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87552"/>
            <a:ext cx="4572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YOU TOLD US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4572000" cy="18836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45720" cy="1883664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4297680" cy="17556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750" b="1" i="0">
                <a:solidFill>
                  <a:srgbClr val="3F8F1A"/>
                </a:solidFill>
                <a:latin typeface="Poppins"/>
              </a:rPr>
              <a:t>YOU SAID:</a:t>
            </a:r>
          </a:p>
          <a:p>
            <a:pPr>
              <a:spcBef>
                <a:spcPts val="100"/>
              </a:spcBef>
            </a:pPr>
            <a:r>
              <a:rPr sz="1100" b="0" i="1">
                <a:solidFill>
                  <a:srgbClr val="003A59"/>
                </a:solidFill>
                <a:latin typeface="Poppins"/>
              </a:rPr>
              <a:t>“Having the time to sit down and figure out AI… I don't have a lot of time to do that right now.”</a:t>
            </a:r>
          </a:p>
          <a:p>
            <a:pPr>
              <a:spcBef>
                <a:spcPts val="900"/>
              </a:spcBef>
            </a:pPr>
            <a:r>
              <a:rPr sz="750" b="1" i="0">
                <a:solidFill>
                  <a:srgbClr val="3F8F1A"/>
                </a:solidFill>
                <a:latin typeface="Poppins"/>
              </a:rPr>
              <a:t>YOU SAID:</a:t>
            </a:r>
          </a:p>
          <a:p>
            <a:pPr>
              <a:spcBef>
                <a:spcPts val="100"/>
              </a:spcBef>
            </a:pPr>
            <a:r>
              <a:rPr sz="1100" b="0" i="1">
                <a:solidFill>
                  <a:srgbClr val="003A59"/>
                </a:solidFill>
                <a:latin typeface="Poppins"/>
              </a:rPr>
              <a:t>“When aggregate, that's a lot of time.”</a:t>
            </a:r>
          </a:p>
          <a:p>
            <a:pPr>
              <a:spcBef>
                <a:spcPts val="900"/>
              </a:spcBef>
            </a:pPr>
            <a:r>
              <a:rPr sz="750" b="1" i="0">
                <a:solidFill>
                  <a:srgbClr val="3F8F1A"/>
                </a:solidFill>
                <a:latin typeface="Poppins"/>
              </a:rPr>
              <a:t>YOU SAID:</a:t>
            </a:r>
          </a:p>
          <a:p>
            <a:pPr>
              <a:spcBef>
                <a:spcPts val="100"/>
              </a:spcBef>
            </a:pPr>
            <a:r>
              <a:rPr sz="1100" b="0" i="1">
                <a:solidFill>
                  <a:srgbClr val="003A59"/>
                </a:solidFill>
                <a:latin typeface="Poppins"/>
              </a:rPr>
              <a:t>“It's just another thing on my list to do.”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987552"/>
            <a:ext cx="38404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WHERE YOU ARE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207008"/>
            <a:ext cx="3840480" cy="188366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16736"/>
            <a:ext cx="169164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TODAY  ·  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463040"/>
            <a:ext cx="1691640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Solo Practitioner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316736"/>
            <a:ext cx="169164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50" b="1" i="0">
                <a:solidFill>
                  <a:srgbClr val="69CD2B"/>
                </a:solidFill>
                <a:latin typeface="Poppins"/>
              </a:rPr>
              <a:t>GOAL  ·  STAGE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463040"/>
            <a:ext cx="1691640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Poppins"/>
              </a:rPr>
              <a:t>Law Firm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2754172"/>
            <a:ext cx="651052" cy="190195"/>
          </a:xfrm>
          <a:prstGeom prst="rect">
            <a:avLst/>
          </a:prstGeom>
          <a:solidFill>
            <a:srgbClr val="2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A9D68C"/>
                </a:solidFill>
                <a:latin typeface="Poppins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17996" y="2563977"/>
            <a:ext cx="651052" cy="380390"/>
          </a:xfrm>
          <a:prstGeom prst="rect">
            <a:avLst/>
          </a:prstGeom>
          <a:solidFill>
            <a:srgbClr val="69C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7996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143306"/>
                </a:solidFill>
                <a:latin typeface="Poppins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3913" y="2373782"/>
            <a:ext cx="651052" cy="570585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3913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9CC0D6"/>
                </a:solidFill>
                <a:latin typeface="Poppi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9830" y="2183587"/>
            <a:ext cx="651052" cy="76078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9830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9CC0D6"/>
                </a:solidFill>
                <a:latin typeface="Poppin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5747" y="1993392"/>
            <a:ext cx="651052" cy="950975"/>
          </a:xfrm>
          <a:prstGeom prst="rect">
            <a:avLst/>
          </a:prstGeom>
          <a:solidFill>
            <a:srgbClr val="003A59"/>
          </a:solidFill>
          <a:ln w="19050">
            <a:solidFill>
              <a:srgbClr val="69C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5747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69CD2B"/>
                </a:solidFill>
                <a:latin typeface="Poppin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00400"/>
            <a:ext cx="36576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YOUR KEY GAPS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19856"/>
            <a:ext cx="8595360" cy="12435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3776" y="3602736"/>
            <a:ext cx="256032" cy="3657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AI that could give you time back is not set up, and you have no time to build 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39440" y="3584448"/>
            <a:ext cx="0" cy="932688"/>
          </a:xfrm>
          <a:prstGeom prst="line">
            <a:avLst/>
          </a:prstGeom>
          <a:ln w="9525">
            <a:solidFill>
              <a:srgbClr val="D9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358895" y="3602736"/>
            <a:ext cx="256032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04032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INTAKE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04032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Manual reminders and client updates keep you tied to repeatable work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04560" y="3584448"/>
            <a:ext cx="0" cy="932688"/>
          </a:xfrm>
          <a:prstGeom prst="line">
            <a:avLst/>
          </a:prstGeom>
          <a:ln w="9525">
            <a:solidFill>
              <a:srgbClr val="D9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24016" y="3602736"/>
            <a:ext cx="256032" cy="3657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9151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PROFIT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9151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Growth means added payroll unless AI takes on the repeatable work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MICHAEL KOPP | SMB TEAM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DAN MAYER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to Get Your Time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Build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AI Foundation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 Fractional CTO leads your AI rollout for you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Monthly 1:1 session to set the priorities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Up to 2 skills deployed from the AI library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One custom automation built each month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AI stops being another item on your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9544" y="1005840"/>
            <a:ext cx="2724912" cy="877824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43306"/>
                </a:solidFill>
                <a:latin typeface="Poppins"/>
              </a:rPr>
              <a:t>PRIORITY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Automate Intake &amp;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Client Follow-Up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9544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Reminders and updates go out automatically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Cut the manual follow-up that eats your week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Put your Monday.com AI credits to work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Turn blog topics into posts for your review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Get hours back for the legal work only you 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Add Capacity,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Not Payroll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3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Skills deployed from the AI library each month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 custom automation built every month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Training videos on skills and automations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Add capacity without adding salary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Grow the firm without growing your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MICHAEL KOPP | SMB 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DAN MAYER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11556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FRACTIONAL CTO — 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25272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$3,797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1174" y="151942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1461" y="1519428"/>
            <a:ext cx="1933067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73736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Monthly 1:1 · AI skills · 1 custom automation a month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0400"/>
            <a:ext cx="15544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346704"/>
            <a:ext cx="2194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$3,797 /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8891" y="3460051"/>
            <a:ext cx="22756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Standalone — no bundle discount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005840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HOW THIS PLAN ADDRESSES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33502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0016" y="1417320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33502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AI setup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33502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Your Fractional CTO leads the rollout monthly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1883664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00016" y="196596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188366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Follow-up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188366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A monthly custom automation takes it 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243230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00016" y="251460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243230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No idle payroll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43230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Skills and automations add capacity, not salary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297680"/>
            <a:ext cx="7863840" cy="4937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"Someone just comes in and says, bam, this is working for you, let's go — and I get back to the legal work only I can do."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MICHAEL KOPP | SMB TEAM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