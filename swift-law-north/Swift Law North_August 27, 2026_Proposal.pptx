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SWIFT LAW NORTH</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Poppins"/>
              </a:rPr>
              <a:t>Where Swift Law North Stands Today</a:t>
            </a:r>
          </a:p>
        </p:txBody>
      </p:sp>
      <p:sp>
        <p:nvSpPr>
          <p:cNvPr id="5" name="Rectangle 4"/>
          <p:cNvSpPr/>
          <p:nvPr/>
        </p:nvSpPr>
        <p:spPr>
          <a:xfrm>
            <a:off x="0" y="960120"/>
            <a:ext cx="146304" cy="3867912"/>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Poppins"/>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Poppins"/>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Poppins"/>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Poppins"/>
              </a:rPr>
              <a:t>RED</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Poppins"/>
              </a:rPr>
              <a:t>100% from referrals</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Poppins"/>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Poppins"/>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Poppins"/>
              </a:rPr>
              <a:t>Overseas team, no phone#</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Poppins"/>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Poppins"/>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Poppins"/>
              </a:rPr>
              <a:t>4 partners, no ops layer</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Poppins"/>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Poppins"/>
              </a:rPr>
              <a:t>RED</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Poppins"/>
              </a:rPr>
              <a:t>No revenue tracked</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69CD2B"/>
                </a:solidFill>
                <a:latin typeface="Poppins"/>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Poppins"/>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Poppins"/>
              </a:rPr>
              <a:t>Invisible across all 3 target case types — competitors own the search intent</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Poppins"/>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Poppins"/>
              </a:rPr>
              <a:t>No homepage phone number and unconfirmed after-hours coverage risk cold leads</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Poppins"/>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Poppins"/>
              </a:rPr>
              <a:t>All decisions run through 4 partners — no dedicated ops layer for 100+/month</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Poppins"/>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Poppins"/>
              </a:rPr>
              <a:t>Real team already in place: 4 partners, ~10 underwriting staff, dedicated intake</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69CD2B"/>
                </a:solidFill>
                <a:latin typeface="Poppins"/>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Poppins"/>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Poppins"/>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Poppins"/>
              </a:rPr>
              <a:t>Consumer Attorneys</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Poppins"/>
              </a:rPr>
              <a:t>Ranks in all 3 areas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Poppins"/>
              </a:rPr>
              <a:t>Owns this search intent</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Poppins"/>
              </a:rPr>
              <a:t>Francis Mailman Soumilas</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Poppins"/>
              </a:rPr>
              <a:t>FCRA market leader</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Poppins"/>
              </a:rPr>
              <a:t>Dominates credit-report search</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Poppins"/>
              </a:rPr>
              <a:t>Sulaiman Law Group</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Poppins"/>
              </a:rPr>
              <a:t>Multi-area reach</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Poppins"/>
              </a:rPr>
              <a:t>Covers ID theft + FDCPA</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Poppins"/>
              </a:rPr>
              <a:t>Swift Law North</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Poppins"/>
              </a:rPr>
              <a:t>No listing yet</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Poppins"/>
              </a:rPr>
              <a:t>← You are here</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SWIFT LAW NORTH</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Growth Plan: 3 Priorities to Reach 100+ Clients a Month</a:t>
            </a:r>
          </a:p>
        </p:txBody>
      </p:sp>
      <p:sp>
        <p:nvSpPr>
          <p:cNvPr id="5" name="Rectangle 4"/>
          <p:cNvSpPr/>
          <p:nvPr/>
        </p:nvSpPr>
        <p:spPr>
          <a:xfrm>
            <a:off x="182880" y="1024128"/>
            <a:ext cx="2487168" cy="363931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69CD2B"/>
                </a:solidFill>
                <a:latin typeface="Poppins"/>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Poppins"/>
              </a:rPr>
              <a:t>Leads, intake, team, and profit all have to work together, or growth stalls no matter how much you spend on ads. When they do, Swift Law North can turn its national reach and bilingual advantage into the dominant brand in this market.</a:t>
            </a:r>
          </a:p>
        </p:txBody>
      </p:sp>
      <p:sp>
        <p:nvSpPr>
          <p:cNvPr id="9" name="Rectangle 8"/>
          <p:cNvSpPr/>
          <p:nvPr/>
        </p:nvSpPr>
        <p:spPr>
          <a:xfrm>
            <a:off x="182880" y="2999232"/>
            <a:ext cx="2487168" cy="7498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03A59"/>
                </a:solidFill>
                <a:latin typeface="Poppins"/>
              </a:rPr>
              <a:t>30-40 → 100+ clients/mo</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03A59"/>
                </a:solidFill>
                <a:latin typeface="Poppins"/>
              </a:rPr>
              <a:t>Become the national brand people already trust</a:t>
            </a:r>
          </a:p>
        </p:txBody>
      </p:sp>
      <p:sp>
        <p:nvSpPr>
          <p:cNvPr id="12" name="Rectangle 11"/>
          <p:cNvSpPr/>
          <p:nvPr/>
        </p:nvSpPr>
        <p:spPr>
          <a:xfrm>
            <a:off x="2816352" y="1024128"/>
            <a:ext cx="2048256" cy="84124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Poppins"/>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Poppins"/>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Poppins"/>
              </a:rPr>
              <a:t>Marketing Engine</a:t>
            </a:r>
          </a:p>
        </p:txBody>
      </p:sp>
      <p:sp>
        <p:nvSpPr>
          <p:cNvPr id="16" name="Rectangle 15"/>
          <p:cNvSpPr/>
          <p:nvPr/>
        </p:nvSpPr>
        <p:spPr>
          <a:xfrm>
            <a:off x="2816352" y="1865376"/>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Poppins"/>
              </a:rPr>
              <a:t>Launch Google + Meta across all 3 case types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Poppins"/>
              </a:rPr>
              <a:t>Turn ads into a pipeline that runs without you</a:t>
            </a:r>
          </a:p>
        </p:txBody>
      </p:sp>
      <p:sp>
        <p:nvSpPr>
          <p:cNvPr id="22" name="Rectangle 21"/>
          <p:cNvSpPr/>
          <p:nvPr/>
        </p:nvSpPr>
        <p:spPr>
          <a:xfrm>
            <a:off x="2816352" y="3072384"/>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Poppins"/>
              </a:rPr>
              <a:t>Activate a dedicated Spanish-language track</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Poppins"/>
              </a:rPr>
              <a:t>Build Avvo, Justia, FindLaw citations for SLN</a:t>
            </a:r>
          </a:p>
        </p:txBody>
      </p:sp>
      <p:sp>
        <p:nvSpPr>
          <p:cNvPr id="28" name="Rectangle 27"/>
          <p:cNvSpPr/>
          <p:nvPr/>
        </p:nvSpPr>
        <p:spPr>
          <a:xfrm>
            <a:off x="2816352" y="4279392"/>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Poppins"/>
              </a:rPr>
              <a:t>Fix homepage: add phone number, confirm mobile</a:t>
            </a:r>
          </a:p>
        </p:txBody>
      </p:sp>
      <p:sp>
        <p:nvSpPr>
          <p:cNvPr id="31" name="Rectangle 30"/>
          <p:cNvSpPr/>
          <p:nvPr/>
        </p:nvSpPr>
        <p:spPr>
          <a:xfrm>
            <a:off x="4937760" y="1024128"/>
            <a:ext cx="2048256" cy="84124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003A59"/>
                </a:solidFill>
                <a:latin typeface="Poppins"/>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003A59"/>
                </a:solidFill>
                <a:latin typeface="Poppins"/>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003A59"/>
                </a:solidFill>
                <a:latin typeface="Poppins"/>
              </a:rPr>
              <a:t>Stop Losing Cases</a:t>
            </a:r>
          </a:p>
        </p:txBody>
      </p:sp>
      <p:sp>
        <p:nvSpPr>
          <p:cNvPr id="35" name="Rectangle 34"/>
          <p:cNvSpPr/>
          <p:nvPr/>
        </p:nvSpPr>
        <p:spPr>
          <a:xfrm>
            <a:off x="4937760" y="1865376"/>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Poppins"/>
              </a:rPr>
              <a:t>Audit outsourced team's response times</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Poppins"/>
              </a:rPr>
              <a:t>Close after-hours coverage gaps</a:t>
            </a:r>
          </a:p>
        </p:txBody>
      </p:sp>
      <p:sp>
        <p:nvSpPr>
          <p:cNvPr id="41" name="Rectangle 40"/>
          <p:cNvSpPr/>
          <p:nvPr/>
        </p:nvSpPr>
        <p:spPr>
          <a:xfrm>
            <a:off x="4937760" y="3072384"/>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Poppins"/>
              </a:rPr>
              <a:t>Add a visible phone number for urgent callers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Poppins"/>
              </a:rPr>
              <a:t>Build a defined lead follow-up sequence</a:t>
            </a:r>
          </a:p>
        </p:txBody>
      </p:sp>
      <p:sp>
        <p:nvSpPr>
          <p:cNvPr id="47" name="Rectangle 46"/>
          <p:cNvSpPr/>
          <p:nvPr/>
        </p:nvSpPr>
        <p:spPr>
          <a:xfrm>
            <a:off x="4937760" y="4279392"/>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Poppins"/>
              </a:rPr>
              <a:t>Convert more of the leads you already pay for</a:t>
            </a:r>
          </a:p>
        </p:txBody>
      </p:sp>
      <p:sp>
        <p:nvSpPr>
          <p:cNvPr id="50" name="Rectangle 49"/>
          <p:cNvSpPr/>
          <p:nvPr/>
        </p:nvSpPr>
        <p:spPr>
          <a:xfrm>
            <a:off x="7059168" y="1024128"/>
            <a:ext cx="2048256"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Poppins"/>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Poppins"/>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Poppins"/>
              </a:rPr>
              <a:t>Profit Systems</a:t>
            </a:r>
          </a:p>
        </p:txBody>
      </p:sp>
      <p:sp>
        <p:nvSpPr>
          <p:cNvPr id="54" name="Rectangle 53"/>
          <p:cNvSpPr/>
          <p:nvPr/>
        </p:nvSpPr>
        <p:spPr>
          <a:xfrm>
            <a:off x="7059168" y="1865376"/>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Poppins"/>
              </a:rPr>
              <a:t>Add a dedicated ops layer above underwriting</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Poppins"/>
              </a:rPr>
              <a:t>Build accountability across all 14+ staff</a:t>
            </a:r>
          </a:p>
        </p:txBody>
      </p:sp>
      <p:sp>
        <p:nvSpPr>
          <p:cNvPr id="60" name="Rectangle 59"/>
          <p:cNvSpPr/>
          <p:nvPr/>
        </p:nvSpPr>
        <p:spPr>
          <a:xfrm>
            <a:off x="7059168" y="3072384"/>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Poppins"/>
              </a:rPr>
              <a:t>Track case profitability by practice area</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Poppins"/>
              </a:rPr>
              <a:t>Set a real revenue baseline to measure against</a:t>
            </a:r>
          </a:p>
        </p:txBody>
      </p:sp>
      <p:sp>
        <p:nvSpPr>
          <p:cNvPr id="66" name="Rectangle 65"/>
          <p:cNvSpPr/>
          <p:nvPr/>
        </p:nvSpPr>
        <p:spPr>
          <a:xfrm>
            <a:off x="7059168" y="4279392"/>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Poppins"/>
              </a:rPr>
              <a:t>Free the partners from managing everything</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SWIFT LAW NORTH</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0091C9"/>
                </a:solidFill>
                <a:latin typeface="Poppins"/>
              </a:rPr>
              <a:t>FULL SERVICE MARKETING — GROWTH</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03A59"/>
                </a:solidFill>
                <a:latin typeface="Poppins"/>
              </a:rPr>
              <a:t>$7,497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Poppins"/>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Poppins"/>
              </a:rPr>
              <a:t>$8,997/mo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Poppins"/>
              </a:rPr>
              <a:t>Google Ads · Meta Ads · Spanish campaigns · Directory buildout</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003A59"/>
                </a:solidFill>
                <a:latin typeface="Poppins"/>
              </a:rPr>
              <a:t>MASTER'S CIRCLE</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03A59"/>
                </a:solidFill>
                <a:latin typeface="Poppins"/>
              </a:rPr>
              <a:t>$4,600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Poppins"/>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Poppins"/>
              </a:rPr>
              <a:t>$4,997/mo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Poppins"/>
              </a:rPr>
              <a:t>Weekly group coaching · masterminds · quarterly workshops</a:t>
            </a:r>
          </a:p>
        </p:txBody>
      </p:sp>
      <p:sp>
        <p:nvSpPr>
          <p:cNvPr id="21" name="Rectangle 20"/>
          <p:cNvSpPr/>
          <p:nvPr/>
        </p:nvSpPr>
        <p:spPr>
          <a:xfrm>
            <a:off x="201168" y="3255264"/>
            <a:ext cx="4133087" cy="65836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Poppins"/>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0091C9"/>
                </a:solidFill>
                <a:latin typeface="Poppins"/>
              </a:rPr>
              <a:t>$12,097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Poppins"/>
              </a:rPr>
              <a:t>Save $1,897/mo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Poppins"/>
              </a:rPr>
              <a:t>+ Recommended ad spend: $3,000–$12,000/mo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Poppins"/>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Poppins"/>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Poppins"/>
              </a:rPr>
              <a:t>~$25,000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Poppins"/>
              </a:rPr>
              <a:t>Conservative  (~4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Poppins"/>
              </a:rPr>
              <a:t>$100,000 revenue · ~33×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Poppins"/>
              </a:rPr>
              <a:t>Aggressive  (~19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Poppins"/>
              </a:rPr>
              <a:t>$475,000 revenue · ~40×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03A59"/>
                </a:solidFill>
                <a:latin typeface="Poppins"/>
              </a:rPr>
              <a:t>WHAT HAPPENS IN THE FIRST 90 DAYS</a:t>
            </a:r>
          </a:p>
        </p:txBody>
      </p:sp>
      <p:sp>
        <p:nvSpPr>
          <p:cNvPr id="37" name="Rectangle 36"/>
          <p:cNvSpPr/>
          <p:nvPr/>
        </p:nvSpPr>
        <p:spPr>
          <a:xfrm>
            <a:off x="4590288" y="2724912"/>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03A59"/>
                </a:solidFill>
                <a:latin typeface="Poppins"/>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Poppins"/>
              </a:rPr>
              <a:t>Launch Google + Meta campaigns nationally</a:t>
            </a:r>
          </a:p>
        </p:txBody>
      </p:sp>
      <p:sp>
        <p:nvSpPr>
          <p:cNvPr id="40" name="Rectangle 39"/>
          <p:cNvSpPr/>
          <p:nvPr/>
        </p:nvSpPr>
        <p:spPr>
          <a:xfrm>
            <a:off x="4590288" y="3081528"/>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03A59"/>
                </a:solidFill>
                <a:latin typeface="Poppins"/>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Poppins"/>
              </a:rPr>
              <a:t>Spanish-language campaign track goes live</a:t>
            </a:r>
          </a:p>
        </p:txBody>
      </p:sp>
      <p:sp>
        <p:nvSpPr>
          <p:cNvPr id="43" name="Rectangle 42"/>
          <p:cNvSpPr/>
          <p:nvPr/>
        </p:nvSpPr>
        <p:spPr>
          <a:xfrm>
            <a:off x="4590288" y="3438144"/>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03A59"/>
                </a:solidFill>
                <a:latin typeface="Poppins"/>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Poppins"/>
              </a:rPr>
              <a:t>Homepage phone number + mobile fix shipped</a:t>
            </a:r>
          </a:p>
        </p:txBody>
      </p:sp>
      <p:sp>
        <p:nvSpPr>
          <p:cNvPr id="46" name="Rectangle 45"/>
          <p:cNvSpPr/>
          <p:nvPr/>
        </p:nvSpPr>
        <p:spPr>
          <a:xfrm>
            <a:off x="4590288" y="3794760"/>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03A59"/>
                </a:solidFill>
                <a:latin typeface="Poppins"/>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Poppins"/>
              </a:rPr>
              <a:t>Directory citations built under SLN brand</a:t>
            </a:r>
          </a:p>
        </p:txBody>
      </p:sp>
      <p:sp>
        <p:nvSpPr>
          <p:cNvPr id="49" name="Rectangle 48"/>
          <p:cNvSpPr/>
          <p:nvPr/>
        </p:nvSpPr>
        <p:spPr>
          <a:xfrm>
            <a:off x="4590288" y="4151376"/>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03A59"/>
                </a:solidFill>
                <a:latin typeface="Poppins"/>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Poppins"/>
              </a:rPr>
              <a:t>Master's Circle ops framework in place</a:t>
            </a:r>
          </a:p>
        </p:txBody>
      </p:sp>
      <p:sp>
        <p:nvSpPr>
          <p:cNvPr id="52" name="Rectangle 51"/>
          <p:cNvSpPr/>
          <p:nvPr/>
        </p:nvSpPr>
        <p:spPr>
          <a:xfrm>
            <a:off x="0" y="4425696"/>
            <a:ext cx="9144000" cy="402336"/>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Poppins"/>
              </a:rPr>
              <a:t>"Every person out there who needs us finds us — that's what 500 clients a month actually looks like."</a:t>
            </a:r>
          </a:p>
        </p:txBody>
      </p:sp>
      <p:sp>
        <p:nvSpPr>
          <p:cNvPr id="54" name="Rectangle 53"/>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