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embeddedFontLst>
    <p:embeddedFont>
      <p:font typeface="Poppins"/>
      <p:regular r:id="rIdEmbedFont1"/>
      <p:bold r:id="rIdEmbedFont2"/>
      <p:italic r:id="rIdEmbedFont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EmbedFont1" Type="http://schemas.openxmlformats.org/officeDocument/2006/relationships/font" Target="fonts/font1.fntdata"/><Relationship Id="rIdEmbedFont2" Type="http://schemas.openxmlformats.org/officeDocument/2006/relationships/font" Target="fonts/font2.fntdata"/><Relationship Id="rIdEmbedFont3" Type="http://schemas.openxmlformats.org/officeDocument/2006/relationships/font" Target="fonts/font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82880"/>
            <a:ext cx="85039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MIIKO ANDERSON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Where Miiko Anderson Law Stands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987552"/>
            <a:ext cx="45720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WHAT YOU TOLD US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4572000" cy="18836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45720" cy="1883664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4297680" cy="17556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750" b="1" i="0">
                <a:solidFill>
                  <a:srgbClr val="3F8F1A"/>
                </a:solidFill>
                <a:latin typeface="Poppins"/>
              </a:rPr>
              <a:t>YOU SAID:</a:t>
            </a:r>
          </a:p>
          <a:p>
            <a:pPr>
              <a:spcBef>
                <a:spcPts val="100"/>
              </a:spcBef>
            </a:pPr>
            <a:r>
              <a:rPr sz="1100" b="0" i="1">
                <a:solidFill>
                  <a:srgbClr val="003A59"/>
                </a:solidFill>
                <a:latin typeface="Poppins"/>
              </a:rPr>
              <a:t>“I have done no marketing at all. Absolutely none. So that's just word of mouth.”</a:t>
            </a:r>
          </a:p>
          <a:p>
            <a:pPr>
              <a:spcBef>
                <a:spcPts val="900"/>
              </a:spcBef>
            </a:pPr>
            <a:r>
              <a:rPr sz="750" b="1" i="0">
                <a:solidFill>
                  <a:srgbClr val="3F8F1A"/>
                </a:solidFill>
                <a:latin typeface="Poppins"/>
              </a:rPr>
              <a:t>YOU SAID:</a:t>
            </a:r>
          </a:p>
          <a:p>
            <a:pPr>
              <a:spcBef>
                <a:spcPts val="100"/>
              </a:spcBef>
            </a:pPr>
            <a:r>
              <a:rPr sz="1100" b="0" i="1">
                <a:solidFill>
                  <a:srgbClr val="003A59"/>
                </a:solidFill>
                <a:latin typeface="Poppins"/>
              </a:rPr>
              <a:t>“That space in between the beats kind of does make me nervous”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987552"/>
            <a:ext cx="38404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WHERE YOU ARE TODAY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207008"/>
            <a:ext cx="3840480" cy="188366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316736"/>
            <a:ext cx="169164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TODAY  ·  STAGE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463040"/>
            <a:ext cx="1691640" cy="42062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Solo Practitioner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316736"/>
            <a:ext cx="169164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50" b="1" i="0">
                <a:solidFill>
                  <a:srgbClr val="69CD2B"/>
                </a:solidFill>
                <a:latin typeface="Poppins"/>
              </a:rPr>
              <a:t>GOAL  ·  STAGE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1463040"/>
            <a:ext cx="1691640" cy="42062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200" b="1" i="0">
                <a:solidFill>
                  <a:srgbClr val="FFFFFF"/>
                </a:solidFill>
                <a:latin typeface="Poppins"/>
              </a:rPr>
              <a:t>Law Firm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80" y="2754172"/>
            <a:ext cx="651052" cy="190195"/>
          </a:xfrm>
          <a:prstGeom prst="rect">
            <a:avLst/>
          </a:prstGeom>
          <a:solidFill>
            <a:srgbClr val="2F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80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A9D68C"/>
                </a:solidFill>
                <a:latin typeface="Poppins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17996" y="2563977"/>
            <a:ext cx="651052" cy="380390"/>
          </a:xfrm>
          <a:prstGeom prst="rect">
            <a:avLst/>
          </a:prstGeom>
          <a:solidFill>
            <a:srgbClr val="69CD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17996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143306"/>
                </a:solidFill>
                <a:latin typeface="Poppins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3913" y="2373782"/>
            <a:ext cx="651052" cy="570585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3913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9CC0D6"/>
                </a:solidFill>
                <a:latin typeface="Poppi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29830" y="2183587"/>
            <a:ext cx="651052" cy="760780"/>
          </a:xfrm>
          <a:prstGeom prst="rect">
            <a:avLst/>
          </a:prstGeom>
          <a:solidFill>
            <a:srgbClr val="0B4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29830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9CC0D6"/>
                </a:solidFill>
                <a:latin typeface="Poppins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35747" y="1993392"/>
            <a:ext cx="651052" cy="950975"/>
          </a:xfrm>
          <a:prstGeom prst="rect">
            <a:avLst/>
          </a:prstGeom>
          <a:solidFill>
            <a:srgbClr val="003A59"/>
          </a:solidFill>
          <a:ln w="19050">
            <a:solidFill>
              <a:srgbClr val="69C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35747" y="2670048"/>
            <a:ext cx="651052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1" i="0">
                <a:solidFill>
                  <a:srgbClr val="69CD2B"/>
                </a:solidFill>
                <a:latin typeface="Poppins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3200400"/>
            <a:ext cx="36576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YOUR KEY GAPS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19856"/>
            <a:ext cx="8595360" cy="12435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3776" y="3602736"/>
            <a:ext cx="256032" cy="3657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3675887"/>
            <a:ext cx="2535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LEAD GENERATION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3895344"/>
            <a:ext cx="2535936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4A5C6B"/>
                </a:solidFill>
                <a:latin typeface="Poppins"/>
              </a:rPr>
              <a:t>Referrals alone leave new-client flow unpredictable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139440" y="3584448"/>
            <a:ext cx="0" cy="932688"/>
          </a:xfrm>
          <a:prstGeom prst="line">
            <a:avLst/>
          </a:prstGeom>
          <a:ln w="9525">
            <a:solidFill>
              <a:srgbClr val="D9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358895" y="3602736"/>
            <a:ext cx="256032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04032" y="3675887"/>
            <a:ext cx="2535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TEAM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04032" y="3895344"/>
            <a:ext cx="2535936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4A5C6B"/>
                </a:solidFill>
                <a:latin typeface="Poppins"/>
              </a:rPr>
              <a:t>Every case runs through Miiko, so growth stops at her calendar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04560" y="3584448"/>
            <a:ext cx="0" cy="932688"/>
          </a:xfrm>
          <a:prstGeom prst="line">
            <a:avLst/>
          </a:prstGeom>
          <a:ln w="9525">
            <a:solidFill>
              <a:srgbClr val="D9E2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224016" y="3602736"/>
            <a:ext cx="256032" cy="3657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9151" y="3675887"/>
            <a:ext cx="253593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PROFIT 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69151" y="3895344"/>
            <a:ext cx="2535936" cy="6949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4A5C6B"/>
                </a:solidFill>
                <a:latin typeface="Poppins"/>
              </a:rPr>
              <a:t>Uneven monthly revenue makes hiring associates hard to plan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RANDY GOLD | SMB TEAM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82880"/>
            <a:ext cx="85039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MIIKO ANDERSON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Growth Plan: 3 Priorities to Reach Space and Freedom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2724912" cy="87782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23591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PRIORITY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Open a Second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Client Source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883664"/>
            <a:ext cx="2724912" cy="2743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2029968"/>
            <a:ext cx="2468880" cy="2505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46304" indent="-146304"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Launch Local Service Ads for Fresno criminal defense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Pay only when a real prospect calls you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Review leads and cost per lead together each month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Quiet stretches stop dictating your week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Later: add a website and local search foundation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9544" y="1005840"/>
            <a:ext cx="2724912" cy="877824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097280"/>
            <a:ext cx="23591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43306"/>
                </a:solidFill>
                <a:latin typeface="Poppins"/>
              </a:rPr>
              <a:t>PRIORITY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280160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Coach the Firm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527048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You Want to 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9544" y="1883664"/>
            <a:ext cx="2724912" cy="2743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2029968"/>
            <a:ext cx="2468880" cy="2505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46304" indent="-146304"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Group coaching alongside other law firm owners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Monthly 1:1 call to work through your options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Map the order of your first associate hire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Write down intake and case steps for new hires</a:t>
            </a:r>
          </a:p>
          <a:p>
            <a:pPr marL="146304" indent="-146304">
              <a:spcBef>
                <a:spcPts val="600"/>
              </a:spcBef>
              <a:buClr>
                <a:srgbClr val="69CD2B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Build a firm that does not need you in every case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1005840"/>
            <a:ext cx="2724912" cy="87782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097280"/>
            <a:ext cx="23591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PRIORITY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1280160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Steady Follow-Up &amp;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1527048"/>
            <a:ext cx="23591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Clear Numbers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4768" y="1883664"/>
            <a:ext cx="2724912" cy="27432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2783" y="2029968"/>
            <a:ext cx="2468880" cy="2505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146304" indent="-146304"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Add one clear way to request a consult on the homepage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Follow up on consults that do not sign right away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Use the Clio you already have to keep follow-up steady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Set the revenue target that funds two associates</a:t>
            </a:r>
          </a:p>
          <a:p>
            <a:pPr marL="146304" indent="-146304">
              <a:spcBef>
                <a:spcPts val="600"/>
              </a:spcBef>
              <a:buClr>
                <a:srgbClr val="003A59"/>
              </a:buClr>
              <a:buFont typeface="Arial"/>
              <a:buChar char="•"/>
            </a:pPr>
            <a:r>
              <a:rPr sz="1100">
                <a:solidFill>
                  <a:srgbClr val="1B2A38"/>
                </a:solidFill>
                <a:latin typeface="Poppins"/>
              </a:rPr>
              <a:t>Track monthly numbers so hiring is a plan, not a guess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RANDY GOLD | SMB TEAM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182880"/>
            <a:ext cx="85039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MIIKO ANDERSON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384048"/>
            <a:ext cx="8503920" cy="40233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36576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115568"/>
            <a:ext cx="3621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COACH ESSENTIALS PLUS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252728"/>
            <a:ext cx="2377440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$2,497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2323" y="1519428"/>
            <a:ext cx="457200" cy="21945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2609" y="1519428"/>
            <a:ext cx="1891918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stand-alone price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1737360"/>
            <a:ext cx="3621024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Group coaching · Monthly 1:1 coaching 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05740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057400"/>
            <a:ext cx="36576" cy="96012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167128"/>
            <a:ext cx="3621024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91C9"/>
                </a:solidFill>
                <a:latin typeface="Poppins"/>
              </a:rPr>
              <a:t>LSA MANAGEMENT ADD-ON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2304288"/>
            <a:ext cx="2377440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49" y="2570988"/>
            <a:ext cx="457200" cy="21945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8036" y="2570988"/>
            <a:ext cx="2666492" cy="21945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$900/mo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2788920"/>
            <a:ext cx="3621024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Local Service Ads setup and management · Complimentary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108960"/>
            <a:ext cx="4041648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108960"/>
            <a:ext cx="36576" cy="65836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3200400"/>
            <a:ext cx="15544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" y="3346704"/>
            <a:ext cx="2194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oppins"/>
              </a:rPr>
              <a:t>$2,497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72208" y="3460051"/>
            <a:ext cx="2252319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A9D68C"/>
                </a:solidFill>
                <a:latin typeface="Poppins"/>
              </a:rPr>
              <a:t>Save $900/mo with complimentary LSA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58768"/>
            <a:ext cx="4041648" cy="384048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858768"/>
            <a:ext cx="3675887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+ Recommended ad spend: $2,000–$2,500/mo — to reach Fresno searchers ready to call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005840"/>
            <a:ext cx="4297680" cy="1298448"/>
          </a:xfrm>
          <a:prstGeom prst="rect">
            <a:avLst/>
          </a:prstGeom>
          <a:solidFill>
            <a:srgbClr val="F0FAF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73168" y="1152144"/>
            <a:ext cx="3895344" cy="14630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B6B4A"/>
                </a:solidFill>
                <a:latin typeface="Poppins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73168" y="1444752"/>
            <a:ext cx="17830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1B2A38"/>
                </a:solidFill>
                <a:latin typeface="Poppins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444752"/>
            <a:ext cx="21031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0B6B4A"/>
                </a:solidFill>
                <a:latin typeface="Poppins"/>
              </a:rPr>
              <a:t>$4,000 (estimate)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0016" y="1673352"/>
            <a:ext cx="4041648" cy="256032"/>
          </a:xfrm>
          <a:prstGeom prst="rect">
            <a:avLst/>
          </a:prstGeom>
          <a:solidFill>
            <a:srgbClr val="E2F3E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1737360"/>
            <a:ext cx="17830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B2A38"/>
                </a:solidFill>
                <a:latin typeface="Poppins"/>
              </a:rPr>
              <a:t>Conservative  (2–3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737360"/>
            <a:ext cx="21031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B6B4A"/>
                </a:solidFill>
                <a:latin typeface="Poppins"/>
              </a:rPr>
              <a:t>$10,400 revenue · 5.2×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73168" y="2020824"/>
            <a:ext cx="17830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B2A38"/>
                </a:solidFill>
                <a:latin typeface="Poppins"/>
              </a:rPr>
              <a:t>Aggressive  (3–4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020824"/>
            <a:ext cx="210312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B6B4A"/>
                </a:solidFill>
                <a:latin typeface="Poppins"/>
              </a:rPr>
              <a:t>$15,600 revenue · 6.2×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2487168"/>
            <a:ext cx="4297680" cy="1645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HOW THIS PLAN ADDRESSES 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0" y="2734056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00016" y="2816352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46320" y="2734056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No marketing yet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2734056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4A5C6B"/>
                </a:solidFill>
                <a:latin typeface="Poppins"/>
              </a:rPr>
              <a:t>LSA adds a second source; pay when a prospect calls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3081528"/>
            <a:ext cx="4297680" cy="26517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00016" y="3163824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46320" y="3081528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Needs framework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081528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Monthly 1:1 coaching to map options and first hires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3429000"/>
            <a:ext cx="4297680" cy="265176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700016" y="3511296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46320" y="3429000"/>
            <a:ext cx="114300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Solo, lean start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3429000"/>
            <a:ext cx="2926080" cy="265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0">
                <a:solidFill>
                  <a:srgbClr val="4A5C6B"/>
                </a:solidFill>
                <a:latin typeface="Poppins"/>
              </a:rPr>
              <a:t>One coaching plan; LSA management fee included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4261104"/>
            <a:ext cx="9144000" cy="557784"/>
          </a:xfrm>
          <a:prstGeom prst="rect">
            <a:avLst/>
          </a:prstGeom>
          <a:solidFill>
            <a:srgbClr val="002A4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4261104"/>
            <a:ext cx="9144000" cy="1828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4297680"/>
            <a:ext cx="7863840" cy="4937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0" i="0">
                <a:solidFill>
                  <a:srgbClr val="C2D8E6"/>
                </a:solidFill>
                <a:latin typeface="Poppins"/>
              </a:rPr>
              <a:t>"A firm scaled to the level that I'm not needed in every case, with a little bit of space and freedom for the things I'm better at."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RANDY GOLD | SMB TEAM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