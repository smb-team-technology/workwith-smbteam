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960120"/>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92608" y="91440"/>
            <a:ext cx="8595360" cy="201168"/>
          </a:xfrm>
          <a:prstGeom prst="rect">
            <a:avLst/>
          </a:prstGeom>
          <a:noFill/>
        </p:spPr>
        <p:txBody>
          <a:bodyPr wrap="square"/>
          <a:lstStyle/>
          <a:p>
            <a:pPr algn="l"/>
            <a:r>
              <a:rPr sz="800" b="1" i="0">
                <a:solidFill>
                  <a:srgbClr val="F5C400"/>
                </a:solidFill>
                <a:latin typeface="Calibri"/>
              </a:rPr>
              <a:t>LAW FIRM GROWTH AUDIT  ·  LASSER LAW GROUP</a:t>
            </a:r>
          </a:p>
        </p:txBody>
      </p:sp>
      <p:sp>
        <p:nvSpPr>
          <p:cNvPr id="4" name="TextBox 3"/>
          <p:cNvSpPr txBox="1"/>
          <p:nvPr/>
        </p:nvSpPr>
        <p:spPr>
          <a:xfrm>
            <a:off x="292608" y="310896"/>
            <a:ext cx="8595360" cy="548640"/>
          </a:xfrm>
          <a:prstGeom prst="rect">
            <a:avLst/>
          </a:prstGeom>
          <a:noFill/>
        </p:spPr>
        <p:txBody>
          <a:bodyPr wrap="square"/>
          <a:lstStyle/>
          <a:p>
            <a:pPr algn="l"/>
            <a:r>
              <a:rPr sz="2400" b="1" i="0">
                <a:solidFill>
                  <a:srgbClr val="FFFFFF"/>
                </a:solidFill>
                <a:latin typeface="Calibri"/>
              </a:rPr>
              <a:t>Where Lasser Law Group Stands Today</a:t>
            </a:r>
          </a:p>
        </p:txBody>
      </p:sp>
      <p:sp>
        <p:nvSpPr>
          <p:cNvPr id="5" name="Rectangle 4"/>
          <p:cNvSpPr/>
          <p:nvPr/>
        </p:nvSpPr>
        <p:spPr>
          <a:xfrm>
            <a:off x="0" y="960120"/>
            <a:ext cx="146304" cy="3867912"/>
          </a:xfrm>
          <a:prstGeom prst="rect">
            <a:avLst/>
          </a:prstGeom>
          <a:solidFill>
            <a:srgbClr val="F5C40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6032" y="1005840"/>
            <a:ext cx="1298448" cy="841248"/>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1005840"/>
            <a:ext cx="1298448" cy="566928"/>
          </a:xfrm>
          <a:prstGeom prst="rect">
            <a:avLst/>
          </a:prstGeom>
          <a:noFill/>
        </p:spPr>
        <p:txBody>
          <a:bodyPr wrap="square"/>
          <a:lstStyle/>
          <a:p>
            <a:pPr algn="ctr"/>
            <a:r>
              <a:rPr sz="2800" b="1" i="0">
                <a:solidFill>
                  <a:srgbClr val="FFFFFF"/>
                </a:solidFill>
                <a:latin typeface="Calibri"/>
              </a:rPr>
              <a:t>7</a:t>
            </a:r>
          </a:p>
        </p:txBody>
      </p:sp>
      <p:sp>
        <p:nvSpPr>
          <p:cNvPr id="8" name="TextBox 7"/>
          <p:cNvSpPr txBox="1"/>
          <p:nvPr/>
        </p:nvSpPr>
        <p:spPr>
          <a:xfrm>
            <a:off x="256032" y="1572768"/>
            <a:ext cx="1298448" cy="274320"/>
          </a:xfrm>
          <a:prstGeom prst="rect">
            <a:avLst/>
          </a:prstGeom>
          <a:noFill/>
        </p:spPr>
        <p:txBody>
          <a:bodyPr wrap="square"/>
          <a:lstStyle/>
          <a:p>
            <a:pPr algn="ctr"/>
            <a:r>
              <a:rPr sz="600" b="1" i="0">
                <a:solidFill>
                  <a:srgbClr val="FFFFFF"/>
                </a:solidFill>
                <a:latin typeface="Calibri"/>
              </a:rPr>
              <a:t>COMPETITIVE URGENCY</a:t>
            </a:r>
          </a:p>
        </p:txBody>
      </p:sp>
      <p:sp>
        <p:nvSpPr>
          <p:cNvPr id="9" name="Rectangle 8"/>
          <p:cNvSpPr/>
          <p:nvPr/>
        </p:nvSpPr>
        <p:spPr>
          <a:xfrm>
            <a:off x="1682496" y="1005840"/>
            <a:ext cx="804672" cy="164592"/>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82496" y="1170432"/>
            <a:ext cx="804672" cy="676656"/>
          </a:xfrm>
          <a:prstGeom prst="rect">
            <a:avLst/>
          </a:prstGeom>
          <a:solidFill>
            <a:srgbClr val="162947"/>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37360" y="1188720"/>
            <a:ext cx="694944" cy="237744"/>
          </a:xfrm>
          <a:prstGeom prst="rect">
            <a:avLst/>
          </a:prstGeom>
          <a:noFill/>
        </p:spPr>
        <p:txBody>
          <a:bodyPr wrap="square"/>
          <a:lstStyle/>
          <a:p>
            <a:pPr algn="l"/>
            <a:r>
              <a:rPr sz="800" b="1" i="0">
                <a:solidFill>
                  <a:srgbClr val="FFFFFF"/>
                </a:solidFill>
                <a:latin typeface="Calibri"/>
              </a:rPr>
              <a:t>Lead Generation</a:t>
            </a:r>
          </a:p>
        </p:txBody>
      </p:sp>
      <p:sp>
        <p:nvSpPr>
          <p:cNvPr id="12" name="TextBox 11"/>
          <p:cNvSpPr txBox="1"/>
          <p:nvPr/>
        </p:nvSpPr>
        <p:spPr>
          <a:xfrm>
            <a:off x="1737360" y="1417320"/>
            <a:ext cx="694944" cy="182880"/>
          </a:xfrm>
          <a:prstGeom prst="rect">
            <a:avLst/>
          </a:prstGeom>
          <a:noFill/>
        </p:spPr>
        <p:txBody>
          <a:bodyPr wrap="square"/>
          <a:lstStyle/>
          <a:p>
            <a:pPr algn="l"/>
            <a:r>
              <a:rPr sz="700" b="1" i="0">
                <a:solidFill>
                  <a:srgbClr val="C0392B"/>
                </a:solidFill>
                <a:latin typeface="Calibri"/>
              </a:rPr>
              <a:t>CRITICAL</a:t>
            </a:r>
          </a:p>
        </p:txBody>
      </p:sp>
      <p:sp>
        <p:nvSpPr>
          <p:cNvPr id="13" name="TextBox 12"/>
          <p:cNvSpPr txBox="1"/>
          <p:nvPr/>
        </p:nvSpPr>
        <p:spPr>
          <a:xfrm>
            <a:off x="1737360" y="1591056"/>
            <a:ext cx="694944" cy="237744"/>
          </a:xfrm>
          <a:prstGeom prst="rect">
            <a:avLst/>
          </a:prstGeom>
          <a:noFill/>
        </p:spPr>
        <p:txBody>
          <a:bodyPr wrap="square"/>
          <a:lstStyle/>
          <a:p>
            <a:pPr algn="l"/>
            <a:r>
              <a:rPr sz="700" b="0" i="0">
                <a:solidFill>
                  <a:srgbClr val="8BADD0"/>
                </a:solidFill>
                <a:latin typeface="Calibri"/>
              </a:rPr>
              <a:t>No ads / no 3-pack</a:t>
            </a:r>
          </a:p>
        </p:txBody>
      </p:sp>
      <p:sp>
        <p:nvSpPr>
          <p:cNvPr id="14" name="Rectangle 13"/>
          <p:cNvSpPr/>
          <p:nvPr/>
        </p:nvSpPr>
        <p:spPr>
          <a:xfrm>
            <a:off x="2542032" y="1005840"/>
            <a:ext cx="804672" cy="164592"/>
          </a:xfrm>
          <a:prstGeom prst="rect">
            <a:avLst/>
          </a:prstGeom>
          <a:solidFill>
            <a:srgbClr val="D97706"/>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42032" y="1170432"/>
            <a:ext cx="804672" cy="676656"/>
          </a:xfrm>
          <a:prstGeom prst="rect">
            <a:avLst/>
          </a:prstGeom>
          <a:solidFill>
            <a:srgbClr val="162947"/>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1188720"/>
            <a:ext cx="694944" cy="237744"/>
          </a:xfrm>
          <a:prstGeom prst="rect">
            <a:avLst/>
          </a:prstGeom>
          <a:noFill/>
        </p:spPr>
        <p:txBody>
          <a:bodyPr wrap="square"/>
          <a:lstStyle/>
          <a:p>
            <a:pPr algn="l"/>
            <a:r>
              <a:rPr sz="800" b="1" i="0">
                <a:solidFill>
                  <a:srgbClr val="FFFFFF"/>
                </a:solidFill>
                <a:latin typeface="Calibri"/>
              </a:rPr>
              <a:t>Intake</a:t>
            </a:r>
          </a:p>
        </p:txBody>
      </p:sp>
      <p:sp>
        <p:nvSpPr>
          <p:cNvPr id="17" name="TextBox 16"/>
          <p:cNvSpPr txBox="1"/>
          <p:nvPr/>
        </p:nvSpPr>
        <p:spPr>
          <a:xfrm>
            <a:off x="2596896" y="1417320"/>
            <a:ext cx="694944" cy="182880"/>
          </a:xfrm>
          <a:prstGeom prst="rect">
            <a:avLst/>
          </a:prstGeom>
          <a:noFill/>
        </p:spPr>
        <p:txBody>
          <a:bodyPr wrap="square"/>
          <a:lstStyle/>
          <a:p>
            <a:pPr algn="l"/>
            <a:r>
              <a:rPr sz="700" b="1" i="0">
                <a:solidFill>
                  <a:srgbClr val="D97706"/>
                </a:solidFill>
                <a:latin typeface="Calibri"/>
              </a:rPr>
              <a:t>AMBER</a:t>
            </a:r>
          </a:p>
        </p:txBody>
      </p:sp>
      <p:sp>
        <p:nvSpPr>
          <p:cNvPr id="18" name="TextBox 17"/>
          <p:cNvSpPr txBox="1"/>
          <p:nvPr/>
        </p:nvSpPr>
        <p:spPr>
          <a:xfrm>
            <a:off x="2596896" y="1591056"/>
            <a:ext cx="694944" cy="237744"/>
          </a:xfrm>
          <a:prstGeom prst="rect">
            <a:avLst/>
          </a:prstGeom>
          <a:noFill/>
        </p:spPr>
        <p:txBody>
          <a:bodyPr wrap="square"/>
          <a:lstStyle/>
          <a:p>
            <a:pPr algn="l"/>
            <a:r>
              <a:rPr sz="700" b="0" i="0">
                <a:solidFill>
                  <a:srgbClr val="8BADD0"/>
                </a:solidFill>
                <a:latin typeface="Calibri"/>
              </a:rPr>
              <a:t>No live chat / form</a:t>
            </a:r>
          </a:p>
        </p:txBody>
      </p:sp>
      <p:sp>
        <p:nvSpPr>
          <p:cNvPr id="19" name="Rectangle 18"/>
          <p:cNvSpPr/>
          <p:nvPr/>
        </p:nvSpPr>
        <p:spPr>
          <a:xfrm>
            <a:off x="3401568" y="1005840"/>
            <a:ext cx="804672" cy="164592"/>
          </a:xfrm>
          <a:prstGeom prst="rect">
            <a:avLst/>
          </a:prstGeom>
          <a:solidFill>
            <a:srgbClr val="D97706"/>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401568" y="1170432"/>
            <a:ext cx="804672" cy="676656"/>
          </a:xfrm>
          <a:prstGeom prst="rect">
            <a:avLst/>
          </a:prstGeom>
          <a:solidFill>
            <a:srgbClr val="162947"/>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56432" y="1188720"/>
            <a:ext cx="694944" cy="237744"/>
          </a:xfrm>
          <a:prstGeom prst="rect">
            <a:avLst/>
          </a:prstGeom>
          <a:noFill/>
        </p:spPr>
        <p:txBody>
          <a:bodyPr wrap="square"/>
          <a:lstStyle/>
          <a:p>
            <a:pPr algn="l"/>
            <a:r>
              <a:rPr sz="800" b="1" i="0">
                <a:solidFill>
                  <a:srgbClr val="FFFFFF"/>
                </a:solidFill>
                <a:latin typeface="Calibri"/>
              </a:rPr>
              <a:t>Team</a:t>
            </a:r>
          </a:p>
        </p:txBody>
      </p:sp>
      <p:sp>
        <p:nvSpPr>
          <p:cNvPr id="22" name="TextBox 21"/>
          <p:cNvSpPr txBox="1"/>
          <p:nvPr/>
        </p:nvSpPr>
        <p:spPr>
          <a:xfrm>
            <a:off x="3456432" y="1417320"/>
            <a:ext cx="694944" cy="182880"/>
          </a:xfrm>
          <a:prstGeom prst="rect">
            <a:avLst/>
          </a:prstGeom>
          <a:noFill/>
        </p:spPr>
        <p:txBody>
          <a:bodyPr wrap="square"/>
          <a:lstStyle/>
          <a:p>
            <a:pPr algn="l"/>
            <a:r>
              <a:rPr sz="700" b="1" i="0">
                <a:solidFill>
                  <a:srgbClr val="D97706"/>
                </a:solidFill>
                <a:latin typeface="Calibri"/>
              </a:rPr>
              <a:t>AMBER</a:t>
            </a:r>
          </a:p>
        </p:txBody>
      </p:sp>
      <p:sp>
        <p:nvSpPr>
          <p:cNvPr id="23" name="TextBox 22"/>
          <p:cNvSpPr txBox="1"/>
          <p:nvPr/>
        </p:nvSpPr>
        <p:spPr>
          <a:xfrm>
            <a:off x="3456432" y="1591056"/>
            <a:ext cx="694944" cy="237744"/>
          </a:xfrm>
          <a:prstGeom prst="rect">
            <a:avLst/>
          </a:prstGeom>
          <a:noFill/>
        </p:spPr>
        <p:txBody>
          <a:bodyPr wrap="square"/>
          <a:lstStyle/>
          <a:p>
            <a:pPr algn="l"/>
            <a:r>
              <a:rPr sz="700" b="0" i="0">
                <a:solidFill>
                  <a:srgbClr val="8BADD0"/>
                </a:solidFill>
                <a:latin typeface="Calibri"/>
              </a:rPr>
              <a:t>No mgmt layer yet</a:t>
            </a:r>
          </a:p>
        </p:txBody>
      </p:sp>
      <p:sp>
        <p:nvSpPr>
          <p:cNvPr id="24" name="Rectangle 23"/>
          <p:cNvSpPr/>
          <p:nvPr/>
        </p:nvSpPr>
        <p:spPr>
          <a:xfrm>
            <a:off x="4261104" y="1005840"/>
            <a:ext cx="804672" cy="164592"/>
          </a:xfrm>
          <a:prstGeom prst="rect">
            <a:avLst/>
          </a:prstGeom>
          <a:solidFill>
            <a:srgbClr val="D97706"/>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61104" y="1170432"/>
            <a:ext cx="804672" cy="676656"/>
          </a:xfrm>
          <a:prstGeom prst="rect">
            <a:avLst/>
          </a:prstGeom>
          <a:solidFill>
            <a:srgbClr val="162947"/>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15968" y="1188720"/>
            <a:ext cx="694944" cy="237744"/>
          </a:xfrm>
          <a:prstGeom prst="rect">
            <a:avLst/>
          </a:prstGeom>
          <a:noFill/>
        </p:spPr>
        <p:txBody>
          <a:bodyPr wrap="square"/>
          <a:lstStyle/>
          <a:p>
            <a:pPr algn="l"/>
            <a:r>
              <a:rPr sz="800" b="1" i="0">
                <a:solidFill>
                  <a:srgbClr val="FFFFFF"/>
                </a:solidFill>
                <a:latin typeface="Calibri"/>
              </a:rPr>
              <a:t>Profit Plan</a:t>
            </a:r>
          </a:p>
        </p:txBody>
      </p:sp>
      <p:sp>
        <p:nvSpPr>
          <p:cNvPr id="27" name="TextBox 26"/>
          <p:cNvSpPr txBox="1"/>
          <p:nvPr/>
        </p:nvSpPr>
        <p:spPr>
          <a:xfrm>
            <a:off x="4315968" y="1417320"/>
            <a:ext cx="694944" cy="182880"/>
          </a:xfrm>
          <a:prstGeom prst="rect">
            <a:avLst/>
          </a:prstGeom>
          <a:noFill/>
        </p:spPr>
        <p:txBody>
          <a:bodyPr wrap="square"/>
          <a:lstStyle/>
          <a:p>
            <a:pPr algn="l"/>
            <a:r>
              <a:rPr sz="700" b="1" i="0">
                <a:solidFill>
                  <a:srgbClr val="D97706"/>
                </a:solidFill>
                <a:latin typeface="Calibri"/>
              </a:rPr>
              <a:t>AMBER</a:t>
            </a:r>
          </a:p>
        </p:txBody>
      </p:sp>
      <p:sp>
        <p:nvSpPr>
          <p:cNvPr id="28" name="TextBox 27"/>
          <p:cNvSpPr txBox="1"/>
          <p:nvPr/>
        </p:nvSpPr>
        <p:spPr>
          <a:xfrm>
            <a:off x="4315968" y="1591056"/>
            <a:ext cx="694944" cy="237744"/>
          </a:xfrm>
          <a:prstGeom prst="rect">
            <a:avLst/>
          </a:prstGeom>
          <a:noFill/>
        </p:spPr>
        <p:txBody>
          <a:bodyPr wrap="square"/>
          <a:lstStyle/>
          <a:p>
            <a:pPr algn="l"/>
            <a:r>
              <a:rPr sz="700" b="0" i="0">
                <a:solidFill>
                  <a:srgbClr val="8BADD0"/>
                </a:solidFill>
                <a:latin typeface="Calibri"/>
              </a:rPr>
              <a:t>No margin tracking</a:t>
            </a:r>
          </a:p>
        </p:txBody>
      </p:sp>
      <p:sp>
        <p:nvSpPr>
          <p:cNvPr id="29" name="TextBox 28"/>
          <p:cNvSpPr txBox="1"/>
          <p:nvPr/>
        </p:nvSpPr>
        <p:spPr>
          <a:xfrm>
            <a:off x="256032" y="1956816"/>
            <a:ext cx="4846320" cy="219456"/>
          </a:xfrm>
          <a:prstGeom prst="rect">
            <a:avLst/>
          </a:prstGeom>
          <a:noFill/>
        </p:spPr>
        <p:txBody>
          <a:bodyPr wrap="square"/>
          <a:lstStyle/>
          <a:p>
            <a:pPr algn="l"/>
            <a:r>
              <a:rPr sz="800" b="1" i="0">
                <a:solidFill>
                  <a:srgbClr val="F5C400"/>
                </a:solidFill>
                <a:latin typeface="Calibri"/>
              </a:rPr>
              <a:t>KEY FINDINGS</a:t>
            </a:r>
          </a:p>
        </p:txBody>
      </p:sp>
      <p:sp>
        <p:nvSpPr>
          <p:cNvPr id="30" name="Rectangle 29"/>
          <p:cNvSpPr/>
          <p:nvPr/>
        </p:nvSpPr>
        <p:spPr>
          <a:xfrm>
            <a:off x="256032" y="2212848"/>
            <a:ext cx="4846320" cy="566928"/>
          </a:xfrm>
          <a:prstGeom prst="rect">
            <a:avLst/>
          </a:prstGeom>
          <a:solidFill>
            <a:srgbClr val="2C101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2386584"/>
            <a:ext cx="219456" cy="219456"/>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5760" y="2368296"/>
            <a:ext cx="219456" cy="237744"/>
          </a:xfrm>
          <a:prstGeom prst="rect">
            <a:avLst/>
          </a:prstGeom>
          <a:noFill/>
        </p:spPr>
        <p:txBody>
          <a:bodyPr wrap="square"/>
          <a:lstStyle/>
          <a:p>
            <a:pPr algn="ctr"/>
            <a:r>
              <a:rPr sz="900" b="1" i="0">
                <a:solidFill>
                  <a:srgbClr val="FFFFFF"/>
                </a:solidFill>
                <a:latin typeface="Calibri"/>
              </a:rPr>
              <a:t>✕</a:t>
            </a:r>
          </a:p>
        </p:txBody>
      </p:sp>
      <p:sp>
        <p:nvSpPr>
          <p:cNvPr id="33" name="TextBox 32"/>
          <p:cNvSpPr txBox="1"/>
          <p:nvPr/>
        </p:nvSpPr>
        <p:spPr>
          <a:xfrm>
            <a:off x="676656" y="2286000"/>
            <a:ext cx="4352544" cy="420624"/>
          </a:xfrm>
          <a:prstGeom prst="rect">
            <a:avLst/>
          </a:prstGeom>
          <a:noFill/>
        </p:spPr>
        <p:txBody>
          <a:bodyPr wrap="square"/>
          <a:lstStyle/>
          <a:p>
            <a:pPr algn="l"/>
            <a:r>
              <a:rPr sz="1000" b="0" i="0">
                <a:solidFill>
                  <a:srgbClr val="F0BABA"/>
                </a:solidFill>
                <a:latin typeface="Calibri"/>
              </a:rPr>
              <a:t>Zero paid ads, LSA, or 3-pack presence — online clients go to competitors</a:t>
            </a:r>
          </a:p>
        </p:txBody>
      </p:sp>
      <p:sp>
        <p:nvSpPr>
          <p:cNvPr id="34" name="Rectangle 33"/>
          <p:cNvSpPr/>
          <p:nvPr/>
        </p:nvSpPr>
        <p:spPr>
          <a:xfrm>
            <a:off x="256032" y="2834640"/>
            <a:ext cx="4846320" cy="566928"/>
          </a:xfrm>
          <a:prstGeom prst="rect">
            <a:avLst/>
          </a:prstGeom>
          <a:solidFill>
            <a:srgbClr val="2C101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5760" y="3008376"/>
            <a:ext cx="219456" cy="219456"/>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65760" y="2990088"/>
            <a:ext cx="219456" cy="237744"/>
          </a:xfrm>
          <a:prstGeom prst="rect">
            <a:avLst/>
          </a:prstGeom>
          <a:noFill/>
        </p:spPr>
        <p:txBody>
          <a:bodyPr wrap="square"/>
          <a:lstStyle/>
          <a:p>
            <a:pPr algn="ctr"/>
            <a:r>
              <a:rPr sz="900" b="1" i="0">
                <a:solidFill>
                  <a:srgbClr val="FFFFFF"/>
                </a:solidFill>
                <a:latin typeface="Calibri"/>
              </a:rPr>
              <a:t>✕</a:t>
            </a:r>
          </a:p>
        </p:txBody>
      </p:sp>
      <p:sp>
        <p:nvSpPr>
          <p:cNvPr id="37" name="TextBox 36"/>
          <p:cNvSpPr txBox="1"/>
          <p:nvPr/>
        </p:nvSpPr>
        <p:spPr>
          <a:xfrm>
            <a:off x="676656" y="2907792"/>
            <a:ext cx="4352544" cy="420624"/>
          </a:xfrm>
          <a:prstGeom prst="rect">
            <a:avLst/>
          </a:prstGeom>
          <a:noFill/>
        </p:spPr>
        <p:txBody>
          <a:bodyPr wrap="square"/>
          <a:lstStyle/>
          <a:p>
            <a:pPr algn="l"/>
            <a:r>
              <a:rPr sz="1000" b="0" i="0">
                <a:solidFill>
                  <a:srgbClr val="F0BABA"/>
                </a:solidFill>
                <a:latin typeface="Calibri"/>
              </a:rPr>
              <a:t>3.6-star rating with 24 reviews actively losing comparison-shopping clients</a:t>
            </a:r>
          </a:p>
        </p:txBody>
      </p:sp>
      <p:sp>
        <p:nvSpPr>
          <p:cNvPr id="38" name="Rectangle 37"/>
          <p:cNvSpPr/>
          <p:nvPr/>
        </p:nvSpPr>
        <p:spPr>
          <a:xfrm>
            <a:off x="256032" y="3456432"/>
            <a:ext cx="4846320" cy="566928"/>
          </a:xfrm>
          <a:prstGeom prst="rect">
            <a:avLst/>
          </a:prstGeom>
          <a:solidFill>
            <a:srgbClr val="2C101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3630168"/>
            <a:ext cx="219456" cy="219456"/>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760" y="3611879"/>
            <a:ext cx="219456" cy="237744"/>
          </a:xfrm>
          <a:prstGeom prst="rect">
            <a:avLst/>
          </a:prstGeom>
          <a:noFill/>
        </p:spPr>
        <p:txBody>
          <a:bodyPr wrap="square"/>
          <a:lstStyle/>
          <a:p>
            <a:pPr algn="ctr"/>
            <a:r>
              <a:rPr sz="900" b="1" i="0">
                <a:solidFill>
                  <a:srgbClr val="FFFFFF"/>
                </a:solidFill>
                <a:latin typeface="Calibri"/>
              </a:rPr>
              <a:t>✕</a:t>
            </a:r>
          </a:p>
        </p:txBody>
      </p:sp>
      <p:sp>
        <p:nvSpPr>
          <p:cNvPr id="41" name="TextBox 40"/>
          <p:cNvSpPr txBox="1"/>
          <p:nvPr/>
        </p:nvSpPr>
        <p:spPr>
          <a:xfrm>
            <a:off x="676656" y="3529584"/>
            <a:ext cx="4352544" cy="420624"/>
          </a:xfrm>
          <a:prstGeom prst="rect">
            <a:avLst/>
          </a:prstGeom>
          <a:noFill/>
        </p:spPr>
        <p:txBody>
          <a:bodyPr wrap="square"/>
          <a:lstStyle/>
          <a:p>
            <a:pPr algn="l"/>
            <a:r>
              <a:rPr sz="1000" b="0" i="0">
                <a:solidFill>
                  <a:srgbClr val="F0BABA"/>
                </a:solidFill>
                <a:latin typeface="Calibri"/>
              </a:rPr>
              <a:t>No above-fold contact form — website visitors leave without engaging</a:t>
            </a:r>
          </a:p>
        </p:txBody>
      </p:sp>
      <p:sp>
        <p:nvSpPr>
          <p:cNvPr id="42" name="Rectangle 41"/>
          <p:cNvSpPr/>
          <p:nvPr/>
        </p:nvSpPr>
        <p:spPr>
          <a:xfrm>
            <a:off x="256032" y="4078224"/>
            <a:ext cx="4846320" cy="566928"/>
          </a:xfrm>
          <a:prstGeom prst="rect">
            <a:avLst/>
          </a:prstGeom>
          <a:solidFill>
            <a:srgbClr val="0C281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65760" y="4251960"/>
            <a:ext cx="219456" cy="219456"/>
          </a:xfrm>
          <a:prstGeom prst="rect">
            <a:avLst/>
          </a:prstGeom>
          <a:solidFill>
            <a:srgbClr val="16A34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5760" y="4233672"/>
            <a:ext cx="219456" cy="237744"/>
          </a:xfrm>
          <a:prstGeom prst="rect">
            <a:avLst/>
          </a:prstGeom>
          <a:noFill/>
        </p:spPr>
        <p:txBody>
          <a:bodyPr wrap="square"/>
          <a:lstStyle/>
          <a:p>
            <a:pPr algn="ctr"/>
            <a:r>
              <a:rPr sz="900" b="1" i="0">
                <a:solidFill>
                  <a:srgbClr val="FFFFFF"/>
                </a:solidFill>
                <a:latin typeface="Calibri"/>
              </a:rPr>
              <a:t>✓</a:t>
            </a:r>
          </a:p>
        </p:txBody>
      </p:sp>
      <p:sp>
        <p:nvSpPr>
          <p:cNvPr id="45" name="TextBox 44"/>
          <p:cNvSpPr txBox="1"/>
          <p:nvPr/>
        </p:nvSpPr>
        <p:spPr>
          <a:xfrm>
            <a:off x="676656" y="4151376"/>
            <a:ext cx="4352544" cy="420624"/>
          </a:xfrm>
          <a:prstGeom prst="rect">
            <a:avLst/>
          </a:prstGeom>
          <a:noFill/>
        </p:spPr>
        <p:txBody>
          <a:bodyPr wrap="square"/>
          <a:lstStyle/>
          <a:p>
            <a:pPr algn="l"/>
            <a:r>
              <a:rPr sz="1000" b="0" i="0">
                <a:solidFill>
                  <a:srgbClr val="86EFAC"/>
                </a:solidFill>
                <a:latin typeface="Calibri"/>
              </a:rPr>
              <a:t>20+ yrs expertise, 9 attorneys, video podcast — credibility already built</a:t>
            </a:r>
          </a:p>
        </p:txBody>
      </p:sp>
      <p:sp>
        <p:nvSpPr>
          <p:cNvPr id="46" name="Rectangle 45"/>
          <p:cNvSpPr/>
          <p:nvPr/>
        </p:nvSpPr>
        <p:spPr>
          <a:xfrm>
            <a:off x="5257800" y="960120"/>
            <a:ext cx="3886200" cy="386791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257800" y="1024128"/>
            <a:ext cx="3886200" cy="694944"/>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57800" y="1024128"/>
            <a:ext cx="128016" cy="694944"/>
          </a:xfrm>
          <a:prstGeom prst="rect">
            <a:avLst/>
          </a:prstGeom>
          <a:solidFill>
            <a:srgbClr val="F5C40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486400" y="1042415"/>
            <a:ext cx="3474720" cy="201168"/>
          </a:xfrm>
          <a:prstGeom prst="rect">
            <a:avLst/>
          </a:prstGeom>
          <a:noFill/>
        </p:spPr>
        <p:txBody>
          <a:bodyPr wrap="square"/>
          <a:lstStyle/>
          <a:p>
            <a:pPr algn="l"/>
            <a:r>
              <a:rPr sz="800" b="1" i="0">
                <a:solidFill>
                  <a:srgbClr val="F5C400"/>
                </a:solidFill>
                <a:latin typeface="Calibri"/>
              </a:rPr>
              <a:t>YOU ARE HERE</a:t>
            </a:r>
          </a:p>
        </p:txBody>
      </p:sp>
      <p:sp>
        <p:nvSpPr>
          <p:cNvPr id="50" name="TextBox 49"/>
          <p:cNvSpPr txBox="1"/>
          <p:nvPr/>
        </p:nvSpPr>
        <p:spPr>
          <a:xfrm>
            <a:off x="5486400" y="1243584"/>
            <a:ext cx="3474720" cy="402336"/>
          </a:xfrm>
          <a:prstGeom prst="rect">
            <a:avLst/>
          </a:prstGeom>
          <a:noFill/>
        </p:spPr>
        <p:txBody>
          <a:bodyPr wrap="square"/>
          <a:lstStyle/>
          <a:p>
            <a:pPr algn="l"/>
            <a:r>
              <a:rPr sz="1000" b="1" i="0">
                <a:solidFill>
                  <a:srgbClr val="FFFFFF"/>
                </a:solidFill>
                <a:latin typeface="Calibri"/>
              </a:rPr>
              <a:t>Stage 4: Small Business Manager  →  Goal: Stage 6, Law Firm Owner</a:t>
            </a:r>
          </a:p>
        </p:txBody>
      </p:sp>
      <p:sp>
        <p:nvSpPr>
          <p:cNvPr id="51" name="TextBox 50"/>
          <p:cNvSpPr txBox="1"/>
          <p:nvPr/>
        </p:nvSpPr>
        <p:spPr>
          <a:xfrm>
            <a:off x="5394960" y="1920240"/>
            <a:ext cx="3566160" cy="219456"/>
          </a:xfrm>
          <a:prstGeom prst="rect">
            <a:avLst/>
          </a:prstGeom>
          <a:noFill/>
        </p:spPr>
        <p:txBody>
          <a:bodyPr wrap="square"/>
          <a:lstStyle/>
          <a:p>
            <a:pPr algn="l"/>
            <a:r>
              <a:rPr sz="800" b="1" i="0">
                <a:solidFill>
                  <a:srgbClr val="64748B"/>
                </a:solidFill>
                <a:latin typeface="Calibri"/>
              </a:rPr>
              <a:t>COMPETITOR LANDSCAPE</a:t>
            </a:r>
          </a:p>
        </p:txBody>
      </p:sp>
      <p:sp>
        <p:nvSpPr>
          <p:cNvPr id="52" name="Rectangle 51"/>
          <p:cNvSpPr/>
          <p:nvPr/>
        </p:nvSpPr>
        <p:spPr>
          <a:xfrm>
            <a:off x="5257800" y="2176272"/>
            <a:ext cx="3886200" cy="310896"/>
          </a:xfrm>
          <a:prstGeom prst="rect">
            <a:avLst/>
          </a:prstGeom>
          <a:solidFill>
            <a:srgbClr val="F0F4F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413248" y="2221991"/>
            <a:ext cx="1828800" cy="219456"/>
          </a:xfrm>
          <a:prstGeom prst="rect">
            <a:avLst/>
          </a:prstGeom>
          <a:noFill/>
        </p:spPr>
        <p:txBody>
          <a:bodyPr wrap="square"/>
          <a:lstStyle/>
          <a:p>
            <a:pPr algn="l"/>
            <a:r>
              <a:rPr sz="800" b="0" i="0">
                <a:solidFill>
                  <a:srgbClr val="1E293B"/>
                </a:solidFill>
                <a:latin typeface="Calibri"/>
              </a:rPr>
              <a:t>Goldberg &amp; Lindenberg PC</a:t>
            </a:r>
          </a:p>
        </p:txBody>
      </p:sp>
      <p:sp>
        <p:nvSpPr>
          <p:cNvPr id="54" name="TextBox 53"/>
          <p:cNvSpPr txBox="1"/>
          <p:nvPr/>
        </p:nvSpPr>
        <p:spPr>
          <a:xfrm>
            <a:off x="7260336" y="2221991"/>
            <a:ext cx="914400" cy="219456"/>
          </a:xfrm>
          <a:prstGeom prst="rect">
            <a:avLst/>
          </a:prstGeom>
          <a:noFill/>
        </p:spPr>
        <p:txBody>
          <a:bodyPr wrap="square"/>
          <a:lstStyle/>
          <a:p>
            <a:pPr algn="l"/>
            <a:r>
              <a:rPr sz="800" b="0" i="0">
                <a:solidFill>
                  <a:srgbClr val="16A34A"/>
                </a:solidFill>
                <a:latin typeface="Calibri"/>
              </a:rPr>
              <a:t>57 reviews · 4.2★</a:t>
            </a:r>
          </a:p>
        </p:txBody>
      </p:sp>
      <p:sp>
        <p:nvSpPr>
          <p:cNvPr id="55" name="TextBox 54"/>
          <p:cNvSpPr txBox="1"/>
          <p:nvPr/>
        </p:nvSpPr>
        <p:spPr>
          <a:xfrm>
            <a:off x="8193024" y="2240279"/>
            <a:ext cx="822960" cy="201168"/>
          </a:xfrm>
          <a:prstGeom prst="rect">
            <a:avLst/>
          </a:prstGeom>
          <a:noFill/>
        </p:spPr>
        <p:txBody>
          <a:bodyPr wrap="square"/>
          <a:lstStyle/>
          <a:p>
            <a:pPr algn="l"/>
            <a:r>
              <a:rPr sz="600" b="0" i="0">
                <a:solidFill>
                  <a:srgbClr val="64748B"/>
                </a:solidFill>
                <a:latin typeface="Calibri"/>
              </a:rPr>
              <a:t>landlord-tenant dominant</a:t>
            </a:r>
          </a:p>
        </p:txBody>
      </p:sp>
      <p:sp>
        <p:nvSpPr>
          <p:cNvPr id="56" name="Rectangle 55"/>
          <p:cNvSpPr/>
          <p:nvPr/>
        </p:nvSpPr>
        <p:spPr>
          <a:xfrm>
            <a:off x="5257800" y="2523744"/>
            <a:ext cx="388620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13248" y="2569463"/>
            <a:ext cx="1828800" cy="219456"/>
          </a:xfrm>
          <a:prstGeom prst="rect">
            <a:avLst/>
          </a:prstGeom>
          <a:noFill/>
        </p:spPr>
        <p:txBody>
          <a:bodyPr wrap="square"/>
          <a:lstStyle/>
          <a:p>
            <a:pPr algn="l"/>
            <a:r>
              <a:rPr sz="800" b="0" i="0">
                <a:solidFill>
                  <a:srgbClr val="1E293B"/>
                </a:solidFill>
                <a:latin typeface="Calibri"/>
              </a:rPr>
              <a:t>Gallet Dreyer &amp; Berkey LLP</a:t>
            </a:r>
          </a:p>
        </p:txBody>
      </p:sp>
      <p:sp>
        <p:nvSpPr>
          <p:cNvPr id="58" name="TextBox 57"/>
          <p:cNvSpPr txBox="1"/>
          <p:nvPr/>
        </p:nvSpPr>
        <p:spPr>
          <a:xfrm>
            <a:off x="7260336" y="2569463"/>
            <a:ext cx="914400" cy="219456"/>
          </a:xfrm>
          <a:prstGeom prst="rect">
            <a:avLst/>
          </a:prstGeom>
          <a:noFill/>
        </p:spPr>
        <p:txBody>
          <a:bodyPr wrap="square"/>
          <a:lstStyle/>
          <a:p>
            <a:pPr algn="l"/>
            <a:r>
              <a:rPr sz="800" b="0" i="0">
                <a:solidFill>
                  <a:srgbClr val="16A34A"/>
                </a:solidFill>
                <a:latin typeface="Calibri"/>
              </a:rPr>
              <a:t>50+ yr history</a:t>
            </a:r>
          </a:p>
        </p:txBody>
      </p:sp>
      <p:sp>
        <p:nvSpPr>
          <p:cNvPr id="59" name="TextBox 58"/>
          <p:cNvSpPr txBox="1"/>
          <p:nvPr/>
        </p:nvSpPr>
        <p:spPr>
          <a:xfrm>
            <a:off x="8193024" y="2587751"/>
            <a:ext cx="822960" cy="201168"/>
          </a:xfrm>
          <a:prstGeom prst="rect">
            <a:avLst/>
          </a:prstGeom>
          <a:noFill/>
        </p:spPr>
        <p:txBody>
          <a:bodyPr wrap="square"/>
          <a:lstStyle/>
          <a:p>
            <a:pPr algn="l"/>
            <a:r>
              <a:rPr sz="600" b="0" i="0">
                <a:solidFill>
                  <a:srgbClr val="64748B"/>
                </a:solidFill>
                <a:latin typeface="Calibri"/>
              </a:rPr>
              <a:t>co-op/condo institution</a:t>
            </a:r>
          </a:p>
        </p:txBody>
      </p:sp>
      <p:sp>
        <p:nvSpPr>
          <p:cNvPr id="60" name="Rectangle 59"/>
          <p:cNvSpPr/>
          <p:nvPr/>
        </p:nvSpPr>
        <p:spPr>
          <a:xfrm>
            <a:off x="5257800" y="2871216"/>
            <a:ext cx="3886200" cy="310896"/>
          </a:xfrm>
          <a:prstGeom prst="rect">
            <a:avLst/>
          </a:prstGeom>
          <a:solidFill>
            <a:srgbClr val="F0F4F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413248" y="2916936"/>
            <a:ext cx="1828800" cy="219456"/>
          </a:xfrm>
          <a:prstGeom prst="rect">
            <a:avLst/>
          </a:prstGeom>
          <a:noFill/>
        </p:spPr>
        <p:txBody>
          <a:bodyPr wrap="square"/>
          <a:lstStyle/>
          <a:p>
            <a:pPr algn="l"/>
            <a:r>
              <a:rPr sz="800" b="0" i="0">
                <a:solidFill>
                  <a:srgbClr val="1E293B"/>
                </a:solidFill>
                <a:latin typeface="Calibri"/>
              </a:rPr>
              <a:t>Belkin Burden Goldman LLP</a:t>
            </a:r>
          </a:p>
        </p:txBody>
      </p:sp>
      <p:sp>
        <p:nvSpPr>
          <p:cNvPr id="62" name="TextBox 61"/>
          <p:cNvSpPr txBox="1"/>
          <p:nvPr/>
        </p:nvSpPr>
        <p:spPr>
          <a:xfrm>
            <a:off x="7260336" y="2916936"/>
            <a:ext cx="914400" cy="219456"/>
          </a:xfrm>
          <a:prstGeom prst="rect">
            <a:avLst/>
          </a:prstGeom>
          <a:noFill/>
        </p:spPr>
        <p:txBody>
          <a:bodyPr wrap="square"/>
          <a:lstStyle/>
          <a:p>
            <a:pPr algn="l"/>
            <a:r>
              <a:rPr sz="800" b="0" i="0">
                <a:solidFill>
                  <a:srgbClr val="16A34A"/>
                </a:solidFill>
                <a:latin typeface="Calibri"/>
              </a:rPr>
              <a:t>60 attorneys</a:t>
            </a:r>
          </a:p>
        </p:txBody>
      </p:sp>
      <p:sp>
        <p:nvSpPr>
          <p:cNvPr id="63" name="TextBox 62"/>
          <p:cNvSpPr txBox="1"/>
          <p:nvPr/>
        </p:nvSpPr>
        <p:spPr>
          <a:xfrm>
            <a:off x="8193024" y="2935224"/>
            <a:ext cx="822960" cy="201168"/>
          </a:xfrm>
          <a:prstGeom prst="rect">
            <a:avLst/>
          </a:prstGeom>
          <a:noFill/>
        </p:spPr>
        <p:txBody>
          <a:bodyPr wrap="square"/>
          <a:lstStyle/>
          <a:p>
            <a:pPr algn="l"/>
            <a:r>
              <a:rPr sz="600" b="0" i="0">
                <a:solidFill>
                  <a:srgbClr val="64748B"/>
                </a:solidFill>
                <a:latin typeface="Calibri"/>
              </a:rPr>
              <a:t>Chambers-ranked · 300+ boards</a:t>
            </a:r>
          </a:p>
        </p:txBody>
      </p:sp>
      <p:sp>
        <p:nvSpPr>
          <p:cNvPr id="64" name="Rectangle 63"/>
          <p:cNvSpPr/>
          <p:nvPr/>
        </p:nvSpPr>
        <p:spPr>
          <a:xfrm>
            <a:off x="5257800" y="3218688"/>
            <a:ext cx="3886200" cy="310896"/>
          </a:xfrm>
          <a:prstGeom prst="rect">
            <a:avLst/>
          </a:prstGeom>
          <a:solidFill>
            <a:srgbClr val="FFF0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5257800" y="3218688"/>
            <a:ext cx="91440" cy="310896"/>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413248" y="3264408"/>
            <a:ext cx="1828800" cy="219456"/>
          </a:xfrm>
          <a:prstGeom prst="rect">
            <a:avLst/>
          </a:prstGeom>
          <a:noFill/>
        </p:spPr>
        <p:txBody>
          <a:bodyPr wrap="square"/>
          <a:lstStyle/>
          <a:p>
            <a:pPr algn="l"/>
            <a:r>
              <a:rPr sz="900" b="1" i="0">
                <a:solidFill>
                  <a:srgbClr val="C0392B"/>
                </a:solidFill>
                <a:latin typeface="Calibri"/>
              </a:rPr>
              <a:t>Lasser Law Group</a:t>
            </a:r>
          </a:p>
        </p:txBody>
      </p:sp>
      <p:sp>
        <p:nvSpPr>
          <p:cNvPr id="67" name="TextBox 66"/>
          <p:cNvSpPr txBox="1"/>
          <p:nvPr/>
        </p:nvSpPr>
        <p:spPr>
          <a:xfrm>
            <a:off x="7260336" y="3264408"/>
            <a:ext cx="914400" cy="219456"/>
          </a:xfrm>
          <a:prstGeom prst="rect">
            <a:avLst/>
          </a:prstGeom>
          <a:noFill/>
        </p:spPr>
        <p:txBody>
          <a:bodyPr wrap="square"/>
          <a:lstStyle/>
          <a:p>
            <a:pPr algn="l"/>
            <a:r>
              <a:rPr sz="800" b="1" i="0">
                <a:solidFill>
                  <a:srgbClr val="C0392B"/>
                </a:solidFill>
                <a:latin typeface="Calibri"/>
              </a:rPr>
              <a:t>24 reviews · 3.6★</a:t>
            </a:r>
          </a:p>
        </p:txBody>
      </p:sp>
      <p:sp>
        <p:nvSpPr>
          <p:cNvPr id="68" name="TextBox 67"/>
          <p:cNvSpPr txBox="1"/>
          <p:nvPr/>
        </p:nvSpPr>
        <p:spPr>
          <a:xfrm>
            <a:off x="8193024" y="3282696"/>
            <a:ext cx="822960" cy="201168"/>
          </a:xfrm>
          <a:prstGeom prst="rect">
            <a:avLst/>
          </a:prstGeom>
          <a:noFill/>
        </p:spPr>
        <p:txBody>
          <a:bodyPr wrap="square"/>
          <a:lstStyle/>
          <a:p>
            <a:pPr algn="l"/>
            <a:r>
              <a:rPr sz="600" b="0" i="0">
                <a:solidFill>
                  <a:srgbClr val="64748B"/>
                </a:solidFill>
                <a:latin typeface="Calibri"/>
              </a:rPr>
              <a:t>← You are here</a:t>
            </a:r>
          </a:p>
        </p:txBody>
      </p:sp>
      <p:sp>
        <p:nvSpPr>
          <p:cNvPr id="69" name="Rectangle 68"/>
          <p:cNvSpPr/>
          <p:nvPr/>
        </p:nvSpPr>
        <p:spPr>
          <a:xfrm>
            <a:off x="0" y="4828032"/>
            <a:ext cx="9144000" cy="320040"/>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609344" y="4837176"/>
            <a:ext cx="5303520" cy="274320"/>
          </a:xfrm>
          <a:prstGeom prst="rect">
            <a:avLst/>
          </a:prstGeom>
          <a:noFill/>
        </p:spPr>
        <p:txBody>
          <a:bodyPr wrap="square"/>
          <a:lstStyle/>
          <a:p>
            <a:pPr algn="l"/>
            <a:r>
              <a:rPr sz="800" b="0" i="0">
                <a:solidFill>
                  <a:srgbClr val="5A7A9A"/>
                </a:solidFill>
                <a:latin typeface="Calibri"/>
              </a:rPr>
              <a:t>CONFIDENTIAL  ·  Prepared by Randy Gold | SMB Team</a:t>
            </a:r>
          </a:p>
        </p:txBody>
      </p:sp>
      <p:sp>
        <p:nvSpPr>
          <p:cNvPr id="71" name="TextBox 70"/>
          <p:cNvSpPr txBox="1"/>
          <p:nvPr/>
        </p:nvSpPr>
        <p:spPr>
          <a:xfrm>
            <a:off x="8138160" y="4837176"/>
            <a:ext cx="786384" cy="274320"/>
          </a:xfrm>
          <a:prstGeom prst="rect">
            <a:avLst/>
          </a:prstGeom>
          <a:noFill/>
        </p:spPr>
        <p:txBody>
          <a:bodyPr wrap="square"/>
          <a:lstStyle/>
          <a:p>
            <a:pPr algn="r"/>
            <a:r>
              <a:rPr sz="800" b="0" i="0">
                <a:solidFill>
                  <a:srgbClr val="5A7A9A"/>
                </a:solidFill>
                <a:latin typeface="Calibri"/>
              </a:rPr>
              <a:t>1 / 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960120"/>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92608" y="91440"/>
            <a:ext cx="8595360" cy="201168"/>
          </a:xfrm>
          <a:prstGeom prst="rect">
            <a:avLst/>
          </a:prstGeom>
          <a:noFill/>
        </p:spPr>
        <p:txBody>
          <a:bodyPr wrap="square"/>
          <a:lstStyle/>
          <a:p>
            <a:pPr algn="l"/>
            <a:r>
              <a:rPr sz="800" b="1" i="0">
                <a:solidFill>
                  <a:srgbClr val="F5C400"/>
                </a:solidFill>
                <a:latin typeface="Calibri"/>
              </a:rPr>
              <a:t>LAW FIRM GROWTH AUDIT  ·  LASSER LAW GROUP</a:t>
            </a:r>
          </a:p>
        </p:txBody>
      </p:sp>
      <p:sp>
        <p:nvSpPr>
          <p:cNvPr id="4" name="TextBox 3"/>
          <p:cNvSpPr txBox="1"/>
          <p:nvPr/>
        </p:nvSpPr>
        <p:spPr>
          <a:xfrm>
            <a:off x="292608" y="310896"/>
            <a:ext cx="8595360" cy="548640"/>
          </a:xfrm>
          <a:prstGeom prst="rect">
            <a:avLst/>
          </a:prstGeom>
          <a:noFill/>
        </p:spPr>
        <p:txBody>
          <a:bodyPr wrap="square"/>
          <a:lstStyle/>
          <a:p>
            <a:pPr algn="l"/>
            <a:r>
              <a:rPr sz="2200" b="1" i="0">
                <a:solidFill>
                  <a:srgbClr val="FFFFFF"/>
                </a:solidFill>
                <a:latin typeface="Calibri"/>
              </a:rPr>
              <a:t>Your Growth Plan: 3 Priorities to Reach $2M Revenue</a:t>
            </a:r>
          </a:p>
        </p:txBody>
      </p:sp>
      <p:sp>
        <p:nvSpPr>
          <p:cNvPr id="5" name="Rectangle 4"/>
          <p:cNvSpPr/>
          <p:nvPr/>
        </p:nvSpPr>
        <p:spPr>
          <a:xfrm>
            <a:off x="182880" y="1024128"/>
            <a:ext cx="2487168" cy="3639312"/>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82880" y="1042415"/>
            <a:ext cx="2487168" cy="18288"/>
          </a:xfrm>
          <a:prstGeom prst="rect">
            <a:avLst/>
          </a:prstGeom>
          <a:solidFill>
            <a:srgbClr val="F5C40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92608" y="1097280"/>
            <a:ext cx="2267712" cy="201168"/>
          </a:xfrm>
          <a:prstGeom prst="rect">
            <a:avLst/>
          </a:prstGeom>
          <a:noFill/>
        </p:spPr>
        <p:txBody>
          <a:bodyPr wrap="square"/>
          <a:lstStyle/>
          <a:p>
            <a:pPr algn="l"/>
            <a:r>
              <a:rPr sz="800" b="1" i="0">
                <a:solidFill>
                  <a:srgbClr val="F5C400"/>
                </a:solidFill>
                <a:latin typeface="Calibri"/>
              </a:rPr>
              <a:t>THE SMB TEAM MODEL</a:t>
            </a:r>
          </a:p>
        </p:txBody>
      </p:sp>
      <p:sp>
        <p:nvSpPr>
          <p:cNvPr id="8" name="TextBox 7"/>
          <p:cNvSpPr txBox="1"/>
          <p:nvPr/>
        </p:nvSpPr>
        <p:spPr>
          <a:xfrm>
            <a:off x="292608" y="1335024"/>
            <a:ext cx="2267712" cy="1572768"/>
          </a:xfrm>
          <a:prstGeom prst="rect">
            <a:avLst/>
          </a:prstGeom>
          <a:noFill/>
        </p:spPr>
        <p:txBody>
          <a:bodyPr wrap="square"/>
          <a:lstStyle/>
          <a:p>
            <a:pPr algn="l"/>
            <a:r>
              <a:rPr sz="900" b="0" i="0">
                <a:solidFill>
                  <a:srgbClr val="A8BFDA"/>
                </a:solidFill>
                <a:latin typeface="Calibri"/>
              </a:rPr>
              <a:t>Four pillars — Lead Generation, Intake, Team, and Profit — must all work together. When any one is missing, growth stalls regardless of effort or spend. When all four fire together, Lasser Law Group becomes the firm that clients in New York find first, choose first, and stay with — and Stephen Lasser gets to lead instead of manage.</a:t>
            </a:r>
          </a:p>
        </p:txBody>
      </p:sp>
      <p:sp>
        <p:nvSpPr>
          <p:cNvPr id="9" name="Rectangle 8"/>
          <p:cNvSpPr/>
          <p:nvPr/>
        </p:nvSpPr>
        <p:spPr>
          <a:xfrm>
            <a:off x="182880" y="2999232"/>
            <a:ext cx="2487168" cy="749808"/>
          </a:xfrm>
          <a:prstGeom prst="rect">
            <a:avLst/>
          </a:prstGeom>
          <a:solidFill>
            <a:srgbClr val="F5C40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2608" y="3017520"/>
            <a:ext cx="2286000" cy="274320"/>
          </a:xfrm>
          <a:prstGeom prst="rect">
            <a:avLst/>
          </a:prstGeom>
          <a:noFill/>
        </p:spPr>
        <p:txBody>
          <a:bodyPr wrap="square"/>
          <a:lstStyle/>
          <a:p>
            <a:pPr algn="l"/>
            <a:r>
              <a:rPr sz="1200" b="1" i="0">
                <a:solidFill>
                  <a:srgbClr val="0D1F3C"/>
                </a:solidFill>
                <a:latin typeface="Calibri"/>
              </a:rPr>
              <a:t>~$1M → $2M Revenue</a:t>
            </a:r>
          </a:p>
        </p:txBody>
      </p:sp>
      <p:sp>
        <p:nvSpPr>
          <p:cNvPr id="11" name="TextBox 10"/>
          <p:cNvSpPr txBox="1"/>
          <p:nvPr/>
        </p:nvSpPr>
        <p:spPr>
          <a:xfrm>
            <a:off x="292608" y="3291840"/>
            <a:ext cx="2286000" cy="402336"/>
          </a:xfrm>
          <a:prstGeom prst="rect">
            <a:avLst/>
          </a:prstGeom>
          <a:noFill/>
        </p:spPr>
        <p:txBody>
          <a:bodyPr wrap="square"/>
          <a:lstStyle/>
          <a:p>
            <a:pPr algn="l"/>
            <a:r>
              <a:rPr sz="900" b="0" i="0">
                <a:solidFill>
                  <a:srgbClr val="0D1F3C"/>
                </a:solidFill>
                <a:latin typeface="Calibri"/>
              </a:rPr>
              <a:t>Lead the market. Step back. Trust the firm runs.</a:t>
            </a:r>
          </a:p>
        </p:txBody>
      </p:sp>
      <p:sp>
        <p:nvSpPr>
          <p:cNvPr id="12" name="Rectangle 11"/>
          <p:cNvSpPr/>
          <p:nvPr/>
        </p:nvSpPr>
        <p:spPr>
          <a:xfrm>
            <a:off x="2816352" y="1024128"/>
            <a:ext cx="2048256" cy="841248"/>
          </a:xfrm>
          <a:prstGeom prst="rect">
            <a:avLst/>
          </a:prstGeom>
          <a:solidFill>
            <a:srgbClr val="1D4ED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80" y="1042415"/>
            <a:ext cx="457200" cy="274320"/>
          </a:xfrm>
          <a:prstGeom prst="rect">
            <a:avLst/>
          </a:prstGeom>
          <a:noFill/>
        </p:spPr>
        <p:txBody>
          <a:bodyPr wrap="square"/>
          <a:lstStyle/>
          <a:p>
            <a:pPr algn="l"/>
            <a:r>
              <a:rPr sz="1000" b="1" i="0">
                <a:solidFill>
                  <a:srgbClr val="FFFFFF"/>
                </a:solidFill>
                <a:latin typeface="Calibri"/>
              </a:rPr>
              <a:t>01</a:t>
            </a:r>
          </a:p>
        </p:txBody>
      </p:sp>
      <p:sp>
        <p:nvSpPr>
          <p:cNvPr id="14" name="TextBox 13"/>
          <p:cNvSpPr txBox="1"/>
          <p:nvPr/>
        </p:nvSpPr>
        <p:spPr>
          <a:xfrm>
            <a:off x="2926080" y="1316736"/>
            <a:ext cx="1865376" cy="256032"/>
          </a:xfrm>
          <a:prstGeom prst="rect">
            <a:avLst/>
          </a:prstGeom>
          <a:noFill/>
        </p:spPr>
        <p:txBody>
          <a:bodyPr wrap="square"/>
          <a:lstStyle/>
          <a:p>
            <a:pPr algn="l"/>
            <a:r>
              <a:rPr sz="1200" b="1" i="0">
                <a:solidFill>
                  <a:srgbClr val="FFFFFF"/>
                </a:solidFill>
                <a:latin typeface="Calibri"/>
              </a:rPr>
              <a:t>Build the</a:t>
            </a:r>
          </a:p>
        </p:txBody>
      </p:sp>
      <p:sp>
        <p:nvSpPr>
          <p:cNvPr id="15" name="TextBox 14"/>
          <p:cNvSpPr txBox="1"/>
          <p:nvPr/>
        </p:nvSpPr>
        <p:spPr>
          <a:xfrm>
            <a:off x="2926080" y="1554480"/>
            <a:ext cx="1865376" cy="256032"/>
          </a:xfrm>
          <a:prstGeom prst="rect">
            <a:avLst/>
          </a:prstGeom>
          <a:noFill/>
        </p:spPr>
        <p:txBody>
          <a:bodyPr wrap="square"/>
          <a:lstStyle/>
          <a:p>
            <a:pPr algn="l"/>
            <a:r>
              <a:rPr sz="1200" b="1" i="0">
                <a:solidFill>
                  <a:srgbClr val="FFFFFF"/>
                </a:solidFill>
                <a:latin typeface="Calibri"/>
              </a:rPr>
              <a:t>Marketing Engine</a:t>
            </a:r>
          </a:p>
        </p:txBody>
      </p:sp>
      <p:sp>
        <p:nvSpPr>
          <p:cNvPr id="16" name="Rectangle 15"/>
          <p:cNvSpPr/>
          <p:nvPr/>
        </p:nvSpPr>
        <p:spPr>
          <a:xfrm>
            <a:off x="2816352" y="1865376"/>
            <a:ext cx="2048256" cy="566928"/>
          </a:xfrm>
          <a:prstGeom prst="rect">
            <a:avLst/>
          </a:prstGeom>
          <a:solidFill>
            <a:srgbClr val="EFF6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07792" y="2084832"/>
            <a:ext cx="91440" cy="91440"/>
          </a:xfrm>
          <a:prstGeom prst="rect">
            <a:avLst/>
          </a:prstGeom>
          <a:solidFill>
            <a:srgbClr val="1D4ED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54096" y="1920240"/>
            <a:ext cx="1755648" cy="475488"/>
          </a:xfrm>
          <a:prstGeom prst="rect">
            <a:avLst/>
          </a:prstGeom>
          <a:noFill/>
        </p:spPr>
        <p:txBody>
          <a:bodyPr wrap="square"/>
          <a:lstStyle/>
          <a:p>
            <a:pPr algn="l"/>
            <a:r>
              <a:rPr sz="800" b="0" i="0">
                <a:solidFill>
                  <a:srgbClr val="1E293B"/>
                </a:solidFill>
                <a:latin typeface="Calibri"/>
              </a:rPr>
              <a:t>Launch Google Ads for all 3 practice areas</a:t>
            </a:r>
          </a:p>
        </p:txBody>
      </p:sp>
      <p:sp>
        <p:nvSpPr>
          <p:cNvPr id="19" name="Rectangle 18"/>
          <p:cNvSpPr/>
          <p:nvPr/>
        </p:nvSpPr>
        <p:spPr>
          <a:xfrm>
            <a:off x="2816352" y="2468880"/>
            <a:ext cx="2048256" cy="5669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907792" y="2688336"/>
            <a:ext cx="91440" cy="91440"/>
          </a:xfrm>
          <a:prstGeom prst="rect">
            <a:avLst/>
          </a:prstGeom>
          <a:solidFill>
            <a:srgbClr val="1D4ED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54096" y="2523744"/>
            <a:ext cx="1755648" cy="475488"/>
          </a:xfrm>
          <a:prstGeom prst="rect">
            <a:avLst/>
          </a:prstGeom>
          <a:noFill/>
        </p:spPr>
        <p:txBody>
          <a:bodyPr wrap="square"/>
          <a:lstStyle/>
          <a:p>
            <a:pPr algn="l"/>
            <a:r>
              <a:rPr sz="800" b="0" i="0">
                <a:solidFill>
                  <a:srgbClr val="1E293B"/>
                </a:solidFill>
                <a:latin typeface="Calibri"/>
              </a:rPr>
              <a:t>Enroll in LSA — get Google Screened badge</a:t>
            </a:r>
          </a:p>
        </p:txBody>
      </p:sp>
      <p:sp>
        <p:nvSpPr>
          <p:cNvPr id="22" name="Rectangle 21"/>
          <p:cNvSpPr/>
          <p:nvPr/>
        </p:nvSpPr>
        <p:spPr>
          <a:xfrm>
            <a:off x="2816352" y="3072384"/>
            <a:ext cx="2048256" cy="566928"/>
          </a:xfrm>
          <a:prstGeom prst="rect">
            <a:avLst/>
          </a:prstGeom>
          <a:solidFill>
            <a:srgbClr val="EFF6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07792" y="3291839"/>
            <a:ext cx="91440" cy="91440"/>
          </a:xfrm>
          <a:prstGeom prst="rect">
            <a:avLst/>
          </a:prstGeom>
          <a:solidFill>
            <a:srgbClr val="1D4ED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54096" y="3127248"/>
            <a:ext cx="1755648" cy="475488"/>
          </a:xfrm>
          <a:prstGeom prst="rect">
            <a:avLst/>
          </a:prstGeom>
          <a:noFill/>
        </p:spPr>
        <p:txBody>
          <a:bodyPr wrap="square"/>
          <a:lstStyle/>
          <a:p>
            <a:pPr algn="l"/>
            <a:r>
              <a:rPr sz="800" b="0" i="0">
                <a:solidFill>
                  <a:srgbClr val="1E293B"/>
                </a:solidFill>
                <a:latin typeface="Calibri"/>
              </a:rPr>
              <a:t>Recover GBP rating above 4.0 stars</a:t>
            </a:r>
          </a:p>
        </p:txBody>
      </p:sp>
      <p:sp>
        <p:nvSpPr>
          <p:cNvPr id="25" name="Rectangle 24"/>
          <p:cNvSpPr/>
          <p:nvPr/>
        </p:nvSpPr>
        <p:spPr>
          <a:xfrm>
            <a:off x="2816352" y="3675887"/>
            <a:ext cx="2048256" cy="5669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907792" y="3895344"/>
            <a:ext cx="91440" cy="91440"/>
          </a:xfrm>
          <a:prstGeom prst="rect">
            <a:avLst/>
          </a:prstGeom>
          <a:solidFill>
            <a:srgbClr val="1D4ED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054096" y="3730751"/>
            <a:ext cx="1755648" cy="475488"/>
          </a:xfrm>
          <a:prstGeom prst="rect">
            <a:avLst/>
          </a:prstGeom>
          <a:noFill/>
        </p:spPr>
        <p:txBody>
          <a:bodyPr wrap="square"/>
          <a:lstStyle/>
          <a:p>
            <a:pPr algn="l"/>
            <a:r>
              <a:rPr sz="800" b="0" i="0">
                <a:solidFill>
                  <a:srgbClr val="1E293B"/>
                </a:solidFill>
                <a:latin typeface="Calibri"/>
              </a:rPr>
              <a:t>Repurpose video podcast into paid ad content</a:t>
            </a:r>
          </a:p>
        </p:txBody>
      </p:sp>
      <p:sp>
        <p:nvSpPr>
          <p:cNvPr id="28" name="Rectangle 27"/>
          <p:cNvSpPr/>
          <p:nvPr/>
        </p:nvSpPr>
        <p:spPr>
          <a:xfrm>
            <a:off x="2816352" y="4279392"/>
            <a:ext cx="2048256" cy="566928"/>
          </a:xfrm>
          <a:prstGeom prst="rect">
            <a:avLst/>
          </a:prstGeom>
          <a:solidFill>
            <a:srgbClr val="EFF6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907792" y="4498848"/>
            <a:ext cx="91440" cy="91440"/>
          </a:xfrm>
          <a:prstGeom prst="rect">
            <a:avLst/>
          </a:prstGeom>
          <a:solidFill>
            <a:srgbClr val="1D4ED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054096" y="4334255"/>
            <a:ext cx="1755648" cy="475488"/>
          </a:xfrm>
          <a:prstGeom prst="rect">
            <a:avLst/>
          </a:prstGeom>
          <a:noFill/>
        </p:spPr>
        <p:txBody>
          <a:bodyPr wrap="square"/>
          <a:lstStyle/>
          <a:p>
            <a:pPr algn="l"/>
            <a:r>
              <a:rPr sz="800" b="0" i="0">
                <a:solidFill>
                  <a:srgbClr val="1E293B"/>
                </a:solidFill>
                <a:latin typeface="Calibri"/>
              </a:rPr>
              <a:t>Claim top-3 local pack for NYC RE searches</a:t>
            </a:r>
          </a:p>
        </p:txBody>
      </p:sp>
      <p:sp>
        <p:nvSpPr>
          <p:cNvPr id="31" name="Rectangle 30"/>
          <p:cNvSpPr/>
          <p:nvPr/>
        </p:nvSpPr>
        <p:spPr>
          <a:xfrm>
            <a:off x="4937760" y="1024128"/>
            <a:ext cx="2048256" cy="841248"/>
          </a:xfrm>
          <a:prstGeom prst="rect">
            <a:avLst/>
          </a:prstGeom>
          <a:solidFill>
            <a:srgbClr val="0F766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47488" y="1042415"/>
            <a:ext cx="457200" cy="274320"/>
          </a:xfrm>
          <a:prstGeom prst="rect">
            <a:avLst/>
          </a:prstGeom>
          <a:noFill/>
        </p:spPr>
        <p:txBody>
          <a:bodyPr wrap="square"/>
          <a:lstStyle/>
          <a:p>
            <a:pPr algn="l"/>
            <a:r>
              <a:rPr sz="1000" b="1" i="0">
                <a:solidFill>
                  <a:srgbClr val="FFFFFF"/>
                </a:solidFill>
                <a:latin typeface="Calibri"/>
              </a:rPr>
              <a:t>02</a:t>
            </a:r>
          </a:p>
        </p:txBody>
      </p:sp>
      <p:sp>
        <p:nvSpPr>
          <p:cNvPr id="33" name="TextBox 32"/>
          <p:cNvSpPr txBox="1"/>
          <p:nvPr/>
        </p:nvSpPr>
        <p:spPr>
          <a:xfrm>
            <a:off x="5047488" y="1316736"/>
            <a:ext cx="1865376" cy="256032"/>
          </a:xfrm>
          <a:prstGeom prst="rect">
            <a:avLst/>
          </a:prstGeom>
          <a:noFill/>
        </p:spPr>
        <p:txBody>
          <a:bodyPr wrap="square"/>
          <a:lstStyle/>
          <a:p>
            <a:pPr algn="l"/>
            <a:r>
              <a:rPr sz="1200" b="1" i="0">
                <a:solidFill>
                  <a:srgbClr val="FFFFFF"/>
                </a:solidFill>
                <a:latin typeface="Calibri"/>
              </a:rPr>
              <a:t>Fix Intake &amp;</a:t>
            </a:r>
          </a:p>
        </p:txBody>
      </p:sp>
      <p:sp>
        <p:nvSpPr>
          <p:cNvPr id="34" name="TextBox 33"/>
          <p:cNvSpPr txBox="1"/>
          <p:nvPr/>
        </p:nvSpPr>
        <p:spPr>
          <a:xfrm>
            <a:off x="5047488" y="1554480"/>
            <a:ext cx="1865376" cy="256032"/>
          </a:xfrm>
          <a:prstGeom prst="rect">
            <a:avLst/>
          </a:prstGeom>
          <a:noFill/>
        </p:spPr>
        <p:txBody>
          <a:bodyPr wrap="square"/>
          <a:lstStyle/>
          <a:p>
            <a:pPr algn="l"/>
            <a:r>
              <a:rPr sz="1200" b="1" i="0">
                <a:solidFill>
                  <a:srgbClr val="FFFFFF"/>
                </a:solidFill>
                <a:latin typeface="Calibri"/>
              </a:rPr>
              <a:t>Stop Losing Cases</a:t>
            </a:r>
          </a:p>
        </p:txBody>
      </p:sp>
      <p:sp>
        <p:nvSpPr>
          <p:cNvPr id="35" name="Rectangle 34"/>
          <p:cNvSpPr/>
          <p:nvPr/>
        </p:nvSpPr>
        <p:spPr>
          <a:xfrm>
            <a:off x="4937760" y="1865376"/>
            <a:ext cx="2048256" cy="566928"/>
          </a:xfrm>
          <a:prstGeom prst="rect">
            <a:avLst/>
          </a:prstGeom>
          <a:solidFill>
            <a:srgbClr val="F0FDF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29200" y="2084832"/>
            <a:ext cx="91440" cy="91440"/>
          </a:xfrm>
          <a:prstGeom prst="rect">
            <a:avLst/>
          </a:prstGeom>
          <a:solidFill>
            <a:srgbClr val="0F766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175504" y="1920240"/>
            <a:ext cx="1755648" cy="475488"/>
          </a:xfrm>
          <a:prstGeom prst="rect">
            <a:avLst/>
          </a:prstGeom>
          <a:noFill/>
        </p:spPr>
        <p:txBody>
          <a:bodyPr wrap="square"/>
          <a:lstStyle/>
          <a:p>
            <a:pPr algn="l"/>
            <a:r>
              <a:rPr sz="800" b="0" i="0">
                <a:solidFill>
                  <a:srgbClr val="1E293B"/>
                </a:solidFill>
                <a:latin typeface="Calibri"/>
              </a:rPr>
              <a:t>Move contact form above the fold today</a:t>
            </a:r>
          </a:p>
        </p:txBody>
      </p:sp>
      <p:sp>
        <p:nvSpPr>
          <p:cNvPr id="38" name="Rectangle 37"/>
          <p:cNvSpPr/>
          <p:nvPr/>
        </p:nvSpPr>
        <p:spPr>
          <a:xfrm>
            <a:off x="4937760" y="2468880"/>
            <a:ext cx="2048256" cy="5669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0" y="2688336"/>
            <a:ext cx="91440" cy="91440"/>
          </a:xfrm>
          <a:prstGeom prst="rect">
            <a:avLst/>
          </a:prstGeom>
          <a:solidFill>
            <a:srgbClr val="0F766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175504" y="2523744"/>
            <a:ext cx="1755648" cy="475488"/>
          </a:xfrm>
          <a:prstGeom prst="rect">
            <a:avLst/>
          </a:prstGeom>
          <a:noFill/>
        </p:spPr>
        <p:txBody>
          <a:bodyPr wrap="square"/>
          <a:lstStyle/>
          <a:p>
            <a:pPr algn="l"/>
            <a:r>
              <a:rPr sz="800" b="0" i="0">
                <a:solidFill>
                  <a:srgbClr val="1E293B"/>
                </a:solidFill>
                <a:latin typeface="Calibri"/>
              </a:rPr>
              <a:t>Build same-day web lead response process</a:t>
            </a:r>
          </a:p>
        </p:txBody>
      </p:sp>
      <p:sp>
        <p:nvSpPr>
          <p:cNvPr id="41" name="Rectangle 40"/>
          <p:cNvSpPr/>
          <p:nvPr/>
        </p:nvSpPr>
        <p:spPr>
          <a:xfrm>
            <a:off x="4937760" y="3072384"/>
            <a:ext cx="2048256" cy="566928"/>
          </a:xfrm>
          <a:prstGeom prst="rect">
            <a:avLst/>
          </a:prstGeom>
          <a:solidFill>
            <a:srgbClr val="F0FDF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029200" y="3291839"/>
            <a:ext cx="91440" cy="91440"/>
          </a:xfrm>
          <a:prstGeom prst="rect">
            <a:avLst/>
          </a:prstGeom>
          <a:solidFill>
            <a:srgbClr val="0F766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175504" y="3127248"/>
            <a:ext cx="1755648" cy="475488"/>
          </a:xfrm>
          <a:prstGeom prst="rect">
            <a:avLst/>
          </a:prstGeom>
          <a:noFill/>
        </p:spPr>
        <p:txBody>
          <a:bodyPr wrap="square"/>
          <a:lstStyle/>
          <a:p>
            <a:pPr algn="l"/>
            <a:r>
              <a:rPr sz="800" b="0" i="0">
                <a:solidFill>
                  <a:srgbClr val="1E293B"/>
                </a:solidFill>
                <a:latin typeface="Calibri"/>
              </a:rPr>
              <a:t>Add after-hours coverage for urgent clients</a:t>
            </a:r>
          </a:p>
        </p:txBody>
      </p:sp>
      <p:sp>
        <p:nvSpPr>
          <p:cNvPr id="44" name="Rectangle 43"/>
          <p:cNvSpPr/>
          <p:nvPr/>
        </p:nvSpPr>
        <p:spPr>
          <a:xfrm>
            <a:off x="4937760" y="3675887"/>
            <a:ext cx="2048256" cy="5669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029200" y="3895344"/>
            <a:ext cx="91440" cy="91440"/>
          </a:xfrm>
          <a:prstGeom prst="rect">
            <a:avLst/>
          </a:prstGeom>
          <a:solidFill>
            <a:srgbClr val="0F766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75504" y="3730751"/>
            <a:ext cx="1755648" cy="475488"/>
          </a:xfrm>
          <a:prstGeom prst="rect">
            <a:avLst/>
          </a:prstGeom>
          <a:noFill/>
        </p:spPr>
        <p:txBody>
          <a:bodyPr wrap="square"/>
          <a:lstStyle/>
          <a:p>
            <a:pPr algn="l"/>
            <a:r>
              <a:rPr sz="800" b="0" i="0">
                <a:solidFill>
                  <a:srgbClr val="1E293B"/>
                </a:solidFill>
                <a:latin typeface="Calibri"/>
              </a:rPr>
              <a:t>Track every lead from contact to signed</a:t>
            </a:r>
          </a:p>
        </p:txBody>
      </p:sp>
      <p:sp>
        <p:nvSpPr>
          <p:cNvPr id="47" name="Rectangle 46"/>
          <p:cNvSpPr/>
          <p:nvPr/>
        </p:nvSpPr>
        <p:spPr>
          <a:xfrm>
            <a:off x="4937760" y="4279392"/>
            <a:ext cx="2048256" cy="566928"/>
          </a:xfrm>
          <a:prstGeom prst="rect">
            <a:avLst/>
          </a:prstGeom>
          <a:solidFill>
            <a:srgbClr val="F0FDF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029200" y="4498848"/>
            <a:ext cx="91440" cy="91440"/>
          </a:xfrm>
          <a:prstGeom prst="rect">
            <a:avLst/>
          </a:prstGeom>
          <a:solidFill>
            <a:srgbClr val="0F766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175504" y="4334255"/>
            <a:ext cx="1755648" cy="475488"/>
          </a:xfrm>
          <a:prstGeom prst="rect">
            <a:avLst/>
          </a:prstGeom>
          <a:noFill/>
        </p:spPr>
        <p:txBody>
          <a:bodyPr wrap="square"/>
          <a:lstStyle/>
          <a:p>
            <a:pPr algn="l"/>
            <a:r>
              <a:rPr sz="800" b="0" i="0">
                <a:solidFill>
                  <a:srgbClr val="1E293B"/>
                </a:solidFill>
                <a:latin typeface="Calibri"/>
              </a:rPr>
              <a:t>Fix FindLaw + Yelp NAP — recover SEO signals</a:t>
            </a:r>
          </a:p>
        </p:txBody>
      </p:sp>
      <p:sp>
        <p:nvSpPr>
          <p:cNvPr id="50" name="Rectangle 49"/>
          <p:cNvSpPr/>
          <p:nvPr/>
        </p:nvSpPr>
        <p:spPr>
          <a:xfrm>
            <a:off x="7059168" y="1024128"/>
            <a:ext cx="2048256" cy="841248"/>
          </a:xfrm>
          <a:prstGeom prst="rect">
            <a:avLst/>
          </a:prstGeom>
          <a:solidFill>
            <a:srgbClr val="6D28D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168896" y="1042415"/>
            <a:ext cx="457200" cy="274320"/>
          </a:xfrm>
          <a:prstGeom prst="rect">
            <a:avLst/>
          </a:prstGeom>
          <a:noFill/>
        </p:spPr>
        <p:txBody>
          <a:bodyPr wrap="square"/>
          <a:lstStyle/>
          <a:p>
            <a:pPr algn="l"/>
            <a:r>
              <a:rPr sz="1000" b="1" i="0">
                <a:solidFill>
                  <a:srgbClr val="FFFFFF"/>
                </a:solidFill>
                <a:latin typeface="Calibri"/>
              </a:rPr>
              <a:t>03</a:t>
            </a:r>
          </a:p>
        </p:txBody>
      </p:sp>
      <p:sp>
        <p:nvSpPr>
          <p:cNvPr id="52" name="TextBox 51"/>
          <p:cNvSpPr txBox="1"/>
          <p:nvPr/>
        </p:nvSpPr>
        <p:spPr>
          <a:xfrm>
            <a:off x="7168896" y="1316736"/>
            <a:ext cx="1865376" cy="256032"/>
          </a:xfrm>
          <a:prstGeom prst="rect">
            <a:avLst/>
          </a:prstGeom>
          <a:noFill/>
        </p:spPr>
        <p:txBody>
          <a:bodyPr wrap="square"/>
          <a:lstStyle/>
          <a:p>
            <a:pPr algn="l"/>
            <a:r>
              <a:rPr sz="1200" b="1" i="0">
                <a:solidFill>
                  <a:srgbClr val="FFFFFF"/>
                </a:solidFill>
                <a:latin typeface="Calibri"/>
              </a:rPr>
              <a:t>Install Team &amp;</a:t>
            </a:r>
          </a:p>
        </p:txBody>
      </p:sp>
      <p:sp>
        <p:nvSpPr>
          <p:cNvPr id="53" name="TextBox 52"/>
          <p:cNvSpPr txBox="1"/>
          <p:nvPr/>
        </p:nvSpPr>
        <p:spPr>
          <a:xfrm>
            <a:off x="7168896" y="1554480"/>
            <a:ext cx="1865376" cy="256032"/>
          </a:xfrm>
          <a:prstGeom prst="rect">
            <a:avLst/>
          </a:prstGeom>
          <a:noFill/>
        </p:spPr>
        <p:txBody>
          <a:bodyPr wrap="square"/>
          <a:lstStyle/>
          <a:p>
            <a:pPr algn="l"/>
            <a:r>
              <a:rPr sz="1200" b="1" i="0">
                <a:solidFill>
                  <a:srgbClr val="FFFFFF"/>
                </a:solidFill>
                <a:latin typeface="Calibri"/>
              </a:rPr>
              <a:t>Profit Systems</a:t>
            </a:r>
          </a:p>
        </p:txBody>
      </p:sp>
      <p:sp>
        <p:nvSpPr>
          <p:cNvPr id="54" name="Rectangle 53"/>
          <p:cNvSpPr/>
          <p:nvPr/>
        </p:nvSpPr>
        <p:spPr>
          <a:xfrm>
            <a:off x="7059168" y="1865376"/>
            <a:ext cx="2048256" cy="566928"/>
          </a:xfrm>
          <a:prstGeom prst="rect">
            <a:avLst/>
          </a:prstGeom>
          <a:solidFill>
            <a:srgbClr val="F5F3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7150607" y="2084832"/>
            <a:ext cx="91440" cy="91440"/>
          </a:xfrm>
          <a:prstGeom prst="rect">
            <a:avLst/>
          </a:prstGeom>
          <a:solidFill>
            <a:srgbClr val="6D28D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296912" y="1920240"/>
            <a:ext cx="1755648" cy="475488"/>
          </a:xfrm>
          <a:prstGeom prst="rect">
            <a:avLst/>
          </a:prstGeom>
          <a:noFill/>
        </p:spPr>
        <p:txBody>
          <a:bodyPr wrap="square"/>
          <a:lstStyle/>
          <a:p>
            <a:pPr algn="l"/>
            <a:r>
              <a:rPr sz="800" b="0" i="0">
                <a:solidFill>
                  <a:srgbClr val="1E293B"/>
                </a:solidFill>
                <a:latin typeface="Calibri"/>
              </a:rPr>
              <a:t>Add dedicated intake coordinator role</a:t>
            </a:r>
          </a:p>
        </p:txBody>
      </p:sp>
      <p:sp>
        <p:nvSpPr>
          <p:cNvPr id="57" name="Rectangle 56"/>
          <p:cNvSpPr/>
          <p:nvPr/>
        </p:nvSpPr>
        <p:spPr>
          <a:xfrm>
            <a:off x="7059168" y="2468880"/>
            <a:ext cx="2048256" cy="5669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7150607" y="2688336"/>
            <a:ext cx="91440" cy="91440"/>
          </a:xfrm>
          <a:prstGeom prst="rect">
            <a:avLst/>
          </a:prstGeom>
          <a:solidFill>
            <a:srgbClr val="6D28D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296912" y="2523744"/>
            <a:ext cx="1755648" cy="475488"/>
          </a:xfrm>
          <a:prstGeom prst="rect">
            <a:avLst/>
          </a:prstGeom>
          <a:noFill/>
        </p:spPr>
        <p:txBody>
          <a:bodyPr wrap="square"/>
          <a:lstStyle/>
          <a:p>
            <a:pPr algn="l"/>
            <a:r>
              <a:rPr sz="800" b="0" i="0">
                <a:solidFill>
                  <a:srgbClr val="1E293B"/>
                </a:solidFill>
                <a:latin typeface="Calibri"/>
              </a:rPr>
              <a:t>Build KPI dashboard per practice area</a:t>
            </a:r>
          </a:p>
        </p:txBody>
      </p:sp>
      <p:sp>
        <p:nvSpPr>
          <p:cNvPr id="60" name="Rectangle 59"/>
          <p:cNvSpPr/>
          <p:nvPr/>
        </p:nvSpPr>
        <p:spPr>
          <a:xfrm>
            <a:off x="7059168" y="3072384"/>
            <a:ext cx="2048256" cy="566928"/>
          </a:xfrm>
          <a:prstGeom prst="rect">
            <a:avLst/>
          </a:prstGeom>
          <a:solidFill>
            <a:srgbClr val="F5F3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7150607" y="3291839"/>
            <a:ext cx="91440" cy="91440"/>
          </a:xfrm>
          <a:prstGeom prst="rect">
            <a:avLst/>
          </a:prstGeom>
          <a:solidFill>
            <a:srgbClr val="6D28D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96912" y="3127248"/>
            <a:ext cx="1755648" cy="475488"/>
          </a:xfrm>
          <a:prstGeom prst="rect">
            <a:avLst/>
          </a:prstGeom>
          <a:noFill/>
        </p:spPr>
        <p:txBody>
          <a:bodyPr wrap="square"/>
          <a:lstStyle/>
          <a:p>
            <a:pPr algn="l"/>
            <a:r>
              <a:rPr sz="800" b="0" i="0">
                <a:solidFill>
                  <a:srgbClr val="1E293B"/>
                </a:solidFill>
                <a:latin typeface="Calibri"/>
              </a:rPr>
              <a:t>Track profit margin by matter type</a:t>
            </a:r>
          </a:p>
        </p:txBody>
      </p:sp>
      <p:sp>
        <p:nvSpPr>
          <p:cNvPr id="63" name="Rectangle 62"/>
          <p:cNvSpPr/>
          <p:nvPr/>
        </p:nvSpPr>
        <p:spPr>
          <a:xfrm>
            <a:off x="7059168" y="3675887"/>
            <a:ext cx="2048256" cy="5669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150607" y="3895344"/>
            <a:ext cx="91440" cy="91440"/>
          </a:xfrm>
          <a:prstGeom prst="rect">
            <a:avLst/>
          </a:prstGeom>
          <a:solidFill>
            <a:srgbClr val="6D28D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296912" y="3730751"/>
            <a:ext cx="1755648" cy="475488"/>
          </a:xfrm>
          <a:prstGeom prst="rect">
            <a:avLst/>
          </a:prstGeom>
          <a:noFill/>
        </p:spPr>
        <p:txBody>
          <a:bodyPr wrap="square"/>
          <a:lstStyle/>
          <a:p>
            <a:pPr algn="l"/>
            <a:r>
              <a:rPr sz="800" b="0" i="0">
                <a:solidFill>
                  <a:srgbClr val="1E293B"/>
                </a:solidFill>
                <a:latin typeface="Calibri"/>
              </a:rPr>
              <a:t>Create Westchester + LI geo landing pages</a:t>
            </a:r>
          </a:p>
        </p:txBody>
      </p:sp>
      <p:sp>
        <p:nvSpPr>
          <p:cNvPr id="66" name="Rectangle 65"/>
          <p:cNvSpPr/>
          <p:nvPr/>
        </p:nvSpPr>
        <p:spPr>
          <a:xfrm>
            <a:off x="7059168" y="4279392"/>
            <a:ext cx="2048256" cy="566928"/>
          </a:xfrm>
          <a:prstGeom prst="rect">
            <a:avLst/>
          </a:prstGeom>
          <a:solidFill>
            <a:srgbClr val="F5F3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150607" y="4498848"/>
            <a:ext cx="91440" cy="91440"/>
          </a:xfrm>
          <a:prstGeom prst="rect">
            <a:avLst/>
          </a:prstGeom>
          <a:solidFill>
            <a:srgbClr val="6D28D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96912" y="4334255"/>
            <a:ext cx="1755648" cy="475488"/>
          </a:xfrm>
          <a:prstGeom prst="rect">
            <a:avLst/>
          </a:prstGeom>
          <a:noFill/>
        </p:spPr>
        <p:txBody>
          <a:bodyPr wrap="square"/>
          <a:lstStyle/>
          <a:p>
            <a:pPr algn="l"/>
            <a:r>
              <a:rPr sz="800" b="0" i="0">
                <a:solidFill>
                  <a:srgbClr val="1E293B"/>
                </a:solidFill>
                <a:latin typeface="Calibri"/>
              </a:rPr>
              <a:t>Build management layer across 3 offices</a:t>
            </a:r>
          </a:p>
        </p:txBody>
      </p:sp>
      <p:sp>
        <p:nvSpPr>
          <p:cNvPr id="69" name="Rectangle 68"/>
          <p:cNvSpPr/>
          <p:nvPr/>
        </p:nvSpPr>
        <p:spPr>
          <a:xfrm>
            <a:off x="0" y="4828032"/>
            <a:ext cx="9144000" cy="320040"/>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609344" y="4837176"/>
            <a:ext cx="5303520" cy="274320"/>
          </a:xfrm>
          <a:prstGeom prst="rect">
            <a:avLst/>
          </a:prstGeom>
          <a:noFill/>
        </p:spPr>
        <p:txBody>
          <a:bodyPr wrap="square"/>
          <a:lstStyle/>
          <a:p>
            <a:pPr algn="l"/>
            <a:r>
              <a:rPr sz="800" b="0" i="0">
                <a:solidFill>
                  <a:srgbClr val="5A7A9A"/>
                </a:solidFill>
                <a:latin typeface="Calibri"/>
              </a:rPr>
              <a:t>CONFIDENTIAL  ·  Prepared by Randy Gold | SMB Team</a:t>
            </a:r>
          </a:p>
        </p:txBody>
      </p:sp>
      <p:sp>
        <p:nvSpPr>
          <p:cNvPr id="71" name="TextBox 70"/>
          <p:cNvSpPr txBox="1"/>
          <p:nvPr/>
        </p:nvSpPr>
        <p:spPr>
          <a:xfrm>
            <a:off x="8138160" y="4837176"/>
            <a:ext cx="786384" cy="274320"/>
          </a:xfrm>
          <a:prstGeom prst="rect">
            <a:avLst/>
          </a:prstGeom>
          <a:noFill/>
        </p:spPr>
        <p:txBody>
          <a:bodyPr wrap="square"/>
          <a:lstStyle/>
          <a:p>
            <a:pPr algn="r"/>
            <a:r>
              <a:rPr sz="800" b="0" i="0">
                <a:solidFill>
                  <a:srgbClr val="5A7A9A"/>
                </a:solidFill>
                <a:latin typeface="Calibri"/>
              </a:rPr>
              <a:t>2 / 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960120"/>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92608" y="91440"/>
            <a:ext cx="8595360" cy="201168"/>
          </a:xfrm>
          <a:prstGeom prst="rect">
            <a:avLst/>
          </a:prstGeom>
          <a:noFill/>
        </p:spPr>
        <p:txBody>
          <a:bodyPr wrap="square"/>
          <a:lstStyle/>
          <a:p>
            <a:pPr algn="l"/>
            <a:r>
              <a:rPr sz="800" b="1" i="0">
                <a:solidFill>
                  <a:srgbClr val="F5C400"/>
                </a:solidFill>
                <a:latin typeface="Calibri"/>
              </a:rPr>
              <a:t>LAW FIRM GROWTH AUDIT  ·  LASSER LAW GROUP</a:t>
            </a:r>
          </a:p>
        </p:txBody>
      </p:sp>
      <p:sp>
        <p:nvSpPr>
          <p:cNvPr id="4" name="TextBox 3"/>
          <p:cNvSpPr txBox="1"/>
          <p:nvPr/>
        </p:nvSpPr>
        <p:spPr>
          <a:xfrm>
            <a:off x="292608" y="310896"/>
            <a:ext cx="8595360" cy="548640"/>
          </a:xfrm>
          <a:prstGeom prst="rect">
            <a:avLst/>
          </a:prstGeom>
          <a:noFill/>
        </p:spPr>
        <p:txBody>
          <a:bodyPr wrap="square"/>
          <a:lstStyle/>
          <a:p>
            <a:pPr algn="l"/>
            <a:r>
              <a:rPr sz="2200" b="1" i="0">
                <a:solidFill>
                  <a:srgbClr val="FFFFFF"/>
                </a:solidFill>
                <a:latin typeface="Calibri"/>
              </a:rPr>
              <a:t>Your Investment &amp; What Happens Next</a:t>
            </a:r>
          </a:p>
        </p:txBody>
      </p:sp>
      <p:sp>
        <p:nvSpPr>
          <p:cNvPr id="5" name="Rectangle 4"/>
          <p:cNvSpPr/>
          <p:nvPr/>
        </p:nvSpPr>
        <p:spPr>
          <a:xfrm>
            <a:off x="201168" y="1024128"/>
            <a:ext cx="4133087" cy="10241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01168" y="1024128"/>
            <a:ext cx="182880" cy="1024128"/>
          </a:xfrm>
          <a:prstGeom prst="rect">
            <a:avLst/>
          </a:prstGeom>
          <a:solidFill>
            <a:srgbClr val="1D4ED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 y="1115568"/>
            <a:ext cx="3803904" cy="201168"/>
          </a:xfrm>
          <a:prstGeom prst="rect">
            <a:avLst/>
          </a:prstGeom>
          <a:noFill/>
        </p:spPr>
        <p:txBody>
          <a:bodyPr wrap="square"/>
          <a:lstStyle/>
          <a:p>
            <a:pPr algn="l"/>
            <a:r>
              <a:rPr sz="800" b="1" i="0">
                <a:solidFill>
                  <a:srgbClr val="1D4ED8"/>
                </a:solidFill>
                <a:latin typeface="Calibri"/>
              </a:rPr>
              <a:t>FULL SERVICE MARKETING STARTER</a:t>
            </a:r>
          </a:p>
        </p:txBody>
      </p:sp>
      <p:sp>
        <p:nvSpPr>
          <p:cNvPr id="8" name="TextBox 7"/>
          <p:cNvSpPr txBox="1"/>
          <p:nvPr/>
        </p:nvSpPr>
        <p:spPr>
          <a:xfrm>
            <a:off x="475488" y="1298448"/>
            <a:ext cx="1828800" cy="438912"/>
          </a:xfrm>
          <a:prstGeom prst="rect">
            <a:avLst/>
          </a:prstGeom>
          <a:noFill/>
        </p:spPr>
        <p:txBody>
          <a:bodyPr wrap="square"/>
          <a:lstStyle/>
          <a:p>
            <a:pPr algn="l"/>
            <a:r>
              <a:rPr sz="3200" b="1" i="0">
                <a:solidFill>
                  <a:srgbClr val="0D1F3C"/>
                </a:solidFill>
                <a:latin typeface="Calibri"/>
              </a:rPr>
              <a:t>$4,847</a:t>
            </a:r>
          </a:p>
        </p:txBody>
      </p:sp>
      <p:sp>
        <p:nvSpPr>
          <p:cNvPr id="9" name="TextBox 8"/>
          <p:cNvSpPr txBox="1"/>
          <p:nvPr/>
        </p:nvSpPr>
        <p:spPr>
          <a:xfrm>
            <a:off x="1865376" y="1408176"/>
            <a:ext cx="420624" cy="256032"/>
          </a:xfrm>
          <a:prstGeom prst="rect">
            <a:avLst/>
          </a:prstGeom>
          <a:noFill/>
        </p:spPr>
        <p:txBody>
          <a:bodyPr wrap="square"/>
          <a:lstStyle/>
          <a:p>
            <a:pPr algn="l"/>
            <a:r>
              <a:rPr sz="1100" b="0" i="0">
                <a:solidFill>
                  <a:srgbClr val="64748B"/>
                </a:solidFill>
                <a:latin typeface="Calibri"/>
              </a:rPr>
              <a:t>/mo</a:t>
            </a:r>
          </a:p>
        </p:txBody>
      </p:sp>
      <p:sp>
        <p:nvSpPr>
          <p:cNvPr id="10" name="TextBox 9"/>
          <p:cNvSpPr txBox="1"/>
          <p:nvPr/>
        </p:nvSpPr>
        <p:spPr>
          <a:xfrm>
            <a:off x="2322576" y="1426464"/>
            <a:ext cx="914400" cy="237744"/>
          </a:xfrm>
          <a:prstGeom prst="rect">
            <a:avLst/>
          </a:prstGeom>
          <a:noFill/>
        </p:spPr>
        <p:txBody>
          <a:bodyPr wrap="square"/>
          <a:lstStyle/>
          <a:p>
            <a:pPr algn="l"/>
            <a:r>
              <a:rPr sz="1100" b="0" i="0">
                <a:solidFill>
                  <a:srgbClr val="334155"/>
                </a:solidFill>
                <a:latin typeface="Calibri"/>
              </a:rPr>
              <a:t>$5,697/mo</a:t>
            </a:r>
          </a:p>
        </p:txBody>
      </p:sp>
      <p:sp>
        <p:nvSpPr>
          <p:cNvPr id="11" name="Rectangle 10"/>
          <p:cNvSpPr/>
          <p:nvPr/>
        </p:nvSpPr>
        <p:spPr>
          <a:xfrm>
            <a:off x="2322576" y="1527048"/>
            <a:ext cx="804672" cy="9144"/>
          </a:xfrm>
          <a:prstGeom prst="rect">
            <a:avLst/>
          </a:prstGeom>
          <a:solidFill>
            <a:srgbClr val="334155"/>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1792224"/>
            <a:ext cx="3803904" cy="201168"/>
          </a:xfrm>
          <a:prstGeom prst="rect">
            <a:avLst/>
          </a:prstGeom>
          <a:noFill/>
        </p:spPr>
        <p:txBody>
          <a:bodyPr wrap="square"/>
          <a:lstStyle/>
          <a:p>
            <a:pPr algn="l"/>
            <a:r>
              <a:rPr sz="800" b="0" i="0">
                <a:solidFill>
                  <a:srgbClr val="64748B"/>
                </a:solidFill>
                <a:latin typeface="Calibri"/>
              </a:rPr>
              <a:t>Google Ads · LSA · Website · Local SEO · Meta Ads</a:t>
            </a:r>
          </a:p>
        </p:txBody>
      </p:sp>
      <p:sp>
        <p:nvSpPr>
          <p:cNvPr id="13" name="Rectangle 12"/>
          <p:cNvSpPr/>
          <p:nvPr/>
        </p:nvSpPr>
        <p:spPr>
          <a:xfrm>
            <a:off x="201168" y="2139696"/>
            <a:ext cx="4133087" cy="10241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01168" y="2139696"/>
            <a:ext cx="182880" cy="1024128"/>
          </a:xfrm>
          <a:prstGeom prst="rect">
            <a:avLst/>
          </a:prstGeom>
          <a:solidFill>
            <a:srgbClr val="6D28D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 y="2231136"/>
            <a:ext cx="3803904" cy="201168"/>
          </a:xfrm>
          <a:prstGeom prst="rect">
            <a:avLst/>
          </a:prstGeom>
          <a:noFill/>
        </p:spPr>
        <p:txBody>
          <a:bodyPr wrap="square"/>
          <a:lstStyle/>
          <a:p>
            <a:pPr algn="l"/>
            <a:r>
              <a:rPr sz="800" b="1" i="0">
                <a:solidFill>
                  <a:srgbClr val="6D28D9"/>
                </a:solidFill>
                <a:latin typeface="Calibri"/>
              </a:rPr>
              <a:t>FCOO ADVISOR</a:t>
            </a:r>
          </a:p>
        </p:txBody>
      </p:sp>
      <p:sp>
        <p:nvSpPr>
          <p:cNvPr id="16" name="TextBox 15"/>
          <p:cNvSpPr txBox="1"/>
          <p:nvPr/>
        </p:nvSpPr>
        <p:spPr>
          <a:xfrm>
            <a:off x="475488" y="2414015"/>
            <a:ext cx="1828800" cy="438912"/>
          </a:xfrm>
          <a:prstGeom prst="rect">
            <a:avLst/>
          </a:prstGeom>
          <a:noFill/>
        </p:spPr>
        <p:txBody>
          <a:bodyPr wrap="square"/>
          <a:lstStyle/>
          <a:p>
            <a:pPr algn="l"/>
            <a:r>
              <a:rPr sz="3200" b="1" i="0">
                <a:solidFill>
                  <a:srgbClr val="0D1F3C"/>
                </a:solidFill>
                <a:latin typeface="Calibri"/>
              </a:rPr>
              <a:t>$3,297</a:t>
            </a:r>
          </a:p>
        </p:txBody>
      </p:sp>
      <p:sp>
        <p:nvSpPr>
          <p:cNvPr id="17" name="TextBox 16"/>
          <p:cNvSpPr txBox="1"/>
          <p:nvPr/>
        </p:nvSpPr>
        <p:spPr>
          <a:xfrm>
            <a:off x="1865376" y="2523744"/>
            <a:ext cx="420624" cy="256032"/>
          </a:xfrm>
          <a:prstGeom prst="rect">
            <a:avLst/>
          </a:prstGeom>
          <a:noFill/>
        </p:spPr>
        <p:txBody>
          <a:bodyPr wrap="square"/>
          <a:lstStyle/>
          <a:p>
            <a:pPr algn="l"/>
            <a:r>
              <a:rPr sz="1100" b="0" i="0">
                <a:solidFill>
                  <a:srgbClr val="64748B"/>
                </a:solidFill>
                <a:latin typeface="Calibri"/>
              </a:rPr>
              <a:t>/mo</a:t>
            </a:r>
          </a:p>
        </p:txBody>
      </p:sp>
      <p:sp>
        <p:nvSpPr>
          <p:cNvPr id="18" name="TextBox 17"/>
          <p:cNvSpPr txBox="1"/>
          <p:nvPr/>
        </p:nvSpPr>
        <p:spPr>
          <a:xfrm>
            <a:off x="2322576" y="2542032"/>
            <a:ext cx="914400" cy="237744"/>
          </a:xfrm>
          <a:prstGeom prst="rect">
            <a:avLst/>
          </a:prstGeom>
          <a:noFill/>
        </p:spPr>
        <p:txBody>
          <a:bodyPr wrap="square"/>
          <a:lstStyle/>
          <a:p>
            <a:pPr algn="l"/>
            <a:r>
              <a:rPr sz="1100" b="0" i="0">
                <a:solidFill>
                  <a:srgbClr val="334155"/>
                </a:solidFill>
                <a:latin typeface="Calibri"/>
              </a:rPr>
              <a:t>$3,797/mo</a:t>
            </a:r>
          </a:p>
        </p:txBody>
      </p:sp>
      <p:sp>
        <p:nvSpPr>
          <p:cNvPr id="19" name="Rectangle 18"/>
          <p:cNvSpPr/>
          <p:nvPr/>
        </p:nvSpPr>
        <p:spPr>
          <a:xfrm>
            <a:off x="2322576" y="2642615"/>
            <a:ext cx="804672" cy="9144"/>
          </a:xfrm>
          <a:prstGeom prst="rect">
            <a:avLst/>
          </a:prstGeom>
          <a:solidFill>
            <a:srgbClr val="334155"/>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488" y="2907791"/>
            <a:ext cx="3803904" cy="201168"/>
          </a:xfrm>
          <a:prstGeom prst="rect">
            <a:avLst/>
          </a:prstGeom>
          <a:noFill/>
        </p:spPr>
        <p:txBody>
          <a:bodyPr wrap="square"/>
          <a:lstStyle/>
          <a:p>
            <a:pPr algn="l"/>
            <a:r>
              <a:rPr sz="800" b="0" i="0">
                <a:solidFill>
                  <a:srgbClr val="64748B"/>
                </a:solidFill>
                <a:latin typeface="Calibri"/>
              </a:rPr>
              <a:t>Fractional COO · Ops roadmap · Coaching sessions · Workshops</a:t>
            </a:r>
          </a:p>
        </p:txBody>
      </p:sp>
      <p:sp>
        <p:nvSpPr>
          <p:cNvPr id="21" name="Rectangle 20"/>
          <p:cNvSpPr/>
          <p:nvPr/>
        </p:nvSpPr>
        <p:spPr>
          <a:xfrm>
            <a:off x="201168" y="3255264"/>
            <a:ext cx="4133087" cy="658368"/>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84048" y="3291840"/>
            <a:ext cx="1645920" cy="237744"/>
          </a:xfrm>
          <a:prstGeom prst="rect">
            <a:avLst/>
          </a:prstGeom>
          <a:noFill/>
        </p:spPr>
        <p:txBody>
          <a:bodyPr wrap="square"/>
          <a:lstStyle/>
          <a:p>
            <a:pPr algn="l"/>
            <a:r>
              <a:rPr sz="800" b="1" i="0">
                <a:solidFill>
                  <a:srgbClr val="7CA0C0"/>
                </a:solidFill>
                <a:latin typeface="Calibri"/>
              </a:rPr>
              <a:t>BUNDLE TOTAL</a:t>
            </a:r>
          </a:p>
        </p:txBody>
      </p:sp>
      <p:sp>
        <p:nvSpPr>
          <p:cNvPr id="23" name="TextBox 22"/>
          <p:cNvSpPr txBox="1"/>
          <p:nvPr/>
        </p:nvSpPr>
        <p:spPr>
          <a:xfrm>
            <a:off x="384048" y="3493008"/>
            <a:ext cx="2194560" cy="347472"/>
          </a:xfrm>
          <a:prstGeom prst="rect">
            <a:avLst/>
          </a:prstGeom>
          <a:noFill/>
        </p:spPr>
        <p:txBody>
          <a:bodyPr wrap="square"/>
          <a:lstStyle/>
          <a:p>
            <a:pPr algn="l"/>
            <a:r>
              <a:rPr sz="2200" b="1" i="0">
                <a:solidFill>
                  <a:srgbClr val="F5C400"/>
                </a:solidFill>
                <a:latin typeface="Calibri"/>
              </a:rPr>
              <a:t>$8,144 / mo</a:t>
            </a:r>
          </a:p>
        </p:txBody>
      </p:sp>
      <p:sp>
        <p:nvSpPr>
          <p:cNvPr id="24" name="TextBox 23"/>
          <p:cNvSpPr txBox="1"/>
          <p:nvPr/>
        </p:nvSpPr>
        <p:spPr>
          <a:xfrm>
            <a:off x="2670048" y="3493008"/>
            <a:ext cx="1737360" cy="347472"/>
          </a:xfrm>
          <a:prstGeom prst="rect">
            <a:avLst/>
          </a:prstGeom>
          <a:noFill/>
        </p:spPr>
        <p:txBody>
          <a:bodyPr wrap="square"/>
          <a:lstStyle/>
          <a:p>
            <a:pPr algn="l"/>
            <a:r>
              <a:rPr sz="800" b="0" i="0">
                <a:solidFill>
                  <a:srgbClr val="7CA0C0"/>
                </a:solidFill>
                <a:latin typeface="Calibri"/>
              </a:rPr>
              <a:t>Save $1,350/mo by bundling</a:t>
            </a:r>
          </a:p>
        </p:txBody>
      </p:sp>
      <p:sp>
        <p:nvSpPr>
          <p:cNvPr id="25" name="Rectangle 24"/>
          <p:cNvSpPr/>
          <p:nvPr/>
        </p:nvSpPr>
        <p:spPr>
          <a:xfrm>
            <a:off x="201168" y="3968496"/>
            <a:ext cx="4133087" cy="402336"/>
          </a:xfrm>
          <a:prstGeom prst="rect">
            <a:avLst/>
          </a:prstGeom>
          <a:solidFill>
            <a:srgbClr val="EEF2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9184" y="3995928"/>
            <a:ext cx="3931920" cy="347472"/>
          </a:xfrm>
          <a:prstGeom prst="rect">
            <a:avLst/>
          </a:prstGeom>
          <a:noFill/>
        </p:spPr>
        <p:txBody>
          <a:bodyPr wrap="square"/>
          <a:lstStyle/>
          <a:p>
            <a:pPr algn="l"/>
            <a:r>
              <a:rPr sz="800" b="0" i="0">
                <a:solidFill>
                  <a:srgbClr val="64748B"/>
                </a:solidFill>
                <a:latin typeface="Calibri"/>
              </a:rPr>
              <a:t>+ Recommended ad spend: $10,000–$25,000/mo paid directly to Google/Meta</a:t>
            </a:r>
          </a:p>
        </p:txBody>
      </p:sp>
      <p:sp>
        <p:nvSpPr>
          <p:cNvPr id="27" name="Rectangle 26"/>
          <p:cNvSpPr/>
          <p:nvPr/>
        </p:nvSpPr>
        <p:spPr>
          <a:xfrm>
            <a:off x="4535424" y="1024128"/>
            <a:ext cx="4407408" cy="1316736"/>
          </a:xfrm>
          <a:prstGeom prst="rect">
            <a:avLst/>
          </a:prstGeom>
          <a:solidFill>
            <a:srgbClr val="ECFDF5"/>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00016" y="1078992"/>
            <a:ext cx="4133087" cy="219456"/>
          </a:xfrm>
          <a:prstGeom prst="rect">
            <a:avLst/>
          </a:prstGeom>
          <a:noFill/>
        </p:spPr>
        <p:txBody>
          <a:bodyPr wrap="square"/>
          <a:lstStyle/>
          <a:p>
            <a:pPr algn="l"/>
            <a:r>
              <a:rPr sz="800" b="1" i="0">
                <a:solidFill>
                  <a:srgbClr val="065F46"/>
                </a:solidFill>
                <a:latin typeface="Calibri"/>
              </a:rPr>
              <a:t>PROJECTED RETURN ON AD SPEND</a:t>
            </a:r>
          </a:p>
        </p:txBody>
      </p:sp>
      <p:sp>
        <p:nvSpPr>
          <p:cNvPr id="29" name="TextBox 28"/>
          <p:cNvSpPr txBox="1"/>
          <p:nvPr/>
        </p:nvSpPr>
        <p:spPr>
          <a:xfrm>
            <a:off x="4700016" y="1335024"/>
            <a:ext cx="1920240" cy="256032"/>
          </a:xfrm>
          <a:prstGeom prst="rect">
            <a:avLst/>
          </a:prstGeom>
          <a:noFill/>
        </p:spPr>
        <p:txBody>
          <a:bodyPr wrap="square"/>
          <a:lstStyle/>
          <a:p>
            <a:pPr algn="l"/>
            <a:r>
              <a:rPr sz="900" b="1" i="0">
                <a:solidFill>
                  <a:srgbClr val="1E293B"/>
                </a:solidFill>
                <a:latin typeface="Calibri"/>
              </a:rPr>
              <a:t>Average case value:</a:t>
            </a:r>
          </a:p>
        </p:txBody>
      </p:sp>
      <p:sp>
        <p:nvSpPr>
          <p:cNvPr id="30" name="TextBox 29"/>
          <p:cNvSpPr txBox="1"/>
          <p:nvPr/>
        </p:nvSpPr>
        <p:spPr>
          <a:xfrm>
            <a:off x="6729984" y="1335024"/>
            <a:ext cx="2103120" cy="256032"/>
          </a:xfrm>
          <a:prstGeom prst="rect">
            <a:avLst/>
          </a:prstGeom>
          <a:noFill/>
        </p:spPr>
        <p:txBody>
          <a:bodyPr wrap="square"/>
          <a:lstStyle/>
          <a:p>
            <a:pPr algn="l"/>
            <a:r>
              <a:rPr sz="900" b="0" i="0">
                <a:solidFill>
                  <a:srgbClr val="065F46"/>
                </a:solidFill>
                <a:latin typeface="Calibri"/>
              </a:rPr>
              <a:t>$9,000</a:t>
            </a:r>
          </a:p>
        </p:txBody>
      </p:sp>
      <p:sp>
        <p:nvSpPr>
          <p:cNvPr id="31" name="Rectangle 30"/>
          <p:cNvSpPr/>
          <p:nvPr/>
        </p:nvSpPr>
        <p:spPr>
          <a:xfrm>
            <a:off x="4645152" y="1609344"/>
            <a:ext cx="4187952" cy="310896"/>
          </a:xfrm>
          <a:prstGeom prst="rect">
            <a:avLst/>
          </a:prstGeom>
          <a:solidFill>
            <a:srgbClr val="D1FAE5"/>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00016" y="1645920"/>
            <a:ext cx="1920240" cy="256032"/>
          </a:xfrm>
          <a:prstGeom prst="rect">
            <a:avLst/>
          </a:prstGeom>
          <a:noFill/>
        </p:spPr>
        <p:txBody>
          <a:bodyPr wrap="square"/>
          <a:lstStyle/>
          <a:p>
            <a:pPr algn="l"/>
            <a:r>
              <a:rPr sz="900" b="1" i="0">
                <a:solidFill>
                  <a:srgbClr val="1E293B"/>
                </a:solidFill>
                <a:latin typeface="Calibri"/>
              </a:rPr>
              <a:t>Conservative  (13 cases/mo):</a:t>
            </a:r>
          </a:p>
        </p:txBody>
      </p:sp>
      <p:sp>
        <p:nvSpPr>
          <p:cNvPr id="33" name="TextBox 32"/>
          <p:cNvSpPr txBox="1"/>
          <p:nvPr/>
        </p:nvSpPr>
        <p:spPr>
          <a:xfrm>
            <a:off x="6729984" y="1645920"/>
            <a:ext cx="2103120" cy="256032"/>
          </a:xfrm>
          <a:prstGeom prst="rect">
            <a:avLst/>
          </a:prstGeom>
          <a:noFill/>
        </p:spPr>
        <p:txBody>
          <a:bodyPr wrap="square"/>
          <a:lstStyle/>
          <a:p>
            <a:pPr algn="l"/>
            <a:r>
              <a:rPr sz="900" b="1" i="0">
                <a:solidFill>
                  <a:srgbClr val="065F46"/>
                </a:solidFill>
                <a:latin typeface="Calibri"/>
              </a:rPr>
              <a:t>$117,000 revenue  ·  11.7× ROAS</a:t>
            </a:r>
          </a:p>
        </p:txBody>
      </p:sp>
      <p:sp>
        <p:nvSpPr>
          <p:cNvPr id="34" name="TextBox 33"/>
          <p:cNvSpPr txBox="1"/>
          <p:nvPr/>
        </p:nvSpPr>
        <p:spPr>
          <a:xfrm>
            <a:off x="4700016" y="1956816"/>
            <a:ext cx="1920240" cy="256032"/>
          </a:xfrm>
          <a:prstGeom prst="rect">
            <a:avLst/>
          </a:prstGeom>
          <a:noFill/>
        </p:spPr>
        <p:txBody>
          <a:bodyPr wrap="square"/>
          <a:lstStyle/>
          <a:p>
            <a:pPr algn="l"/>
            <a:r>
              <a:rPr sz="900" b="1" i="0">
                <a:solidFill>
                  <a:srgbClr val="1E293B"/>
                </a:solidFill>
                <a:latin typeface="Calibri"/>
              </a:rPr>
              <a:t>Aggressive  (38 cases/mo):</a:t>
            </a:r>
          </a:p>
        </p:txBody>
      </p:sp>
      <p:sp>
        <p:nvSpPr>
          <p:cNvPr id="35" name="TextBox 34"/>
          <p:cNvSpPr txBox="1"/>
          <p:nvPr/>
        </p:nvSpPr>
        <p:spPr>
          <a:xfrm>
            <a:off x="6729984" y="1956816"/>
            <a:ext cx="2103120" cy="256032"/>
          </a:xfrm>
          <a:prstGeom prst="rect">
            <a:avLst/>
          </a:prstGeom>
          <a:noFill/>
        </p:spPr>
        <p:txBody>
          <a:bodyPr wrap="square"/>
          <a:lstStyle/>
          <a:p>
            <a:pPr algn="l"/>
            <a:r>
              <a:rPr sz="900" b="1" i="0">
                <a:solidFill>
                  <a:srgbClr val="065F46"/>
                </a:solidFill>
                <a:latin typeface="Calibri"/>
              </a:rPr>
              <a:t>$342,000 revenue  ·  13.7× ROAS</a:t>
            </a:r>
          </a:p>
        </p:txBody>
      </p:sp>
      <p:sp>
        <p:nvSpPr>
          <p:cNvPr id="36" name="TextBox 35"/>
          <p:cNvSpPr txBox="1"/>
          <p:nvPr/>
        </p:nvSpPr>
        <p:spPr>
          <a:xfrm>
            <a:off x="4535424" y="2468880"/>
            <a:ext cx="4407408" cy="237744"/>
          </a:xfrm>
          <a:prstGeom prst="rect">
            <a:avLst/>
          </a:prstGeom>
          <a:noFill/>
        </p:spPr>
        <p:txBody>
          <a:bodyPr wrap="square"/>
          <a:lstStyle/>
          <a:p>
            <a:pPr algn="l"/>
            <a:r>
              <a:rPr sz="800" b="1" i="0">
                <a:solidFill>
                  <a:srgbClr val="0D1F3C"/>
                </a:solidFill>
                <a:latin typeface="Calibri"/>
              </a:rPr>
              <a:t>WHAT HAPPENS IN THE FIRST 90 DAYS</a:t>
            </a:r>
          </a:p>
        </p:txBody>
      </p:sp>
      <p:sp>
        <p:nvSpPr>
          <p:cNvPr id="37" name="Rectangle 36"/>
          <p:cNvSpPr/>
          <p:nvPr/>
        </p:nvSpPr>
        <p:spPr>
          <a:xfrm>
            <a:off x="4590288" y="2724912"/>
            <a:ext cx="256032" cy="256032"/>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37760" y="2734056"/>
            <a:ext cx="804672" cy="256032"/>
          </a:xfrm>
          <a:prstGeom prst="rect">
            <a:avLst/>
          </a:prstGeom>
          <a:noFill/>
        </p:spPr>
        <p:txBody>
          <a:bodyPr wrap="square"/>
          <a:lstStyle/>
          <a:p>
            <a:pPr algn="l"/>
            <a:r>
              <a:rPr sz="800" b="1" i="0">
                <a:solidFill>
                  <a:srgbClr val="0D1F3C"/>
                </a:solidFill>
                <a:latin typeface="Calibri"/>
              </a:rPr>
              <a:t>Day 1</a:t>
            </a:r>
          </a:p>
        </p:txBody>
      </p:sp>
      <p:sp>
        <p:nvSpPr>
          <p:cNvPr id="39" name="TextBox 38"/>
          <p:cNvSpPr txBox="1"/>
          <p:nvPr/>
        </p:nvSpPr>
        <p:spPr>
          <a:xfrm>
            <a:off x="5815584" y="2734056"/>
            <a:ext cx="3054096" cy="256032"/>
          </a:xfrm>
          <a:prstGeom prst="rect">
            <a:avLst/>
          </a:prstGeom>
          <a:noFill/>
        </p:spPr>
        <p:txBody>
          <a:bodyPr wrap="square"/>
          <a:lstStyle/>
          <a:p>
            <a:pPr algn="l"/>
            <a:r>
              <a:rPr sz="800" b="0" i="0">
                <a:solidFill>
                  <a:srgbClr val="1E293B"/>
                </a:solidFill>
                <a:latin typeface="Calibri"/>
              </a:rPr>
              <a:t>Strategy kickoff — campaigns begin setup</a:t>
            </a:r>
          </a:p>
        </p:txBody>
      </p:sp>
      <p:sp>
        <p:nvSpPr>
          <p:cNvPr id="40" name="Rectangle 39"/>
          <p:cNvSpPr/>
          <p:nvPr/>
        </p:nvSpPr>
        <p:spPr>
          <a:xfrm>
            <a:off x="4590288" y="3081528"/>
            <a:ext cx="256032" cy="256032"/>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937760" y="3090672"/>
            <a:ext cx="804672" cy="256032"/>
          </a:xfrm>
          <a:prstGeom prst="rect">
            <a:avLst/>
          </a:prstGeom>
          <a:noFill/>
        </p:spPr>
        <p:txBody>
          <a:bodyPr wrap="square"/>
          <a:lstStyle/>
          <a:p>
            <a:pPr algn="l"/>
            <a:r>
              <a:rPr sz="800" b="1" i="0">
                <a:solidFill>
                  <a:srgbClr val="0D1F3C"/>
                </a:solidFill>
                <a:latin typeface="Calibri"/>
              </a:rPr>
              <a:t>Day 14</a:t>
            </a:r>
          </a:p>
        </p:txBody>
      </p:sp>
      <p:sp>
        <p:nvSpPr>
          <p:cNvPr id="42" name="TextBox 41"/>
          <p:cNvSpPr txBox="1"/>
          <p:nvPr/>
        </p:nvSpPr>
        <p:spPr>
          <a:xfrm>
            <a:off x="5815584" y="3090672"/>
            <a:ext cx="3054096" cy="256032"/>
          </a:xfrm>
          <a:prstGeom prst="rect">
            <a:avLst/>
          </a:prstGeom>
          <a:noFill/>
        </p:spPr>
        <p:txBody>
          <a:bodyPr wrap="square"/>
          <a:lstStyle/>
          <a:p>
            <a:pPr algn="l"/>
            <a:r>
              <a:rPr sz="800" b="0" i="0">
                <a:solidFill>
                  <a:srgbClr val="1E293B"/>
                </a:solidFill>
                <a:latin typeface="Calibri"/>
              </a:rPr>
              <a:t>Google Ads + LSA campaigns go live</a:t>
            </a:r>
          </a:p>
        </p:txBody>
      </p:sp>
      <p:sp>
        <p:nvSpPr>
          <p:cNvPr id="43" name="Rectangle 42"/>
          <p:cNvSpPr/>
          <p:nvPr/>
        </p:nvSpPr>
        <p:spPr>
          <a:xfrm>
            <a:off x="4590288" y="3438144"/>
            <a:ext cx="256032" cy="256032"/>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937760" y="3447287"/>
            <a:ext cx="804672" cy="256032"/>
          </a:xfrm>
          <a:prstGeom prst="rect">
            <a:avLst/>
          </a:prstGeom>
          <a:noFill/>
        </p:spPr>
        <p:txBody>
          <a:bodyPr wrap="square"/>
          <a:lstStyle/>
          <a:p>
            <a:pPr algn="l"/>
            <a:r>
              <a:rPr sz="800" b="1" i="0">
                <a:solidFill>
                  <a:srgbClr val="0D1F3C"/>
                </a:solidFill>
                <a:latin typeface="Calibri"/>
              </a:rPr>
              <a:t>Week 3</a:t>
            </a:r>
          </a:p>
        </p:txBody>
      </p:sp>
      <p:sp>
        <p:nvSpPr>
          <p:cNvPr id="45" name="TextBox 44"/>
          <p:cNvSpPr txBox="1"/>
          <p:nvPr/>
        </p:nvSpPr>
        <p:spPr>
          <a:xfrm>
            <a:off x="5815584" y="3447287"/>
            <a:ext cx="3054096" cy="256032"/>
          </a:xfrm>
          <a:prstGeom prst="rect">
            <a:avLst/>
          </a:prstGeom>
          <a:noFill/>
        </p:spPr>
        <p:txBody>
          <a:bodyPr wrap="square"/>
          <a:lstStyle/>
          <a:p>
            <a:pPr algn="l"/>
            <a:r>
              <a:rPr sz="800" b="0" i="0">
                <a:solidFill>
                  <a:srgbClr val="1E293B"/>
                </a:solidFill>
                <a:latin typeface="Calibri"/>
              </a:rPr>
              <a:t>Website rebuilt, contact form above fold</a:t>
            </a:r>
          </a:p>
        </p:txBody>
      </p:sp>
      <p:sp>
        <p:nvSpPr>
          <p:cNvPr id="46" name="Rectangle 45"/>
          <p:cNvSpPr/>
          <p:nvPr/>
        </p:nvSpPr>
        <p:spPr>
          <a:xfrm>
            <a:off x="4590288" y="3794760"/>
            <a:ext cx="256032" cy="256032"/>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937760" y="3803904"/>
            <a:ext cx="804672" cy="256032"/>
          </a:xfrm>
          <a:prstGeom prst="rect">
            <a:avLst/>
          </a:prstGeom>
          <a:noFill/>
        </p:spPr>
        <p:txBody>
          <a:bodyPr wrap="square"/>
          <a:lstStyle/>
          <a:p>
            <a:pPr algn="l"/>
            <a:r>
              <a:rPr sz="800" b="1" i="0">
                <a:solidFill>
                  <a:srgbClr val="0D1F3C"/>
                </a:solidFill>
                <a:latin typeface="Calibri"/>
              </a:rPr>
              <a:t>Week 6</a:t>
            </a:r>
          </a:p>
        </p:txBody>
      </p:sp>
      <p:sp>
        <p:nvSpPr>
          <p:cNvPr id="48" name="TextBox 47"/>
          <p:cNvSpPr txBox="1"/>
          <p:nvPr/>
        </p:nvSpPr>
        <p:spPr>
          <a:xfrm>
            <a:off x="5815584" y="3803904"/>
            <a:ext cx="3054096" cy="256032"/>
          </a:xfrm>
          <a:prstGeom prst="rect">
            <a:avLst/>
          </a:prstGeom>
          <a:noFill/>
        </p:spPr>
        <p:txBody>
          <a:bodyPr wrap="square"/>
          <a:lstStyle/>
          <a:p>
            <a:pPr algn="l"/>
            <a:r>
              <a:rPr sz="800" b="0" i="0">
                <a:solidFill>
                  <a:srgbClr val="1E293B"/>
                </a:solidFill>
                <a:latin typeface="Calibri"/>
              </a:rPr>
              <a:t>GBP optimized, review generation live</a:t>
            </a:r>
          </a:p>
        </p:txBody>
      </p:sp>
      <p:sp>
        <p:nvSpPr>
          <p:cNvPr id="49" name="Rectangle 48"/>
          <p:cNvSpPr/>
          <p:nvPr/>
        </p:nvSpPr>
        <p:spPr>
          <a:xfrm>
            <a:off x="4590288" y="4151376"/>
            <a:ext cx="256032" cy="256032"/>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37760" y="4160520"/>
            <a:ext cx="804672" cy="256032"/>
          </a:xfrm>
          <a:prstGeom prst="rect">
            <a:avLst/>
          </a:prstGeom>
          <a:noFill/>
        </p:spPr>
        <p:txBody>
          <a:bodyPr wrap="square"/>
          <a:lstStyle/>
          <a:p>
            <a:pPr algn="l"/>
            <a:r>
              <a:rPr sz="800" b="1" i="0">
                <a:solidFill>
                  <a:srgbClr val="0D1F3C"/>
                </a:solidFill>
                <a:latin typeface="Calibri"/>
              </a:rPr>
              <a:t>Month 3</a:t>
            </a:r>
          </a:p>
        </p:txBody>
      </p:sp>
      <p:sp>
        <p:nvSpPr>
          <p:cNvPr id="51" name="TextBox 50"/>
          <p:cNvSpPr txBox="1"/>
          <p:nvPr/>
        </p:nvSpPr>
        <p:spPr>
          <a:xfrm>
            <a:off x="5815584" y="4160520"/>
            <a:ext cx="3054096" cy="256032"/>
          </a:xfrm>
          <a:prstGeom prst="rect">
            <a:avLst/>
          </a:prstGeom>
          <a:noFill/>
        </p:spPr>
        <p:txBody>
          <a:bodyPr wrap="square"/>
          <a:lstStyle/>
          <a:p>
            <a:pPr algn="l"/>
            <a:r>
              <a:rPr sz="800" b="0" i="0">
                <a:solidFill>
                  <a:srgbClr val="1E293B"/>
                </a:solidFill>
                <a:latin typeface="Calibri"/>
              </a:rPr>
              <a:t>Geo landing pages + coaching rhythm active</a:t>
            </a:r>
          </a:p>
        </p:txBody>
      </p:sp>
      <p:sp>
        <p:nvSpPr>
          <p:cNvPr id="52" name="Rectangle 51"/>
          <p:cNvSpPr/>
          <p:nvPr/>
        </p:nvSpPr>
        <p:spPr>
          <a:xfrm>
            <a:off x="0" y="4425696"/>
            <a:ext cx="9144000" cy="402336"/>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74320" y="4425696"/>
            <a:ext cx="8595360" cy="402336"/>
          </a:xfrm>
          <a:prstGeom prst="rect">
            <a:avLst/>
          </a:prstGeom>
          <a:noFill/>
        </p:spPr>
        <p:txBody>
          <a:bodyPr wrap="square"/>
          <a:lstStyle/>
          <a:p>
            <a:pPr algn="ctr"/>
            <a:r>
              <a:rPr sz="900" b="0" i="1">
                <a:solidFill>
                  <a:srgbClr val="8BADD0"/>
                </a:solidFill>
                <a:latin typeface="Calibri"/>
              </a:rPr>
              <a:t>"The expertise to dominate New York real estate law already exists inside this firm — what is missing is the system to make it visible to every client searching right now."</a:t>
            </a:r>
          </a:p>
        </p:txBody>
      </p:sp>
      <p:sp>
        <p:nvSpPr>
          <p:cNvPr id="54" name="Rectangle 53"/>
          <p:cNvSpPr/>
          <p:nvPr/>
        </p:nvSpPr>
        <p:spPr>
          <a:xfrm>
            <a:off x="0" y="4828032"/>
            <a:ext cx="9144000" cy="320040"/>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609344" y="4837176"/>
            <a:ext cx="5303520" cy="274320"/>
          </a:xfrm>
          <a:prstGeom prst="rect">
            <a:avLst/>
          </a:prstGeom>
          <a:noFill/>
        </p:spPr>
        <p:txBody>
          <a:bodyPr wrap="square"/>
          <a:lstStyle/>
          <a:p>
            <a:pPr algn="l"/>
            <a:r>
              <a:rPr sz="800" b="0" i="0">
                <a:solidFill>
                  <a:srgbClr val="5A7A9A"/>
                </a:solidFill>
                <a:latin typeface="Calibri"/>
              </a:rPr>
              <a:t>CONFIDENTIAL  ·  Prepared by Randy Gold | SMB Team</a:t>
            </a:r>
          </a:p>
        </p:txBody>
      </p:sp>
      <p:sp>
        <p:nvSpPr>
          <p:cNvPr id="56" name="TextBox 55"/>
          <p:cNvSpPr txBox="1"/>
          <p:nvPr/>
        </p:nvSpPr>
        <p:spPr>
          <a:xfrm>
            <a:off x="8138160" y="4837176"/>
            <a:ext cx="786384" cy="274320"/>
          </a:xfrm>
          <a:prstGeom prst="rect">
            <a:avLst/>
          </a:prstGeom>
          <a:noFill/>
        </p:spPr>
        <p:txBody>
          <a:bodyPr wrap="square"/>
          <a:lstStyle/>
          <a:p>
            <a:pPr algn="r"/>
            <a:r>
              <a:rPr sz="800" b="0" i="0">
                <a:solidFill>
                  <a:srgbClr val="5A7A9A"/>
                </a:solidFill>
                <a:latin typeface="Calibri"/>
              </a:rPr>
              <a:t>3 / 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