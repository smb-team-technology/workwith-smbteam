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9CD2B"/>
                </a:solidFill>
                <a:latin typeface="Poppins"/>
              </a:rPr>
              <a:t>LAW FIRM GROWTH AUDIT  ·  RIVAS LAW FIRM, PLLC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FFFFFF"/>
                </a:solidFill>
                <a:latin typeface="Poppins"/>
              </a:rPr>
              <a:t>Where Rivas Law Firm, PLLC Stands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46304" cy="3867912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1005840"/>
            <a:ext cx="1298448" cy="841248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6032" y="1005840"/>
            <a:ext cx="1298448" cy="56692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800" b="1" i="0">
                <a:solidFill>
                  <a:srgbClr val="FFFFFF"/>
                </a:solidFill>
                <a:latin typeface="Poppins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1572768"/>
            <a:ext cx="1298448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600" b="1" i="0">
                <a:solidFill>
                  <a:srgbClr val="FFFFFF"/>
                </a:solidFill>
                <a:latin typeface="Poppins"/>
              </a:rPr>
              <a:t>COMPETITIVE URGENCY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2496" y="1005840"/>
            <a:ext cx="804672" cy="164592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82496" y="1170432"/>
            <a:ext cx="804672" cy="676656"/>
          </a:xfrm>
          <a:prstGeom prst="rect">
            <a:avLst/>
          </a:prstGeom>
          <a:solidFill>
            <a:srgbClr val="26587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0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Poppins"/>
              </a:rPr>
              <a:t>Lead Generation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C0392B"/>
                </a:solidFill>
                <a:latin typeface="Poppins"/>
              </a:rPr>
              <a:t>CRITICAL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Poppins"/>
              </a:rPr>
              <a:t>95% referral only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42032" y="1005840"/>
            <a:ext cx="804672" cy="164592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42032" y="1170432"/>
            <a:ext cx="804672" cy="676656"/>
          </a:xfrm>
          <a:prstGeom prst="rect">
            <a:avLst/>
          </a:prstGeom>
          <a:solidFill>
            <a:srgbClr val="26587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96896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Poppins"/>
              </a:rPr>
              <a:t>Intake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96896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C0392B"/>
                </a:solidFill>
                <a:latin typeface="Poppins"/>
              </a:rPr>
              <a:t>CRITICAL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96896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Poppins"/>
              </a:rPr>
              <a:t>No CRM, no process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005840"/>
            <a:ext cx="804672" cy="164592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170432"/>
            <a:ext cx="804672" cy="676656"/>
          </a:xfrm>
          <a:prstGeom prst="rect">
            <a:avLst/>
          </a:prstGeom>
          <a:solidFill>
            <a:srgbClr val="26587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56432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Poppins"/>
              </a:rPr>
              <a:t>Team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56432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C0392B"/>
                </a:solidFill>
                <a:latin typeface="Poppins"/>
              </a:rPr>
              <a:t>CRITICAL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432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Poppins"/>
              </a:rPr>
              <a:t>No delegation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61104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61104" y="1170432"/>
            <a:ext cx="804672" cy="676656"/>
          </a:xfrm>
          <a:prstGeom prst="rect">
            <a:avLst/>
          </a:prstGeom>
          <a:solidFill>
            <a:srgbClr val="26587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15968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Poppins"/>
              </a:rPr>
              <a:t>Profit Plan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15968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Poppins"/>
              </a:rPr>
              <a:t>AMBER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15968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Poppins"/>
              </a:rPr>
              <a:t>No ROI tracking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6032" y="1956816"/>
            <a:ext cx="484632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9CD2B"/>
                </a:solidFill>
                <a:latin typeface="Poppins"/>
              </a:rPr>
              <a:t>KEY FINDINGS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6032" y="2212848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2386584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2368296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Poppins"/>
              </a:rPr>
              <a:t>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" y="2286000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Poppins"/>
              </a:rPr>
              <a:t>15 reviews vs. hundreds for named competitors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6032" y="2834640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" y="3008376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2990088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Poppins"/>
              </a:rPr>
              <a:t>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" y="2907792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Poppins"/>
              </a:rPr>
              <a:t>$60K/yr billboards produced only ~5 cases last year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6032" y="3456432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3630168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3611879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Poppins"/>
              </a:rPr>
              <a:t>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" y="3529584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Poppins"/>
              </a:rPr>
              <a:t>Every case routes through Israel personally, with no team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6032" y="4078224"/>
            <a:ext cx="4846320" cy="566928"/>
          </a:xfrm>
          <a:prstGeom prst="rect">
            <a:avLst/>
          </a:prstGeom>
          <a:solidFill>
            <a:srgbClr val="0C281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4251960"/>
            <a:ext cx="219456" cy="219456"/>
          </a:xfrm>
          <a:prstGeom prst="rect">
            <a:avLst/>
          </a:prstGeom>
          <a:solidFill>
            <a:srgbClr val="16A34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4233672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Poppins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6656" y="4151376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86EFAC"/>
                </a:solidFill>
                <a:latin typeface="Poppins"/>
              </a:rPr>
              <a:t>Strong 4.7-star rating shows no reputation problem, only volume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57800" y="960120"/>
            <a:ext cx="3886200" cy="386791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257800" y="1024128"/>
            <a:ext cx="3886200" cy="694944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257800" y="1024128"/>
            <a:ext cx="128016" cy="694944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86400" y="1042415"/>
            <a:ext cx="34747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9CD2B"/>
                </a:solidFill>
                <a:latin typeface="Poppins"/>
              </a:rPr>
              <a:t>YOU ARE HERE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0" y="1243584"/>
            <a:ext cx="347472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Poppins"/>
              </a:rPr>
              <a:t>Stage 3: Solo Practitioner  →  Goal: Stage 6, Law Firm Owner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94960" y="1920240"/>
            <a:ext cx="356616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4748B"/>
                </a:solidFill>
                <a:latin typeface="Poppins"/>
              </a:rPr>
              <a:t>COMPETITOR LANDSCAPE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57800" y="2176272"/>
            <a:ext cx="3886200" cy="310896"/>
          </a:xfrm>
          <a:prstGeom prst="rect">
            <a:avLst/>
          </a:prstGeom>
          <a:solidFill>
            <a:srgbClr val="F0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13248" y="2221991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Leah Wise Law Firm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60336" y="2221991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Poppins"/>
              </a:rPr>
              <a:t>782 reviews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93024" y="2240279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Poppins"/>
              </a:rPr>
              <a:t>5.0★ SEO leader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57800" y="2523744"/>
            <a:ext cx="3886200" cy="31089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13248" y="2569463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Tijerina Legal Group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60336" y="2569463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Poppins"/>
              </a:rPr>
              <a:t>906 reviews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93024" y="2587751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Poppins"/>
              </a:rPr>
              <a:t>98% recommend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257800" y="2871216"/>
            <a:ext cx="3886200" cy="310896"/>
          </a:xfrm>
          <a:prstGeom prst="rect">
            <a:avLst/>
          </a:prstGeom>
          <a:solidFill>
            <a:srgbClr val="F0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13248" y="2916936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Ruy Mireles Law Firm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60336" y="2916936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Poppins"/>
              </a:rPr>
              <a:t>115 reviews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93024" y="2935224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Poppins"/>
              </a:rPr>
              <a:t>Ads, no office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257800" y="3218688"/>
            <a:ext cx="3886200" cy="310896"/>
          </a:xfrm>
          <a:prstGeom prst="rect">
            <a:avLst/>
          </a:prstGeom>
          <a:solidFill>
            <a:srgbClr val="FFF0F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257800" y="3218688"/>
            <a:ext cx="91440" cy="31089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13248" y="3264408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C0392B"/>
                </a:solidFill>
                <a:latin typeface="Poppins"/>
              </a:rPr>
              <a:t>Rivas Law Firm, PLLC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60336" y="3264408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C0392B"/>
                </a:solidFill>
                <a:latin typeface="Poppins"/>
              </a:rPr>
              <a:t>15 reviews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93024" y="3282696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Poppins"/>
              </a:rPr>
              <a:t>← You are here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Poppins"/>
              </a:rPr>
              <a:t>CONFIDENTIAL  ·  Prepared by Nick Holderman | SMB Team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Poppins"/>
              </a:rPr>
              <a:t>1 /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9CD2B"/>
                </a:solidFill>
                <a:latin typeface="Poppins"/>
              </a:rPr>
              <a:t>LAW FIRM GROWTH AUDIT  ·  RIVAS LAW FIRM, PLLC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Poppins"/>
              </a:rPr>
              <a:t>Your Growth Plan: 3 Priorities to Reach $3-4M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1024128"/>
            <a:ext cx="2487168" cy="3639312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1042415"/>
            <a:ext cx="2487168" cy="18288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1097280"/>
            <a:ext cx="2267712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9CD2B"/>
                </a:solidFill>
                <a:latin typeface="Poppins"/>
              </a:rPr>
              <a:t>THE SMB TEAM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335024"/>
            <a:ext cx="2267712" cy="15727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A8BFDA"/>
                </a:solidFill>
                <a:latin typeface="Poppins"/>
              </a:rPr>
              <a:t>Lead Gen, Intake, Team, and Profit must all work together. When all four pillars work, Israel can finally step away and trust the firm runs.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2999232"/>
            <a:ext cx="2487168" cy="749808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301752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003A59"/>
                </a:solidFill>
                <a:latin typeface="Poppins"/>
              </a:rPr>
              <a:t>$1.5-2M → $3-4M revenue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3291840"/>
            <a:ext cx="228600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003A59"/>
                </a:solidFill>
                <a:latin typeface="Poppins"/>
              </a:rPr>
              <a:t>Step away and trust the firm runs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16352" y="1024128"/>
            <a:ext cx="2048256" cy="841248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0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Poppins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Poppins"/>
              </a:rPr>
              <a:t>Build the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Poppins"/>
              </a:rPr>
              <a:t>Marketing Engine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1865376"/>
            <a:ext cx="2048256" cy="566928"/>
          </a:xfrm>
          <a:prstGeom prst="rect">
            <a:avLst/>
          </a:prstGeom>
          <a:solidFill>
            <a:srgbClr val="E3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07792" y="2084832"/>
            <a:ext cx="91440" cy="91440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54096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Launch Google &amp; LSA ads in Pharr/McAllen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16352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07792" y="2688336"/>
            <a:ext cx="91440" cy="91440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54096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Launch Meta retargeting + lead-gen ads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16352" y="3072384"/>
            <a:ext cx="2048256" cy="566928"/>
          </a:xfrm>
          <a:prstGeom prst="rect">
            <a:avLst/>
          </a:prstGeom>
          <a:solidFill>
            <a:srgbClr val="E3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07792" y="3291839"/>
            <a:ext cx="91440" cy="91440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54096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Rebuild site bilingual, fix NAP mismatch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16352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07792" y="3895344"/>
            <a:ext cx="91440" cy="91440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54096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Launch a review-generation campaign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16352" y="4279392"/>
            <a:ext cx="2048256" cy="566928"/>
          </a:xfrm>
          <a:prstGeom prst="rect">
            <a:avLst/>
          </a:prstGeom>
          <a:solidFill>
            <a:srgbClr val="E3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907792" y="4498848"/>
            <a:ext cx="91440" cy="91440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54096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Turn Google into leads that don't need you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37760" y="1024128"/>
            <a:ext cx="2048256" cy="841248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47488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003A59"/>
                </a:solidFill>
                <a:latin typeface="Poppins"/>
              </a:rPr>
              <a:t>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47488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003A59"/>
                </a:solidFill>
                <a:latin typeface="Poppins"/>
              </a:rPr>
              <a:t>Fix Intake &amp;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47488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003A59"/>
                </a:solidFill>
                <a:latin typeface="Poppins"/>
              </a:rPr>
              <a:t>Stop Losing Cases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37760" y="1865376"/>
            <a:ext cx="2048256" cy="566928"/>
          </a:xfrm>
          <a:prstGeom prst="rect">
            <a:avLst/>
          </a:prstGeom>
          <a:solidFill>
            <a:srgbClr val="EDF9E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0" y="2084832"/>
            <a:ext cx="91440" cy="91440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75504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Build a defined intake process, no CRM gaps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760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0" y="2688336"/>
            <a:ext cx="91440" cy="91440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75504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Add after-hours coverage for new leads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937760" y="3072384"/>
            <a:ext cx="2048256" cy="566928"/>
          </a:xfrm>
          <a:prstGeom prst="rect">
            <a:avLst/>
          </a:prstGeom>
          <a:solidFill>
            <a:srgbClr val="EDF9E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0" y="3291839"/>
            <a:ext cx="91440" cy="91440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75504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Track every case from click to signed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760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0" y="3895344"/>
            <a:ext cx="91440" cy="91440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175504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Fix homepage — add a visible contact form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37760" y="4279392"/>
            <a:ext cx="2048256" cy="566928"/>
          </a:xfrm>
          <a:prstGeom prst="rect">
            <a:avLst/>
          </a:prstGeom>
          <a:solidFill>
            <a:srgbClr val="EDF9E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0" y="4498848"/>
            <a:ext cx="91440" cy="91440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175504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Stop missing leads before you ever see them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059168" y="1024128"/>
            <a:ext cx="2048256" cy="841248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68896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Poppins"/>
              </a:rPr>
              <a:t>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68896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Poppins"/>
              </a:rPr>
              <a:t>Install Team &amp;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68896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Poppins"/>
              </a:rPr>
              <a:t>Profit Systems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168" y="1865376"/>
            <a:ext cx="2048256" cy="566928"/>
          </a:xfrm>
          <a:prstGeom prst="rect">
            <a:avLst/>
          </a:prstGeom>
          <a:solidFill>
            <a:srgbClr val="E0E7E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150607" y="2084832"/>
            <a:ext cx="91440" cy="9144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296912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Add FCOO Advisor to build real delegation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059168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150607" y="2688336"/>
            <a:ext cx="91440" cy="9144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296912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Track cost-per-case on every ad dollar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168" y="3072384"/>
            <a:ext cx="2048256" cy="566928"/>
          </a:xfrm>
          <a:prstGeom prst="rect">
            <a:avLst/>
          </a:prstGeom>
          <a:solidFill>
            <a:srgbClr val="E0E7E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150607" y="3291839"/>
            <a:ext cx="91440" cy="9144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96912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Redirect $60K/yr billboard spend to ads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059168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150607" y="3895344"/>
            <a:ext cx="91440" cy="9144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296912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Build weekly coaching + PI masterminds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168" y="4279392"/>
            <a:ext cx="2048256" cy="566928"/>
          </a:xfrm>
          <a:prstGeom prst="rect">
            <a:avLst/>
          </a:prstGeom>
          <a:solidFill>
            <a:srgbClr val="E0E7E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50607" y="4498848"/>
            <a:ext cx="91440" cy="9144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296912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Free your time from daily casework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Poppins"/>
              </a:rPr>
              <a:t>CONFIDENTIAL  ·  Prepared by Nick Holderman | SMB Team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Poppins"/>
              </a:rPr>
              <a:t>2 /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9CD2B"/>
                </a:solidFill>
                <a:latin typeface="Poppins"/>
              </a:rPr>
              <a:t>LAW FIRM GROWTH AUDIT  ·  RIVAS LAW FIRM, PLLC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Poppins"/>
              </a:rPr>
              <a:t>Your Investment &amp; What Happens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" y="1024128"/>
            <a:ext cx="4133087" cy="10241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" y="1024128"/>
            <a:ext cx="182880" cy="1024128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15568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091C9"/>
                </a:solidFill>
                <a:latin typeface="Poppins"/>
              </a:rPr>
              <a:t>FULL SERVICE MARKETING — GROWTH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298448"/>
            <a:ext cx="182880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 i="0">
                <a:solidFill>
                  <a:srgbClr val="003A59"/>
                </a:solidFill>
                <a:latin typeface="Poppins"/>
              </a:rPr>
              <a:t>$7,497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65376" y="1408176"/>
            <a:ext cx="420624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64748B"/>
                </a:solidFill>
                <a:latin typeface="Poppins"/>
              </a:rPr>
              <a:t>/mo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22576" y="1426464"/>
            <a:ext cx="9144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334155"/>
                </a:solidFill>
                <a:latin typeface="Poppins"/>
              </a:rPr>
              <a:t>$8,997/mo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22576" y="1527048"/>
            <a:ext cx="804672" cy="9144"/>
          </a:xfrm>
          <a:prstGeom prst="rect">
            <a:avLst/>
          </a:prstGeom>
          <a:solidFill>
            <a:srgbClr val="33415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1792224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Poppins"/>
              </a:rPr>
              <a:t>Bilingual site · Google/LSA/Meta Ads · Local SEO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" y="2139696"/>
            <a:ext cx="4133087" cy="10241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1168" y="2139696"/>
            <a:ext cx="182880" cy="1024128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2231136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03A59"/>
                </a:solidFill>
                <a:latin typeface="Poppins"/>
              </a:rPr>
              <a:t>ELITE COACH PLUS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" y="2414015"/>
            <a:ext cx="182880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 i="0">
                <a:solidFill>
                  <a:srgbClr val="003A59"/>
                </a:solidFill>
                <a:latin typeface="Poppins"/>
              </a:rPr>
              <a:t>$3,200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65376" y="2523744"/>
            <a:ext cx="420624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64748B"/>
                </a:solidFill>
                <a:latin typeface="Poppins"/>
              </a:rPr>
              <a:t>/mo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22576" y="2542032"/>
            <a:ext cx="9144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334155"/>
                </a:solidFill>
                <a:latin typeface="Poppins"/>
              </a:rPr>
              <a:t>$3,497/mo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2576" y="2642615"/>
            <a:ext cx="804672" cy="9144"/>
          </a:xfrm>
          <a:prstGeom prst="rect">
            <a:avLst/>
          </a:prstGeom>
          <a:solidFill>
            <a:srgbClr val="33415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2907791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Poppins"/>
              </a:rPr>
              <a:t>Weekly coaching · PI masterminds · Delegation plan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" y="3255264"/>
            <a:ext cx="4133087" cy="658368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048" y="3291840"/>
            <a:ext cx="16459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7CA0C0"/>
                </a:solidFill>
                <a:latin typeface="Poppins"/>
              </a:rPr>
              <a:t>BUNDLE TOTAL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" y="3493008"/>
            <a:ext cx="21945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0091C9"/>
                </a:solidFill>
                <a:latin typeface="Poppins"/>
              </a:rPr>
              <a:t>$10,697 / mo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70048" y="3493008"/>
            <a:ext cx="17373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7CA0C0"/>
                </a:solidFill>
                <a:latin typeface="Poppins"/>
              </a:rPr>
              <a:t>Save $1,797/mo by bundling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1168" y="3968496"/>
            <a:ext cx="4133087" cy="402336"/>
          </a:xfrm>
          <a:prstGeom prst="rect">
            <a:avLst/>
          </a:prstGeom>
          <a:solidFill>
            <a:srgbClr val="EEF2F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" y="3995928"/>
            <a:ext cx="39319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Poppins"/>
              </a:rPr>
              <a:t>+ Recommended ad spend: $19,500–$50,000/mo paid directly to Google/Meta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35424" y="1024128"/>
            <a:ext cx="4407408" cy="1316736"/>
          </a:xfrm>
          <a:prstGeom prst="rect">
            <a:avLst/>
          </a:prstGeom>
          <a:solidFill>
            <a:srgbClr val="ECFD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0016" y="1078992"/>
            <a:ext cx="4133087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65F46"/>
                </a:solidFill>
                <a:latin typeface="Poppins"/>
              </a:rPr>
              <a:t>PROJECTED RETURN ON AD SPEND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0016" y="1335024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Poppins"/>
              </a:rPr>
              <a:t>Average case value: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9984" y="1335024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065F46"/>
                </a:solidFill>
                <a:latin typeface="Poppins"/>
              </a:rPr>
              <a:t>$7,500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45152" y="1609344"/>
            <a:ext cx="4187952" cy="310896"/>
          </a:xfrm>
          <a:prstGeom prst="rect">
            <a:avLst/>
          </a:prstGeom>
          <a:solidFill>
            <a:srgbClr val="D1FAE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00016" y="1645920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Poppins"/>
              </a:rPr>
              <a:t>Conservative  (5-6 cases/mo):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29984" y="1645920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065F46"/>
                </a:solidFill>
                <a:latin typeface="Poppins"/>
              </a:rPr>
              <a:t>$41,000 revenue · 2.1× ROAS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00016" y="1956816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Poppins"/>
              </a:rPr>
              <a:t>Aggressive  (16-17 cases/mo):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29984" y="1956816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065F46"/>
                </a:solidFill>
                <a:latin typeface="Poppins"/>
              </a:rPr>
              <a:t>$127,000 revenue · 2.5× ROAS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35424" y="2468880"/>
            <a:ext cx="4407408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03A59"/>
                </a:solidFill>
                <a:latin typeface="Poppins"/>
              </a:rPr>
              <a:t>WHAT HAPPENS IN THE FIRST 90 DAYS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90288" y="2724912"/>
            <a:ext cx="256032" cy="256032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37760" y="2734056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03A59"/>
                </a:solidFill>
                <a:latin typeface="Poppins"/>
              </a:rPr>
              <a:t>Day 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15584" y="2734056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Launch Google, LSA &amp; Meta ad campaigns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90288" y="3081528"/>
            <a:ext cx="256032" cy="256032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37760" y="3090672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03A59"/>
                </a:solidFill>
                <a:latin typeface="Poppins"/>
              </a:rPr>
              <a:t>Day 14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15584" y="3090672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Bilingual website rebuild kicks off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90288" y="3438144"/>
            <a:ext cx="256032" cy="256032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937760" y="3447287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03A59"/>
                </a:solidFill>
                <a:latin typeface="Poppins"/>
              </a:rPr>
              <a:t>Week 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15584" y="3447287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Review-generation campaign goes live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90288" y="3794760"/>
            <a:ext cx="256032" cy="256032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37760" y="3803904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03A59"/>
                </a:solidFill>
                <a:latin typeface="Poppins"/>
              </a:rPr>
              <a:t>Week 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15584" y="3803904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Elite Coach Plus coaching begins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90288" y="4151376"/>
            <a:ext cx="256032" cy="256032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937760" y="4160520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03A59"/>
                </a:solidFill>
                <a:latin typeface="Poppins"/>
              </a:rPr>
              <a:t>Month 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15584" y="4160520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Intake process built, delegation begins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4425696"/>
            <a:ext cx="9144000" cy="402336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4320" y="4425696"/>
            <a:ext cx="8595360" cy="40233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 i="1">
                <a:solidFill>
                  <a:srgbClr val="8BADD0"/>
                </a:solidFill>
                <a:latin typeface="Poppins"/>
              </a:rPr>
              <a:t>"I want to double this firm — and finally get my time back."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Poppins"/>
              </a:rPr>
              <a:t>CONFIDENTIAL  ·  Prepared by Nick Holderman | SMB Team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Poppins"/>
              </a:rPr>
              <a:t>3 /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