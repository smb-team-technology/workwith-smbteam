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ALPHA CENTER FOR DIVORCE MEDIATION</a:t>
            </a:r>
          </a:p>
        </p:txBody>
      </p:sp>
      <p:sp>
        <p:nvSpPr>
          <p:cNvPr id="4" name="TextBox 3"/>
          <p:cNvSpPr txBox="1"/>
          <p:nvPr/>
        </p:nvSpPr>
        <p:spPr>
          <a:xfrm>
            <a:off x="292608" y="310896"/>
            <a:ext cx="8595360" cy="548640"/>
          </a:xfrm>
          <a:prstGeom prst="rect">
            <a:avLst/>
          </a:prstGeom>
          <a:noFill/>
        </p:spPr>
        <p:txBody>
          <a:bodyPr wrap="square"/>
          <a:lstStyle/>
          <a:p>
            <a:pPr algn="l"/>
            <a:r>
              <a:rPr sz="2400" b="1" i="0">
                <a:solidFill>
                  <a:srgbClr val="FFFFFF"/>
                </a:solidFill>
                <a:latin typeface="Calibri"/>
              </a:rPr>
              <a:t>Where Alpha Center for Divorce Mediation Stands Today</a:t>
            </a:r>
          </a:p>
        </p:txBody>
      </p:sp>
      <p:sp>
        <p:nvSpPr>
          <p:cNvPr id="5" name="Rectangle 4"/>
          <p:cNvSpPr/>
          <p:nvPr/>
        </p:nvSpPr>
        <p:spPr>
          <a:xfrm>
            <a:off x="0" y="960120"/>
            <a:ext cx="146304" cy="3867912"/>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6032" y="1005840"/>
            <a:ext cx="1298448" cy="841248"/>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56032" y="1005840"/>
            <a:ext cx="1298448" cy="566928"/>
          </a:xfrm>
          <a:prstGeom prst="rect">
            <a:avLst/>
          </a:prstGeom>
          <a:noFill/>
        </p:spPr>
        <p:txBody>
          <a:bodyPr wrap="square"/>
          <a:lstStyle/>
          <a:p>
            <a:pPr algn="ctr"/>
            <a:r>
              <a:rPr sz="2800" b="1" i="0">
                <a:solidFill>
                  <a:srgbClr val="FFFFFF"/>
                </a:solidFill>
                <a:latin typeface="Calibri"/>
              </a:rPr>
              <a:t>5</a:t>
            </a:r>
          </a:p>
        </p:txBody>
      </p:sp>
      <p:sp>
        <p:nvSpPr>
          <p:cNvPr id="8" name="TextBox 7"/>
          <p:cNvSpPr txBox="1"/>
          <p:nvPr/>
        </p:nvSpPr>
        <p:spPr>
          <a:xfrm>
            <a:off x="256032" y="1572768"/>
            <a:ext cx="1298448" cy="274320"/>
          </a:xfrm>
          <a:prstGeom prst="rect">
            <a:avLst/>
          </a:prstGeom>
          <a:noFill/>
        </p:spPr>
        <p:txBody>
          <a:bodyPr wrap="square"/>
          <a:lstStyle/>
          <a:p>
            <a:pPr algn="ctr"/>
            <a:r>
              <a:rPr sz="600" b="1" i="0">
                <a:solidFill>
                  <a:srgbClr val="FFFFFF"/>
                </a:solidFill>
                <a:latin typeface="Calibri"/>
              </a:rPr>
              <a:t>COMPETITIVE URGENCY</a:t>
            </a:r>
          </a:p>
        </p:txBody>
      </p:sp>
      <p:sp>
        <p:nvSpPr>
          <p:cNvPr id="9" name="Rectangle 8"/>
          <p:cNvSpPr/>
          <p:nvPr/>
        </p:nvSpPr>
        <p:spPr>
          <a:xfrm>
            <a:off x="1682496"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82496"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737360" y="1188720"/>
            <a:ext cx="694944" cy="237744"/>
          </a:xfrm>
          <a:prstGeom prst="rect">
            <a:avLst/>
          </a:prstGeom>
          <a:noFill/>
        </p:spPr>
        <p:txBody>
          <a:bodyPr wrap="square"/>
          <a:lstStyle/>
          <a:p>
            <a:pPr algn="l"/>
            <a:r>
              <a:rPr sz="800" b="1" i="0">
                <a:solidFill>
                  <a:srgbClr val="FFFFFF"/>
                </a:solidFill>
                <a:latin typeface="Calibri"/>
              </a:rPr>
              <a:t>Lead Generation</a:t>
            </a:r>
          </a:p>
        </p:txBody>
      </p:sp>
      <p:sp>
        <p:nvSpPr>
          <p:cNvPr id="12" name="TextBox 11"/>
          <p:cNvSpPr txBox="1"/>
          <p:nvPr/>
        </p:nvSpPr>
        <p:spPr>
          <a:xfrm>
            <a:off x="1737360" y="1417320"/>
            <a:ext cx="694944" cy="182880"/>
          </a:xfrm>
          <a:prstGeom prst="rect">
            <a:avLst/>
          </a:prstGeom>
          <a:noFill/>
        </p:spPr>
        <p:txBody>
          <a:bodyPr wrap="square"/>
          <a:lstStyle/>
          <a:p>
            <a:pPr algn="l"/>
            <a:r>
              <a:rPr sz="700" b="1" i="0">
                <a:solidFill>
                  <a:srgbClr val="D97706"/>
                </a:solidFill>
                <a:latin typeface="Calibri"/>
              </a:rPr>
              <a:t>AMBER</a:t>
            </a:r>
          </a:p>
        </p:txBody>
      </p:sp>
      <p:sp>
        <p:nvSpPr>
          <p:cNvPr id="13" name="TextBox 12"/>
          <p:cNvSpPr txBox="1"/>
          <p:nvPr/>
        </p:nvSpPr>
        <p:spPr>
          <a:xfrm>
            <a:off x="1737360" y="1591056"/>
            <a:ext cx="694944" cy="237744"/>
          </a:xfrm>
          <a:prstGeom prst="rect">
            <a:avLst/>
          </a:prstGeom>
          <a:noFill/>
        </p:spPr>
        <p:txBody>
          <a:bodyPr wrap="square"/>
          <a:lstStyle/>
          <a:p>
            <a:pPr algn="l"/>
            <a:r>
              <a:rPr sz="700" b="0" i="0">
                <a:solidFill>
                  <a:srgbClr val="8BADD0"/>
                </a:solidFill>
                <a:latin typeface="Calibri"/>
              </a:rPr>
              <a:t>LSA + Meta untapped</a:t>
            </a:r>
          </a:p>
        </p:txBody>
      </p:sp>
      <p:sp>
        <p:nvSpPr>
          <p:cNvPr id="14" name="Rectangle 13"/>
          <p:cNvSpPr/>
          <p:nvPr/>
        </p:nvSpPr>
        <p:spPr>
          <a:xfrm>
            <a:off x="2542032"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42032"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596896" y="1188720"/>
            <a:ext cx="694944" cy="237744"/>
          </a:xfrm>
          <a:prstGeom prst="rect">
            <a:avLst/>
          </a:prstGeom>
          <a:noFill/>
        </p:spPr>
        <p:txBody>
          <a:bodyPr wrap="square"/>
          <a:lstStyle/>
          <a:p>
            <a:pPr algn="l"/>
            <a:r>
              <a:rPr sz="800" b="1" i="0">
                <a:solidFill>
                  <a:srgbClr val="FFFFFF"/>
                </a:solidFill>
                <a:latin typeface="Calibri"/>
              </a:rPr>
              <a:t>Intake</a:t>
            </a:r>
          </a:p>
        </p:txBody>
      </p:sp>
      <p:sp>
        <p:nvSpPr>
          <p:cNvPr id="17" name="TextBox 16"/>
          <p:cNvSpPr txBox="1"/>
          <p:nvPr/>
        </p:nvSpPr>
        <p:spPr>
          <a:xfrm>
            <a:off x="2596896" y="1417320"/>
            <a:ext cx="694944" cy="182880"/>
          </a:xfrm>
          <a:prstGeom prst="rect">
            <a:avLst/>
          </a:prstGeom>
          <a:noFill/>
        </p:spPr>
        <p:txBody>
          <a:bodyPr wrap="square"/>
          <a:lstStyle/>
          <a:p>
            <a:pPr algn="l"/>
            <a:r>
              <a:rPr sz="700" b="1" i="0">
                <a:solidFill>
                  <a:srgbClr val="D97706"/>
                </a:solidFill>
                <a:latin typeface="Calibri"/>
              </a:rPr>
              <a:t>AMBER</a:t>
            </a:r>
          </a:p>
        </p:txBody>
      </p:sp>
      <p:sp>
        <p:nvSpPr>
          <p:cNvPr id="18" name="TextBox 17"/>
          <p:cNvSpPr txBox="1"/>
          <p:nvPr/>
        </p:nvSpPr>
        <p:spPr>
          <a:xfrm>
            <a:off x="2596896" y="1591056"/>
            <a:ext cx="694944" cy="237744"/>
          </a:xfrm>
          <a:prstGeom prst="rect">
            <a:avLst/>
          </a:prstGeom>
          <a:noFill/>
        </p:spPr>
        <p:txBody>
          <a:bodyPr wrap="square"/>
          <a:lstStyle/>
          <a:p>
            <a:pPr algn="l"/>
            <a:r>
              <a:rPr sz="700" b="0" i="0">
                <a:solidFill>
                  <a:srgbClr val="8BADD0"/>
                </a:solidFill>
                <a:latin typeface="Calibri"/>
              </a:rPr>
              <a:t>Form buried, no live chat</a:t>
            </a:r>
          </a:p>
        </p:txBody>
      </p:sp>
      <p:sp>
        <p:nvSpPr>
          <p:cNvPr id="19" name="Rectangle 18"/>
          <p:cNvSpPr/>
          <p:nvPr/>
        </p:nvSpPr>
        <p:spPr>
          <a:xfrm>
            <a:off x="3401568"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401568"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1188720"/>
            <a:ext cx="694944" cy="237744"/>
          </a:xfrm>
          <a:prstGeom prst="rect">
            <a:avLst/>
          </a:prstGeom>
          <a:noFill/>
        </p:spPr>
        <p:txBody>
          <a:bodyPr wrap="square"/>
          <a:lstStyle/>
          <a:p>
            <a:pPr algn="l"/>
            <a:r>
              <a:rPr sz="800" b="1" i="0">
                <a:solidFill>
                  <a:srgbClr val="FFFFFF"/>
                </a:solidFill>
                <a:latin typeface="Calibri"/>
              </a:rPr>
              <a:t>Team</a:t>
            </a:r>
          </a:p>
        </p:txBody>
      </p:sp>
      <p:sp>
        <p:nvSpPr>
          <p:cNvPr id="22" name="TextBox 21"/>
          <p:cNvSpPr txBox="1"/>
          <p:nvPr/>
        </p:nvSpPr>
        <p:spPr>
          <a:xfrm>
            <a:off x="3456432" y="1417320"/>
            <a:ext cx="694944" cy="182880"/>
          </a:xfrm>
          <a:prstGeom prst="rect">
            <a:avLst/>
          </a:prstGeom>
          <a:noFill/>
        </p:spPr>
        <p:txBody>
          <a:bodyPr wrap="square"/>
          <a:lstStyle/>
          <a:p>
            <a:pPr algn="l"/>
            <a:r>
              <a:rPr sz="700" b="1" i="0">
                <a:solidFill>
                  <a:srgbClr val="D97706"/>
                </a:solidFill>
                <a:latin typeface="Calibri"/>
              </a:rPr>
              <a:t>AMBER</a:t>
            </a:r>
          </a:p>
        </p:txBody>
      </p:sp>
      <p:sp>
        <p:nvSpPr>
          <p:cNvPr id="23" name="TextBox 22"/>
          <p:cNvSpPr txBox="1"/>
          <p:nvPr/>
        </p:nvSpPr>
        <p:spPr>
          <a:xfrm>
            <a:off x="3456432" y="1591056"/>
            <a:ext cx="694944" cy="237744"/>
          </a:xfrm>
          <a:prstGeom prst="rect">
            <a:avLst/>
          </a:prstGeom>
          <a:noFill/>
        </p:spPr>
        <p:txBody>
          <a:bodyPr wrap="square"/>
          <a:lstStyle/>
          <a:p>
            <a:pPr algn="l"/>
            <a:r>
              <a:rPr sz="700" b="0" i="0">
                <a:solidFill>
                  <a:srgbClr val="8BADD0"/>
                </a:solidFill>
                <a:latin typeface="Calibri"/>
              </a:rPr>
              <a:t>No ops layer (4 offices)</a:t>
            </a:r>
          </a:p>
        </p:txBody>
      </p:sp>
      <p:sp>
        <p:nvSpPr>
          <p:cNvPr id="24" name="Rectangle 23"/>
          <p:cNvSpPr/>
          <p:nvPr/>
        </p:nvSpPr>
        <p:spPr>
          <a:xfrm>
            <a:off x="4261104" y="1005840"/>
            <a:ext cx="804672" cy="164592"/>
          </a:xfrm>
          <a:prstGeom prst="rect">
            <a:avLst/>
          </a:prstGeom>
          <a:solidFill>
            <a:srgbClr val="D97706"/>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61104" y="1170432"/>
            <a:ext cx="804672" cy="676656"/>
          </a:xfrm>
          <a:prstGeom prst="rect">
            <a:avLst/>
          </a:prstGeom>
          <a:solidFill>
            <a:srgbClr val="162947"/>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315968" y="1188720"/>
            <a:ext cx="694944" cy="237744"/>
          </a:xfrm>
          <a:prstGeom prst="rect">
            <a:avLst/>
          </a:prstGeom>
          <a:noFill/>
        </p:spPr>
        <p:txBody>
          <a:bodyPr wrap="square"/>
          <a:lstStyle/>
          <a:p>
            <a:pPr algn="l"/>
            <a:r>
              <a:rPr sz="800" b="1" i="0">
                <a:solidFill>
                  <a:srgbClr val="FFFFFF"/>
                </a:solidFill>
                <a:latin typeface="Calibri"/>
              </a:rPr>
              <a:t>Profit Plan</a:t>
            </a:r>
          </a:p>
        </p:txBody>
      </p:sp>
      <p:sp>
        <p:nvSpPr>
          <p:cNvPr id="27" name="TextBox 26"/>
          <p:cNvSpPr txBox="1"/>
          <p:nvPr/>
        </p:nvSpPr>
        <p:spPr>
          <a:xfrm>
            <a:off x="4315968" y="1417320"/>
            <a:ext cx="694944" cy="182880"/>
          </a:xfrm>
          <a:prstGeom prst="rect">
            <a:avLst/>
          </a:prstGeom>
          <a:noFill/>
        </p:spPr>
        <p:txBody>
          <a:bodyPr wrap="square"/>
          <a:lstStyle/>
          <a:p>
            <a:pPr algn="l"/>
            <a:r>
              <a:rPr sz="700" b="1" i="0">
                <a:solidFill>
                  <a:srgbClr val="D97706"/>
                </a:solidFill>
                <a:latin typeface="Calibri"/>
              </a:rPr>
              <a:t>AMBER</a:t>
            </a:r>
          </a:p>
        </p:txBody>
      </p:sp>
      <p:sp>
        <p:nvSpPr>
          <p:cNvPr id="28" name="TextBox 27"/>
          <p:cNvSpPr txBox="1"/>
          <p:nvPr/>
        </p:nvSpPr>
        <p:spPr>
          <a:xfrm>
            <a:off x="4315968" y="1591056"/>
            <a:ext cx="694944" cy="237744"/>
          </a:xfrm>
          <a:prstGeom prst="rect">
            <a:avLst/>
          </a:prstGeom>
          <a:noFill/>
        </p:spPr>
        <p:txBody>
          <a:bodyPr wrap="square"/>
          <a:lstStyle/>
          <a:p>
            <a:pPr algn="l"/>
            <a:r>
              <a:rPr sz="700" b="0" i="0">
                <a:solidFill>
                  <a:srgbClr val="8BADD0"/>
                </a:solidFill>
                <a:latin typeface="Calibri"/>
              </a:rPr>
              <a:t>No cost-per-case data</a:t>
            </a:r>
          </a:p>
        </p:txBody>
      </p:sp>
      <p:sp>
        <p:nvSpPr>
          <p:cNvPr id="29" name="TextBox 28"/>
          <p:cNvSpPr txBox="1"/>
          <p:nvPr/>
        </p:nvSpPr>
        <p:spPr>
          <a:xfrm>
            <a:off x="256032" y="1956816"/>
            <a:ext cx="4846320" cy="219456"/>
          </a:xfrm>
          <a:prstGeom prst="rect">
            <a:avLst/>
          </a:prstGeom>
          <a:noFill/>
        </p:spPr>
        <p:txBody>
          <a:bodyPr wrap="square"/>
          <a:lstStyle/>
          <a:p>
            <a:pPr algn="l"/>
            <a:r>
              <a:rPr sz="800" b="1" i="0">
                <a:solidFill>
                  <a:srgbClr val="F5C400"/>
                </a:solidFill>
                <a:latin typeface="Calibri"/>
              </a:rPr>
              <a:t>KEY FINDINGS</a:t>
            </a:r>
          </a:p>
        </p:txBody>
      </p:sp>
      <p:sp>
        <p:nvSpPr>
          <p:cNvPr id="30" name="Rectangle 29"/>
          <p:cNvSpPr/>
          <p:nvPr/>
        </p:nvSpPr>
        <p:spPr>
          <a:xfrm>
            <a:off x="256032" y="2212848"/>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2386584"/>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2368296"/>
            <a:ext cx="219456" cy="237744"/>
          </a:xfrm>
          <a:prstGeom prst="rect">
            <a:avLst/>
          </a:prstGeom>
          <a:noFill/>
        </p:spPr>
        <p:txBody>
          <a:bodyPr wrap="square"/>
          <a:lstStyle/>
          <a:p>
            <a:pPr algn="ctr"/>
            <a:r>
              <a:rPr sz="900" b="1" i="0">
                <a:solidFill>
                  <a:srgbClr val="FFFFFF"/>
                </a:solidFill>
                <a:latin typeface="Calibri"/>
              </a:rPr>
              <a:t>✕</a:t>
            </a:r>
          </a:p>
        </p:txBody>
      </p:sp>
      <p:sp>
        <p:nvSpPr>
          <p:cNvPr id="33" name="TextBox 32"/>
          <p:cNvSpPr txBox="1"/>
          <p:nvPr/>
        </p:nvSpPr>
        <p:spPr>
          <a:xfrm>
            <a:off x="676656" y="2286000"/>
            <a:ext cx="4352544" cy="420624"/>
          </a:xfrm>
          <a:prstGeom prst="rect">
            <a:avLst/>
          </a:prstGeom>
          <a:noFill/>
        </p:spPr>
        <p:txBody>
          <a:bodyPr wrap="square"/>
          <a:lstStyle/>
          <a:p>
            <a:pPr algn="l"/>
            <a:r>
              <a:rPr sz="1000" b="0" i="0">
                <a:solidFill>
                  <a:srgbClr val="F0BABA"/>
                </a:solidFill>
                <a:latin typeface="Calibri"/>
              </a:rPr>
              <a:t>4.3 stars vs. SnapDivorce 4.8 — same ZIP, losing the first comparison</a:t>
            </a:r>
          </a:p>
        </p:txBody>
      </p:sp>
      <p:sp>
        <p:nvSpPr>
          <p:cNvPr id="34" name="Rectangle 33"/>
          <p:cNvSpPr/>
          <p:nvPr/>
        </p:nvSpPr>
        <p:spPr>
          <a:xfrm>
            <a:off x="256032" y="2834640"/>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3008376"/>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2990088"/>
            <a:ext cx="219456" cy="237744"/>
          </a:xfrm>
          <a:prstGeom prst="rect">
            <a:avLst/>
          </a:prstGeom>
          <a:noFill/>
        </p:spPr>
        <p:txBody>
          <a:bodyPr wrap="square"/>
          <a:lstStyle/>
          <a:p>
            <a:pPr algn="ctr"/>
            <a:r>
              <a:rPr sz="900" b="1" i="0">
                <a:solidFill>
                  <a:srgbClr val="FFFFFF"/>
                </a:solidFill>
                <a:latin typeface="Calibri"/>
              </a:rPr>
              <a:t>✕</a:t>
            </a:r>
          </a:p>
        </p:txBody>
      </p:sp>
      <p:sp>
        <p:nvSpPr>
          <p:cNvPr id="37" name="TextBox 36"/>
          <p:cNvSpPr txBox="1"/>
          <p:nvPr/>
        </p:nvSpPr>
        <p:spPr>
          <a:xfrm>
            <a:off x="676656" y="2907792"/>
            <a:ext cx="4352544" cy="420624"/>
          </a:xfrm>
          <a:prstGeom prst="rect">
            <a:avLst/>
          </a:prstGeom>
          <a:noFill/>
        </p:spPr>
        <p:txBody>
          <a:bodyPr wrap="square"/>
          <a:lstStyle/>
          <a:p>
            <a:pPr algn="l"/>
            <a:r>
              <a:rPr sz="1000" b="0" i="0">
                <a:solidFill>
                  <a:srgbClr val="F0BABA"/>
                </a:solidFill>
                <a:latin typeface="Calibri"/>
              </a:rPr>
              <a:t>LSA untapped — top-of-page leads ceded despite BBB A+ eligibility</a:t>
            </a:r>
          </a:p>
        </p:txBody>
      </p:sp>
      <p:sp>
        <p:nvSpPr>
          <p:cNvPr id="38" name="Rectangle 37"/>
          <p:cNvSpPr/>
          <p:nvPr/>
        </p:nvSpPr>
        <p:spPr>
          <a:xfrm>
            <a:off x="256032" y="3456432"/>
            <a:ext cx="4846320" cy="566928"/>
          </a:xfrm>
          <a:prstGeom prst="rect">
            <a:avLst/>
          </a:prstGeom>
          <a:solidFill>
            <a:srgbClr val="2C101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65760" y="3630168"/>
            <a:ext cx="219456" cy="21945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3611879"/>
            <a:ext cx="219456" cy="237744"/>
          </a:xfrm>
          <a:prstGeom prst="rect">
            <a:avLst/>
          </a:prstGeom>
          <a:noFill/>
        </p:spPr>
        <p:txBody>
          <a:bodyPr wrap="square"/>
          <a:lstStyle/>
          <a:p>
            <a:pPr algn="ctr"/>
            <a:r>
              <a:rPr sz="900" b="1" i="0">
                <a:solidFill>
                  <a:srgbClr val="FFFFFF"/>
                </a:solidFill>
                <a:latin typeface="Calibri"/>
              </a:rPr>
              <a:t>✕</a:t>
            </a:r>
          </a:p>
        </p:txBody>
      </p:sp>
      <p:sp>
        <p:nvSpPr>
          <p:cNvPr id="41" name="TextBox 40"/>
          <p:cNvSpPr txBox="1"/>
          <p:nvPr/>
        </p:nvSpPr>
        <p:spPr>
          <a:xfrm>
            <a:off x="676656" y="3529584"/>
            <a:ext cx="4352544" cy="420624"/>
          </a:xfrm>
          <a:prstGeom prst="rect">
            <a:avLst/>
          </a:prstGeom>
          <a:noFill/>
        </p:spPr>
        <p:txBody>
          <a:bodyPr wrap="square"/>
          <a:lstStyle/>
          <a:p>
            <a:pPr algn="l"/>
            <a:r>
              <a:rPr sz="1000" b="0" i="0">
                <a:solidFill>
                  <a:srgbClr val="F0BABA"/>
                </a:solidFill>
                <a:latin typeface="Calibri"/>
              </a:rPr>
              <a:t>Contact form on separate page — paid traffic hitting extra friction</a:t>
            </a:r>
          </a:p>
        </p:txBody>
      </p:sp>
      <p:sp>
        <p:nvSpPr>
          <p:cNvPr id="42" name="Rectangle 41"/>
          <p:cNvSpPr/>
          <p:nvPr/>
        </p:nvSpPr>
        <p:spPr>
          <a:xfrm>
            <a:off x="256032" y="4078224"/>
            <a:ext cx="4846320" cy="566928"/>
          </a:xfrm>
          <a:prstGeom prst="rect">
            <a:avLst/>
          </a:prstGeom>
          <a:solidFill>
            <a:srgbClr val="0C281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4251960"/>
            <a:ext cx="219456" cy="219456"/>
          </a:xfrm>
          <a:prstGeom prst="rect">
            <a:avLst/>
          </a:prstGeom>
          <a:solidFill>
            <a:srgbClr val="16A34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760" y="4233672"/>
            <a:ext cx="219456" cy="237744"/>
          </a:xfrm>
          <a:prstGeom prst="rect">
            <a:avLst/>
          </a:prstGeom>
          <a:noFill/>
        </p:spPr>
        <p:txBody>
          <a:bodyPr wrap="square"/>
          <a:lstStyle/>
          <a:p>
            <a:pPr algn="ctr"/>
            <a:r>
              <a:rPr sz="900" b="1" i="0">
                <a:solidFill>
                  <a:srgbClr val="FFFFFF"/>
                </a:solidFill>
                <a:latin typeface="Calibri"/>
              </a:rPr>
              <a:t>✓</a:t>
            </a:r>
          </a:p>
        </p:txBody>
      </p:sp>
      <p:sp>
        <p:nvSpPr>
          <p:cNvPr id="45" name="TextBox 44"/>
          <p:cNvSpPr txBox="1"/>
          <p:nvPr/>
        </p:nvSpPr>
        <p:spPr>
          <a:xfrm>
            <a:off x="676656" y="4151376"/>
            <a:ext cx="4352544" cy="420624"/>
          </a:xfrm>
          <a:prstGeom prst="rect">
            <a:avLst/>
          </a:prstGeom>
          <a:noFill/>
        </p:spPr>
        <p:txBody>
          <a:bodyPr wrap="square"/>
          <a:lstStyle/>
          <a:p>
            <a:pPr algn="l"/>
            <a:r>
              <a:rPr sz="1000" b="0" i="0">
                <a:solidFill>
                  <a:srgbClr val="86EFAC"/>
                </a:solidFill>
                <a:latin typeface="Calibri"/>
              </a:rPr>
              <a:t>57+ geo-targeted pages + active PPC call-tracking infrastructure</a:t>
            </a:r>
          </a:p>
        </p:txBody>
      </p:sp>
      <p:sp>
        <p:nvSpPr>
          <p:cNvPr id="46" name="Rectangle 45"/>
          <p:cNvSpPr/>
          <p:nvPr/>
        </p:nvSpPr>
        <p:spPr>
          <a:xfrm>
            <a:off x="5257800" y="960120"/>
            <a:ext cx="3886200" cy="3867912"/>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257800" y="1024128"/>
            <a:ext cx="3886200" cy="694944"/>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257800" y="1024128"/>
            <a:ext cx="128016" cy="694944"/>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486400" y="1042415"/>
            <a:ext cx="3474720" cy="201168"/>
          </a:xfrm>
          <a:prstGeom prst="rect">
            <a:avLst/>
          </a:prstGeom>
          <a:noFill/>
        </p:spPr>
        <p:txBody>
          <a:bodyPr wrap="square"/>
          <a:lstStyle/>
          <a:p>
            <a:pPr algn="l"/>
            <a:r>
              <a:rPr sz="800" b="1" i="0">
                <a:solidFill>
                  <a:srgbClr val="F5C400"/>
                </a:solidFill>
                <a:latin typeface="Calibri"/>
              </a:rPr>
              <a:t>YOU ARE HERE</a:t>
            </a:r>
          </a:p>
        </p:txBody>
      </p:sp>
      <p:sp>
        <p:nvSpPr>
          <p:cNvPr id="50" name="TextBox 49"/>
          <p:cNvSpPr txBox="1"/>
          <p:nvPr/>
        </p:nvSpPr>
        <p:spPr>
          <a:xfrm>
            <a:off x="5486400" y="1243584"/>
            <a:ext cx="3474720" cy="402336"/>
          </a:xfrm>
          <a:prstGeom prst="rect">
            <a:avLst/>
          </a:prstGeom>
          <a:noFill/>
        </p:spPr>
        <p:txBody>
          <a:bodyPr wrap="square"/>
          <a:lstStyle/>
          <a:p>
            <a:pPr algn="l"/>
            <a:r>
              <a:rPr sz="1000" b="1" i="0">
                <a:solidFill>
                  <a:srgbClr val="FFFFFF"/>
                </a:solidFill>
                <a:latin typeface="Calibri"/>
              </a:rPr>
              <a:t>Stage 4: Small Business Manager  →  Stage 6: Law Firm Owner</a:t>
            </a:r>
          </a:p>
        </p:txBody>
      </p:sp>
      <p:sp>
        <p:nvSpPr>
          <p:cNvPr id="51" name="TextBox 50"/>
          <p:cNvSpPr txBox="1"/>
          <p:nvPr/>
        </p:nvSpPr>
        <p:spPr>
          <a:xfrm>
            <a:off x="5394960" y="1920240"/>
            <a:ext cx="3566160" cy="219456"/>
          </a:xfrm>
          <a:prstGeom prst="rect">
            <a:avLst/>
          </a:prstGeom>
          <a:noFill/>
        </p:spPr>
        <p:txBody>
          <a:bodyPr wrap="square"/>
          <a:lstStyle/>
          <a:p>
            <a:pPr algn="l"/>
            <a:r>
              <a:rPr sz="800" b="1" i="0">
                <a:solidFill>
                  <a:srgbClr val="64748B"/>
                </a:solidFill>
                <a:latin typeface="Calibri"/>
              </a:rPr>
              <a:t>COMPETITOR LANDSCAPE</a:t>
            </a:r>
          </a:p>
        </p:txBody>
      </p:sp>
      <p:sp>
        <p:nvSpPr>
          <p:cNvPr id="52" name="Rectangle 51"/>
          <p:cNvSpPr/>
          <p:nvPr/>
        </p:nvSpPr>
        <p:spPr>
          <a:xfrm>
            <a:off x="5257800" y="2176272"/>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13248" y="2221991"/>
            <a:ext cx="1828800" cy="219456"/>
          </a:xfrm>
          <a:prstGeom prst="rect">
            <a:avLst/>
          </a:prstGeom>
          <a:noFill/>
        </p:spPr>
        <p:txBody>
          <a:bodyPr wrap="square"/>
          <a:lstStyle/>
          <a:p>
            <a:pPr algn="l"/>
            <a:r>
              <a:rPr sz="800" b="0" i="0">
                <a:solidFill>
                  <a:srgbClr val="1E293B"/>
                </a:solidFill>
                <a:latin typeface="Calibri"/>
              </a:rPr>
              <a:t>SnapDivorce LLC</a:t>
            </a:r>
          </a:p>
        </p:txBody>
      </p:sp>
      <p:sp>
        <p:nvSpPr>
          <p:cNvPr id="54" name="TextBox 53"/>
          <p:cNvSpPr txBox="1"/>
          <p:nvPr/>
        </p:nvSpPr>
        <p:spPr>
          <a:xfrm>
            <a:off x="7260336" y="2221991"/>
            <a:ext cx="914400" cy="219456"/>
          </a:xfrm>
          <a:prstGeom prst="rect">
            <a:avLst/>
          </a:prstGeom>
          <a:noFill/>
        </p:spPr>
        <p:txBody>
          <a:bodyPr wrap="square"/>
          <a:lstStyle/>
          <a:p>
            <a:pPr algn="l"/>
            <a:r>
              <a:rPr sz="800" b="0" i="0">
                <a:solidFill>
                  <a:srgbClr val="16A34A"/>
                </a:solidFill>
                <a:latin typeface="Calibri"/>
              </a:rPr>
              <a:t>22 reviews</a:t>
            </a:r>
          </a:p>
        </p:txBody>
      </p:sp>
      <p:sp>
        <p:nvSpPr>
          <p:cNvPr id="55" name="TextBox 54"/>
          <p:cNvSpPr txBox="1"/>
          <p:nvPr/>
        </p:nvSpPr>
        <p:spPr>
          <a:xfrm>
            <a:off x="8193024" y="2240279"/>
            <a:ext cx="822960" cy="201168"/>
          </a:xfrm>
          <a:prstGeom prst="rect">
            <a:avLst/>
          </a:prstGeom>
          <a:noFill/>
        </p:spPr>
        <p:txBody>
          <a:bodyPr wrap="square"/>
          <a:lstStyle/>
          <a:p>
            <a:pPr algn="l"/>
            <a:r>
              <a:rPr sz="600" b="0" i="0">
                <a:solidFill>
                  <a:srgbClr val="64748B"/>
                </a:solidFill>
                <a:latin typeface="Calibri"/>
              </a:rPr>
              <a:t>4.8 stars · same Doylestown ZIP</a:t>
            </a:r>
          </a:p>
        </p:txBody>
      </p:sp>
      <p:sp>
        <p:nvSpPr>
          <p:cNvPr id="56" name="Rectangle 55"/>
          <p:cNvSpPr/>
          <p:nvPr/>
        </p:nvSpPr>
        <p:spPr>
          <a:xfrm>
            <a:off x="5257800" y="2523744"/>
            <a:ext cx="3886200" cy="310896"/>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413248" y="2569463"/>
            <a:ext cx="1828800" cy="219456"/>
          </a:xfrm>
          <a:prstGeom prst="rect">
            <a:avLst/>
          </a:prstGeom>
          <a:noFill/>
        </p:spPr>
        <p:txBody>
          <a:bodyPr wrap="square"/>
          <a:lstStyle/>
          <a:p>
            <a:pPr algn="l"/>
            <a:r>
              <a:rPr sz="800" b="0" i="0">
                <a:solidFill>
                  <a:srgbClr val="1E293B"/>
                </a:solidFill>
                <a:latin typeface="Calibri"/>
              </a:rPr>
              <a:t>Rubin, Glickman, Steinberg</a:t>
            </a:r>
          </a:p>
        </p:txBody>
      </p:sp>
      <p:sp>
        <p:nvSpPr>
          <p:cNvPr id="58" name="TextBox 57"/>
          <p:cNvSpPr txBox="1"/>
          <p:nvPr/>
        </p:nvSpPr>
        <p:spPr>
          <a:xfrm>
            <a:off x="7260336" y="2569463"/>
            <a:ext cx="914400" cy="219456"/>
          </a:xfrm>
          <a:prstGeom prst="rect">
            <a:avLst/>
          </a:prstGeom>
          <a:noFill/>
        </p:spPr>
        <p:txBody>
          <a:bodyPr wrap="square"/>
          <a:lstStyle/>
          <a:p>
            <a:pPr algn="l"/>
            <a:r>
              <a:rPr sz="800" b="0" i="0">
                <a:solidFill>
                  <a:srgbClr val="16A34A"/>
                </a:solidFill>
                <a:latin typeface="Calibri"/>
              </a:rPr>
              <a:t>69 reviews</a:t>
            </a:r>
          </a:p>
        </p:txBody>
      </p:sp>
      <p:sp>
        <p:nvSpPr>
          <p:cNvPr id="59" name="TextBox 58"/>
          <p:cNvSpPr txBox="1"/>
          <p:nvPr/>
        </p:nvSpPr>
        <p:spPr>
          <a:xfrm>
            <a:off x="8193024" y="2587751"/>
            <a:ext cx="822960" cy="201168"/>
          </a:xfrm>
          <a:prstGeom prst="rect">
            <a:avLst/>
          </a:prstGeom>
          <a:noFill/>
        </p:spPr>
        <p:txBody>
          <a:bodyPr wrap="square"/>
          <a:lstStyle/>
          <a:p>
            <a:pPr algn="l"/>
            <a:r>
              <a:rPr sz="600" b="0" i="0">
                <a:solidFill>
                  <a:srgbClr val="64748B"/>
                </a:solidFill>
                <a:latin typeface="Calibri"/>
              </a:rPr>
              <a:t>4.8 stars · active April 2026</a:t>
            </a:r>
          </a:p>
        </p:txBody>
      </p:sp>
      <p:sp>
        <p:nvSpPr>
          <p:cNvPr id="60" name="Rectangle 59"/>
          <p:cNvSpPr/>
          <p:nvPr/>
        </p:nvSpPr>
        <p:spPr>
          <a:xfrm>
            <a:off x="5257800" y="2871216"/>
            <a:ext cx="3886200" cy="310896"/>
          </a:xfrm>
          <a:prstGeom prst="rect">
            <a:avLst/>
          </a:prstGeom>
          <a:solidFill>
            <a:srgbClr val="F0F4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413248" y="2916936"/>
            <a:ext cx="1828800" cy="219456"/>
          </a:xfrm>
          <a:prstGeom prst="rect">
            <a:avLst/>
          </a:prstGeom>
          <a:noFill/>
        </p:spPr>
        <p:txBody>
          <a:bodyPr wrap="square"/>
          <a:lstStyle/>
          <a:p>
            <a:pPr algn="l"/>
            <a:r>
              <a:rPr sz="800" b="0" i="0">
                <a:solidFill>
                  <a:srgbClr val="1E293B"/>
                </a:solidFill>
                <a:latin typeface="Calibri"/>
              </a:rPr>
              <a:t>Equitable Mediation</a:t>
            </a:r>
          </a:p>
        </p:txBody>
      </p:sp>
      <p:sp>
        <p:nvSpPr>
          <p:cNvPr id="62" name="TextBox 61"/>
          <p:cNvSpPr txBox="1"/>
          <p:nvPr/>
        </p:nvSpPr>
        <p:spPr>
          <a:xfrm>
            <a:off x="7260336" y="2916936"/>
            <a:ext cx="914400" cy="219456"/>
          </a:xfrm>
          <a:prstGeom prst="rect">
            <a:avLst/>
          </a:prstGeom>
          <a:noFill/>
        </p:spPr>
        <p:txBody>
          <a:bodyPr wrap="square"/>
          <a:lstStyle/>
          <a:p>
            <a:pPr algn="l"/>
            <a:r>
              <a:rPr sz="800" b="0" i="0">
                <a:solidFill>
                  <a:srgbClr val="16A34A"/>
                </a:solidFill>
                <a:latin typeface="Calibri"/>
              </a:rPr>
              <a:t>Not confirmed</a:t>
            </a:r>
          </a:p>
        </p:txBody>
      </p:sp>
      <p:sp>
        <p:nvSpPr>
          <p:cNvPr id="63" name="TextBox 62"/>
          <p:cNvSpPr txBox="1"/>
          <p:nvPr/>
        </p:nvSpPr>
        <p:spPr>
          <a:xfrm>
            <a:off x="8193024" y="2935224"/>
            <a:ext cx="822960" cy="201168"/>
          </a:xfrm>
          <a:prstGeom prst="rect">
            <a:avLst/>
          </a:prstGeom>
          <a:noFill/>
        </p:spPr>
        <p:txBody>
          <a:bodyPr wrap="square"/>
          <a:lstStyle/>
          <a:p>
            <a:pPr algn="l"/>
            <a:r>
              <a:rPr sz="600" b="0" i="0">
                <a:solidFill>
                  <a:srgbClr val="64748B"/>
                </a:solidFill>
                <a:latin typeface="Calibri"/>
              </a:rPr>
              <a:t>active in PA mediation searches</a:t>
            </a:r>
          </a:p>
        </p:txBody>
      </p:sp>
      <p:sp>
        <p:nvSpPr>
          <p:cNvPr id="64" name="Rectangle 63"/>
          <p:cNvSpPr/>
          <p:nvPr/>
        </p:nvSpPr>
        <p:spPr>
          <a:xfrm>
            <a:off x="5257800" y="3218688"/>
            <a:ext cx="3886200" cy="310896"/>
          </a:xfrm>
          <a:prstGeom prst="rect">
            <a:avLst/>
          </a:prstGeom>
          <a:solidFill>
            <a:srgbClr val="FFF0F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257800" y="3218688"/>
            <a:ext cx="91440" cy="310896"/>
          </a:xfrm>
          <a:prstGeom prst="rect">
            <a:avLst/>
          </a:prstGeom>
          <a:solidFill>
            <a:srgbClr val="C0392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13248" y="3264408"/>
            <a:ext cx="1828800" cy="219456"/>
          </a:xfrm>
          <a:prstGeom prst="rect">
            <a:avLst/>
          </a:prstGeom>
          <a:noFill/>
        </p:spPr>
        <p:txBody>
          <a:bodyPr wrap="square"/>
          <a:lstStyle/>
          <a:p>
            <a:pPr algn="l"/>
            <a:r>
              <a:rPr sz="900" b="1" i="0">
                <a:solidFill>
                  <a:srgbClr val="C0392B"/>
                </a:solidFill>
                <a:latin typeface="Calibri"/>
              </a:rPr>
              <a:t>Alpha Center for Divorce Mediation</a:t>
            </a:r>
          </a:p>
        </p:txBody>
      </p:sp>
      <p:sp>
        <p:nvSpPr>
          <p:cNvPr id="67" name="TextBox 66"/>
          <p:cNvSpPr txBox="1"/>
          <p:nvPr/>
        </p:nvSpPr>
        <p:spPr>
          <a:xfrm>
            <a:off x="7260336" y="3264408"/>
            <a:ext cx="914400" cy="219456"/>
          </a:xfrm>
          <a:prstGeom prst="rect">
            <a:avLst/>
          </a:prstGeom>
          <a:noFill/>
        </p:spPr>
        <p:txBody>
          <a:bodyPr wrap="square"/>
          <a:lstStyle/>
          <a:p>
            <a:pPr algn="l"/>
            <a:r>
              <a:rPr sz="800" b="1" i="0">
                <a:solidFill>
                  <a:srgbClr val="C0392B"/>
                </a:solidFill>
                <a:latin typeface="Calibri"/>
              </a:rPr>
              <a:t>39 reviews</a:t>
            </a:r>
          </a:p>
        </p:txBody>
      </p:sp>
      <p:sp>
        <p:nvSpPr>
          <p:cNvPr id="68" name="TextBox 67"/>
          <p:cNvSpPr txBox="1"/>
          <p:nvPr/>
        </p:nvSpPr>
        <p:spPr>
          <a:xfrm>
            <a:off x="8193024" y="3282696"/>
            <a:ext cx="822960" cy="201168"/>
          </a:xfrm>
          <a:prstGeom prst="rect">
            <a:avLst/>
          </a:prstGeom>
          <a:noFill/>
        </p:spPr>
        <p:txBody>
          <a:bodyPr wrap="square"/>
          <a:lstStyle/>
          <a:p>
            <a:pPr algn="l"/>
            <a:r>
              <a:rPr sz="600" b="0" i="0">
                <a:solidFill>
                  <a:srgbClr val="64748B"/>
                </a:solidFill>
                <a:latin typeface="Calibri"/>
              </a:rPr>
              <a:t>← You are here</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1 / 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ALPHA CENTER FOR DIVORCE MEDIATION</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Growth Plan: 3 Priorities to Reach $1.8M Revenue</a:t>
            </a:r>
          </a:p>
        </p:txBody>
      </p:sp>
      <p:sp>
        <p:nvSpPr>
          <p:cNvPr id="5" name="Rectangle 4"/>
          <p:cNvSpPr/>
          <p:nvPr/>
        </p:nvSpPr>
        <p:spPr>
          <a:xfrm>
            <a:off x="182880" y="1024128"/>
            <a:ext cx="2487168" cy="363931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1042415"/>
            <a:ext cx="2487168" cy="1828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 y="1097280"/>
            <a:ext cx="2267712" cy="201168"/>
          </a:xfrm>
          <a:prstGeom prst="rect">
            <a:avLst/>
          </a:prstGeom>
          <a:noFill/>
        </p:spPr>
        <p:txBody>
          <a:bodyPr wrap="square"/>
          <a:lstStyle/>
          <a:p>
            <a:pPr algn="l"/>
            <a:r>
              <a:rPr sz="800" b="1" i="0">
                <a:solidFill>
                  <a:srgbClr val="F5C400"/>
                </a:solidFill>
                <a:latin typeface="Calibri"/>
              </a:rPr>
              <a:t>THE SMB TEAM MODEL</a:t>
            </a:r>
          </a:p>
        </p:txBody>
      </p:sp>
      <p:sp>
        <p:nvSpPr>
          <p:cNvPr id="8" name="TextBox 7"/>
          <p:cNvSpPr txBox="1"/>
          <p:nvPr/>
        </p:nvSpPr>
        <p:spPr>
          <a:xfrm>
            <a:off x="292608" y="1335024"/>
            <a:ext cx="2267712" cy="1572768"/>
          </a:xfrm>
          <a:prstGeom prst="rect">
            <a:avLst/>
          </a:prstGeom>
          <a:noFill/>
        </p:spPr>
        <p:txBody>
          <a:bodyPr wrap="square"/>
          <a:lstStyle/>
          <a:p>
            <a:pPr algn="l"/>
            <a:r>
              <a:rPr sz="900" b="0" i="0">
                <a:solidFill>
                  <a:srgbClr val="A8BFDA"/>
                </a:solidFill>
                <a:latin typeface="Calibri"/>
              </a:rPr>
              <a:t>Lead Generation, Intake, a Self-Managing Team, and a Profit Plan all have to work together. When all four pillars are in sync, Keila can step back from the operations and focus on what she built Alpha Center to do.</a:t>
            </a:r>
          </a:p>
        </p:txBody>
      </p:sp>
      <p:sp>
        <p:nvSpPr>
          <p:cNvPr id="9" name="Rectangle 8"/>
          <p:cNvSpPr/>
          <p:nvPr/>
        </p:nvSpPr>
        <p:spPr>
          <a:xfrm>
            <a:off x="182880" y="2999232"/>
            <a:ext cx="2487168" cy="749808"/>
          </a:xfrm>
          <a:prstGeom prst="rect">
            <a:avLst/>
          </a:prstGeom>
          <a:solidFill>
            <a:srgbClr val="F5C400"/>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2608" y="3017520"/>
            <a:ext cx="2286000" cy="274320"/>
          </a:xfrm>
          <a:prstGeom prst="rect">
            <a:avLst/>
          </a:prstGeom>
          <a:noFill/>
        </p:spPr>
        <p:txBody>
          <a:bodyPr wrap="square"/>
          <a:lstStyle/>
          <a:p>
            <a:pPr algn="l"/>
            <a:r>
              <a:rPr sz="1200" b="1" i="0">
                <a:solidFill>
                  <a:srgbClr val="0D1F3C"/>
                </a:solidFill>
                <a:latin typeface="Calibri"/>
              </a:rPr>
              <a:t>$900K  →  $1.8M revenue</a:t>
            </a:r>
          </a:p>
        </p:txBody>
      </p:sp>
      <p:sp>
        <p:nvSpPr>
          <p:cNvPr id="11" name="TextBox 10"/>
          <p:cNvSpPr txBox="1"/>
          <p:nvPr/>
        </p:nvSpPr>
        <p:spPr>
          <a:xfrm>
            <a:off x="292608" y="3291840"/>
            <a:ext cx="2286000" cy="402336"/>
          </a:xfrm>
          <a:prstGeom prst="rect">
            <a:avLst/>
          </a:prstGeom>
          <a:noFill/>
        </p:spPr>
        <p:txBody>
          <a:bodyPr wrap="square"/>
          <a:lstStyle/>
          <a:p>
            <a:pPr algn="l"/>
            <a:r>
              <a:rPr sz="900" b="0" i="0">
                <a:solidFill>
                  <a:srgbClr val="0D1F3C"/>
                </a:solidFill>
                <a:latin typeface="Calibri"/>
              </a:rPr>
              <a:t>Step back — and trust the firm runs</a:t>
            </a:r>
          </a:p>
        </p:txBody>
      </p:sp>
      <p:sp>
        <p:nvSpPr>
          <p:cNvPr id="12" name="Rectangle 11"/>
          <p:cNvSpPr/>
          <p:nvPr/>
        </p:nvSpPr>
        <p:spPr>
          <a:xfrm>
            <a:off x="2816352" y="1024128"/>
            <a:ext cx="2048256" cy="84124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042415"/>
            <a:ext cx="457200" cy="274320"/>
          </a:xfrm>
          <a:prstGeom prst="rect">
            <a:avLst/>
          </a:prstGeom>
          <a:noFill/>
        </p:spPr>
        <p:txBody>
          <a:bodyPr wrap="square"/>
          <a:lstStyle/>
          <a:p>
            <a:pPr algn="l"/>
            <a:r>
              <a:rPr sz="1000" b="1" i="0">
                <a:solidFill>
                  <a:srgbClr val="FFFFFF"/>
                </a:solidFill>
                <a:latin typeface="Calibri"/>
              </a:rPr>
              <a:t>01</a:t>
            </a:r>
          </a:p>
        </p:txBody>
      </p:sp>
      <p:sp>
        <p:nvSpPr>
          <p:cNvPr id="14" name="TextBox 13"/>
          <p:cNvSpPr txBox="1"/>
          <p:nvPr/>
        </p:nvSpPr>
        <p:spPr>
          <a:xfrm>
            <a:off x="2926080" y="1316736"/>
            <a:ext cx="1865376" cy="256032"/>
          </a:xfrm>
          <a:prstGeom prst="rect">
            <a:avLst/>
          </a:prstGeom>
          <a:noFill/>
        </p:spPr>
        <p:txBody>
          <a:bodyPr wrap="square"/>
          <a:lstStyle/>
          <a:p>
            <a:pPr algn="l"/>
            <a:r>
              <a:rPr sz="1200" b="1" i="0">
                <a:solidFill>
                  <a:srgbClr val="FFFFFF"/>
                </a:solidFill>
                <a:latin typeface="Calibri"/>
              </a:rPr>
              <a:t>Build the</a:t>
            </a:r>
          </a:p>
        </p:txBody>
      </p:sp>
      <p:sp>
        <p:nvSpPr>
          <p:cNvPr id="15" name="TextBox 14"/>
          <p:cNvSpPr txBox="1"/>
          <p:nvPr/>
        </p:nvSpPr>
        <p:spPr>
          <a:xfrm>
            <a:off x="2926080" y="1554480"/>
            <a:ext cx="1865376" cy="256032"/>
          </a:xfrm>
          <a:prstGeom prst="rect">
            <a:avLst/>
          </a:prstGeom>
          <a:noFill/>
        </p:spPr>
        <p:txBody>
          <a:bodyPr wrap="square"/>
          <a:lstStyle/>
          <a:p>
            <a:pPr algn="l"/>
            <a:r>
              <a:rPr sz="1200" b="1" i="0">
                <a:solidFill>
                  <a:srgbClr val="FFFFFF"/>
                </a:solidFill>
                <a:latin typeface="Calibri"/>
              </a:rPr>
              <a:t>Marketing Engine</a:t>
            </a:r>
          </a:p>
        </p:txBody>
      </p:sp>
      <p:sp>
        <p:nvSpPr>
          <p:cNvPr id="16" name="Rectangle 15"/>
          <p:cNvSpPr/>
          <p:nvPr/>
        </p:nvSpPr>
        <p:spPr>
          <a:xfrm>
            <a:off x="2816352" y="1865376"/>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907792" y="2084832"/>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054096" y="1920240"/>
            <a:ext cx="1755648" cy="475488"/>
          </a:xfrm>
          <a:prstGeom prst="rect">
            <a:avLst/>
          </a:prstGeom>
          <a:noFill/>
        </p:spPr>
        <p:txBody>
          <a:bodyPr wrap="square"/>
          <a:lstStyle/>
          <a:p>
            <a:pPr algn="l"/>
            <a:r>
              <a:rPr sz="800" b="0" i="0">
                <a:solidFill>
                  <a:srgbClr val="1E293B"/>
                </a:solidFill>
                <a:latin typeface="Calibri"/>
              </a:rPr>
              <a:t>Activate LSA — BBB A+ earns Google Screened today</a:t>
            </a:r>
          </a:p>
        </p:txBody>
      </p:sp>
      <p:sp>
        <p:nvSpPr>
          <p:cNvPr id="19" name="Rectangle 18"/>
          <p:cNvSpPr/>
          <p:nvPr/>
        </p:nvSpPr>
        <p:spPr>
          <a:xfrm>
            <a:off x="2816352"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07792" y="2688336"/>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54096" y="2523744"/>
            <a:ext cx="1755648" cy="475488"/>
          </a:xfrm>
          <a:prstGeom prst="rect">
            <a:avLst/>
          </a:prstGeom>
          <a:noFill/>
        </p:spPr>
        <p:txBody>
          <a:bodyPr wrap="square"/>
          <a:lstStyle/>
          <a:p>
            <a:pPr algn="l"/>
            <a:r>
              <a:rPr sz="800" b="0" i="0">
                <a:solidFill>
                  <a:srgbClr val="1E293B"/>
                </a:solidFill>
                <a:latin typeface="Calibri"/>
              </a:rPr>
              <a:t>Turn Google Ads into a mediation-specific pipeline</a:t>
            </a:r>
          </a:p>
        </p:txBody>
      </p:sp>
      <p:sp>
        <p:nvSpPr>
          <p:cNvPr id="22" name="Rectangle 21"/>
          <p:cNvSpPr/>
          <p:nvPr/>
        </p:nvSpPr>
        <p:spPr>
          <a:xfrm>
            <a:off x="2816352" y="3072384"/>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907792" y="3291839"/>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054096" y="3127248"/>
            <a:ext cx="1755648" cy="475488"/>
          </a:xfrm>
          <a:prstGeom prst="rect">
            <a:avLst/>
          </a:prstGeom>
          <a:noFill/>
        </p:spPr>
        <p:txBody>
          <a:bodyPr wrap="square"/>
          <a:lstStyle/>
          <a:p>
            <a:pPr algn="l"/>
            <a:r>
              <a:rPr sz="800" b="0" i="0">
                <a:solidFill>
                  <a:srgbClr val="1E293B"/>
                </a:solidFill>
                <a:latin typeface="Calibri"/>
              </a:rPr>
              <a:t>Launch Meta retargeting for warm website visitors</a:t>
            </a:r>
          </a:p>
        </p:txBody>
      </p:sp>
      <p:sp>
        <p:nvSpPr>
          <p:cNvPr id="25" name="Rectangle 24"/>
          <p:cNvSpPr/>
          <p:nvPr/>
        </p:nvSpPr>
        <p:spPr>
          <a:xfrm>
            <a:off x="2816352"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07792" y="3895344"/>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054096" y="3730751"/>
            <a:ext cx="1755648" cy="475488"/>
          </a:xfrm>
          <a:prstGeom prst="rect">
            <a:avLst/>
          </a:prstGeom>
          <a:noFill/>
        </p:spPr>
        <p:txBody>
          <a:bodyPr wrap="square"/>
          <a:lstStyle/>
          <a:p>
            <a:pPr algn="l"/>
            <a:r>
              <a:rPr sz="800" b="0" i="0">
                <a:solidFill>
                  <a:srgbClr val="1E293B"/>
                </a:solidFill>
                <a:latin typeface="Calibri"/>
              </a:rPr>
              <a:t>Generate 5-10 new reviews/month across all offices</a:t>
            </a:r>
          </a:p>
        </p:txBody>
      </p:sp>
      <p:sp>
        <p:nvSpPr>
          <p:cNvPr id="28" name="Rectangle 27"/>
          <p:cNvSpPr/>
          <p:nvPr/>
        </p:nvSpPr>
        <p:spPr>
          <a:xfrm>
            <a:off x="2816352" y="4279392"/>
            <a:ext cx="2048256" cy="566928"/>
          </a:xfrm>
          <a:prstGeom prst="rect">
            <a:avLst/>
          </a:prstGeom>
          <a:solidFill>
            <a:srgbClr val="EFF6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907792" y="4498848"/>
            <a:ext cx="91440" cy="91440"/>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54096" y="4334255"/>
            <a:ext cx="1755648" cy="475488"/>
          </a:xfrm>
          <a:prstGeom prst="rect">
            <a:avLst/>
          </a:prstGeom>
          <a:noFill/>
        </p:spPr>
        <p:txBody>
          <a:bodyPr wrap="square"/>
          <a:lstStyle/>
          <a:p>
            <a:pPr algn="l"/>
            <a:r>
              <a:rPr sz="800" b="0" i="0">
                <a:solidFill>
                  <a:srgbClr val="1E293B"/>
                </a:solidFill>
                <a:latin typeface="Calibri"/>
              </a:rPr>
              <a:t>Fix Martindale address — remove local SEO suppressor</a:t>
            </a:r>
          </a:p>
        </p:txBody>
      </p:sp>
      <p:sp>
        <p:nvSpPr>
          <p:cNvPr id="31" name="Rectangle 30"/>
          <p:cNvSpPr/>
          <p:nvPr/>
        </p:nvSpPr>
        <p:spPr>
          <a:xfrm>
            <a:off x="4937760" y="1024128"/>
            <a:ext cx="2048256" cy="841248"/>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47488" y="1042415"/>
            <a:ext cx="457200" cy="274320"/>
          </a:xfrm>
          <a:prstGeom prst="rect">
            <a:avLst/>
          </a:prstGeom>
          <a:noFill/>
        </p:spPr>
        <p:txBody>
          <a:bodyPr wrap="square"/>
          <a:lstStyle/>
          <a:p>
            <a:pPr algn="l"/>
            <a:r>
              <a:rPr sz="1000" b="1" i="0">
                <a:solidFill>
                  <a:srgbClr val="FFFFFF"/>
                </a:solidFill>
                <a:latin typeface="Calibri"/>
              </a:rPr>
              <a:t>02</a:t>
            </a:r>
          </a:p>
        </p:txBody>
      </p:sp>
      <p:sp>
        <p:nvSpPr>
          <p:cNvPr id="33" name="TextBox 32"/>
          <p:cNvSpPr txBox="1"/>
          <p:nvPr/>
        </p:nvSpPr>
        <p:spPr>
          <a:xfrm>
            <a:off x="5047488" y="1316736"/>
            <a:ext cx="1865376" cy="256032"/>
          </a:xfrm>
          <a:prstGeom prst="rect">
            <a:avLst/>
          </a:prstGeom>
          <a:noFill/>
        </p:spPr>
        <p:txBody>
          <a:bodyPr wrap="square"/>
          <a:lstStyle/>
          <a:p>
            <a:pPr algn="l"/>
            <a:r>
              <a:rPr sz="1200" b="1" i="0">
                <a:solidFill>
                  <a:srgbClr val="FFFFFF"/>
                </a:solidFill>
                <a:latin typeface="Calibri"/>
              </a:rPr>
              <a:t>Fix Intake &amp;</a:t>
            </a:r>
          </a:p>
        </p:txBody>
      </p:sp>
      <p:sp>
        <p:nvSpPr>
          <p:cNvPr id="34" name="TextBox 33"/>
          <p:cNvSpPr txBox="1"/>
          <p:nvPr/>
        </p:nvSpPr>
        <p:spPr>
          <a:xfrm>
            <a:off x="5047488" y="1554480"/>
            <a:ext cx="1865376" cy="256032"/>
          </a:xfrm>
          <a:prstGeom prst="rect">
            <a:avLst/>
          </a:prstGeom>
          <a:noFill/>
        </p:spPr>
        <p:txBody>
          <a:bodyPr wrap="square"/>
          <a:lstStyle/>
          <a:p>
            <a:pPr algn="l"/>
            <a:r>
              <a:rPr sz="1200" b="1" i="0">
                <a:solidFill>
                  <a:srgbClr val="FFFFFF"/>
                </a:solidFill>
                <a:latin typeface="Calibri"/>
              </a:rPr>
              <a:t>Stop Losing Cases</a:t>
            </a:r>
          </a:p>
        </p:txBody>
      </p:sp>
      <p:sp>
        <p:nvSpPr>
          <p:cNvPr id="35" name="Rectangle 34"/>
          <p:cNvSpPr/>
          <p:nvPr/>
        </p:nvSpPr>
        <p:spPr>
          <a:xfrm>
            <a:off x="4937760" y="1865376"/>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0" y="2084832"/>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75504" y="1920240"/>
            <a:ext cx="1755648" cy="475488"/>
          </a:xfrm>
          <a:prstGeom prst="rect">
            <a:avLst/>
          </a:prstGeom>
          <a:noFill/>
        </p:spPr>
        <p:txBody>
          <a:bodyPr wrap="square"/>
          <a:lstStyle/>
          <a:p>
            <a:pPr algn="l"/>
            <a:r>
              <a:rPr sz="800" b="0" i="0">
                <a:solidFill>
                  <a:srgbClr val="1E293B"/>
                </a:solidFill>
                <a:latin typeface="Calibri"/>
              </a:rPr>
              <a:t>Embed contact form on homepage — one fewer click</a:t>
            </a:r>
          </a:p>
        </p:txBody>
      </p:sp>
      <p:sp>
        <p:nvSpPr>
          <p:cNvPr id="38" name="Rectangle 37"/>
          <p:cNvSpPr/>
          <p:nvPr/>
        </p:nvSpPr>
        <p:spPr>
          <a:xfrm>
            <a:off x="4937760"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0" y="2688336"/>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75504" y="2523744"/>
            <a:ext cx="1755648" cy="475488"/>
          </a:xfrm>
          <a:prstGeom prst="rect">
            <a:avLst/>
          </a:prstGeom>
          <a:noFill/>
        </p:spPr>
        <p:txBody>
          <a:bodyPr wrap="square"/>
          <a:lstStyle/>
          <a:p>
            <a:pPr algn="l"/>
            <a:r>
              <a:rPr sz="800" b="0" i="0">
                <a:solidFill>
                  <a:srgbClr val="1E293B"/>
                </a:solidFill>
                <a:latin typeface="Calibri"/>
              </a:rPr>
              <a:t>Add after-hours coverage — win the urgent call</a:t>
            </a:r>
          </a:p>
        </p:txBody>
      </p:sp>
      <p:sp>
        <p:nvSpPr>
          <p:cNvPr id="41" name="Rectangle 40"/>
          <p:cNvSpPr/>
          <p:nvPr/>
        </p:nvSpPr>
        <p:spPr>
          <a:xfrm>
            <a:off x="4937760" y="3072384"/>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29200" y="3291839"/>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175504" y="3127248"/>
            <a:ext cx="1755648" cy="475488"/>
          </a:xfrm>
          <a:prstGeom prst="rect">
            <a:avLst/>
          </a:prstGeom>
          <a:noFill/>
        </p:spPr>
        <p:txBody>
          <a:bodyPr wrap="square"/>
          <a:lstStyle/>
          <a:p>
            <a:pPr algn="l"/>
            <a:r>
              <a:rPr sz="800" b="0" i="0">
                <a:solidFill>
                  <a:srgbClr val="1E293B"/>
                </a:solidFill>
                <a:latin typeface="Calibri"/>
              </a:rPr>
              <a:t>Build follow-up for leads who don't book same-day</a:t>
            </a:r>
          </a:p>
        </p:txBody>
      </p:sp>
      <p:sp>
        <p:nvSpPr>
          <p:cNvPr id="44" name="Rectangle 43"/>
          <p:cNvSpPr/>
          <p:nvPr/>
        </p:nvSpPr>
        <p:spPr>
          <a:xfrm>
            <a:off x="4937760"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0" y="3895344"/>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75504" y="3730751"/>
            <a:ext cx="1755648" cy="475488"/>
          </a:xfrm>
          <a:prstGeom prst="rect">
            <a:avLst/>
          </a:prstGeom>
          <a:noFill/>
        </p:spPr>
        <p:txBody>
          <a:bodyPr wrap="square"/>
          <a:lstStyle/>
          <a:p>
            <a:pPr algn="l"/>
            <a:r>
              <a:rPr sz="800" b="0" i="0">
                <a:solidFill>
                  <a:srgbClr val="1E293B"/>
                </a:solidFill>
                <a:latin typeface="Calibri"/>
              </a:rPr>
              <a:t>Align PPC landing pages for mediation intent</a:t>
            </a:r>
          </a:p>
        </p:txBody>
      </p:sp>
      <p:sp>
        <p:nvSpPr>
          <p:cNvPr id="47" name="Rectangle 46"/>
          <p:cNvSpPr/>
          <p:nvPr/>
        </p:nvSpPr>
        <p:spPr>
          <a:xfrm>
            <a:off x="4937760" y="4279392"/>
            <a:ext cx="2048256" cy="566928"/>
          </a:xfrm>
          <a:prstGeom prst="rect">
            <a:avLst/>
          </a:prstGeom>
          <a:solidFill>
            <a:srgbClr val="F0FDFA"/>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29200" y="4498848"/>
            <a:ext cx="91440" cy="91440"/>
          </a:xfrm>
          <a:prstGeom prst="rect">
            <a:avLst/>
          </a:prstGeom>
          <a:solidFill>
            <a:srgbClr val="0F766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175504" y="4334255"/>
            <a:ext cx="1755648" cy="475488"/>
          </a:xfrm>
          <a:prstGeom prst="rect">
            <a:avLst/>
          </a:prstGeom>
          <a:noFill/>
        </p:spPr>
        <p:txBody>
          <a:bodyPr wrap="square"/>
          <a:lstStyle/>
          <a:p>
            <a:pPr algn="l"/>
            <a:r>
              <a:rPr sz="800" b="0" i="0">
                <a:solidFill>
                  <a:srgbClr val="1E293B"/>
                </a:solidFill>
                <a:latin typeface="Calibri"/>
              </a:rPr>
              <a:t>Track leads from website click to booked call</a:t>
            </a:r>
          </a:p>
        </p:txBody>
      </p:sp>
      <p:sp>
        <p:nvSpPr>
          <p:cNvPr id="50" name="Rectangle 49"/>
          <p:cNvSpPr/>
          <p:nvPr/>
        </p:nvSpPr>
        <p:spPr>
          <a:xfrm>
            <a:off x="7059168" y="1024128"/>
            <a:ext cx="2048256" cy="84124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68896" y="1042415"/>
            <a:ext cx="457200" cy="274320"/>
          </a:xfrm>
          <a:prstGeom prst="rect">
            <a:avLst/>
          </a:prstGeom>
          <a:noFill/>
        </p:spPr>
        <p:txBody>
          <a:bodyPr wrap="square"/>
          <a:lstStyle/>
          <a:p>
            <a:pPr algn="l"/>
            <a:r>
              <a:rPr sz="1000" b="1" i="0">
                <a:solidFill>
                  <a:srgbClr val="FFFFFF"/>
                </a:solidFill>
                <a:latin typeface="Calibri"/>
              </a:rPr>
              <a:t>03</a:t>
            </a:r>
          </a:p>
        </p:txBody>
      </p:sp>
      <p:sp>
        <p:nvSpPr>
          <p:cNvPr id="52" name="TextBox 51"/>
          <p:cNvSpPr txBox="1"/>
          <p:nvPr/>
        </p:nvSpPr>
        <p:spPr>
          <a:xfrm>
            <a:off x="7168896" y="1316736"/>
            <a:ext cx="1865376" cy="256032"/>
          </a:xfrm>
          <a:prstGeom prst="rect">
            <a:avLst/>
          </a:prstGeom>
          <a:noFill/>
        </p:spPr>
        <p:txBody>
          <a:bodyPr wrap="square"/>
          <a:lstStyle/>
          <a:p>
            <a:pPr algn="l"/>
            <a:r>
              <a:rPr sz="1200" b="1" i="0">
                <a:solidFill>
                  <a:srgbClr val="FFFFFF"/>
                </a:solidFill>
                <a:latin typeface="Calibri"/>
              </a:rPr>
              <a:t>Install Team &amp;</a:t>
            </a:r>
          </a:p>
        </p:txBody>
      </p:sp>
      <p:sp>
        <p:nvSpPr>
          <p:cNvPr id="53" name="TextBox 52"/>
          <p:cNvSpPr txBox="1"/>
          <p:nvPr/>
        </p:nvSpPr>
        <p:spPr>
          <a:xfrm>
            <a:off x="7168896" y="1554480"/>
            <a:ext cx="1865376" cy="256032"/>
          </a:xfrm>
          <a:prstGeom prst="rect">
            <a:avLst/>
          </a:prstGeom>
          <a:noFill/>
        </p:spPr>
        <p:txBody>
          <a:bodyPr wrap="square"/>
          <a:lstStyle/>
          <a:p>
            <a:pPr algn="l"/>
            <a:r>
              <a:rPr sz="1200" b="1" i="0">
                <a:solidFill>
                  <a:srgbClr val="FFFFFF"/>
                </a:solidFill>
                <a:latin typeface="Calibri"/>
              </a:rPr>
              <a:t>Profit Systems</a:t>
            </a:r>
          </a:p>
        </p:txBody>
      </p:sp>
      <p:sp>
        <p:nvSpPr>
          <p:cNvPr id="54" name="Rectangle 53"/>
          <p:cNvSpPr/>
          <p:nvPr/>
        </p:nvSpPr>
        <p:spPr>
          <a:xfrm>
            <a:off x="7059168" y="1865376"/>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7150607" y="2084832"/>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296912" y="1920240"/>
            <a:ext cx="1755648" cy="475488"/>
          </a:xfrm>
          <a:prstGeom prst="rect">
            <a:avLst/>
          </a:prstGeom>
          <a:noFill/>
        </p:spPr>
        <p:txBody>
          <a:bodyPr wrap="square"/>
          <a:lstStyle/>
          <a:p>
            <a:pPr algn="l"/>
            <a:r>
              <a:rPr sz="800" b="0" i="0">
                <a:solidFill>
                  <a:srgbClr val="1E293B"/>
                </a:solidFill>
                <a:latin typeface="Calibri"/>
              </a:rPr>
              <a:t>Build KPI scorecards per office — see what works</a:t>
            </a:r>
          </a:p>
        </p:txBody>
      </p:sp>
      <p:sp>
        <p:nvSpPr>
          <p:cNvPr id="57" name="Rectangle 56"/>
          <p:cNvSpPr/>
          <p:nvPr/>
        </p:nvSpPr>
        <p:spPr>
          <a:xfrm>
            <a:off x="7059168" y="2468880"/>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150607" y="2688336"/>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96912" y="2523744"/>
            <a:ext cx="1755648" cy="475488"/>
          </a:xfrm>
          <a:prstGeom prst="rect">
            <a:avLst/>
          </a:prstGeom>
          <a:noFill/>
        </p:spPr>
        <p:txBody>
          <a:bodyPr wrap="square"/>
          <a:lstStyle/>
          <a:p>
            <a:pPr algn="l"/>
            <a:r>
              <a:rPr sz="800" b="0" i="0">
                <a:solidFill>
                  <a:srgbClr val="1E293B"/>
                </a:solidFill>
                <a:latin typeface="Calibri"/>
              </a:rPr>
              <a:t>Define role ownership for 14+ staff, 4 offices</a:t>
            </a:r>
          </a:p>
        </p:txBody>
      </p:sp>
      <p:sp>
        <p:nvSpPr>
          <p:cNvPr id="60" name="Rectangle 59"/>
          <p:cNvSpPr/>
          <p:nvPr/>
        </p:nvSpPr>
        <p:spPr>
          <a:xfrm>
            <a:off x="7059168" y="3072384"/>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150607" y="3291839"/>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3127248"/>
            <a:ext cx="1755648" cy="475488"/>
          </a:xfrm>
          <a:prstGeom prst="rect">
            <a:avLst/>
          </a:prstGeom>
          <a:noFill/>
        </p:spPr>
        <p:txBody>
          <a:bodyPr wrap="square"/>
          <a:lstStyle/>
          <a:p>
            <a:pPr algn="l"/>
            <a:r>
              <a:rPr sz="800" b="0" i="0">
                <a:solidFill>
                  <a:srgbClr val="1E293B"/>
                </a:solidFill>
                <a:latin typeface="Calibri"/>
              </a:rPr>
              <a:t>Track cost-per-case by service type</a:t>
            </a:r>
          </a:p>
        </p:txBody>
      </p:sp>
      <p:sp>
        <p:nvSpPr>
          <p:cNvPr id="63" name="Rectangle 62"/>
          <p:cNvSpPr/>
          <p:nvPr/>
        </p:nvSpPr>
        <p:spPr>
          <a:xfrm>
            <a:off x="7059168" y="3675887"/>
            <a:ext cx="2048256" cy="5669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7150607" y="3895344"/>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296912" y="3730751"/>
            <a:ext cx="1755648" cy="475488"/>
          </a:xfrm>
          <a:prstGeom prst="rect">
            <a:avLst/>
          </a:prstGeom>
          <a:noFill/>
        </p:spPr>
        <p:txBody>
          <a:bodyPr wrap="square"/>
          <a:lstStyle/>
          <a:p>
            <a:pPr algn="l"/>
            <a:r>
              <a:rPr sz="800" b="0" i="0">
                <a:solidFill>
                  <a:srgbClr val="1E293B"/>
                </a:solidFill>
                <a:latin typeface="Calibri"/>
              </a:rPr>
              <a:t>Build profit visibility by office and service line</a:t>
            </a:r>
          </a:p>
        </p:txBody>
      </p:sp>
      <p:sp>
        <p:nvSpPr>
          <p:cNvPr id="66" name="Rectangle 65"/>
          <p:cNvSpPr/>
          <p:nvPr/>
        </p:nvSpPr>
        <p:spPr>
          <a:xfrm>
            <a:off x="7059168" y="4279392"/>
            <a:ext cx="2048256" cy="566928"/>
          </a:xfrm>
          <a:prstGeom prst="rect">
            <a:avLst/>
          </a:prstGeom>
          <a:solidFill>
            <a:srgbClr val="F5F3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7150607" y="4498848"/>
            <a:ext cx="91440" cy="91440"/>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296912" y="4334255"/>
            <a:ext cx="1755648" cy="475488"/>
          </a:xfrm>
          <a:prstGeom prst="rect">
            <a:avLst/>
          </a:prstGeom>
          <a:noFill/>
        </p:spPr>
        <p:txBody>
          <a:bodyPr wrap="square"/>
          <a:lstStyle/>
          <a:p>
            <a:pPr algn="l"/>
            <a:r>
              <a:rPr sz="800" b="0" i="0">
                <a:solidFill>
                  <a:srgbClr val="1E293B"/>
                </a:solidFill>
                <a:latin typeface="Calibri"/>
              </a:rPr>
              <a:t>Create the ops layer that lets Keila step back</a:t>
            </a:r>
          </a:p>
        </p:txBody>
      </p:sp>
      <p:sp>
        <p:nvSpPr>
          <p:cNvPr id="69" name="Rectangle 68"/>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71" name="TextBox 70"/>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2 / 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96012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92608" y="91440"/>
            <a:ext cx="8595360" cy="201168"/>
          </a:xfrm>
          <a:prstGeom prst="rect">
            <a:avLst/>
          </a:prstGeom>
          <a:noFill/>
        </p:spPr>
        <p:txBody>
          <a:bodyPr wrap="square"/>
          <a:lstStyle/>
          <a:p>
            <a:pPr algn="l"/>
            <a:r>
              <a:rPr sz="800" b="1" i="0">
                <a:solidFill>
                  <a:srgbClr val="F5C400"/>
                </a:solidFill>
                <a:latin typeface="Calibri"/>
              </a:rPr>
              <a:t>LAW FIRM GROWTH AUDIT  ·  ALPHA CENTER FOR DIVORCE MEDIATION</a:t>
            </a:r>
          </a:p>
        </p:txBody>
      </p:sp>
      <p:sp>
        <p:nvSpPr>
          <p:cNvPr id="4" name="TextBox 3"/>
          <p:cNvSpPr txBox="1"/>
          <p:nvPr/>
        </p:nvSpPr>
        <p:spPr>
          <a:xfrm>
            <a:off x="292608" y="310896"/>
            <a:ext cx="8595360" cy="548640"/>
          </a:xfrm>
          <a:prstGeom prst="rect">
            <a:avLst/>
          </a:prstGeom>
          <a:noFill/>
        </p:spPr>
        <p:txBody>
          <a:bodyPr wrap="square"/>
          <a:lstStyle/>
          <a:p>
            <a:pPr algn="l"/>
            <a:r>
              <a:rPr sz="2200" b="1" i="0">
                <a:solidFill>
                  <a:srgbClr val="FFFFFF"/>
                </a:solidFill>
                <a:latin typeface="Calibri"/>
              </a:rPr>
              <a:t>Your Investment &amp; What Happens Next</a:t>
            </a:r>
          </a:p>
        </p:txBody>
      </p:sp>
      <p:sp>
        <p:nvSpPr>
          <p:cNvPr id="5" name="Rectangle 4"/>
          <p:cNvSpPr/>
          <p:nvPr/>
        </p:nvSpPr>
        <p:spPr>
          <a:xfrm>
            <a:off x="201168" y="1024128"/>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1168" y="1024128"/>
            <a:ext cx="182880" cy="1024128"/>
          </a:xfrm>
          <a:prstGeom prst="rect">
            <a:avLst/>
          </a:prstGeom>
          <a:solidFill>
            <a:srgbClr val="1D4ED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15568"/>
            <a:ext cx="3803904" cy="201168"/>
          </a:xfrm>
          <a:prstGeom prst="rect">
            <a:avLst/>
          </a:prstGeom>
          <a:noFill/>
        </p:spPr>
        <p:txBody>
          <a:bodyPr wrap="square"/>
          <a:lstStyle/>
          <a:p>
            <a:pPr algn="l"/>
            <a:r>
              <a:rPr sz="800" b="1" i="0">
                <a:solidFill>
                  <a:srgbClr val="1D4ED8"/>
                </a:solidFill>
                <a:latin typeface="Calibri"/>
              </a:rPr>
              <a:t>FULL SERVICE MARKETING — STARTER</a:t>
            </a:r>
          </a:p>
        </p:txBody>
      </p:sp>
      <p:sp>
        <p:nvSpPr>
          <p:cNvPr id="8" name="TextBox 7"/>
          <p:cNvSpPr txBox="1"/>
          <p:nvPr/>
        </p:nvSpPr>
        <p:spPr>
          <a:xfrm>
            <a:off x="475488" y="1298448"/>
            <a:ext cx="1828800" cy="438912"/>
          </a:xfrm>
          <a:prstGeom prst="rect">
            <a:avLst/>
          </a:prstGeom>
          <a:noFill/>
        </p:spPr>
        <p:txBody>
          <a:bodyPr wrap="square"/>
          <a:lstStyle/>
          <a:p>
            <a:pPr algn="l"/>
            <a:r>
              <a:rPr sz="3200" b="1" i="0">
                <a:solidFill>
                  <a:srgbClr val="0D1F3C"/>
                </a:solidFill>
                <a:latin typeface="Calibri"/>
              </a:rPr>
              <a:t>$4,847</a:t>
            </a:r>
          </a:p>
        </p:txBody>
      </p:sp>
      <p:sp>
        <p:nvSpPr>
          <p:cNvPr id="9" name="TextBox 8"/>
          <p:cNvSpPr txBox="1"/>
          <p:nvPr/>
        </p:nvSpPr>
        <p:spPr>
          <a:xfrm>
            <a:off x="1865376" y="1408176"/>
            <a:ext cx="420624" cy="256032"/>
          </a:xfrm>
          <a:prstGeom prst="rect">
            <a:avLst/>
          </a:prstGeom>
          <a:noFill/>
        </p:spPr>
        <p:txBody>
          <a:bodyPr wrap="square"/>
          <a:lstStyle/>
          <a:p>
            <a:pPr algn="l"/>
            <a:r>
              <a:rPr sz="1100" b="0" i="0">
                <a:solidFill>
                  <a:srgbClr val="64748B"/>
                </a:solidFill>
                <a:latin typeface="Calibri"/>
              </a:rPr>
              <a:t>/mo</a:t>
            </a:r>
          </a:p>
        </p:txBody>
      </p:sp>
      <p:sp>
        <p:nvSpPr>
          <p:cNvPr id="10" name="TextBox 9"/>
          <p:cNvSpPr txBox="1"/>
          <p:nvPr/>
        </p:nvSpPr>
        <p:spPr>
          <a:xfrm>
            <a:off x="2322576" y="1426464"/>
            <a:ext cx="914400" cy="237744"/>
          </a:xfrm>
          <a:prstGeom prst="rect">
            <a:avLst/>
          </a:prstGeom>
          <a:noFill/>
        </p:spPr>
        <p:txBody>
          <a:bodyPr wrap="square"/>
          <a:lstStyle/>
          <a:p>
            <a:pPr algn="l"/>
            <a:r>
              <a:rPr sz="1100" b="0" i="0">
                <a:solidFill>
                  <a:srgbClr val="334155"/>
                </a:solidFill>
                <a:latin typeface="Calibri"/>
              </a:rPr>
              <a:t>$5,697/mo</a:t>
            </a:r>
          </a:p>
        </p:txBody>
      </p:sp>
      <p:sp>
        <p:nvSpPr>
          <p:cNvPr id="11" name="Rectangle 10"/>
          <p:cNvSpPr/>
          <p:nvPr/>
        </p:nvSpPr>
        <p:spPr>
          <a:xfrm>
            <a:off x="2322576" y="1527048"/>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1792224"/>
            <a:ext cx="3803904" cy="201168"/>
          </a:xfrm>
          <a:prstGeom prst="rect">
            <a:avLst/>
          </a:prstGeom>
          <a:noFill/>
        </p:spPr>
        <p:txBody>
          <a:bodyPr wrap="square"/>
          <a:lstStyle/>
          <a:p>
            <a:pPr algn="l"/>
            <a:r>
              <a:rPr sz="800" b="0" i="0">
                <a:solidFill>
                  <a:srgbClr val="64748B"/>
                </a:solidFill>
                <a:latin typeface="Calibri"/>
              </a:rPr>
              <a:t>Google Ads · LSA · Meta Ads · Local SEO · Website CRO</a:t>
            </a:r>
          </a:p>
        </p:txBody>
      </p:sp>
      <p:sp>
        <p:nvSpPr>
          <p:cNvPr id="13" name="Rectangle 12"/>
          <p:cNvSpPr/>
          <p:nvPr/>
        </p:nvSpPr>
        <p:spPr>
          <a:xfrm>
            <a:off x="201168" y="2139696"/>
            <a:ext cx="4133087" cy="102412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01168" y="2139696"/>
            <a:ext cx="182880" cy="1024128"/>
          </a:xfrm>
          <a:prstGeom prst="rect">
            <a:avLst/>
          </a:prstGeom>
          <a:solidFill>
            <a:srgbClr val="6D28D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2231136"/>
            <a:ext cx="3803904" cy="201168"/>
          </a:xfrm>
          <a:prstGeom prst="rect">
            <a:avLst/>
          </a:prstGeom>
          <a:noFill/>
        </p:spPr>
        <p:txBody>
          <a:bodyPr wrap="square"/>
          <a:lstStyle/>
          <a:p>
            <a:pPr algn="l"/>
            <a:r>
              <a:rPr sz="800" b="1" i="0">
                <a:solidFill>
                  <a:srgbClr val="6D28D9"/>
                </a:solidFill>
                <a:latin typeface="Calibri"/>
              </a:rPr>
              <a:t>ELITE COACH PLUS</a:t>
            </a:r>
          </a:p>
        </p:txBody>
      </p:sp>
      <p:sp>
        <p:nvSpPr>
          <p:cNvPr id="16" name="TextBox 15"/>
          <p:cNvSpPr txBox="1"/>
          <p:nvPr/>
        </p:nvSpPr>
        <p:spPr>
          <a:xfrm>
            <a:off x="475488" y="2414015"/>
            <a:ext cx="1828800" cy="438912"/>
          </a:xfrm>
          <a:prstGeom prst="rect">
            <a:avLst/>
          </a:prstGeom>
          <a:noFill/>
        </p:spPr>
        <p:txBody>
          <a:bodyPr wrap="square"/>
          <a:lstStyle/>
          <a:p>
            <a:pPr algn="l"/>
            <a:r>
              <a:rPr sz="3200" b="1" i="0">
                <a:solidFill>
                  <a:srgbClr val="0D1F3C"/>
                </a:solidFill>
                <a:latin typeface="Calibri"/>
              </a:rPr>
              <a:t>$3,200</a:t>
            </a:r>
          </a:p>
        </p:txBody>
      </p:sp>
      <p:sp>
        <p:nvSpPr>
          <p:cNvPr id="17" name="TextBox 16"/>
          <p:cNvSpPr txBox="1"/>
          <p:nvPr/>
        </p:nvSpPr>
        <p:spPr>
          <a:xfrm>
            <a:off x="1865376" y="2523744"/>
            <a:ext cx="420624" cy="256032"/>
          </a:xfrm>
          <a:prstGeom prst="rect">
            <a:avLst/>
          </a:prstGeom>
          <a:noFill/>
        </p:spPr>
        <p:txBody>
          <a:bodyPr wrap="square"/>
          <a:lstStyle/>
          <a:p>
            <a:pPr algn="l"/>
            <a:r>
              <a:rPr sz="1100" b="0" i="0">
                <a:solidFill>
                  <a:srgbClr val="64748B"/>
                </a:solidFill>
                <a:latin typeface="Calibri"/>
              </a:rPr>
              <a:t>/mo</a:t>
            </a:r>
          </a:p>
        </p:txBody>
      </p:sp>
      <p:sp>
        <p:nvSpPr>
          <p:cNvPr id="18" name="TextBox 17"/>
          <p:cNvSpPr txBox="1"/>
          <p:nvPr/>
        </p:nvSpPr>
        <p:spPr>
          <a:xfrm>
            <a:off x="2322576" y="2542032"/>
            <a:ext cx="914400" cy="237744"/>
          </a:xfrm>
          <a:prstGeom prst="rect">
            <a:avLst/>
          </a:prstGeom>
          <a:noFill/>
        </p:spPr>
        <p:txBody>
          <a:bodyPr wrap="square"/>
          <a:lstStyle/>
          <a:p>
            <a:pPr algn="l"/>
            <a:r>
              <a:rPr sz="1100" b="0" i="0">
                <a:solidFill>
                  <a:srgbClr val="334155"/>
                </a:solidFill>
                <a:latin typeface="Calibri"/>
              </a:rPr>
              <a:t>$3,497/mo</a:t>
            </a:r>
          </a:p>
        </p:txBody>
      </p:sp>
      <p:sp>
        <p:nvSpPr>
          <p:cNvPr id="19" name="Rectangle 18"/>
          <p:cNvSpPr/>
          <p:nvPr/>
        </p:nvSpPr>
        <p:spPr>
          <a:xfrm>
            <a:off x="2322576" y="2642615"/>
            <a:ext cx="804672" cy="9144"/>
          </a:xfrm>
          <a:prstGeom prst="rect">
            <a:avLst/>
          </a:prstGeom>
          <a:solidFill>
            <a:srgbClr val="33415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2907791"/>
            <a:ext cx="3803904" cy="201168"/>
          </a:xfrm>
          <a:prstGeom prst="rect">
            <a:avLst/>
          </a:prstGeom>
          <a:noFill/>
        </p:spPr>
        <p:txBody>
          <a:bodyPr wrap="square"/>
          <a:lstStyle/>
          <a:p>
            <a:pPr algn="l"/>
            <a:r>
              <a:rPr sz="800" b="0" i="0">
                <a:solidFill>
                  <a:srgbClr val="64748B"/>
                </a:solidFill>
                <a:latin typeface="Calibri"/>
              </a:rPr>
              <a:t>Weekly coaching · Masterminds · Quarterly workshops</a:t>
            </a:r>
          </a:p>
        </p:txBody>
      </p:sp>
      <p:sp>
        <p:nvSpPr>
          <p:cNvPr id="21" name="Rectangle 20"/>
          <p:cNvSpPr/>
          <p:nvPr/>
        </p:nvSpPr>
        <p:spPr>
          <a:xfrm>
            <a:off x="201168" y="3255264"/>
            <a:ext cx="4133087" cy="658368"/>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4048" y="3291840"/>
            <a:ext cx="1645920" cy="237744"/>
          </a:xfrm>
          <a:prstGeom prst="rect">
            <a:avLst/>
          </a:prstGeom>
          <a:noFill/>
        </p:spPr>
        <p:txBody>
          <a:bodyPr wrap="square"/>
          <a:lstStyle/>
          <a:p>
            <a:pPr algn="l"/>
            <a:r>
              <a:rPr sz="800" b="1" i="0">
                <a:solidFill>
                  <a:srgbClr val="7CA0C0"/>
                </a:solidFill>
                <a:latin typeface="Calibri"/>
              </a:rPr>
              <a:t>BUNDLE TOTAL</a:t>
            </a:r>
          </a:p>
        </p:txBody>
      </p:sp>
      <p:sp>
        <p:nvSpPr>
          <p:cNvPr id="23" name="TextBox 22"/>
          <p:cNvSpPr txBox="1"/>
          <p:nvPr/>
        </p:nvSpPr>
        <p:spPr>
          <a:xfrm>
            <a:off x="384048" y="3493008"/>
            <a:ext cx="2194560" cy="347472"/>
          </a:xfrm>
          <a:prstGeom prst="rect">
            <a:avLst/>
          </a:prstGeom>
          <a:noFill/>
        </p:spPr>
        <p:txBody>
          <a:bodyPr wrap="square"/>
          <a:lstStyle/>
          <a:p>
            <a:pPr algn="l"/>
            <a:r>
              <a:rPr sz="2200" b="1" i="0">
                <a:solidFill>
                  <a:srgbClr val="F5C400"/>
                </a:solidFill>
                <a:latin typeface="Calibri"/>
              </a:rPr>
              <a:t>$8,047 / mo</a:t>
            </a:r>
          </a:p>
        </p:txBody>
      </p:sp>
      <p:sp>
        <p:nvSpPr>
          <p:cNvPr id="24" name="TextBox 23"/>
          <p:cNvSpPr txBox="1"/>
          <p:nvPr/>
        </p:nvSpPr>
        <p:spPr>
          <a:xfrm>
            <a:off x="2670048" y="3493008"/>
            <a:ext cx="1737360" cy="347472"/>
          </a:xfrm>
          <a:prstGeom prst="rect">
            <a:avLst/>
          </a:prstGeom>
          <a:noFill/>
        </p:spPr>
        <p:txBody>
          <a:bodyPr wrap="square"/>
          <a:lstStyle/>
          <a:p>
            <a:pPr algn="l"/>
            <a:r>
              <a:rPr sz="800" b="0" i="0">
                <a:solidFill>
                  <a:srgbClr val="7CA0C0"/>
                </a:solidFill>
                <a:latin typeface="Calibri"/>
              </a:rPr>
              <a:t>Save $1,147/mo by bundling</a:t>
            </a:r>
          </a:p>
        </p:txBody>
      </p:sp>
      <p:sp>
        <p:nvSpPr>
          <p:cNvPr id="25" name="Rectangle 24"/>
          <p:cNvSpPr/>
          <p:nvPr/>
        </p:nvSpPr>
        <p:spPr>
          <a:xfrm>
            <a:off x="201168" y="3968496"/>
            <a:ext cx="4133087" cy="402336"/>
          </a:xfrm>
          <a:prstGeom prst="rect">
            <a:avLst/>
          </a:prstGeom>
          <a:solidFill>
            <a:srgbClr val="EEF2F8"/>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 y="3995928"/>
            <a:ext cx="3931920" cy="347472"/>
          </a:xfrm>
          <a:prstGeom prst="rect">
            <a:avLst/>
          </a:prstGeom>
          <a:noFill/>
        </p:spPr>
        <p:txBody>
          <a:bodyPr wrap="square"/>
          <a:lstStyle/>
          <a:p>
            <a:pPr algn="l"/>
            <a:r>
              <a:rPr sz="800" b="0" i="0">
                <a:solidFill>
                  <a:srgbClr val="64748B"/>
                </a:solidFill>
                <a:latin typeface="Calibri"/>
              </a:rPr>
              <a:t>+ Recommended ad spend: $7,000–$17,000/mo paid directly to Google/Meta</a:t>
            </a:r>
          </a:p>
        </p:txBody>
      </p:sp>
      <p:sp>
        <p:nvSpPr>
          <p:cNvPr id="27" name="Rectangle 26"/>
          <p:cNvSpPr/>
          <p:nvPr/>
        </p:nvSpPr>
        <p:spPr>
          <a:xfrm>
            <a:off x="4535424" y="1024128"/>
            <a:ext cx="4407408" cy="1316736"/>
          </a:xfrm>
          <a:prstGeom prst="rect">
            <a:avLst/>
          </a:prstGeom>
          <a:solidFill>
            <a:srgbClr val="ECFDF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700016" y="1078992"/>
            <a:ext cx="4133087" cy="219456"/>
          </a:xfrm>
          <a:prstGeom prst="rect">
            <a:avLst/>
          </a:prstGeom>
          <a:noFill/>
        </p:spPr>
        <p:txBody>
          <a:bodyPr wrap="square"/>
          <a:lstStyle/>
          <a:p>
            <a:pPr algn="l"/>
            <a:r>
              <a:rPr sz="800" b="1" i="0">
                <a:solidFill>
                  <a:srgbClr val="065F46"/>
                </a:solidFill>
                <a:latin typeface="Calibri"/>
              </a:rPr>
              <a:t>PROJECTED RETURN ON AD SPEND</a:t>
            </a:r>
          </a:p>
        </p:txBody>
      </p:sp>
      <p:sp>
        <p:nvSpPr>
          <p:cNvPr id="29" name="TextBox 28"/>
          <p:cNvSpPr txBox="1"/>
          <p:nvPr/>
        </p:nvSpPr>
        <p:spPr>
          <a:xfrm>
            <a:off x="4700016" y="1335024"/>
            <a:ext cx="1920240" cy="256032"/>
          </a:xfrm>
          <a:prstGeom prst="rect">
            <a:avLst/>
          </a:prstGeom>
          <a:noFill/>
        </p:spPr>
        <p:txBody>
          <a:bodyPr wrap="square"/>
          <a:lstStyle/>
          <a:p>
            <a:pPr algn="l"/>
            <a:r>
              <a:rPr sz="900" b="1" i="0">
                <a:solidFill>
                  <a:srgbClr val="1E293B"/>
                </a:solidFill>
                <a:latin typeface="Calibri"/>
              </a:rPr>
              <a:t>Average case value:</a:t>
            </a:r>
          </a:p>
        </p:txBody>
      </p:sp>
      <p:sp>
        <p:nvSpPr>
          <p:cNvPr id="30" name="TextBox 29"/>
          <p:cNvSpPr txBox="1"/>
          <p:nvPr/>
        </p:nvSpPr>
        <p:spPr>
          <a:xfrm>
            <a:off x="6729984" y="1335024"/>
            <a:ext cx="2103120" cy="256032"/>
          </a:xfrm>
          <a:prstGeom prst="rect">
            <a:avLst/>
          </a:prstGeom>
          <a:noFill/>
        </p:spPr>
        <p:txBody>
          <a:bodyPr wrap="square"/>
          <a:lstStyle/>
          <a:p>
            <a:pPr algn="l"/>
            <a:r>
              <a:rPr sz="900" b="0" i="0">
                <a:solidFill>
                  <a:srgbClr val="065F46"/>
                </a:solidFill>
                <a:latin typeface="Calibri"/>
              </a:rPr>
              <a:t>$3,500</a:t>
            </a:r>
          </a:p>
        </p:txBody>
      </p:sp>
      <p:sp>
        <p:nvSpPr>
          <p:cNvPr id="31" name="Rectangle 30"/>
          <p:cNvSpPr/>
          <p:nvPr/>
        </p:nvSpPr>
        <p:spPr>
          <a:xfrm>
            <a:off x="4645152" y="1609344"/>
            <a:ext cx="4187952" cy="310896"/>
          </a:xfrm>
          <a:prstGeom prst="rect">
            <a:avLst/>
          </a:prstGeom>
          <a:solidFill>
            <a:srgbClr val="D1FAE5"/>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700016" y="1645920"/>
            <a:ext cx="1920240" cy="256032"/>
          </a:xfrm>
          <a:prstGeom prst="rect">
            <a:avLst/>
          </a:prstGeom>
          <a:noFill/>
        </p:spPr>
        <p:txBody>
          <a:bodyPr wrap="square"/>
          <a:lstStyle/>
          <a:p>
            <a:pPr algn="l"/>
            <a:r>
              <a:rPr sz="900" b="1" i="0">
                <a:solidFill>
                  <a:srgbClr val="1E293B"/>
                </a:solidFill>
                <a:latin typeface="Calibri"/>
              </a:rPr>
              <a:t>Conservative  (10–11 cases/mo):</a:t>
            </a:r>
          </a:p>
        </p:txBody>
      </p:sp>
      <p:sp>
        <p:nvSpPr>
          <p:cNvPr id="33" name="TextBox 32"/>
          <p:cNvSpPr txBox="1"/>
          <p:nvPr/>
        </p:nvSpPr>
        <p:spPr>
          <a:xfrm>
            <a:off x="6729984" y="1645920"/>
            <a:ext cx="2103120" cy="256032"/>
          </a:xfrm>
          <a:prstGeom prst="rect">
            <a:avLst/>
          </a:prstGeom>
          <a:noFill/>
        </p:spPr>
        <p:txBody>
          <a:bodyPr wrap="square"/>
          <a:lstStyle/>
          <a:p>
            <a:pPr algn="l"/>
            <a:r>
              <a:rPr sz="900" b="1" i="0">
                <a:solidFill>
                  <a:srgbClr val="065F46"/>
                </a:solidFill>
                <a:latin typeface="Calibri"/>
              </a:rPr>
              <a:t>~$38,500 revenue  ·  ~5.0x ROAS</a:t>
            </a:r>
          </a:p>
        </p:txBody>
      </p:sp>
      <p:sp>
        <p:nvSpPr>
          <p:cNvPr id="34" name="TextBox 33"/>
          <p:cNvSpPr txBox="1"/>
          <p:nvPr/>
        </p:nvSpPr>
        <p:spPr>
          <a:xfrm>
            <a:off x="4700016" y="1956816"/>
            <a:ext cx="1920240" cy="256032"/>
          </a:xfrm>
          <a:prstGeom prst="rect">
            <a:avLst/>
          </a:prstGeom>
          <a:noFill/>
        </p:spPr>
        <p:txBody>
          <a:bodyPr wrap="square"/>
          <a:lstStyle/>
          <a:p>
            <a:pPr algn="l"/>
            <a:r>
              <a:rPr sz="900" b="1" i="0">
                <a:solidFill>
                  <a:srgbClr val="1E293B"/>
                </a:solidFill>
                <a:latin typeface="Calibri"/>
              </a:rPr>
              <a:t>Aggressive  (28–31 cases/mo):</a:t>
            </a:r>
          </a:p>
        </p:txBody>
      </p:sp>
      <p:sp>
        <p:nvSpPr>
          <p:cNvPr id="35" name="TextBox 34"/>
          <p:cNvSpPr txBox="1"/>
          <p:nvPr/>
        </p:nvSpPr>
        <p:spPr>
          <a:xfrm>
            <a:off x="6729984" y="1956816"/>
            <a:ext cx="2103120" cy="256032"/>
          </a:xfrm>
          <a:prstGeom prst="rect">
            <a:avLst/>
          </a:prstGeom>
          <a:noFill/>
        </p:spPr>
        <p:txBody>
          <a:bodyPr wrap="square"/>
          <a:lstStyle/>
          <a:p>
            <a:pPr algn="l"/>
            <a:r>
              <a:rPr sz="900" b="1" i="0">
                <a:solidFill>
                  <a:srgbClr val="065F46"/>
                </a:solidFill>
                <a:latin typeface="Calibri"/>
              </a:rPr>
              <a:t>~$105,000 revenue  ·  ~6.2x ROAS</a:t>
            </a:r>
          </a:p>
        </p:txBody>
      </p:sp>
      <p:sp>
        <p:nvSpPr>
          <p:cNvPr id="36" name="TextBox 35"/>
          <p:cNvSpPr txBox="1"/>
          <p:nvPr/>
        </p:nvSpPr>
        <p:spPr>
          <a:xfrm>
            <a:off x="4535424" y="2468880"/>
            <a:ext cx="4407408" cy="237744"/>
          </a:xfrm>
          <a:prstGeom prst="rect">
            <a:avLst/>
          </a:prstGeom>
          <a:noFill/>
        </p:spPr>
        <p:txBody>
          <a:bodyPr wrap="square"/>
          <a:lstStyle/>
          <a:p>
            <a:pPr algn="l"/>
            <a:r>
              <a:rPr sz="800" b="1" i="0">
                <a:solidFill>
                  <a:srgbClr val="0D1F3C"/>
                </a:solidFill>
                <a:latin typeface="Calibri"/>
              </a:rPr>
              <a:t>WHAT HAPPENS IN THE FIRST 90 DAYS</a:t>
            </a:r>
          </a:p>
        </p:txBody>
      </p:sp>
      <p:sp>
        <p:nvSpPr>
          <p:cNvPr id="37" name="Rectangle 36"/>
          <p:cNvSpPr/>
          <p:nvPr/>
        </p:nvSpPr>
        <p:spPr>
          <a:xfrm>
            <a:off x="4590288" y="2724912"/>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37760" y="2734056"/>
            <a:ext cx="804672" cy="256032"/>
          </a:xfrm>
          <a:prstGeom prst="rect">
            <a:avLst/>
          </a:prstGeom>
          <a:noFill/>
        </p:spPr>
        <p:txBody>
          <a:bodyPr wrap="square"/>
          <a:lstStyle/>
          <a:p>
            <a:pPr algn="l"/>
            <a:r>
              <a:rPr sz="800" b="1" i="0">
                <a:solidFill>
                  <a:srgbClr val="0D1F3C"/>
                </a:solidFill>
                <a:latin typeface="Calibri"/>
              </a:rPr>
              <a:t>Day 1</a:t>
            </a:r>
          </a:p>
        </p:txBody>
      </p:sp>
      <p:sp>
        <p:nvSpPr>
          <p:cNvPr id="39" name="TextBox 38"/>
          <p:cNvSpPr txBox="1"/>
          <p:nvPr/>
        </p:nvSpPr>
        <p:spPr>
          <a:xfrm>
            <a:off x="5815584" y="2734056"/>
            <a:ext cx="3054096" cy="256032"/>
          </a:xfrm>
          <a:prstGeom prst="rect">
            <a:avLst/>
          </a:prstGeom>
          <a:noFill/>
        </p:spPr>
        <p:txBody>
          <a:bodyPr wrap="square"/>
          <a:lstStyle/>
          <a:p>
            <a:pPr algn="l"/>
            <a:r>
              <a:rPr sz="800" b="0" i="0">
                <a:solidFill>
                  <a:srgbClr val="1E293B"/>
                </a:solidFill>
                <a:latin typeface="Calibri"/>
              </a:rPr>
              <a:t>Coaching kickoff + ads account onboarding</a:t>
            </a:r>
          </a:p>
        </p:txBody>
      </p:sp>
      <p:sp>
        <p:nvSpPr>
          <p:cNvPr id="40" name="Rectangle 39"/>
          <p:cNvSpPr/>
          <p:nvPr/>
        </p:nvSpPr>
        <p:spPr>
          <a:xfrm>
            <a:off x="4590288" y="3081528"/>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37760" y="3090672"/>
            <a:ext cx="804672" cy="256032"/>
          </a:xfrm>
          <a:prstGeom prst="rect">
            <a:avLst/>
          </a:prstGeom>
          <a:noFill/>
        </p:spPr>
        <p:txBody>
          <a:bodyPr wrap="square"/>
          <a:lstStyle/>
          <a:p>
            <a:pPr algn="l"/>
            <a:r>
              <a:rPr sz="800" b="1" i="0">
                <a:solidFill>
                  <a:srgbClr val="0D1F3C"/>
                </a:solidFill>
                <a:latin typeface="Calibri"/>
              </a:rPr>
              <a:t>Day 14</a:t>
            </a:r>
          </a:p>
        </p:txBody>
      </p:sp>
      <p:sp>
        <p:nvSpPr>
          <p:cNvPr id="42" name="TextBox 41"/>
          <p:cNvSpPr txBox="1"/>
          <p:nvPr/>
        </p:nvSpPr>
        <p:spPr>
          <a:xfrm>
            <a:off x="5815584" y="3090672"/>
            <a:ext cx="3054096" cy="256032"/>
          </a:xfrm>
          <a:prstGeom prst="rect">
            <a:avLst/>
          </a:prstGeom>
          <a:noFill/>
        </p:spPr>
        <p:txBody>
          <a:bodyPr wrap="square"/>
          <a:lstStyle/>
          <a:p>
            <a:pPr algn="l"/>
            <a:r>
              <a:rPr sz="800" b="0" i="0">
                <a:solidFill>
                  <a:srgbClr val="1E293B"/>
                </a:solidFill>
                <a:latin typeface="Calibri"/>
              </a:rPr>
              <a:t>Google Ads optimized + LSA application submitted</a:t>
            </a:r>
          </a:p>
        </p:txBody>
      </p:sp>
      <p:sp>
        <p:nvSpPr>
          <p:cNvPr id="43" name="Rectangle 42"/>
          <p:cNvSpPr/>
          <p:nvPr/>
        </p:nvSpPr>
        <p:spPr>
          <a:xfrm>
            <a:off x="4590288" y="3438144"/>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37760" y="3447287"/>
            <a:ext cx="804672" cy="256032"/>
          </a:xfrm>
          <a:prstGeom prst="rect">
            <a:avLst/>
          </a:prstGeom>
          <a:noFill/>
        </p:spPr>
        <p:txBody>
          <a:bodyPr wrap="square"/>
          <a:lstStyle/>
          <a:p>
            <a:pPr algn="l"/>
            <a:r>
              <a:rPr sz="800" b="1" i="0">
                <a:solidFill>
                  <a:srgbClr val="0D1F3C"/>
                </a:solidFill>
                <a:latin typeface="Calibri"/>
              </a:rPr>
              <a:t>Week 2</a:t>
            </a:r>
          </a:p>
        </p:txBody>
      </p:sp>
      <p:sp>
        <p:nvSpPr>
          <p:cNvPr id="45" name="TextBox 44"/>
          <p:cNvSpPr txBox="1"/>
          <p:nvPr/>
        </p:nvSpPr>
        <p:spPr>
          <a:xfrm>
            <a:off x="5815584" y="3447287"/>
            <a:ext cx="3054096" cy="256032"/>
          </a:xfrm>
          <a:prstGeom prst="rect">
            <a:avLst/>
          </a:prstGeom>
          <a:noFill/>
        </p:spPr>
        <p:txBody>
          <a:bodyPr wrap="square"/>
          <a:lstStyle/>
          <a:p>
            <a:pPr algn="l"/>
            <a:r>
              <a:rPr sz="800" b="0" i="0">
                <a:solidFill>
                  <a:srgbClr val="1E293B"/>
                </a:solidFill>
                <a:latin typeface="Calibri"/>
              </a:rPr>
              <a:t>Homepage form live + review campaign launched</a:t>
            </a:r>
          </a:p>
        </p:txBody>
      </p:sp>
      <p:sp>
        <p:nvSpPr>
          <p:cNvPr id="46" name="Rectangle 45"/>
          <p:cNvSpPr/>
          <p:nvPr/>
        </p:nvSpPr>
        <p:spPr>
          <a:xfrm>
            <a:off x="4590288" y="3794760"/>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0" y="3803904"/>
            <a:ext cx="804672" cy="256032"/>
          </a:xfrm>
          <a:prstGeom prst="rect">
            <a:avLst/>
          </a:prstGeom>
          <a:noFill/>
        </p:spPr>
        <p:txBody>
          <a:bodyPr wrap="square"/>
          <a:lstStyle/>
          <a:p>
            <a:pPr algn="l"/>
            <a:r>
              <a:rPr sz="800" b="1" i="0">
                <a:solidFill>
                  <a:srgbClr val="0D1F3C"/>
                </a:solidFill>
                <a:latin typeface="Calibri"/>
              </a:rPr>
              <a:t>Week 3</a:t>
            </a:r>
          </a:p>
        </p:txBody>
      </p:sp>
      <p:sp>
        <p:nvSpPr>
          <p:cNvPr id="48" name="TextBox 47"/>
          <p:cNvSpPr txBox="1"/>
          <p:nvPr/>
        </p:nvSpPr>
        <p:spPr>
          <a:xfrm>
            <a:off x="5815584" y="3803904"/>
            <a:ext cx="3054096" cy="256032"/>
          </a:xfrm>
          <a:prstGeom prst="rect">
            <a:avLst/>
          </a:prstGeom>
          <a:noFill/>
        </p:spPr>
        <p:txBody>
          <a:bodyPr wrap="square"/>
          <a:lstStyle/>
          <a:p>
            <a:pPr algn="l"/>
            <a:r>
              <a:rPr sz="800" b="0" i="0">
                <a:solidFill>
                  <a:srgbClr val="1E293B"/>
                </a:solidFill>
                <a:latin typeface="Calibri"/>
              </a:rPr>
              <a:t>Meta retargeting live + NAP audit complete</a:t>
            </a:r>
          </a:p>
        </p:txBody>
      </p:sp>
      <p:sp>
        <p:nvSpPr>
          <p:cNvPr id="49" name="Rectangle 48"/>
          <p:cNvSpPr/>
          <p:nvPr/>
        </p:nvSpPr>
        <p:spPr>
          <a:xfrm>
            <a:off x="4590288" y="4151376"/>
            <a:ext cx="256032" cy="256032"/>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0" y="4160520"/>
            <a:ext cx="804672" cy="256032"/>
          </a:xfrm>
          <a:prstGeom prst="rect">
            <a:avLst/>
          </a:prstGeom>
          <a:noFill/>
        </p:spPr>
        <p:txBody>
          <a:bodyPr wrap="square"/>
          <a:lstStyle/>
          <a:p>
            <a:pPr algn="l"/>
            <a:r>
              <a:rPr sz="800" b="1" i="0">
                <a:solidFill>
                  <a:srgbClr val="0D1F3C"/>
                </a:solidFill>
                <a:latin typeface="Calibri"/>
              </a:rPr>
              <a:t>Month 3</a:t>
            </a:r>
          </a:p>
        </p:txBody>
      </p:sp>
      <p:sp>
        <p:nvSpPr>
          <p:cNvPr id="51" name="TextBox 50"/>
          <p:cNvSpPr txBox="1"/>
          <p:nvPr/>
        </p:nvSpPr>
        <p:spPr>
          <a:xfrm>
            <a:off x="5815584" y="4160520"/>
            <a:ext cx="3054096" cy="256032"/>
          </a:xfrm>
          <a:prstGeom prst="rect">
            <a:avLst/>
          </a:prstGeom>
          <a:noFill/>
        </p:spPr>
        <p:txBody>
          <a:bodyPr wrap="square"/>
          <a:lstStyle/>
          <a:p>
            <a:pPr algn="l"/>
            <a:r>
              <a:rPr sz="800" b="0" i="0">
                <a:solidFill>
                  <a:srgbClr val="1E293B"/>
                </a:solidFill>
                <a:latin typeface="Calibri"/>
              </a:rPr>
              <a:t>Star rating climbing + first LSA leads arriving</a:t>
            </a:r>
          </a:p>
        </p:txBody>
      </p:sp>
      <p:sp>
        <p:nvSpPr>
          <p:cNvPr id="52" name="Rectangle 51"/>
          <p:cNvSpPr/>
          <p:nvPr/>
        </p:nvSpPr>
        <p:spPr>
          <a:xfrm>
            <a:off x="0" y="4425696"/>
            <a:ext cx="9144000" cy="402336"/>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74320" y="4425696"/>
            <a:ext cx="8595360" cy="402336"/>
          </a:xfrm>
          <a:prstGeom prst="rect">
            <a:avLst/>
          </a:prstGeom>
          <a:noFill/>
        </p:spPr>
        <p:txBody>
          <a:bodyPr wrap="square"/>
          <a:lstStyle/>
          <a:p>
            <a:pPr algn="ctr"/>
            <a:r>
              <a:rPr sz="900" b="0" i="1">
                <a:solidFill>
                  <a:srgbClr val="8BADD0"/>
                </a:solidFill>
                <a:latin typeface="Calibri"/>
              </a:rPr>
              <a:t>"The reputation is earned and the team is in place — what is missing is the system to turn 30 years of credibility into a firm that grows and runs on its own."</a:t>
            </a:r>
          </a:p>
        </p:txBody>
      </p:sp>
      <p:sp>
        <p:nvSpPr>
          <p:cNvPr id="54" name="Rectangle 53"/>
          <p:cNvSpPr/>
          <p:nvPr/>
        </p:nvSpPr>
        <p:spPr>
          <a:xfrm>
            <a:off x="0" y="4828032"/>
            <a:ext cx="9144000" cy="320040"/>
          </a:xfrm>
          <a:prstGeom prst="rect">
            <a:avLst/>
          </a:prstGeom>
          <a:solidFill>
            <a:srgbClr val="0D1F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609344" y="4837176"/>
            <a:ext cx="5303520" cy="274320"/>
          </a:xfrm>
          <a:prstGeom prst="rect">
            <a:avLst/>
          </a:prstGeom>
          <a:noFill/>
        </p:spPr>
        <p:txBody>
          <a:bodyPr wrap="square"/>
          <a:lstStyle/>
          <a:p>
            <a:pPr algn="l"/>
            <a:r>
              <a:rPr sz="800" b="0" i="0">
                <a:solidFill>
                  <a:srgbClr val="5A7A9A"/>
                </a:solidFill>
                <a:latin typeface="Calibri"/>
              </a:rPr>
              <a:t>CONFIDENTIAL  ·  Prepared by Jacob Meissner | SMB Team</a:t>
            </a:r>
          </a:p>
        </p:txBody>
      </p:sp>
      <p:sp>
        <p:nvSpPr>
          <p:cNvPr id="56" name="TextBox 55"/>
          <p:cNvSpPr txBox="1"/>
          <p:nvPr/>
        </p:nvSpPr>
        <p:spPr>
          <a:xfrm>
            <a:off x="8138160" y="4837176"/>
            <a:ext cx="786384" cy="274320"/>
          </a:xfrm>
          <a:prstGeom prst="rect">
            <a:avLst/>
          </a:prstGeom>
          <a:noFill/>
        </p:spPr>
        <p:txBody>
          <a:bodyPr wrap="square"/>
          <a:lstStyle/>
          <a:p>
            <a:pPr algn="r"/>
            <a:r>
              <a:rPr sz="800" b="0" i="0">
                <a:solidFill>
                  <a:srgbClr val="5A7A9A"/>
                </a:solidFill>
                <a:latin typeface="Calibri"/>
              </a:rPr>
              <a:t>3 /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