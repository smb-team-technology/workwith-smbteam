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OREGON LEGACY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63093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Oregon Legacy Stands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784848" y="164592"/>
            <a:ext cx="2066543" cy="512064"/>
          </a:xfrm>
          <a:prstGeom prst="rect">
            <a:avLst/>
          </a:prstGeom>
          <a:solidFill>
            <a:srgbClr val="0B4C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31152" y="210312"/>
            <a:ext cx="38404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Poppins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775" y="274320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 i="0">
                <a:solidFill>
                  <a:srgbClr val="69CD2B"/>
                </a:solidFill>
                <a:latin typeface="Poppins"/>
              </a:rPr>
              <a:t>COMPETITIVE URGENCY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775" y="429768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9CC0D6"/>
                </a:solidFill>
                <a:latin typeface="Poppins"/>
              </a:rPr>
              <a:t>Score out of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005840"/>
            <a:ext cx="2066543" cy="3657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3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Lead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3" y="1426464"/>
            <a:ext cx="585216" cy="173736"/>
          </a:xfrm>
          <a:prstGeom prst="roundRect">
            <a:avLst/>
          </a:prstGeom>
          <a:solidFill>
            <a:srgbClr val="FB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3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32D2D"/>
                </a:solidFill>
                <a:latin typeface="Poppins"/>
              </a:rP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3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2-page site, no ads seen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0592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0592" y="1005840"/>
            <a:ext cx="2066543" cy="3657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6896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Intake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96896" y="1426464"/>
            <a:ext cx="585216" cy="173736"/>
          </a:xfrm>
          <a:prstGeom prst="roundRect">
            <a:avLst/>
          </a:prstGeom>
          <a:solidFill>
            <a:srgbClr val="FB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96896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32D2D"/>
                </a:solidFill>
                <a:latin typeface="Poppins"/>
              </a:rPr>
              <a:t>CRITICAL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6896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~12 missed calls/mo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36008" y="1005840"/>
            <a:ext cx="2066543" cy="3657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Team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2312" y="1426464"/>
            <a:ext cx="585216" cy="173736"/>
          </a:xfrm>
          <a:prstGeom prst="roundRect">
            <a:avLst/>
          </a:prstGeom>
          <a:solidFill>
            <a:srgbClr val="FB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32D2D"/>
                </a:solidFill>
                <a:latin typeface="Poppins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Owner does it 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58584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Profit Plan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58584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58584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8584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No KPIs or reporting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2011680"/>
            <a:ext cx="4297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KEY FINDINGS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267712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2267712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29768" y="2459736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69270" y="2499238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69270" y="2499238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5800" y="2386584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About a dozen calls a month are missed, so prospects go to other firms first.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889504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2889504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29768" y="3081528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469270" y="3121030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9270" y="3121030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85800" y="3008376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Lin handles everything, including an hour a day of template editing.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511296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3511296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29768" y="3703320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469270" y="3742822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69270" y="3742822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85800" y="3630168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No written SOPs or KPIs exist, so no hire has a process to follow.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133087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" y="4133087"/>
            <a:ext cx="36576" cy="557784"/>
          </a:xfrm>
          <a:prstGeom prst="rect">
            <a:avLst/>
          </a:prstGeom>
          <a:solidFill>
            <a:srgbClr val="3F8F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29768" y="4325112"/>
            <a:ext cx="164592" cy="164592"/>
          </a:xfrm>
          <a:prstGeom prst="roundRect">
            <a:avLst/>
          </a:prstGeom>
          <a:solidFill>
            <a:srgbClr val="3F8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465978" y="4415637"/>
            <a:ext cx="32918" cy="31273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98896" y="4367905"/>
            <a:ext cx="62545" cy="79005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85800" y="4251959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12 years in practice and about $260K a year give a solid base to build on.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28032" y="2011680"/>
            <a:ext cx="4041648" cy="67665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828032" y="2011680"/>
            <a:ext cx="36576" cy="67665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2130552"/>
            <a:ext cx="3675887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10912" y="2322576"/>
            <a:ext cx="3675887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28032" y="2871216"/>
            <a:ext cx="40416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COMPETITOR LANDSCAPE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28032" y="3127248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92624" y="3127248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Two Spruce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38544" y="3127248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Deep review base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28431" y="3127248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estate and probate focus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28032" y="3529584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92624" y="3529584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Paul Heatherman, PC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38544" y="3529584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Large 5-star base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28431" y="3529584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in Bend since 1995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28032" y="3931920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92624" y="3931920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Bryant Lovlien &amp; Jarvis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38544" y="3931920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Established firm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28431" y="3931920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top results in all 3 areas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28032" y="4334256"/>
            <a:ext cx="4041648" cy="356616"/>
          </a:xfrm>
          <a:prstGeom prst="rect">
            <a:avLst/>
          </a:prstGeom>
          <a:solidFill>
            <a:srgbClr val="FBEE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828032" y="4334256"/>
            <a:ext cx="36576" cy="35661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92624" y="4334256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B32D2D"/>
                </a:solidFill>
                <a:latin typeface="Poppins"/>
              </a:rPr>
              <a:t>Oregon Legacy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38544" y="4334256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B32D2D"/>
                </a:solidFill>
                <a:latin typeface="Poppins"/>
              </a:rPr>
              <a:t>Very few reviews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28431" y="4334256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← You are here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OREGON LEGACY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8503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for a Self-Managing Firm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212848" cy="228600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2212848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84708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847088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B8CDDD"/>
                </a:solidFill>
                <a:latin typeface="Poppins"/>
              </a:rPr>
              <a:t>All four pillars must work together: lead generation, intake, a self-managing team, and profit. When all four work, Lin can finally run a firm that does not depend on her for everything.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456432"/>
            <a:ext cx="2212848" cy="1124712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21024"/>
            <a:ext cx="184708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43306"/>
                </a:solidFill>
                <a:latin typeface="Poppins"/>
              </a:rPr>
              <a:t>Systems first, then the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33087"/>
            <a:ext cx="18470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F470C"/>
                </a:solidFill>
                <a:latin typeface="Poppins"/>
              </a:rPr>
              <a:t>A firm that runs without you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1005840"/>
            <a:ext cx="2066543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 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Before You Hire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0048" y="1865376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2093976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Weekly group coaching on systems, SOPs, and KPIs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0048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6352" y="2651760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Practice area masterminds with peer attorneys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0048" y="2971800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6352" y="3200400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Build an SOP library for routine firm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0048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16352" y="3749039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Standardize templates to free your daily hour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0048" y="4078224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16352" y="4306824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71800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Move the work out of your head into systems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1005840"/>
            <a:ext cx="2066543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143306"/>
                </a:solidFill>
                <a:latin typeface="Poppins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10912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0912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Stop Losing Cases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1865376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92624" y="2093976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48072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Write a same-day callback standard for every call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92624" y="2651760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48072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Close the receptionist-to-paralegal hand-off gap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2971800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92624" y="3200400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48072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Track missed calls and consults booked weekly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992624" y="3749039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48072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Turn the calls you already get into clients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4078224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92624" y="4306824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48072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Stop missing a dozen calls a month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22592" y="1005840"/>
            <a:ext cx="2066543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87183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87183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87183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22592" y="1865376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68896" y="2093976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24344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Write a hiring blueprint before your first hire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22592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68896" y="2651760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24344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Document roles so others can run the process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22592" y="2971800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68896" y="3200400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24344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Start a monthly KPI and billing dashboard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22592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68896" y="3749039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24344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See what the firm keeps, not just what it bills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22592" y="4078224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68896" y="4306824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24344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Build toward a team of 3-4 attorneys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OREGON LEGACY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8503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143000"/>
            <a:ext cx="358444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ELITE COACH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335024"/>
            <a:ext cx="17373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$3,497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536192"/>
            <a:ext cx="365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536192"/>
            <a:ext cx="1005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stand-alone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783080"/>
            <a:ext cx="35844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Weekly group coaching · Masterminds · Quarterly workshops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3246120"/>
            <a:ext cx="15544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429000"/>
            <a:ext cx="2011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$3,497 /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493008"/>
            <a:ext cx="1463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Flat stand-alone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01184" y="1385316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Missed calls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5584" y="1385316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Coaching builds an intake and follow-up playbook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01184" y="1933956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Admin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5584" y="1933956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SOP and systems coaching to document and delegate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01184" y="2482596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Systems first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5584" y="2482596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Hiring strategy coaching so hires start with a playbook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407408"/>
            <a:ext cx="786384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"A firm where every call is answered, every process is written down, and the work keeps moving whether or not I am at my desk."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