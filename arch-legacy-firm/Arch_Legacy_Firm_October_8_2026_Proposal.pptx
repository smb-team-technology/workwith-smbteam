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ARCH LEGACY 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63093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Arch Legacy Firm Stands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4848" y="164592"/>
            <a:ext cx="2066543" cy="512064"/>
          </a:xfrm>
          <a:prstGeom prst="rect">
            <a:avLst/>
          </a:prstGeom>
          <a:solidFill>
            <a:srgbClr val="0B4C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31152" y="210312"/>
            <a:ext cx="38404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775" y="274320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69CD2B"/>
                </a:solidFill>
                <a:latin typeface="Poppins"/>
              </a:rPr>
              <a:t>COMPETITIVE 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429768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9CC0D6"/>
                </a:solidFill>
                <a:latin typeface="Poppins"/>
              </a:rPr>
              <a:t>Score out of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3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Lead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3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3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3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LSAs running, in-house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0592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0592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Intake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96896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896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Manual handoffs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36008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2312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Growth means hiring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8584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Profit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58584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8584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Margin per matter unclear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01168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KEY FINDINGS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267712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267712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9768" y="2459736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2386584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Growth is met by hiring, and a third office plus five attorneys will add more.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889504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2889504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9768" y="3081528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5800" y="3008376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Recap emails, files, and handoffs still run on people across about 60 new matters a month.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511296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3511296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9768" y="3703320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85800" y="3630168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Business and tax planning stays on hold because the owner is out of bandwidth.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133087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4133087"/>
            <a:ext cx="36576" cy="557784"/>
          </a:xfrm>
          <a:prstGeom prst="rect">
            <a:avLst/>
          </a:prstGeom>
          <a:solidFill>
            <a:srgbClr val="3F8F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29768" y="4325112"/>
            <a:ext cx="164592" cy="164592"/>
          </a:xfrm>
          <a:prstGeom prst="roundRect">
            <a:avLst/>
          </a:prstGeom>
          <a:solidFill>
            <a:srgbClr val="3F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65978" y="4415637"/>
            <a:ext cx="32918" cy="31273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98896" y="4367905"/>
            <a:ext cx="62545" cy="79005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5800" y="4251959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Strong demand: LSAs running, an active blog, and a large review base.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28032" y="2011680"/>
            <a:ext cx="4041648" cy="67665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28032" y="2011680"/>
            <a:ext cx="36576" cy="67665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2130552"/>
            <a:ext cx="3675887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10912" y="2322576"/>
            <a:ext cx="3675887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4: Small Business Manager  →  Goal: Stage 6, Law Firm Owner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28032" y="2871216"/>
            <a:ext cx="40416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COMPETITOR LANDSCAPE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28032" y="3127248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92624" y="3127248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Oconee Law Firm, P.C.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8544" y="3127248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No reviews found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28431" y="3127248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Limited digital footprint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28032" y="3529584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92624" y="3529584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Epps, Holloway, DeLoach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38544" y="3529584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No count found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28431" y="3529584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Established multi-attorney firm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28032" y="3931920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92624" y="3931920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Robert W. Hughes &amp; Assoc.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38544" y="3931920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No count found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28431" y="3931920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Paid FindLaw placement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28032" y="4334256"/>
            <a:ext cx="4041648" cy="356616"/>
          </a:xfrm>
          <a:prstGeom prst="rect">
            <a:avLst/>
          </a:prstGeom>
          <a:solidFill>
            <a:srgbClr val="FB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828032" y="4334256"/>
            <a:ext cx="36576" cy="35661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92624" y="4334256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B32D2D"/>
                </a:solidFill>
                <a:latin typeface="Poppins"/>
              </a:rPr>
              <a:t>Arch Legacy Firm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38544" y="4334256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B32D2D"/>
                </a:solidFill>
                <a:latin typeface="Poppins"/>
              </a:rPr>
              <a:t>Large review base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28431" y="4334256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← You are here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ARCH LEGACY 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Grow Without More Hiring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12848" cy="228600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212848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84708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847088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B8CDDD"/>
                </a:solidFill>
                <a:latin typeface="Poppins"/>
              </a:rPr>
              <a:t>Lead generation, intake, team, and profit must work together. When all four pillars work, you can grow into business and tax planning and keep your team's balance.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56432"/>
            <a:ext cx="2212848" cy="1124712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21024"/>
            <a:ext cx="184708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43306"/>
                </a:solidFill>
                <a:latin typeface="Poppins"/>
              </a:rPr>
              <a:t>$3M → business &amp; tax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33087"/>
            <a:ext cx="18470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F470C"/>
                </a:solidFill>
                <a:latin typeface="Poppins"/>
              </a:rPr>
              <a:t>Grow without hiring, keep your team balanced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005840"/>
            <a:ext cx="2066543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Put AI to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Across the Firm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0048" y="1865376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2093976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Lead a secure, firmwide AI rollout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6352" y="265176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Automate recap emails and file organization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971800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6352" y="320040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Automate coordinator-to-paralegal handoffs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16352" y="3749039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Train the whole team in weekly sessions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048" y="4078224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16352" y="4306824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Quit hiring for every new wave of growth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1005840"/>
            <a:ext cx="2066543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143306"/>
                </a:solidFill>
                <a:latin typeface="Poppin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Manual Handoffs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1865376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92624" y="2093976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8072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Upgrade the after-hours caller experience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92624" y="265176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48072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Cut the hours each matter takes to move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2971800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92624" y="320040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48072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Free attorneys from admin follow-up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92624" y="3749039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8072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Give every caller a great first impression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078224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92624" y="4306824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8072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Handle 60 new matters a month with ease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22592" y="1005840"/>
            <a:ext cx="2066543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87183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7183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7183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22592" y="1865376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68896" y="2093976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24344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Build an AI knowledge base from your SOPs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22592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68896" y="265176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24344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Launch a third office on your own systems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22592" y="2971800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68896" y="320040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24344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Track cost per matter with clear reporting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22592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8896" y="3749039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24344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Fund business and tax planning from savings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22592" y="4078224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68896" y="4306824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24344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Give your team its time and balance back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ARCH LEGACY 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4300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FRACTIONAL CTO — LEVEL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33502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53619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3619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$5,797/mo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78308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2 monthly 1:1s · 4 skills · 2 custom automations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19456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AI WORKFORCE PRO — 20 SEATS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38658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$3,397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58775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58775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283464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Secure firmwide AI workspace · weekly implementation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246120"/>
            <a:ext cx="15544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429000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$8,394 /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493008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$800/mo by bundling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4" y="1385316"/>
            <a:ext cx="685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0992" y="1385316"/>
            <a:ext cx="3063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workspace set up for your team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180136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00016" y="188366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1851660"/>
            <a:ext cx="685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0992" y="1851660"/>
            <a:ext cx="3063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First skills live: recaps and file organization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2267712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0016" y="235000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1184" y="2318004"/>
            <a:ext cx="685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0992" y="2318004"/>
            <a:ext cx="3063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Weekly AI sessions begin with your team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01184" y="2784348"/>
            <a:ext cx="685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50992" y="2784348"/>
            <a:ext cx="3063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First custom automation: task handoffs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2004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00016" y="32826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01184" y="3250692"/>
            <a:ext cx="685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50992" y="3250692"/>
            <a:ext cx="3063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Knowledge base and after-hours plan underway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407408"/>
            <a:ext cx="7863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"A firm that runs on systems, so we can quit hiring for a hot minute and grow into business and tax without losing our balance."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