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85953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LAW FIRM GROWTH AUDIT  ·  UMINA LEGAL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310896"/>
            <a:ext cx="85953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Where Umina Legal Stands Today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46304" cy="3867912"/>
          </a:xfrm>
          <a:prstGeom prst="rect">
            <a:avLst/>
          </a:prstGeom>
          <a:solidFill>
            <a:srgbClr val="F5C4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1005840"/>
            <a:ext cx="1298448" cy="841248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56032" y="1005840"/>
            <a:ext cx="1298448" cy="56692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" y="1572768"/>
            <a:ext cx="1298448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600" b="1" i="0">
                <a:solidFill>
                  <a:srgbClr val="FFFFFF"/>
                </a:solidFill>
                <a:latin typeface="Calibri"/>
              </a:rPr>
              <a:t>COMPETITIVE URGENCY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2496" y="1005840"/>
            <a:ext cx="804672" cy="164592"/>
          </a:xfrm>
          <a:prstGeom prst="rect">
            <a:avLst/>
          </a:prstGeom>
          <a:solidFill>
            <a:srgbClr val="D9770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682496" y="1170432"/>
            <a:ext cx="804672" cy="676656"/>
          </a:xfrm>
          <a:prstGeom prst="rect">
            <a:avLst/>
          </a:prstGeom>
          <a:solidFill>
            <a:srgbClr val="1629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0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Lead Generation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D97706"/>
                </a:solidFill>
                <a:latin typeface="Calibri"/>
              </a:rPr>
              <a:t>AMBER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Calibri"/>
              </a:rPr>
              <a:t>Single paid channel only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42032" y="1005840"/>
            <a:ext cx="804672" cy="164592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542032" y="1170432"/>
            <a:ext cx="804672" cy="676656"/>
          </a:xfrm>
          <a:prstGeom prst="rect">
            <a:avLst/>
          </a:prstGeom>
          <a:solidFill>
            <a:srgbClr val="1629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96896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Intake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96896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C0392B"/>
                </a:solidFill>
                <a:latin typeface="Calibri"/>
              </a:rPr>
              <a:t>CRITICAL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96896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Calibri"/>
              </a:rPr>
              <a:t>Ryan handles all intake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01568" y="1005840"/>
            <a:ext cx="804672" cy="164592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01568" y="1170432"/>
            <a:ext cx="804672" cy="676656"/>
          </a:xfrm>
          <a:prstGeom prst="rect">
            <a:avLst/>
          </a:prstGeom>
          <a:solidFill>
            <a:srgbClr val="1629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56432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Team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56432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C0392B"/>
                </a:solidFill>
                <a:latin typeface="Calibri"/>
              </a:rPr>
              <a:t>CRITICAL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56432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Calibri"/>
              </a:rPr>
              <a:t>No management layer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61104" y="1005840"/>
            <a:ext cx="804672" cy="164592"/>
          </a:xfrm>
          <a:prstGeom prst="rect">
            <a:avLst/>
          </a:prstGeom>
          <a:solidFill>
            <a:srgbClr val="D9770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61104" y="1170432"/>
            <a:ext cx="804672" cy="676656"/>
          </a:xfrm>
          <a:prstGeom prst="rect">
            <a:avLst/>
          </a:prstGeom>
          <a:solidFill>
            <a:srgbClr val="1629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15968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Profit Plan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15968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D97706"/>
                </a:solidFill>
                <a:latin typeface="Calibri"/>
              </a:rPr>
              <a:t>AMBER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15968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Calibri"/>
              </a:rPr>
              <a:t>No financial visibility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6032" y="1956816"/>
            <a:ext cx="484632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KEY FINDINGS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6032" y="2212848"/>
            <a:ext cx="4846320" cy="566928"/>
          </a:xfrm>
          <a:prstGeom prst="rect">
            <a:avLst/>
          </a:prstGeom>
          <a:solidFill>
            <a:srgbClr val="2C101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2386584"/>
            <a:ext cx="219456" cy="21945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2368296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" y="2286000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F0BABA"/>
                </a:solidFill>
                <a:latin typeface="Calibri"/>
              </a:rPr>
              <a:t>Intake bottleneck — Ryan answers every call; growth multiplies his load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6032" y="2834640"/>
            <a:ext cx="4846320" cy="566928"/>
          </a:xfrm>
          <a:prstGeom prst="rect">
            <a:avLst/>
          </a:prstGeom>
          <a:solidFill>
            <a:srgbClr val="2C101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65760" y="3008376"/>
            <a:ext cx="219456" cy="21945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2990088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" y="2907792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F0BABA"/>
                </a:solidFill>
                <a:latin typeface="Calibri"/>
              </a:rPr>
              <a:t>No CRM, weak bookkeeping — $100K/mo with zero financial visibility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6032" y="3456432"/>
            <a:ext cx="4846320" cy="566928"/>
          </a:xfrm>
          <a:prstGeom prst="rect">
            <a:avLst/>
          </a:prstGeom>
          <a:solidFill>
            <a:srgbClr val="2C101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3630168"/>
            <a:ext cx="219456" cy="21945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" y="3611879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6656" y="3529584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F0BABA"/>
                </a:solidFill>
                <a:latin typeface="Calibri"/>
              </a:rPr>
              <a:t>Competitors have 20+ Avvo reviews; Umina Legal not in main rankings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6032" y="4078224"/>
            <a:ext cx="4846320" cy="566928"/>
          </a:xfrm>
          <a:prstGeom prst="rect">
            <a:avLst/>
          </a:prstGeom>
          <a:solidFill>
            <a:srgbClr val="0C281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5760" y="4251960"/>
            <a:ext cx="219456" cy="219456"/>
          </a:xfrm>
          <a:prstGeom prst="rect">
            <a:avLst/>
          </a:prstGeom>
          <a:solidFill>
            <a:srgbClr val="16A34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5760" y="4233672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6656" y="4151376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86EFAC"/>
                </a:solidFill>
                <a:latin typeface="Calibri"/>
              </a:rPr>
              <a:t>$100K/mo from one Google Ads campaign — strong paid foundation to build on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257800" y="960120"/>
            <a:ext cx="3886200" cy="3867912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257800" y="1024128"/>
            <a:ext cx="3886200" cy="694944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257800" y="1024128"/>
            <a:ext cx="128016" cy="694944"/>
          </a:xfrm>
          <a:prstGeom prst="rect">
            <a:avLst/>
          </a:prstGeom>
          <a:solidFill>
            <a:srgbClr val="F5C4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486400" y="1042415"/>
            <a:ext cx="34747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YOU ARE HERE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0" y="1243584"/>
            <a:ext cx="3474720" cy="40233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Stage 4: Small Business Manager  →  Goal: Stage 6, Law Firm Owner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394960" y="1920240"/>
            <a:ext cx="356616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64748B"/>
                </a:solidFill>
                <a:latin typeface="Calibri"/>
              </a:rPr>
              <a:t>COMPETITOR LANDSCAPE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257800" y="2176272"/>
            <a:ext cx="3886200" cy="310896"/>
          </a:xfrm>
          <a:prstGeom prst="rect">
            <a:avLst/>
          </a:prstGeom>
          <a:solidFill>
            <a:srgbClr val="F0F4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13248" y="2221991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Slavey &amp; Shumaker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60336" y="2221991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6A34A"/>
                </a:solidFill>
                <a:latin typeface="Calibri"/>
              </a:rPr>
              <a:t>21 Avvo reviews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93024" y="2240279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Calibri"/>
              </a:rPr>
              <a:t>10.0 rating · top Morgantown ranking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257800" y="2523744"/>
            <a:ext cx="3886200" cy="31089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13248" y="2569463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The Moore Law Firm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260336" y="2569463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6A34A"/>
                </a:solidFill>
                <a:latin typeface="Calibri"/>
              </a:rPr>
              <a:t>20 Avvo reviews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193024" y="2587751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Calibri"/>
              </a:rPr>
              <a:t>9.1 rating · consistent directory presence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257800" y="2871216"/>
            <a:ext cx="3886200" cy="310896"/>
          </a:xfrm>
          <a:prstGeom prst="rect">
            <a:avLst/>
          </a:prstGeom>
          <a:solidFill>
            <a:srgbClr val="F0F4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413248" y="2916936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Candace Ogle Law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260336" y="2916936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6A34A"/>
                </a:solidFill>
                <a:latin typeface="Calibri"/>
              </a:rPr>
              <a:t>8 Avvo reviews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193024" y="2935224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Calibri"/>
              </a:rPr>
              <a:t>7.6 rating · Yellow Pages + Avvo listed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257800" y="3218688"/>
            <a:ext cx="3886200" cy="310896"/>
          </a:xfrm>
          <a:prstGeom prst="rect">
            <a:avLst/>
          </a:prstGeom>
          <a:solidFill>
            <a:srgbClr val="FFF0F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257800" y="3218688"/>
            <a:ext cx="91440" cy="31089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13248" y="3264408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C0392B"/>
                </a:solidFill>
                <a:latin typeface="Calibri"/>
              </a:rPr>
              <a:t>Umina Legal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60336" y="3264408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C0392B"/>
                </a:solidFill>
                <a:latin typeface="Calibri"/>
              </a:rPr>
              <a:t>Not ranked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193024" y="3282696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Calibri"/>
              </a:rPr>
              <a:t>← Not in Avvo rankings</a:t>
            </a:r>
          </a:p>
        </p:txBody>
      </p:sp>
      <p:sp>
        <p:nvSpPr>
          <p:cNvPr id="69" name="Rectangle 68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smb_te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4837176"/>
            <a:ext cx="1170432" cy="237744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1609344" y="4837176"/>
            <a:ext cx="5303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5A7A9A"/>
                </a:solidFill>
                <a:latin typeface="Calibri"/>
              </a:rPr>
              <a:t>CONFIDENTIAL  ·  Prepared by Nick Holderman | SMB Team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38160" y="4837176"/>
            <a:ext cx="786384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800" b="0" i="0">
                <a:solidFill>
                  <a:srgbClr val="5A7A9A"/>
                </a:solidFill>
                <a:latin typeface="Calibri"/>
              </a:rPr>
              <a:t>1 /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85953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LAW FIRM GROWTH AUDIT  ·  UMINA LEGAL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310896"/>
            <a:ext cx="85953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Your Growth Plan: 3 Priorities to Reach $2M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1024128"/>
            <a:ext cx="2487168" cy="363931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" y="1042415"/>
            <a:ext cx="2487168" cy="18288"/>
          </a:xfrm>
          <a:prstGeom prst="rect">
            <a:avLst/>
          </a:prstGeom>
          <a:solidFill>
            <a:srgbClr val="F5C4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8" y="1097280"/>
            <a:ext cx="2267712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THE SMB TEAM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335024"/>
            <a:ext cx="2267712" cy="15727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0">
                <a:solidFill>
                  <a:srgbClr val="A8BFDA"/>
                </a:solidFill>
                <a:latin typeface="Calibri"/>
              </a:rPr>
              <a:t>The SMB Growth Model builds four pillars at once: Lead Generation, Intake, Team, and Profit. When all four work together, Ryan can finally step back from the day-to-day — and the firm generates $2M without generating burnout.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" y="2999232"/>
            <a:ext cx="2487168" cy="749808"/>
          </a:xfrm>
          <a:prstGeom prst="rect">
            <a:avLst/>
          </a:prstGeom>
          <a:solidFill>
            <a:srgbClr val="F5C4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3017520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0D1F3C"/>
                </a:solidFill>
                <a:latin typeface="Calibri"/>
              </a:rPr>
              <a:t>$1.2M → $2M annual revenue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" y="3291840"/>
            <a:ext cx="2286000" cy="40233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0">
                <a:solidFill>
                  <a:srgbClr val="0D1F3C"/>
                </a:solidFill>
                <a:latin typeface="Calibri"/>
              </a:rPr>
              <a:t>Step back. Work 30 hrs. Firm runs itself.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16352" y="1024128"/>
            <a:ext cx="2048256" cy="841248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26080" y="1042415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1316736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Build the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1554480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Marketing Engine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16352" y="1865376"/>
            <a:ext cx="2048256" cy="566928"/>
          </a:xfrm>
          <a:prstGeom prst="rect">
            <a:avLst/>
          </a:prstGeom>
          <a:solidFill>
            <a:srgbClr val="EFF6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07792" y="2084832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54096" y="1920240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Expand Google Ads: professional managed campaigns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16352" y="2468880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907792" y="2688336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54096" y="2523744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Launch satellite markets: Parkersburg, Charleston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16352" y="3072384"/>
            <a:ext cx="2048256" cy="566928"/>
          </a:xfrm>
          <a:prstGeom prst="rect">
            <a:avLst/>
          </a:prstGeom>
          <a:solidFill>
            <a:srgbClr val="EFF6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907792" y="3291839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54096" y="3127248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Get Google Screened — own the top LSA placement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816352" y="3675887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907792" y="3895344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54096" y="3730751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Fix mobile PageSpeed to convert paid traffic better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16352" y="4279392"/>
            <a:ext cx="2048256" cy="566928"/>
          </a:xfrm>
          <a:prstGeom prst="rect">
            <a:avLst/>
          </a:prstGeom>
          <a:solidFill>
            <a:srgbClr val="EFF6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907792" y="4498848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54096" y="4334255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Turn Google into a pipeline that runs without you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937760" y="1024128"/>
            <a:ext cx="2048256" cy="841248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47488" y="1042415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47488" y="1316736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Fix Intake &amp;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47488" y="1554480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Stop Losing Cases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37760" y="1865376"/>
            <a:ext cx="2048256" cy="566928"/>
          </a:xfrm>
          <a:prstGeom prst="rect">
            <a:avLst/>
          </a:prstGeom>
          <a:solidFill>
            <a:srgbClr val="F0FD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0" y="2084832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75504" y="1920240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Hire + train a dedicated intake coordinator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37760" y="2468880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029200" y="2688336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175504" y="2523744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Rebuild Practice Panther with clean CRM tracking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937760" y="3072384"/>
            <a:ext cx="2048256" cy="566928"/>
          </a:xfrm>
          <a:prstGeom prst="rect">
            <a:avLst/>
          </a:prstGeom>
          <a:solidFill>
            <a:srgbClr val="F0FD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0" y="3291839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175504" y="3127248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Define intake script to Ryan's exact standards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37760" y="3675887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029200" y="3895344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175504" y="3730751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Add after-hours coverage — no lead hits voicemail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937760" y="4279392"/>
            <a:ext cx="2048256" cy="566928"/>
          </a:xfrm>
          <a:prstGeom prst="rect">
            <a:avLst/>
          </a:prstGeom>
          <a:solidFill>
            <a:srgbClr val="F0FD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029200" y="4498848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175504" y="4334255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Convert more leads from the $3K/mo already spent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059168" y="1024128"/>
            <a:ext cx="2048256" cy="841248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168896" y="1042415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68896" y="1316736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Install Team &amp;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168896" y="1554480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Profit Systems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59168" y="1865376"/>
            <a:ext cx="2048256" cy="566928"/>
          </a:xfrm>
          <a:prstGeom prst="rect">
            <a:avLst/>
          </a:prstGeom>
          <a:solidFill>
            <a:srgbClr val="F5F3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150607" y="2084832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296912" y="1920240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Engage bookkeeping for monthly P&amp;L visibility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059168" y="2468880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150607" y="2688336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296912" y="2523744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Build role clarity + accountability for the team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059168" y="3072384"/>
            <a:ext cx="2048256" cy="566928"/>
          </a:xfrm>
          <a:prstGeom prst="rect">
            <a:avLst/>
          </a:prstGeom>
          <a:solidFill>
            <a:srgbClr val="F5F3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150607" y="3291839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296912" y="3127248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Track cost-per-acquisition from Google Ads spend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059168" y="3675887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150607" y="3895344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296912" y="3730751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Create the team structure that lets Ryan step back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59168" y="4279392"/>
            <a:ext cx="2048256" cy="566928"/>
          </a:xfrm>
          <a:prstGeom prst="rect">
            <a:avLst/>
          </a:prstGeom>
          <a:solidFill>
            <a:srgbClr val="F5F3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50607" y="4498848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296912" y="4334255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Plan the 30-hour week before $2M — not after it</a:t>
            </a:r>
          </a:p>
        </p:txBody>
      </p:sp>
      <p:sp>
        <p:nvSpPr>
          <p:cNvPr id="69" name="Rectangle 68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smb_te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4837176"/>
            <a:ext cx="1170432" cy="237744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1609344" y="4837176"/>
            <a:ext cx="5303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5A7A9A"/>
                </a:solidFill>
                <a:latin typeface="Calibri"/>
              </a:rPr>
              <a:t>CONFIDENTIAL  ·  Prepared by Nick Holderman | SMB Team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38160" y="4837176"/>
            <a:ext cx="786384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800" b="0" i="0">
                <a:solidFill>
                  <a:srgbClr val="5A7A9A"/>
                </a:solidFill>
                <a:latin typeface="Calibri"/>
              </a:rPr>
              <a:t>2 /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85953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LAW FIRM GROWTH AUDIT  ·  UMINA LEGAL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310896"/>
            <a:ext cx="85953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Your Investment &amp; What Happens Next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" y="1024128"/>
            <a:ext cx="4133087" cy="10241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" y="1024128"/>
            <a:ext cx="182880" cy="1024128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115568"/>
            <a:ext cx="380390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1D4ED8"/>
                </a:solidFill>
                <a:latin typeface="Calibri"/>
              </a:rPr>
              <a:t>FULL SERVICE MARKETING — GROWTH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298448"/>
            <a:ext cx="182880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200" b="1" i="0">
                <a:solidFill>
                  <a:srgbClr val="0D1F3C"/>
                </a:solidFill>
                <a:latin typeface="Calibri"/>
              </a:rPr>
              <a:t>$6,397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65376" y="1408176"/>
            <a:ext cx="420624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/mo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22576" y="1426464"/>
            <a:ext cx="91440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$6,997/mo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22576" y="1527048"/>
            <a:ext cx="804672" cy="9144"/>
          </a:xfrm>
          <a:prstGeom prst="rect">
            <a:avLst/>
          </a:prstGeom>
          <a:solidFill>
            <a:srgbClr val="33415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1792224"/>
            <a:ext cx="380390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Google Ads · LSA · Website · Local SEO · Meta retargeting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1168" y="2139696"/>
            <a:ext cx="4133087" cy="10241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1168" y="2139696"/>
            <a:ext cx="182880" cy="1024128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2231136"/>
            <a:ext cx="380390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6D28D9"/>
                </a:solidFill>
                <a:latin typeface="Calibri"/>
              </a:rPr>
              <a:t>ELITE COACH PLUS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" y="2414015"/>
            <a:ext cx="182880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200" b="1" i="0">
                <a:solidFill>
                  <a:srgbClr val="0D1F3C"/>
                </a:solidFill>
                <a:latin typeface="Calibri"/>
              </a:rPr>
              <a:t>$3,200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65376" y="2523744"/>
            <a:ext cx="420624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/mo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22576" y="2542032"/>
            <a:ext cx="91440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$3,497/mo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22576" y="2642615"/>
            <a:ext cx="804672" cy="9144"/>
          </a:xfrm>
          <a:prstGeom prst="rect">
            <a:avLst/>
          </a:prstGeom>
          <a:solidFill>
            <a:srgbClr val="33415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" y="2907791"/>
            <a:ext cx="380390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Weekly coaching · Intake framework · Masterminds · Workshops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1168" y="3255264"/>
            <a:ext cx="4133087" cy="658368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4048" y="3291840"/>
            <a:ext cx="164592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7CA0C0"/>
                </a:solidFill>
                <a:latin typeface="Calibri"/>
              </a:rPr>
              <a:t>BUNDLE TOTAL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" y="3493008"/>
            <a:ext cx="21945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>
                <a:solidFill>
                  <a:srgbClr val="F5C400"/>
                </a:solidFill>
                <a:latin typeface="Calibri"/>
              </a:rPr>
              <a:t>$9,597 / mo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70048" y="3493008"/>
            <a:ext cx="17373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7CA0C0"/>
                </a:solidFill>
                <a:latin typeface="Calibri"/>
              </a:rPr>
              <a:t>Save $897/mo by bundling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01168" y="3968496"/>
            <a:ext cx="4133087" cy="402336"/>
          </a:xfrm>
          <a:prstGeom prst="rect">
            <a:avLst/>
          </a:prstGeom>
          <a:solidFill>
            <a:srgbClr val="EEF2F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9184" y="3995928"/>
            <a:ext cx="393192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+ Recommended ad spend: $7,500–$25,000/mo paid directly to Google/Meta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35424" y="1024128"/>
            <a:ext cx="4407408" cy="1316736"/>
          </a:xfrm>
          <a:prstGeom prst="rect">
            <a:avLst/>
          </a:prstGeom>
          <a:solidFill>
            <a:srgbClr val="ECFDF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00016" y="1078992"/>
            <a:ext cx="4133087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65F46"/>
                </a:solidFill>
                <a:latin typeface="Calibri"/>
              </a:rPr>
              <a:t>PROJECTED RETURN ON AD SPEND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00016" y="1335024"/>
            <a:ext cx="19202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1E293B"/>
                </a:solidFill>
                <a:latin typeface="Calibri"/>
              </a:rPr>
              <a:t>Average case value: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9984" y="1335024"/>
            <a:ext cx="21031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0">
                <a:solidFill>
                  <a:srgbClr val="065F46"/>
                </a:solidFill>
                <a:latin typeface="Calibri"/>
              </a:rPr>
              <a:t>~$7,000 (est.)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45152" y="1609344"/>
            <a:ext cx="4187952" cy="310896"/>
          </a:xfrm>
          <a:prstGeom prst="rect">
            <a:avLst/>
          </a:prstGeom>
          <a:solidFill>
            <a:srgbClr val="D1FAE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00016" y="1645920"/>
            <a:ext cx="19202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1E293B"/>
                </a:solidFill>
                <a:latin typeface="Calibri"/>
              </a:rPr>
              <a:t>Conservative  (2–3 cases/mo):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29984" y="1645920"/>
            <a:ext cx="21031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065F46"/>
                </a:solidFill>
                <a:latin typeface="Calibri"/>
              </a:rPr>
              <a:t>~$17,500 revenue · ~2× ROAS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00016" y="1956816"/>
            <a:ext cx="19202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1E293B"/>
                </a:solidFill>
                <a:latin typeface="Calibri"/>
              </a:rPr>
              <a:t>Aggressive  (9–10 cases/mo):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29984" y="1956816"/>
            <a:ext cx="21031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065F46"/>
                </a:solidFill>
                <a:latin typeface="Calibri"/>
              </a:rPr>
              <a:t>~$63,000 revenue · ~2.5× ROAS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35424" y="2468880"/>
            <a:ext cx="4407408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WHAT HAPPENS IN THE FIRST 90 DAYS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90288" y="2724912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37760" y="2734056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Day 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15584" y="2734056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Google Ads expansion + satellite markets scoped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90288" y="3081528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37760" y="3090672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Day 14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15584" y="3090672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Satellite market campaigns live; website work begins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90288" y="3438144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937760" y="3447287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Week 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15584" y="3447287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Google Screened verification process initiated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90288" y="3794760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37760" y="3803904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Week 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15584" y="3803904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Intake coordinator job description + hiring begins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90288" y="4151376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937760" y="4160520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Month 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815584" y="4160520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P&amp;L baseline set; first monthly financial review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4425696"/>
            <a:ext cx="9144000" cy="402336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74320" y="4425696"/>
            <a:ext cx="8595360" cy="40233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0" i="1">
                <a:solidFill>
                  <a:srgbClr val="8BADD0"/>
                </a:solidFill>
                <a:latin typeface="Calibri"/>
              </a:rPr>
              <a:t>"I want to shift from operator to owner — and know my firm is running, even when I'm not in it."</a:t>
            </a:r>
          </a:p>
        </p:txBody>
      </p:sp>
      <p:sp>
        <p:nvSpPr>
          <p:cNvPr id="54" name="Rectangle 53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smb_te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4837176"/>
            <a:ext cx="1170432" cy="237744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609344" y="4837176"/>
            <a:ext cx="5303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5A7A9A"/>
                </a:solidFill>
                <a:latin typeface="Calibri"/>
              </a:rPr>
              <a:t>CONFIDENTIAL  ·  Prepared by Nick Holderman | SMB Team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38160" y="4837176"/>
            <a:ext cx="786384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800" b="0" i="0">
                <a:solidFill>
                  <a:srgbClr val="5A7A9A"/>
                </a:solidFill>
                <a:latin typeface="Calibri"/>
              </a:rPr>
              <a:t>3 /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