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96012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2608" y="91440"/>
            <a:ext cx="8595360" cy="201168"/>
          </a:xfrm>
          <a:prstGeom prst="rect">
            <a:avLst/>
          </a:prstGeom>
          <a:noFill/>
        </p:spPr>
        <p:txBody>
          <a:bodyPr wrap="square"/>
          <a:lstStyle/>
          <a:p>
            <a:pPr algn="l"/>
            <a:r>
              <a:rPr sz="800" b="1" i="0">
                <a:solidFill>
                  <a:srgbClr val="69CD2B"/>
                </a:solidFill>
                <a:latin typeface="Poppins"/>
              </a:rPr>
              <a:t>LAW FIRM GROWTH AUDIT  ·  BW LAW, PLLC</a:t>
            </a:r>
          </a:p>
        </p:txBody>
      </p:sp>
      <p:sp>
        <p:nvSpPr>
          <p:cNvPr id="4" name="TextBox 3"/>
          <p:cNvSpPr txBox="1"/>
          <p:nvPr/>
        </p:nvSpPr>
        <p:spPr>
          <a:xfrm>
            <a:off x="292608" y="310896"/>
            <a:ext cx="8595360" cy="548640"/>
          </a:xfrm>
          <a:prstGeom prst="rect">
            <a:avLst/>
          </a:prstGeom>
          <a:noFill/>
        </p:spPr>
        <p:txBody>
          <a:bodyPr wrap="square"/>
          <a:lstStyle/>
          <a:p>
            <a:pPr algn="l"/>
            <a:r>
              <a:rPr sz="2400" b="1" i="0">
                <a:solidFill>
                  <a:srgbClr val="FFFFFF"/>
                </a:solidFill>
                <a:latin typeface="Poppins"/>
              </a:rPr>
              <a:t>Where BW Law, PLLC Stands Today</a:t>
            </a:r>
          </a:p>
        </p:txBody>
      </p:sp>
      <p:sp>
        <p:nvSpPr>
          <p:cNvPr id="5" name="Rectangle 4"/>
          <p:cNvSpPr/>
          <p:nvPr/>
        </p:nvSpPr>
        <p:spPr>
          <a:xfrm>
            <a:off x="0" y="960120"/>
            <a:ext cx="146304" cy="3867912"/>
          </a:xfrm>
          <a:prstGeom prst="rect">
            <a:avLst/>
          </a:prstGeom>
          <a:solidFill>
            <a:srgbClr val="0091C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6032" y="1005840"/>
            <a:ext cx="1298448" cy="841248"/>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1005840"/>
            <a:ext cx="1298448" cy="566928"/>
          </a:xfrm>
          <a:prstGeom prst="rect">
            <a:avLst/>
          </a:prstGeom>
          <a:noFill/>
        </p:spPr>
        <p:txBody>
          <a:bodyPr wrap="square"/>
          <a:lstStyle/>
          <a:p>
            <a:pPr algn="ctr"/>
            <a:r>
              <a:rPr sz="2800" b="1" i="0">
                <a:solidFill>
                  <a:srgbClr val="FFFFFF"/>
                </a:solidFill>
                <a:latin typeface="Poppins"/>
              </a:rPr>
              <a:t>5</a:t>
            </a:r>
          </a:p>
        </p:txBody>
      </p:sp>
      <p:sp>
        <p:nvSpPr>
          <p:cNvPr id="8" name="TextBox 7"/>
          <p:cNvSpPr txBox="1"/>
          <p:nvPr/>
        </p:nvSpPr>
        <p:spPr>
          <a:xfrm>
            <a:off x="256032" y="1572768"/>
            <a:ext cx="1298448" cy="274320"/>
          </a:xfrm>
          <a:prstGeom prst="rect">
            <a:avLst/>
          </a:prstGeom>
          <a:noFill/>
        </p:spPr>
        <p:txBody>
          <a:bodyPr wrap="square"/>
          <a:lstStyle/>
          <a:p>
            <a:pPr algn="ctr"/>
            <a:r>
              <a:rPr sz="600" b="1" i="0">
                <a:solidFill>
                  <a:srgbClr val="FFFFFF"/>
                </a:solidFill>
                <a:latin typeface="Poppins"/>
              </a:rPr>
              <a:t>COMPETITIVE URGENCY</a:t>
            </a:r>
          </a:p>
        </p:txBody>
      </p:sp>
      <p:sp>
        <p:nvSpPr>
          <p:cNvPr id="9" name="Rectangle 8"/>
          <p:cNvSpPr/>
          <p:nvPr/>
        </p:nvSpPr>
        <p:spPr>
          <a:xfrm>
            <a:off x="1682496" y="1005840"/>
            <a:ext cx="804672" cy="164592"/>
          </a:xfrm>
          <a:prstGeom prst="rect">
            <a:avLst/>
          </a:prstGeom>
          <a:solidFill>
            <a:srgbClr val="D9770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82496" y="1170432"/>
            <a:ext cx="804672" cy="676656"/>
          </a:xfrm>
          <a:prstGeom prst="rect">
            <a:avLst/>
          </a:prstGeom>
          <a:solidFill>
            <a:srgbClr val="26587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37360" y="1188720"/>
            <a:ext cx="694944" cy="237744"/>
          </a:xfrm>
          <a:prstGeom prst="rect">
            <a:avLst/>
          </a:prstGeom>
          <a:noFill/>
        </p:spPr>
        <p:txBody>
          <a:bodyPr wrap="square"/>
          <a:lstStyle/>
          <a:p>
            <a:pPr algn="l"/>
            <a:r>
              <a:rPr sz="800" b="1" i="0">
                <a:solidFill>
                  <a:srgbClr val="FFFFFF"/>
                </a:solidFill>
                <a:latin typeface="Poppins"/>
              </a:rPr>
              <a:t>Lead Generation</a:t>
            </a:r>
          </a:p>
        </p:txBody>
      </p:sp>
      <p:sp>
        <p:nvSpPr>
          <p:cNvPr id="12" name="TextBox 11"/>
          <p:cNvSpPr txBox="1"/>
          <p:nvPr/>
        </p:nvSpPr>
        <p:spPr>
          <a:xfrm>
            <a:off x="1737360" y="1417320"/>
            <a:ext cx="694944" cy="182880"/>
          </a:xfrm>
          <a:prstGeom prst="rect">
            <a:avLst/>
          </a:prstGeom>
          <a:noFill/>
        </p:spPr>
        <p:txBody>
          <a:bodyPr wrap="square"/>
          <a:lstStyle/>
          <a:p>
            <a:pPr algn="l"/>
            <a:r>
              <a:rPr sz="700" b="1" i="0">
                <a:solidFill>
                  <a:srgbClr val="D97706"/>
                </a:solidFill>
                <a:latin typeface="Poppins"/>
              </a:rPr>
              <a:t>AMBER</a:t>
            </a:r>
          </a:p>
        </p:txBody>
      </p:sp>
      <p:sp>
        <p:nvSpPr>
          <p:cNvPr id="13" name="TextBox 12"/>
          <p:cNvSpPr txBox="1"/>
          <p:nvPr/>
        </p:nvSpPr>
        <p:spPr>
          <a:xfrm>
            <a:off x="1737360" y="1591056"/>
            <a:ext cx="694944" cy="237744"/>
          </a:xfrm>
          <a:prstGeom prst="rect">
            <a:avLst/>
          </a:prstGeom>
          <a:noFill/>
        </p:spPr>
        <p:txBody>
          <a:bodyPr wrap="square"/>
          <a:lstStyle/>
          <a:p>
            <a:pPr algn="l"/>
            <a:r>
              <a:rPr sz="700" b="0" i="0">
                <a:solidFill>
                  <a:srgbClr val="8BADD0"/>
                </a:solidFill>
                <a:latin typeface="Poppins"/>
              </a:rPr>
              <a:t>GBP/referrals work</a:t>
            </a:r>
          </a:p>
        </p:txBody>
      </p:sp>
      <p:sp>
        <p:nvSpPr>
          <p:cNvPr id="14" name="Rectangle 13"/>
          <p:cNvSpPr/>
          <p:nvPr/>
        </p:nvSpPr>
        <p:spPr>
          <a:xfrm>
            <a:off x="2542032" y="1005840"/>
            <a:ext cx="804672" cy="164592"/>
          </a:xfrm>
          <a:prstGeom prst="rect">
            <a:avLst/>
          </a:prstGeom>
          <a:solidFill>
            <a:srgbClr val="D9770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42032" y="1170432"/>
            <a:ext cx="804672" cy="676656"/>
          </a:xfrm>
          <a:prstGeom prst="rect">
            <a:avLst/>
          </a:prstGeom>
          <a:solidFill>
            <a:srgbClr val="26587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1188720"/>
            <a:ext cx="694944" cy="237744"/>
          </a:xfrm>
          <a:prstGeom prst="rect">
            <a:avLst/>
          </a:prstGeom>
          <a:noFill/>
        </p:spPr>
        <p:txBody>
          <a:bodyPr wrap="square"/>
          <a:lstStyle/>
          <a:p>
            <a:pPr algn="l"/>
            <a:r>
              <a:rPr sz="800" b="1" i="0">
                <a:solidFill>
                  <a:srgbClr val="FFFFFF"/>
                </a:solidFill>
                <a:latin typeface="Poppins"/>
              </a:rPr>
              <a:t>Intake</a:t>
            </a:r>
          </a:p>
        </p:txBody>
      </p:sp>
      <p:sp>
        <p:nvSpPr>
          <p:cNvPr id="17" name="TextBox 16"/>
          <p:cNvSpPr txBox="1"/>
          <p:nvPr/>
        </p:nvSpPr>
        <p:spPr>
          <a:xfrm>
            <a:off x="2596896" y="1417320"/>
            <a:ext cx="694944" cy="182880"/>
          </a:xfrm>
          <a:prstGeom prst="rect">
            <a:avLst/>
          </a:prstGeom>
          <a:noFill/>
        </p:spPr>
        <p:txBody>
          <a:bodyPr wrap="square"/>
          <a:lstStyle/>
          <a:p>
            <a:pPr algn="l"/>
            <a:r>
              <a:rPr sz="700" b="1" i="0">
                <a:solidFill>
                  <a:srgbClr val="D97706"/>
                </a:solidFill>
                <a:latin typeface="Poppins"/>
              </a:rPr>
              <a:t>AMBER</a:t>
            </a:r>
          </a:p>
        </p:txBody>
      </p:sp>
      <p:sp>
        <p:nvSpPr>
          <p:cNvPr id="18" name="TextBox 17"/>
          <p:cNvSpPr txBox="1"/>
          <p:nvPr/>
        </p:nvSpPr>
        <p:spPr>
          <a:xfrm>
            <a:off x="2596896" y="1591056"/>
            <a:ext cx="694944" cy="237744"/>
          </a:xfrm>
          <a:prstGeom prst="rect">
            <a:avLst/>
          </a:prstGeom>
          <a:noFill/>
        </p:spPr>
        <p:txBody>
          <a:bodyPr wrap="square"/>
          <a:lstStyle/>
          <a:p>
            <a:pPr algn="l"/>
            <a:r>
              <a:rPr sz="700" b="0" i="0">
                <a:solidFill>
                  <a:srgbClr val="8BADD0"/>
                </a:solidFill>
                <a:latin typeface="Poppins"/>
              </a:rPr>
              <a:t>No homepage contact form</a:t>
            </a:r>
          </a:p>
        </p:txBody>
      </p:sp>
      <p:sp>
        <p:nvSpPr>
          <p:cNvPr id="19" name="Rectangle 18"/>
          <p:cNvSpPr/>
          <p:nvPr/>
        </p:nvSpPr>
        <p:spPr>
          <a:xfrm>
            <a:off x="3401568" y="1005840"/>
            <a:ext cx="804672" cy="164592"/>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401568" y="1170432"/>
            <a:ext cx="804672" cy="676656"/>
          </a:xfrm>
          <a:prstGeom prst="rect">
            <a:avLst/>
          </a:prstGeom>
          <a:solidFill>
            <a:srgbClr val="26587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56432" y="1188720"/>
            <a:ext cx="694944" cy="237744"/>
          </a:xfrm>
          <a:prstGeom prst="rect">
            <a:avLst/>
          </a:prstGeom>
          <a:noFill/>
        </p:spPr>
        <p:txBody>
          <a:bodyPr wrap="square"/>
          <a:lstStyle/>
          <a:p>
            <a:pPr algn="l"/>
            <a:r>
              <a:rPr sz="800" b="1" i="0">
                <a:solidFill>
                  <a:srgbClr val="FFFFFF"/>
                </a:solidFill>
                <a:latin typeface="Poppins"/>
              </a:rPr>
              <a:t>Team</a:t>
            </a:r>
          </a:p>
        </p:txBody>
      </p:sp>
      <p:sp>
        <p:nvSpPr>
          <p:cNvPr id="22" name="TextBox 21"/>
          <p:cNvSpPr txBox="1"/>
          <p:nvPr/>
        </p:nvSpPr>
        <p:spPr>
          <a:xfrm>
            <a:off x="3456432" y="1417320"/>
            <a:ext cx="694944" cy="182880"/>
          </a:xfrm>
          <a:prstGeom prst="rect">
            <a:avLst/>
          </a:prstGeom>
          <a:noFill/>
        </p:spPr>
        <p:txBody>
          <a:bodyPr wrap="square"/>
          <a:lstStyle/>
          <a:p>
            <a:pPr algn="l"/>
            <a:r>
              <a:rPr sz="700" b="1" i="0">
                <a:solidFill>
                  <a:srgbClr val="C0392B"/>
                </a:solidFill>
                <a:latin typeface="Poppins"/>
              </a:rPr>
              <a:t>CRITICAL</a:t>
            </a:r>
          </a:p>
        </p:txBody>
      </p:sp>
      <p:sp>
        <p:nvSpPr>
          <p:cNvPr id="23" name="TextBox 22"/>
          <p:cNvSpPr txBox="1"/>
          <p:nvPr/>
        </p:nvSpPr>
        <p:spPr>
          <a:xfrm>
            <a:off x="3456432" y="1591056"/>
            <a:ext cx="694944" cy="237744"/>
          </a:xfrm>
          <a:prstGeom prst="rect">
            <a:avLst/>
          </a:prstGeom>
          <a:noFill/>
        </p:spPr>
        <p:txBody>
          <a:bodyPr wrap="square"/>
          <a:lstStyle/>
          <a:p>
            <a:pPr algn="l"/>
            <a:r>
              <a:rPr sz="700" b="0" i="0">
                <a:solidFill>
                  <a:srgbClr val="8BADD0"/>
                </a:solidFill>
                <a:latin typeface="Poppins"/>
              </a:rPr>
              <a:t>Owner reviews all work</a:t>
            </a:r>
          </a:p>
        </p:txBody>
      </p:sp>
      <p:sp>
        <p:nvSpPr>
          <p:cNvPr id="24" name="Rectangle 23"/>
          <p:cNvSpPr/>
          <p:nvPr/>
        </p:nvSpPr>
        <p:spPr>
          <a:xfrm>
            <a:off x="4261104" y="1005840"/>
            <a:ext cx="804672" cy="164592"/>
          </a:xfrm>
          <a:prstGeom prst="rect">
            <a:avLst/>
          </a:prstGeom>
          <a:solidFill>
            <a:srgbClr val="D9770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61104" y="1170432"/>
            <a:ext cx="804672" cy="676656"/>
          </a:xfrm>
          <a:prstGeom prst="rect">
            <a:avLst/>
          </a:prstGeom>
          <a:solidFill>
            <a:srgbClr val="265872"/>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15968" y="1188720"/>
            <a:ext cx="694944" cy="237744"/>
          </a:xfrm>
          <a:prstGeom prst="rect">
            <a:avLst/>
          </a:prstGeom>
          <a:noFill/>
        </p:spPr>
        <p:txBody>
          <a:bodyPr wrap="square"/>
          <a:lstStyle/>
          <a:p>
            <a:pPr algn="l"/>
            <a:r>
              <a:rPr sz="800" b="1" i="0">
                <a:solidFill>
                  <a:srgbClr val="FFFFFF"/>
                </a:solidFill>
                <a:latin typeface="Poppins"/>
              </a:rPr>
              <a:t>Profit Plan</a:t>
            </a:r>
          </a:p>
        </p:txBody>
      </p:sp>
      <p:sp>
        <p:nvSpPr>
          <p:cNvPr id="27" name="TextBox 26"/>
          <p:cNvSpPr txBox="1"/>
          <p:nvPr/>
        </p:nvSpPr>
        <p:spPr>
          <a:xfrm>
            <a:off x="4315968" y="1417320"/>
            <a:ext cx="694944" cy="182880"/>
          </a:xfrm>
          <a:prstGeom prst="rect">
            <a:avLst/>
          </a:prstGeom>
          <a:noFill/>
        </p:spPr>
        <p:txBody>
          <a:bodyPr wrap="square"/>
          <a:lstStyle/>
          <a:p>
            <a:pPr algn="l"/>
            <a:r>
              <a:rPr sz="700" b="1" i="0">
                <a:solidFill>
                  <a:srgbClr val="D97706"/>
                </a:solidFill>
                <a:latin typeface="Poppins"/>
              </a:rPr>
              <a:t>AMBER</a:t>
            </a:r>
          </a:p>
        </p:txBody>
      </p:sp>
      <p:sp>
        <p:nvSpPr>
          <p:cNvPr id="28" name="TextBox 27"/>
          <p:cNvSpPr txBox="1"/>
          <p:nvPr/>
        </p:nvSpPr>
        <p:spPr>
          <a:xfrm>
            <a:off x="4315968" y="1591056"/>
            <a:ext cx="694944" cy="237744"/>
          </a:xfrm>
          <a:prstGeom prst="rect">
            <a:avLst/>
          </a:prstGeom>
          <a:noFill/>
        </p:spPr>
        <p:txBody>
          <a:bodyPr wrap="square"/>
          <a:lstStyle/>
          <a:p>
            <a:pPr algn="l"/>
            <a:r>
              <a:rPr sz="700" b="0" i="0">
                <a:solidFill>
                  <a:srgbClr val="8BADD0"/>
                </a:solidFill>
                <a:latin typeface="Poppins"/>
              </a:rPr>
              <a:t>No hiring/capacity plan</a:t>
            </a:r>
          </a:p>
        </p:txBody>
      </p:sp>
      <p:sp>
        <p:nvSpPr>
          <p:cNvPr id="29" name="TextBox 28"/>
          <p:cNvSpPr txBox="1"/>
          <p:nvPr/>
        </p:nvSpPr>
        <p:spPr>
          <a:xfrm>
            <a:off x="256032" y="1956816"/>
            <a:ext cx="4846320" cy="219456"/>
          </a:xfrm>
          <a:prstGeom prst="rect">
            <a:avLst/>
          </a:prstGeom>
          <a:noFill/>
        </p:spPr>
        <p:txBody>
          <a:bodyPr wrap="square"/>
          <a:lstStyle/>
          <a:p>
            <a:pPr algn="l"/>
            <a:r>
              <a:rPr sz="800" b="1" i="0">
                <a:solidFill>
                  <a:srgbClr val="69CD2B"/>
                </a:solidFill>
                <a:latin typeface="Poppins"/>
              </a:rPr>
              <a:t>KEY FINDINGS</a:t>
            </a:r>
          </a:p>
        </p:txBody>
      </p:sp>
      <p:sp>
        <p:nvSpPr>
          <p:cNvPr id="30" name="Rectangle 29"/>
          <p:cNvSpPr/>
          <p:nvPr/>
        </p:nvSpPr>
        <p:spPr>
          <a:xfrm>
            <a:off x="256032" y="2212848"/>
            <a:ext cx="4846320" cy="566928"/>
          </a:xfrm>
          <a:prstGeom prst="rect">
            <a:avLst/>
          </a:prstGeom>
          <a:solidFill>
            <a:srgbClr val="2C101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386584"/>
            <a:ext cx="219456" cy="21945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2368296"/>
            <a:ext cx="219456" cy="237744"/>
          </a:xfrm>
          <a:prstGeom prst="rect">
            <a:avLst/>
          </a:prstGeom>
          <a:noFill/>
        </p:spPr>
        <p:txBody>
          <a:bodyPr wrap="square"/>
          <a:lstStyle/>
          <a:p>
            <a:pPr algn="ctr"/>
            <a:r>
              <a:rPr sz="900" b="1" i="0">
                <a:solidFill>
                  <a:srgbClr val="FFFFFF"/>
                </a:solidFill>
                <a:latin typeface="Poppins"/>
              </a:rPr>
              <a:t>✕</a:t>
            </a:r>
          </a:p>
        </p:txBody>
      </p:sp>
      <p:sp>
        <p:nvSpPr>
          <p:cNvPr id="33" name="TextBox 32"/>
          <p:cNvSpPr txBox="1"/>
          <p:nvPr/>
        </p:nvSpPr>
        <p:spPr>
          <a:xfrm>
            <a:off x="676656" y="2286000"/>
            <a:ext cx="4352544" cy="420624"/>
          </a:xfrm>
          <a:prstGeom prst="rect">
            <a:avLst/>
          </a:prstGeom>
          <a:noFill/>
        </p:spPr>
        <p:txBody>
          <a:bodyPr wrap="square"/>
          <a:lstStyle/>
          <a:p>
            <a:pPr algn="l"/>
            <a:r>
              <a:rPr sz="1000" b="0" i="0">
                <a:solidFill>
                  <a:srgbClr val="F0BABA"/>
                </a:solidFill>
                <a:latin typeface="Poppins"/>
              </a:rPr>
              <a:t>Owner personally reviews all contractor work — no delegated team</a:t>
            </a:r>
          </a:p>
        </p:txBody>
      </p:sp>
      <p:sp>
        <p:nvSpPr>
          <p:cNvPr id="34" name="Rectangle 33"/>
          <p:cNvSpPr/>
          <p:nvPr/>
        </p:nvSpPr>
        <p:spPr>
          <a:xfrm>
            <a:off x="256032" y="2834640"/>
            <a:ext cx="4846320" cy="566928"/>
          </a:xfrm>
          <a:prstGeom prst="rect">
            <a:avLst/>
          </a:prstGeom>
          <a:solidFill>
            <a:srgbClr val="2C101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3008376"/>
            <a:ext cx="219456" cy="21945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5760" y="2990088"/>
            <a:ext cx="219456" cy="237744"/>
          </a:xfrm>
          <a:prstGeom prst="rect">
            <a:avLst/>
          </a:prstGeom>
          <a:noFill/>
        </p:spPr>
        <p:txBody>
          <a:bodyPr wrap="square"/>
          <a:lstStyle/>
          <a:p>
            <a:pPr algn="ctr"/>
            <a:r>
              <a:rPr sz="900" b="1" i="0">
                <a:solidFill>
                  <a:srgbClr val="FFFFFF"/>
                </a:solidFill>
                <a:latin typeface="Poppins"/>
              </a:rPr>
              <a:t>✕</a:t>
            </a:r>
          </a:p>
        </p:txBody>
      </p:sp>
      <p:sp>
        <p:nvSpPr>
          <p:cNvPr id="37" name="TextBox 36"/>
          <p:cNvSpPr txBox="1"/>
          <p:nvPr/>
        </p:nvSpPr>
        <p:spPr>
          <a:xfrm>
            <a:off x="676656" y="2907792"/>
            <a:ext cx="4352544" cy="420624"/>
          </a:xfrm>
          <a:prstGeom prst="rect">
            <a:avLst/>
          </a:prstGeom>
          <a:noFill/>
        </p:spPr>
        <p:txBody>
          <a:bodyPr wrap="square"/>
          <a:lstStyle/>
          <a:p>
            <a:pPr algn="l"/>
            <a:r>
              <a:rPr sz="1000" b="0" i="0">
                <a:solidFill>
                  <a:srgbClr val="F0BABA"/>
                </a:solidFill>
                <a:latin typeface="Poppins"/>
              </a:rPr>
              <a:t>$500K goal has no hiring or capacity plan behind it yet</a:t>
            </a:r>
          </a:p>
        </p:txBody>
      </p:sp>
      <p:sp>
        <p:nvSpPr>
          <p:cNvPr id="38" name="Rectangle 37"/>
          <p:cNvSpPr/>
          <p:nvPr/>
        </p:nvSpPr>
        <p:spPr>
          <a:xfrm>
            <a:off x="256032" y="3456432"/>
            <a:ext cx="4846320" cy="566928"/>
          </a:xfrm>
          <a:prstGeom prst="rect">
            <a:avLst/>
          </a:prstGeom>
          <a:solidFill>
            <a:srgbClr val="2C101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3630168"/>
            <a:ext cx="219456" cy="21945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3611879"/>
            <a:ext cx="219456" cy="237744"/>
          </a:xfrm>
          <a:prstGeom prst="rect">
            <a:avLst/>
          </a:prstGeom>
          <a:noFill/>
        </p:spPr>
        <p:txBody>
          <a:bodyPr wrap="square"/>
          <a:lstStyle/>
          <a:p>
            <a:pPr algn="ctr"/>
            <a:r>
              <a:rPr sz="900" b="1" i="0">
                <a:solidFill>
                  <a:srgbClr val="FFFFFF"/>
                </a:solidFill>
                <a:latin typeface="Poppins"/>
              </a:rPr>
              <a:t>✕</a:t>
            </a:r>
          </a:p>
        </p:txBody>
      </p:sp>
      <p:sp>
        <p:nvSpPr>
          <p:cNvPr id="41" name="TextBox 40"/>
          <p:cNvSpPr txBox="1"/>
          <p:nvPr/>
        </p:nvSpPr>
        <p:spPr>
          <a:xfrm>
            <a:off x="676656" y="3529584"/>
            <a:ext cx="4352544" cy="420624"/>
          </a:xfrm>
          <a:prstGeom prst="rect">
            <a:avLst/>
          </a:prstGeom>
          <a:noFill/>
        </p:spPr>
        <p:txBody>
          <a:bodyPr wrap="square"/>
          <a:lstStyle/>
          <a:p>
            <a:pPr algn="l"/>
            <a:r>
              <a:rPr sz="1000" b="0" i="0">
                <a:solidFill>
                  <a:srgbClr val="F0BABA"/>
                </a:solidFill>
                <a:latin typeface="Poppins"/>
              </a:rPr>
              <a:t>100% of leads come from referrals, GBP, and networking — no paid channel</a:t>
            </a:r>
          </a:p>
        </p:txBody>
      </p:sp>
      <p:sp>
        <p:nvSpPr>
          <p:cNvPr id="42" name="Rectangle 41"/>
          <p:cNvSpPr/>
          <p:nvPr/>
        </p:nvSpPr>
        <p:spPr>
          <a:xfrm>
            <a:off x="256032" y="4078224"/>
            <a:ext cx="4846320" cy="566928"/>
          </a:xfrm>
          <a:prstGeom prst="rect">
            <a:avLst/>
          </a:prstGeom>
          <a:solidFill>
            <a:srgbClr val="0C281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4251960"/>
            <a:ext cx="219456" cy="219456"/>
          </a:xfrm>
          <a:prstGeom prst="rect">
            <a:avLst/>
          </a:prstGeom>
          <a:solidFill>
            <a:srgbClr val="16A34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4233672"/>
            <a:ext cx="219456" cy="237744"/>
          </a:xfrm>
          <a:prstGeom prst="rect">
            <a:avLst/>
          </a:prstGeom>
          <a:noFill/>
        </p:spPr>
        <p:txBody>
          <a:bodyPr wrap="square"/>
          <a:lstStyle/>
          <a:p>
            <a:pPr algn="ctr"/>
            <a:r>
              <a:rPr sz="900" b="1" i="0">
                <a:solidFill>
                  <a:srgbClr val="FFFFFF"/>
                </a:solidFill>
                <a:latin typeface="Poppins"/>
              </a:rPr>
              <a:t>✓</a:t>
            </a:r>
          </a:p>
        </p:txBody>
      </p:sp>
      <p:sp>
        <p:nvSpPr>
          <p:cNvPr id="45" name="TextBox 44"/>
          <p:cNvSpPr txBox="1"/>
          <p:nvPr/>
        </p:nvSpPr>
        <p:spPr>
          <a:xfrm>
            <a:off x="676656" y="4151376"/>
            <a:ext cx="4352544" cy="420624"/>
          </a:xfrm>
          <a:prstGeom prst="rect">
            <a:avLst/>
          </a:prstGeom>
          <a:noFill/>
        </p:spPr>
        <p:txBody>
          <a:bodyPr wrap="square"/>
          <a:lstStyle/>
          <a:p>
            <a:pPr algn="l"/>
            <a:r>
              <a:rPr sz="1000" b="0" i="0">
                <a:solidFill>
                  <a:srgbClr val="86EFAC"/>
                </a:solidFill>
                <a:latin typeface="Poppins"/>
              </a:rPr>
              <a:t>Highest star rating (5.0) of any firm in its local comparison set</a:t>
            </a:r>
          </a:p>
        </p:txBody>
      </p:sp>
      <p:sp>
        <p:nvSpPr>
          <p:cNvPr id="46" name="Rectangle 45"/>
          <p:cNvSpPr/>
          <p:nvPr/>
        </p:nvSpPr>
        <p:spPr>
          <a:xfrm>
            <a:off x="5257800" y="960120"/>
            <a:ext cx="3886200" cy="386791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257800" y="1024128"/>
            <a:ext cx="3886200" cy="694944"/>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57800" y="1024128"/>
            <a:ext cx="128016" cy="694944"/>
          </a:xfrm>
          <a:prstGeom prst="rect">
            <a:avLst/>
          </a:prstGeom>
          <a:solidFill>
            <a:srgbClr val="0091C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486400" y="1042415"/>
            <a:ext cx="3474720" cy="201168"/>
          </a:xfrm>
          <a:prstGeom prst="rect">
            <a:avLst/>
          </a:prstGeom>
          <a:noFill/>
        </p:spPr>
        <p:txBody>
          <a:bodyPr wrap="square"/>
          <a:lstStyle/>
          <a:p>
            <a:pPr algn="l"/>
            <a:r>
              <a:rPr sz="800" b="1" i="0">
                <a:solidFill>
                  <a:srgbClr val="69CD2B"/>
                </a:solidFill>
                <a:latin typeface="Poppins"/>
              </a:rPr>
              <a:t>YOU ARE HERE</a:t>
            </a:r>
          </a:p>
        </p:txBody>
      </p:sp>
      <p:sp>
        <p:nvSpPr>
          <p:cNvPr id="50" name="TextBox 49"/>
          <p:cNvSpPr txBox="1"/>
          <p:nvPr/>
        </p:nvSpPr>
        <p:spPr>
          <a:xfrm>
            <a:off x="5486400" y="1243584"/>
            <a:ext cx="3474720" cy="402336"/>
          </a:xfrm>
          <a:prstGeom prst="rect">
            <a:avLst/>
          </a:prstGeom>
          <a:noFill/>
        </p:spPr>
        <p:txBody>
          <a:bodyPr wrap="square"/>
          <a:lstStyle/>
          <a:p>
            <a:pPr algn="l"/>
            <a:r>
              <a:rPr sz="1000" b="1" i="0">
                <a:solidFill>
                  <a:srgbClr val="FFFFFF"/>
                </a:solidFill>
                <a:latin typeface="Poppins"/>
              </a:rPr>
              <a:t>Stage 4: Small Business Manager  →  Goal: Stage 6, Law Firm Owner</a:t>
            </a:r>
          </a:p>
        </p:txBody>
      </p:sp>
      <p:sp>
        <p:nvSpPr>
          <p:cNvPr id="51" name="TextBox 50"/>
          <p:cNvSpPr txBox="1"/>
          <p:nvPr/>
        </p:nvSpPr>
        <p:spPr>
          <a:xfrm>
            <a:off x="5394960" y="1920240"/>
            <a:ext cx="3566160" cy="219456"/>
          </a:xfrm>
          <a:prstGeom prst="rect">
            <a:avLst/>
          </a:prstGeom>
          <a:noFill/>
        </p:spPr>
        <p:txBody>
          <a:bodyPr wrap="square"/>
          <a:lstStyle/>
          <a:p>
            <a:pPr algn="l"/>
            <a:r>
              <a:rPr sz="800" b="1" i="0">
                <a:solidFill>
                  <a:srgbClr val="64748B"/>
                </a:solidFill>
                <a:latin typeface="Poppins"/>
              </a:rPr>
              <a:t>COMPETITOR LANDSCAPE</a:t>
            </a:r>
          </a:p>
        </p:txBody>
      </p:sp>
      <p:sp>
        <p:nvSpPr>
          <p:cNvPr id="52" name="Rectangle 51"/>
          <p:cNvSpPr/>
          <p:nvPr/>
        </p:nvSpPr>
        <p:spPr>
          <a:xfrm>
            <a:off x="5257800" y="2176272"/>
            <a:ext cx="3886200" cy="310896"/>
          </a:xfrm>
          <a:prstGeom prst="rect">
            <a:avLst/>
          </a:prstGeom>
          <a:solidFill>
            <a:srgbClr val="F0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413248" y="2221991"/>
            <a:ext cx="1828800" cy="219456"/>
          </a:xfrm>
          <a:prstGeom prst="rect">
            <a:avLst/>
          </a:prstGeom>
          <a:noFill/>
        </p:spPr>
        <p:txBody>
          <a:bodyPr wrap="square"/>
          <a:lstStyle/>
          <a:p>
            <a:pPr algn="l"/>
            <a:r>
              <a:rPr sz="800" b="0" i="0">
                <a:solidFill>
                  <a:srgbClr val="1E293B"/>
                </a:solidFill>
                <a:latin typeface="Poppins"/>
              </a:rPr>
              <a:t>Maldonado &amp; Vallejo Immigration Law</a:t>
            </a:r>
          </a:p>
        </p:txBody>
      </p:sp>
      <p:sp>
        <p:nvSpPr>
          <p:cNvPr id="54" name="TextBox 53"/>
          <p:cNvSpPr txBox="1"/>
          <p:nvPr/>
        </p:nvSpPr>
        <p:spPr>
          <a:xfrm>
            <a:off x="7260336" y="2221991"/>
            <a:ext cx="914400" cy="219456"/>
          </a:xfrm>
          <a:prstGeom prst="rect">
            <a:avLst/>
          </a:prstGeom>
          <a:noFill/>
        </p:spPr>
        <p:txBody>
          <a:bodyPr wrap="square"/>
          <a:lstStyle/>
          <a:p>
            <a:pPr algn="l"/>
            <a:r>
              <a:rPr sz="800" b="0" i="0">
                <a:solidFill>
                  <a:srgbClr val="16A34A"/>
                </a:solidFill>
                <a:latin typeface="Poppins"/>
              </a:rPr>
              <a:t>122 reviews</a:t>
            </a:r>
          </a:p>
        </p:txBody>
      </p:sp>
      <p:sp>
        <p:nvSpPr>
          <p:cNvPr id="55" name="TextBox 54"/>
          <p:cNvSpPr txBox="1"/>
          <p:nvPr/>
        </p:nvSpPr>
        <p:spPr>
          <a:xfrm>
            <a:off x="8193024" y="2240279"/>
            <a:ext cx="822960" cy="201168"/>
          </a:xfrm>
          <a:prstGeom prst="rect">
            <a:avLst/>
          </a:prstGeom>
          <a:noFill/>
        </p:spPr>
        <p:txBody>
          <a:bodyPr wrap="square"/>
          <a:lstStyle/>
          <a:p>
            <a:pPr algn="l"/>
            <a:r>
              <a:rPr sz="600" b="0" i="0">
                <a:solidFill>
                  <a:srgbClr val="64748B"/>
                </a:solidFill>
                <a:latin typeface="Poppins"/>
              </a:rPr>
              <a:t>4.9 stars · 6x volume</a:t>
            </a:r>
          </a:p>
        </p:txBody>
      </p:sp>
      <p:sp>
        <p:nvSpPr>
          <p:cNvPr id="56" name="Rectangle 55"/>
          <p:cNvSpPr/>
          <p:nvPr/>
        </p:nvSpPr>
        <p:spPr>
          <a:xfrm>
            <a:off x="5257800" y="2523744"/>
            <a:ext cx="388620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13248" y="2569463"/>
            <a:ext cx="1828800" cy="219456"/>
          </a:xfrm>
          <a:prstGeom prst="rect">
            <a:avLst/>
          </a:prstGeom>
          <a:noFill/>
        </p:spPr>
        <p:txBody>
          <a:bodyPr wrap="square"/>
          <a:lstStyle/>
          <a:p>
            <a:pPr algn="l"/>
            <a:r>
              <a:rPr sz="800" b="0" i="0">
                <a:solidFill>
                  <a:srgbClr val="1E293B"/>
                </a:solidFill>
                <a:latin typeface="Poppins"/>
              </a:rPr>
              <a:t>dePaz Cabrera Immigration Law</a:t>
            </a:r>
          </a:p>
        </p:txBody>
      </p:sp>
      <p:sp>
        <p:nvSpPr>
          <p:cNvPr id="58" name="TextBox 57"/>
          <p:cNvSpPr txBox="1"/>
          <p:nvPr/>
        </p:nvSpPr>
        <p:spPr>
          <a:xfrm>
            <a:off x="7260336" y="2569463"/>
            <a:ext cx="914400" cy="219456"/>
          </a:xfrm>
          <a:prstGeom prst="rect">
            <a:avLst/>
          </a:prstGeom>
          <a:noFill/>
        </p:spPr>
        <p:txBody>
          <a:bodyPr wrap="square"/>
          <a:lstStyle/>
          <a:p>
            <a:pPr algn="l"/>
            <a:r>
              <a:rPr sz="800" b="0" i="0">
                <a:solidFill>
                  <a:srgbClr val="16A34A"/>
                </a:solidFill>
                <a:latin typeface="Poppins"/>
              </a:rPr>
              <a:t>98 reviews</a:t>
            </a:r>
          </a:p>
        </p:txBody>
      </p:sp>
      <p:sp>
        <p:nvSpPr>
          <p:cNvPr id="59" name="TextBox 58"/>
          <p:cNvSpPr txBox="1"/>
          <p:nvPr/>
        </p:nvSpPr>
        <p:spPr>
          <a:xfrm>
            <a:off x="8193024" y="2587751"/>
            <a:ext cx="822960" cy="201168"/>
          </a:xfrm>
          <a:prstGeom prst="rect">
            <a:avLst/>
          </a:prstGeom>
          <a:noFill/>
        </p:spPr>
        <p:txBody>
          <a:bodyPr wrap="square"/>
          <a:lstStyle/>
          <a:p>
            <a:pPr algn="l"/>
            <a:r>
              <a:rPr sz="600" b="0" i="0">
                <a:solidFill>
                  <a:srgbClr val="64748B"/>
                </a:solidFill>
                <a:latin typeface="Poppins"/>
              </a:rPr>
              <a:t>4.9 stars · 10+ yrs</a:t>
            </a:r>
          </a:p>
        </p:txBody>
      </p:sp>
      <p:sp>
        <p:nvSpPr>
          <p:cNvPr id="60" name="Rectangle 59"/>
          <p:cNvSpPr/>
          <p:nvPr/>
        </p:nvSpPr>
        <p:spPr>
          <a:xfrm>
            <a:off x="5257800" y="2871216"/>
            <a:ext cx="3886200" cy="310896"/>
          </a:xfrm>
          <a:prstGeom prst="rect">
            <a:avLst/>
          </a:prstGeom>
          <a:solidFill>
            <a:srgbClr val="F0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13248" y="2916936"/>
            <a:ext cx="1828800" cy="219456"/>
          </a:xfrm>
          <a:prstGeom prst="rect">
            <a:avLst/>
          </a:prstGeom>
          <a:noFill/>
        </p:spPr>
        <p:txBody>
          <a:bodyPr wrap="square"/>
          <a:lstStyle/>
          <a:p>
            <a:pPr algn="l"/>
            <a:r>
              <a:rPr sz="800" b="0" i="0">
                <a:solidFill>
                  <a:srgbClr val="1E293B"/>
                </a:solidFill>
                <a:latin typeface="Poppins"/>
              </a:rPr>
              <a:t>Robert J. Jacobs Immigration Law</a:t>
            </a:r>
          </a:p>
        </p:txBody>
      </p:sp>
      <p:sp>
        <p:nvSpPr>
          <p:cNvPr id="62" name="TextBox 61"/>
          <p:cNvSpPr txBox="1"/>
          <p:nvPr/>
        </p:nvSpPr>
        <p:spPr>
          <a:xfrm>
            <a:off x="7260336" y="2916936"/>
            <a:ext cx="914400" cy="219456"/>
          </a:xfrm>
          <a:prstGeom prst="rect">
            <a:avLst/>
          </a:prstGeom>
          <a:noFill/>
        </p:spPr>
        <p:txBody>
          <a:bodyPr wrap="square"/>
          <a:lstStyle/>
          <a:p>
            <a:pPr algn="l"/>
            <a:r>
              <a:rPr sz="800" b="0" i="0">
                <a:solidFill>
                  <a:srgbClr val="16A34A"/>
                </a:solidFill>
                <a:latin typeface="Poppins"/>
              </a:rPr>
              <a:t>26 reviews</a:t>
            </a:r>
          </a:p>
        </p:txBody>
      </p:sp>
      <p:sp>
        <p:nvSpPr>
          <p:cNvPr id="63" name="TextBox 62"/>
          <p:cNvSpPr txBox="1"/>
          <p:nvPr/>
        </p:nvSpPr>
        <p:spPr>
          <a:xfrm>
            <a:off x="8193024" y="2935224"/>
            <a:ext cx="822960" cy="201168"/>
          </a:xfrm>
          <a:prstGeom prst="rect">
            <a:avLst/>
          </a:prstGeom>
          <a:noFill/>
        </p:spPr>
        <p:txBody>
          <a:bodyPr wrap="square"/>
          <a:lstStyle/>
          <a:p>
            <a:pPr algn="l"/>
            <a:r>
              <a:rPr sz="600" b="0" i="0">
                <a:solidFill>
                  <a:srgbClr val="64748B"/>
                </a:solidFill>
                <a:latin typeface="Poppins"/>
              </a:rPr>
              <a:t>3.9 stars · since 1997</a:t>
            </a:r>
          </a:p>
        </p:txBody>
      </p:sp>
      <p:sp>
        <p:nvSpPr>
          <p:cNvPr id="64" name="Rectangle 63"/>
          <p:cNvSpPr/>
          <p:nvPr/>
        </p:nvSpPr>
        <p:spPr>
          <a:xfrm>
            <a:off x="5257800" y="3218688"/>
            <a:ext cx="3886200" cy="310896"/>
          </a:xfrm>
          <a:prstGeom prst="rect">
            <a:avLst/>
          </a:prstGeom>
          <a:solidFill>
            <a:srgbClr val="FFF0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257800" y="3218688"/>
            <a:ext cx="91440" cy="31089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13248" y="3264408"/>
            <a:ext cx="1828800" cy="219456"/>
          </a:xfrm>
          <a:prstGeom prst="rect">
            <a:avLst/>
          </a:prstGeom>
          <a:noFill/>
        </p:spPr>
        <p:txBody>
          <a:bodyPr wrap="square"/>
          <a:lstStyle/>
          <a:p>
            <a:pPr algn="l"/>
            <a:r>
              <a:rPr sz="900" b="1" i="0">
                <a:solidFill>
                  <a:srgbClr val="C0392B"/>
                </a:solidFill>
                <a:latin typeface="Poppins"/>
              </a:rPr>
              <a:t>BW Law, PLLC</a:t>
            </a:r>
          </a:p>
        </p:txBody>
      </p:sp>
      <p:sp>
        <p:nvSpPr>
          <p:cNvPr id="67" name="TextBox 66"/>
          <p:cNvSpPr txBox="1"/>
          <p:nvPr/>
        </p:nvSpPr>
        <p:spPr>
          <a:xfrm>
            <a:off x="7260336" y="3264408"/>
            <a:ext cx="914400" cy="219456"/>
          </a:xfrm>
          <a:prstGeom prst="rect">
            <a:avLst/>
          </a:prstGeom>
          <a:noFill/>
        </p:spPr>
        <p:txBody>
          <a:bodyPr wrap="square"/>
          <a:lstStyle/>
          <a:p>
            <a:pPr algn="l"/>
            <a:r>
              <a:rPr sz="800" b="1" i="0">
                <a:solidFill>
                  <a:srgbClr val="C0392B"/>
                </a:solidFill>
                <a:latin typeface="Poppins"/>
              </a:rPr>
              <a:t>21 reviews</a:t>
            </a:r>
          </a:p>
        </p:txBody>
      </p:sp>
      <p:sp>
        <p:nvSpPr>
          <p:cNvPr id="68" name="TextBox 67"/>
          <p:cNvSpPr txBox="1"/>
          <p:nvPr/>
        </p:nvSpPr>
        <p:spPr>
          <a:xfrm>
            <a:off x="8193024" y="3282696"/>
            <a:ext cx="822960" cy="201168"/>
          </a:xfrm>
          <a:prstGeom prst="rect">
            <a:avLst/>
          </a:prstGeom>
          <a:noFill/>
        </p:spPr>
        <p:txBody>
          <a:bodyPr wrap="square"/>
          <a:lstStyle/>
          <a:p>
            <a:pPr algn="l"/>
            <a:r>
              <a:rPr sz="600" b="0" i="0">
                <a:solidFill>
                  <a:srgbClr val="64748B"/>
                </a:solidFill>
                <a:latin typeface="Poppins"/>
              </a:rPr>
              <a:t>← You are here</a:t>
            </a:r>
          </a:p>
        </p:txBody>
      </p:sp>
      <p:sp>
        <p:nvSpPr>
          <p:cNvPr id="69" name="Rectangle 68"/>
          <p:cNvSpPr/>
          <p:nvPr/>
        </p:nvSpPr>
        <p:spPr>
          <a:xfrm>
            <a:off x="0" y="4828032"/>
            <a:ext cx="9144000" cy="32004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smb_team_logo.png"/>
          <p:cNvPicPr>
            <a:picLocks noChangeAspect="1"/>
          </p:cNvPicPr>
          <p:nvPr/>
        </p:nvPicPr>
        <p:blipFill>
          <a:blip r:embed="rId2"/>
          <a:stretch>
            <a:fillRect/>
          </a:stretch>
        </p:blipFill>
        <p:spPr>
          <a:xfrm>
            <a:off x="201168" y="4837176"/>
            <a:ext cx="1170432" cy="237744"/>
          </a:xfrm>
          <a:prstGeom prst="rect">
            <a:avLst/>
          </a:prstGeom>
        </p:spPr>
      </p:pic>
      <p:sp>
        <p:nvSpPr>
          <p:cNvPr id="71" name="TextBox 70"/>
          <p:cNvSpPr txBox="1"/>
          <p:nvPr/>
        </p:nvSpPr>
        <p:spPr>
          <a:xfrm>
            <a:off x="1609344" y="4837176"/>
            <a:ext cx="5303520" cy="274320"/>
          </a:xfrm>
          <a:prstGeom prst="rect">
            <a:avLst/>
          </a:prstGeom>
          <a:noFill/>
        </p:spPr>
        <p:txBody>
          <a:bodyPr wrap="square"/>
          <a:lstStyle/>
          <a:p>
            <a:pPr algn="l"/>
            <a:r>
              <a:rPr sz="800" b="0" i="0">
                <a:solidFill>
                  <a:srgbClr val="5A7A9A"/>
                </a:solidFill>
                <a:latin typeface="Poppins"/>
              </a:rPr>
              <a:t>CONFIDENTIAL  ·  Prepared by Randy Gold | SMB Team</a:t>
            </a:r>
          </a:p>
        </p:txBody>
      </p:sp>
      <p:sp>
        <p:nvSpPr>
          <p:cNvPr id="72" name="TextBox 71"/>
          <p:cNvSpPr txBox="1"/>
          <p:nvPr/>
        </p:nvSpPr>
        <p:spPr>
          <a:xfrm>
            <a:off x="8138160" y="4837176"/>
            <a:ext cx="786384" cy="274320"/>
          </a:xfrm>
          <a:prstGeom prst="rect">
            <a:avLst/>
          </a:prstGeom>
          <a:noFill/>
        </p:spPr>
        <p:txBody>
          <a:bodyPr wrap="square"/>
          <a:lstStyle/>
          <a:p>
            <a:pPr algn="r"/>
            <a:r>
              <a:rPr sz="800" b="0" i="0">
                <a:solidFill>
                  <a:srgbClr val="5A7A9A"/>
                </a:solidFill>
                <a:latin typeface="Poppins"/>
              </a:rPr>
              <a:t>1 /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96012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2608" y="91440"/>
            <a:ext cx="8595360" cy="201168"/>
          </a:xfrm>
          <a:prstGeom prst="rect">
            <a:avLst/>
          </a:prstGeom>
          <a:noFill/>
        </p:spPr>
        <p:txBody>
          <a:bodyPr wrap="square"/>
          <a:lstStyle/>
          <a:p>
            <a:pPr algn="l"/>
            <a:r>
              <a:rPr sz="800" b="1" i="0">
                <a:solidFill>
                  <a:srgbClr val="69CD2B"/>
                </a:solidFill>
                <a:latin typeface="Poppins"/>
              </a:rPr>
              <a:t>LAW FIRM GROWTH AUDIT  ·  BW LAW, PLLC</a:t>
            </a:r>
          </a:p>
        </p:txBody>
      </p:sp>
      <p:sp>
        <p:nvSpPr>
          <p:cNvPr id="4" name="TextBox 3"/>
          <p:cNvSpPr txBox="1"/>
          <p:nvPr/>
        </p:nvSpPr>
        <p:spPr>
          <a:xfrm>
            <a:off x="292608" y="310896"/>
            <a:ext cx="8595360" cy="548640"/>
          </a:xfrm>
          <a:prstGeom prst="rect">
            <a:avLst/>
          </a:prstGeom>
          <a:noFill/>
        </p:spPr>
        <p:txBody>
          <a:bodyPr wrap="square"/>
          <a:lstStyle/>
          <a:p>
            <a:pPr algn="l"/>
            <a:r>
              <a:rPr sz="2200" b="1" i="0">
                <a:solidFill>
                  <a:srgbClr val="FFFFFF"/>
                </a:solidFill>
                <a:latin typeface="Poppins"/>
              </a:rPr>
              <a:t>Your Growth Plan: 3 Priorities to Reach $500K</a:t>
            </a:r>
          </a:p>
        </p:txBody>
      </p:sp>
      <p:sp>
        <p:nvSpPr>
          <p:cNvPr id="5" name="Rectangle 4"/>
          <p:cNvSpPr/>
          <p:nvPr/>
        </p:nvSpPr>
        <p:spPr>
          <a:xfrm>
            <a:off x="182880" y="1024128"/>
            <a:ext cx="2487168" cy="3639312"/>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1042415"/>
            <a:ext cx="2487168" cy="18288"/>
          </a:xfrm>
          <a:prstGeom prst="rect">
            <a:avLst/>
          </a:prstGeom>
          <a:solidFill>
            <a:srgbClr val="0091C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2608" y="1097280"/>
            <a:ext cx="2267712" cy="201168"/>
          </a:xfrm>
          <a:prstGeom prst="rect">
            <a:avLst/>
          </a:prstGeom>
          <a:noFill/>
        </p:spPr>
        <p:txBody>
          <a:bodyPr wrap="square"/>
          <a:lstStyle/>
          <a:p>
            <a:pPr algn="l"/>
            <a:r>
              <a:rPr sz="800" b="1" i="0">
                <a:solidFill>
                  <a:srgbClr val="69CD2B"/>
                </a:solidFill>
                <a:latin typeface="Poppins"/>
              </a:rPr>
              <a:t>THE SMB TEAM MODEL</a:t>
            </a:r>
          </a:p>
        </p:txBody>
      </p:sp>
      <p:sp>
        <p:nvSpPr>
          <p:cNvPr id="8" name="TextBox 7"/>
          <p:cNvSpPr txBox="1"/>
          <p:nvPr/>
        </p:nvSpPr>
        <p:spPr>
          <a:xfrm>
            <a:off x="292608" y="1335024"/>
            <a:ext cx="2267712" cy="1572768"/>
          </a:xfrm>
          <a:prstGeom prst="rect">
            <a:avLst/>
          </a:prstGeom>
          <a:noFill/>
        </p:spPr>
        <p:txBody>
          <a:bodyPr wrap="square"/>
          <a:lstStyle/>
          <a:p>
            <a:pPr algn="l"/>
            <a:r>
              <a:rPr sz="900" b="0" i="0">
                <a:solidFill>
                  <a:srgbClr val="A8BFDA"/>
                </a:solidFill>
                <a:latin typeface="Poppins"/>
              </a:rPr>
              <a:t>All four pillars must work together. When hiring, intake, and team systems are in place, Sarah can finally step away from being "chief everything officer" and spend her time on business development.</a:t>
            </a:r>
          </a:p>
        </p:txBody>
      </p:sp>
      <p:sp>
        <p:nvSpPr>
          <p:cNvPr id="9" name="Rectangle 8"/>
          <p:cNvSpPr/>
          <p:nvPr/>
        </p:nvSpPr>
        <p:spPr>
          <a:xfrm>
            <a:off x="182880" y="2999232"/>
            <a:ext cx="2487168" cy="749808"/>
          </a:xfrm>
          <a:prstGeom prst="rect">
            <a:avLst/>
          </a:prstGeom>
          <a:solidFill>
            <a:srgbClr val="69CD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2608" y="3017520"/>
            <a:ext cx="2286000" cy="274320"/>
          </a:xfrm>
          <a:prstGeom prst="rect">
            <a:avLst/>
          </a:prstGeom>
          <a:noFill/>
        </p:spPr>
        <p:txBody>
          <a:bodyPr wrap="square"/>
          <a:lstStyle/>
          <a:p>
            <a:pPr algn="l"/>
            <a:r>
              <a:rPr sz="1200" b="1" i="0">
                <a:solidFill>
                  <a:srgbClr val="003A59"/>
                </a:solidFill>
                <a:latin typeface="Poppins"/>
              </a:rPr>
              <a:t>$200K → $500K revenue</a:t>
            </a:r>
          </a:p>
        </p:txBody>
      </p:sp>
      <p:sp>
        <p:nvSpPr>
          <p:cNvPr id="11" name="TextBox 10"/>
          <p:cNvSpPr txBox="1"/>
          <p:nvPr/>
        </p:nvSpPr>
        <p:spPr>
          <a:xfrm>
            <a:off x="292608" y="3291840"/>
            <a:ext cx="2286000" cy="402336"/>
          </a:xfrm>
          <a:prstGeom prst="rect">
            <a:avLst/>
          </a:prstGeom>
          <a:noFill/>
        </p:spPr>
        <p:txBody>
          <a:bodyPr wrap="square"/>
          <a:lstStyle/>
          <a:p>
            <a:pPr algn="l"/>
            <a:r>
              <a:rPr sz="900" b="0" i="0">
                <a:solidFill>
                  <a:srgbClr val="003A59"/>
                </a:solidFill>
                <a:latin typeface="Poppins"/>
              </a:rPr>
              <a:t>Step back and trust the team handles it</a:t>
            </a:r>
          </a:p>
        </p:txBody>
      </p:sp>
      <p:sp>
        <p:nvSpPr>
          <p:cNvPr id="12" name="Rectangle 11"/>
          <p:cNvSpPr/>
          <p:nvPr/>
        </p:nvSpPr>
        <p:spPr>
          <a:xfrm>
            <a:off x="2816352" y="1024128"/>
            <a:ext cx="2048256" cy="841248"/>
          </a:xfrm>
          <a:prstGeom prst="rect">
            <a:avLst/>
          </a:prstGeom>
          <a:solidFill>
            <a:srgbClr val="0091C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0" y="1042415"/>
            <a:ext cx="457200" cy="274320"/>
          </a:xfrm>
          <a:prstGeom prst="rect">
            <a:avLst/>
          </a:prstGeom>
          <a:noFill/>
        </p:spPr>
        <p:txBody>
          <a:bodyPr wrap="square"/>
          <a:lstStyle/>
          <a:p>
            <a:pPr algn="l"/>
            <a:r>
              <a:rPr sz="1000" b="1" i="0">
                <a:solidFill>
                  <a:srgbClr val="FFFFFF"/>
                </a:solidFill>
                <a:latin typeface="Poppins"/>
              </a:rPr>
              <a:t>01</a:t>
            </a:r>
          </a:p>
        </p:txBody>
      </p:sp>
      <p:sp>
        <p:nvSpPr>
          <p:cNvPr id="14" name="TextBox 13"/>
          <p:cNvSpPr txBox="1"/>
          <p:nvPr/>
        </p:nvSpPr>
        <p:spPr>
          <a:xfrm>
            <a:off x="2926080" y="1316736"/>
            <a:ext cx="1865376" cy="256032"/>
          </a:xfrm>
          <a:prstGeom prst="rect">
            <a:avLst/>
          </a:prstGeom>
          <a:noFill/>
        </p:spPr>
        <p:txBody>
          <a:bodyPr wrap="square"/>
          <a:lstStyle/>
          <a:p>
            <a:pPr algn="l"/>
            <a:r>
              <a:rPr sz="1200" b="1" i="0">
                <a:solidFill>
                  <a:srgbClr val="FFFFFF"/>
                </a:solidFill>
                <a:latin typeface="Poppins"/>
              </a:rPr>
              <a:t>Build the</a:t>
            </a:r>
          </a:p>
        </p:txBody>
      </p:sp>
      <p:sp>
        <p:nvSpPr>
          <p:cNvPr id="15" name="TextBox 14"/>
          <p:cNvSpPr txBox="1"/>
          <p:nvPr/>
        </p:nvSpPr>
        <p:spPr>
          <a:xfrm>
            <a:off x="2926080" y="1554480"/>
            <a:ext cx="1865376" cy="256032"/>
          </a:xfrm>
          <a:prstGeom prst="rect">
            <a:avLst/>
          </a:prstGeom>
          <a:noFill/>
        </p:spPr>
        <p:txBody>
          <a:bodyPr wrap="square"/>
          <a:lstStyle/>
          <a:p>
            <a:pPr algn="l"/>
            <a:r>
              <a:rPr sz="1200" b="1" i="0">
                <a:solidFill>
                  <a:srgbClr val="FFFFFF"/>
                </a:solidFill>
                <a:latin typeface="Poppins"/>
              </a:rPr>
              <a:t>Marketing Engine</a:t>
            </a:r>
          </a:p>
        </p:txBody>
      </p:sp>
      <p:sp>
        <p:nvSpPr>
          <p:cNvPr id="16" name="Rectangle 15"/>
          <p:cNvSpPr/>
          <p:nvPr/>
        </p:nvSpPr>
        <p:spPr>
          <a:xfrm>
            <a:off x="2816352" y="1865376"/>
            <a:ext cx="2048256" cy="566928"/>
          </a:xfrm>
          <a:prstGeom prst="rect">
            <a:avLst/>
          </a:prstGeom>
          <a:solidFill>
            <a:srgbClr val="E3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07792" y="2084832"/>
            <a:ext cx="91440" cy="91440"/>
          </a:xfrm>
          <a:prstGeom prst="rect">
            <a:avLst/>
          </a:prstGeom>
          <a:solidFill>
            <a:srgbClr val="0091C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54096" y="1920240"/>
            <a:ext cx="1755648" cy="475488"/>
          </a:xfrm>
          <a:prstGeom prst="rect">
            <a:avLst/>
          </a:prstGeom>
          <a:noFill/>
        </p:spPr>
        <p:txBody>
          <a:bodyPr wrap="square"/>
          <a:lstStyle/>
          <a:p>
            <a:pPr algn="l"/>
            <a:r>
              <a:rPr sz="800" b="0" i="0">
                <a:solidFill>
                  <a:srgbClr val="1E293B"/>
                </a:solidFill>
                <a:latin typeface="Poppins"/>
              </a:rPr>
              <a:t>Fix the "©2035" Wix footer bug</a:t>
            </a:r>
          </a:p>
        </p:txBody>
      </p:sp>
      <p:sp>
        <p:nvSpPr>
          <p:cNvPr id="19" name="Rectangle 18"/>
          <p:cNvSpPr/>
          <p:nvPr/>
        </p:nvSpPr>
        <p:spPr>
          <a:xfrm>
            <a:off x="2816352" y="2468880"/>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907792" y="2688336"/>
            <a:ext cx="91440" cy="91440"/>
          </a:xfrm>
          <a:prstGeom prst="rect">
            <a:avLst/>
          </a:prstGeom>
          <a:solidFill>
            <a:srgbClr val="0091C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4096" y="2523744"/>
            <a:ext cx="1755648" cy="475488"/>
          </a:xfrm>
          <a:prstGeom prst="rect">
            <a:avLst/>
          </a:prstGeom>
          <a:noFill/>
        </p:spPr>
        <p:txBody>
          <a:bodyPr wrap="square"/>
          <a:lstStyle/>
          <a:p>
            <a:pPr algn="l"/>
            <a:r>
              <a:rPr sz="800" b="0" i="0">
                <a:solidFill>
                  <a:srgbClr val="1E293B"/>
                </a:solidFill>
                <a:latin typeface="Poppins"/>
              </a:rPr>
              <a:t>Add a visible homepage contact form</a:t>
            </a:r>
          </a:p>
        </p:txBody>
      </p:sp>
      <p:sp>
        <p:nvSpPr>
          <p:cNvPr id="22" name="Rectangle 21"/>
          <p:cNvSpPr/>
          <p:nvPr/>
        </p:nvSpPr>
        <p:spPr>
          <a:xfrm>
            <a:off x="2816352" y="3072384"/>
            <a:ext cx="2048256" cy="566928"/>
          </a:xfrm>
          <a:prstGeom prst="rect">
            <a:avLst/>
          </a:prstGeom>
          <a:solidFill>
            <a:srgbClr val="E3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2" y="3291839"/>
            <a:ext cx="91440" cy="91440"/>
          </a:xfrm>
          <a:prstGeom prst="rect">
            <a:avLst/>
          </a:prstGeom>
          <a:solidFill>
            <a:srgbClr val="0091C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54096" y="3127248"/>
            <a:ext cx="1755648" cy="475488"/>
          </a:xfrm>
          <a:prstGeom prst="rect">
            <a:avLst/>
          </a:prstGeom>
          <a:noFill/>
        </p:spPr>
        <p:txBody>
          <a:bodyPr wrap="square"/>
          <a:lstStyle/>
          <a:p>
            <a:pPr algn="l"/>
            <a:r>
              <a:rPr sz="800" b="0" i="0">
                <a:solidFill>
                  <a:srgbClr val="1E293B"/>
                </a:solidFill>
                <a:latin typeface="Poppins"/>
              </a:rPr>
              <a:t>Resolve the Ste 190 vs. Ste 307 address mismatch</a:t>
            </a:r>
          </a:p>
        </p:txBody>
      </p:sp>
      <p:sp>
        <p:nvSpPr>
          <p:cNvPr id="25" name="Rectangle 24"/>
          <p:cNvSpPr/>
          <p:nvPr/>
        </p:nvSpPr>
        <p:spPr>
          <a:xfrm>
            <a:off x="2816352" y="3675887"/>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907792" y="3895344"/>
            <a:ext cx="91440" cy="91440"/>
          </a:xfrm>
          <a:prstGeom prst="rect">
            <a:avLst/>
          </a:prstGeom>
          <a:solidFill>
            <a:srgbClr val="0091C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54096" y="3730751"/>
            <a:ext cx="1755648" cy="475488"/>
          </a:xfrm>
          <a:prstGeom prst="rect">
            <a:avLst/>
          </a:prstGeom>
          <a:noFill/>
        </p:spPr>
        <p:txBody>
          <a:bodyPr wrap="square"/>
          <a:lstStyle/>
          <a:p>
            <a:pPr algn="l"/>
            <a:r>
              <a:rPr sz="800" b="0" i="0">
                <a:solidFill>
                  <a:srgbClr val="1E293B"/>
                </a:solidFill>
                <a:latin typeface="Poppins"/>
              </a:rPr>
              <a:t>Build out Yelp, FindLaw, and Justia listings</a:t>
            </a:r>
          </a:p>
        </p:txBody>
      </p:sp>
      <p:sp>
        <p:nvSpPr>
          <p:cNvPr id="28" name="Rectangle 27"/>
          <p:cNvSpPr/>
          <p:nvPr/>
        </p:nvSpPr>
        <p:spPr>
          <a:xfrm>
            <a:off x="2816352" y="4279392"/>
            <a:ext cx="2048256" cy="566928"/>
          </a:xfrm>
          <a:prstGeom prst="rect">
            <a:avLst/>
          </a:prstGeom>
          <a:solidFill>
            <a:srgbClr val="E3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907792" y="4498848"/>
            <a:ext cx="91440" cy="91440"/>
          </a:xfrm>
          <a:prstGeom prst="rect">
            <a:avLst/>
          </a:prstGeom>
          <a:solidFill>
            <a:srgbClr val="0091C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054096" y="4334255"/>
            <a:ext cx="1755648" cy="475488"/>
          </a:xfrm>
          <a:prstGeom prst="rect">
            <a:avLst/>
          </a:prstGeom>
          <a:noFill/>
        </p:spPr>
        <p:txBody>
          <a:bodyPr wrap="square"/>
          <a:lstStyle/>
          <a:p>
            <a:pPr algn="l"/>
            <a:r>
              <a:rPr sz="800" b="0" i="0">
                <a:solidFill>
                  <a:srgbClr val="1E293B"/>
                </a:solidFill>
                <a:latin typeface="Poppins"/>
              </a:rPr>
              <a:t>Test a modest paid visibility channel</a:t>
            </a:r>
          </a:p>
        </p:txBody>
      </p:sp>
      <p:sp>
        <p:nvSpPr>
          <p:cNvPr id="31" name="Rectangle 30"/>
          <p:cNvSpPr/>
          <p:nvPr/>
        </p:nvSpPr>
        <p:spPr>
          <a:xfrm>
            <a:off x="4937760" y="1024128"/>
            <a:ext cx="2048256" cy="841248"/>
          </a:xfrm>
          <a:prstGeom prst="rect">
            <a:avLst/>
          </a:prstGeom>
          <a:solidFill>
            <a:srgbClr val="69CD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47488" y="1042415"/>
            <a:ext cx="457200" cy="274320"/>
          </a:xfrm>
          <a:prstGeom prst="rect">
            <a:avLst/>
          </a:prstGeom>
          <a:noFill/>
        </p:spPr>
        <p:txBody>
          <a:bodyPr wrap="square"/>
          <a:lstStyle/>
          <a:p>
            <a:pPr algn="l"/>
            <a:r>
              <a:rPr sz="1000" b="1" i="0">
                <a:solidFill>
                  <a:srgbClr val="003A59"/>
                </a:solidFill>
                <a:latin typeface="Poppins"/>
              </a:rPr>
              <a:t>02</a:t>
            </a:r>
          </a:p>
        </p:txBody>
      </p:sp>
      <p:sp>
        <p:nvSpPr>
          <p:cNvPr id="33" name="TextBox 32"/>
          <p:cNvSpPr txBox="1"/>
          <p:nvPr/>
        </p:nvSpPr>
        <p:spPr>
          <a:xfrm>
            <a:off x="5047488" y="1316736"/>
            <a:ext cx="1865376" cy="256032"/>
          </a:xfrm>
          <a:prstGeom prst="rect">
            <a:avLst/>
          </a:prstGeom>
          <a:noFill/>
        </p:spPr>
        <p:txBody>
          <a:bodyPr wrap="square"/>
          <a:lstStyle/>
          <a:p>
            <a:pPr algn="l"/>
            <a:r>
              <a:rPr sz="1200" b="1" i="0">
                <a:solidFill>
                  <a:srgbClr val="003A59"/>
                </a:solidFill>
                <a:latin typeface="Poppins"/>
              </a:rPr>
              <a:t>Fix Intake &amp;</a:t>
            </a:r>
          </a:p>
        </p:txBody>
      </p:sp>
      <p:sp>
        <p:nvSpPr>
          <p:cNvPr id="34" name="TextBox 33"/>
          <p:cNvSpPr txBox="1"/>
          <p:nvPr/>
        </p:nvSpPr>
        <p:spPr>
          <a:xfrm>
            <a:off x="5047488" y="1554480"/>
            <a:ext cx="1865376" cy="256032"/>
          </a:xfrm>
          <a:prstGeom prst="rect">
            <a:avLst/>
          </a:prstGeom>
          <a:noFill/>
        </p:spPr>
        <p:txBody>
          <a:bodyPr wrap="square"/>
          <a:lstStyle/>
          <a:p>
            <a:pPr algn="l"/>
            <a:r>
              <a:rPr sz="1200" b="1" i="0">
                <a:solidFill>
                  <a:srgbClr val="003A59"/>
                </a:solidFill>
                <a:latin typeface="Poppins"/>
              </a:rPr>
              <a:t>Stop Losing Cases</a:t>
            </a:r>
          </a:p>
        </p:txBody>
      </p:sp>
      <p:sp>
        <p:nvSpPr>
          <p:cNvPr id="35" name="Rectangle 34"/>
          <p:cNvSpPr/>
          <p:nvPr/>
        </p:nvSpPr>
        <p:spPr>
          <a:xfrm>
            <a:off x="4937760" y="1865376"/>
            <a:ext cx="2048256" cy="566928"/>
          </a:xfrm>
          <a:prstGeom prst="rect">
            <a:avLst/>
          </a:prstGeom>
          <a:solidFill>
            <a:srgbClr val="EDF9E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0" y="2084832"/>
            <a:ext cx="91440" cy="91440"/>
          </a:xfrm>
          <a:prstGeom prst="rect">
            <a:avLst/>
          </a:prstGeom>
          <a:solidFill>
            <a:srgbClr val="69CD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75504" y="1920240"/>
            <a:ext cx="1755648" cy="475488"/>
          </a:xfrm>
          <a:prstGeom prst="rect">
            <a:avLst/>
          </a:prstGeom>
          <a:noFill/>
        </p:spPr>
        <p:txBody>
          <a:bodyPr wrap="square"/>
          <a:lstStyle/>
          <a:p>
            <a:pPr algn="l"/>
            <a:r>
              <a:rPr sz="800" b="0" i="0">
                <a:solidFill>
                  <a:srgbClr val="1E293B"/>
                </a:solidFill>
                <a:latin typeface="Poppins"/>
              </a:rPr>
              <a:t>Add a homepage contact form for ready prospects</a:t>
            </a:r>
          </a:p>
        </p:txBody>
      </p:sp>
      <p:sp>
        <p:nvSpPr>
          <p:cNvPr id="38" name="Rectangle 37"/>
          <p:cNvSpPr/>
          <p:nvPr/>
        </p:nvSpPr>
        <p:spPr>
          <a:xfrm>
            <a:off x="4937760" y="2468880"/>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0" y="2688336"/>
            <a:ext cx="91440" cy="91440"/>
          </a:xfrm>
          <a:prstGeom prst="rect">
            <a:avLst/>
          </a:prstGeom>
          <a:solidFill>
            <a:srgbClr val="69CD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75504" y="2523744"/>
            <a:ext cx="1755648" cy="475488"/>
          </a:xfrm>
          <a:prstGeom prst="rect">
            <a:avLst/>
          </a:prstGeom>
          <a:noFill/>
        </p:spPr>
        <p:txBody>
          <a:bodyPr wrap="square"/>
          <a:lstStyle/>
          <a:p>
            <a:pPr algn="l"/>
            <a:r>
              <a:rPr sz="800" b="0" i="0">
                <a:solidFill>
                  <a:srgbClr val="1E293B"/>
                </a:solidFill>
                <a:latin typeface="Poppins"/>
              </a:rPr>
              <a:t>Define a follow-up process beyond referrals</a:t>
            </a:r>
          </a:p>
        </p:txBody>
      </p:sp>
      <p:sp>
        <p:nvSpPr>
          <p:cNvPr id="41" name="Rectangle 40"/>
          <p:cNvSpPr/>
          <p:nvPr/>
        </p:nvSpPr>
        <p:spPr>
          <a:xfrm>
            <a:off x="4937760" y="3072384"/>
            <a:ext cx="2048256" cy="566928"/>
          </a:xfrm>
          <a:prstGeom prst="rect">
            <a:avLst/>
          </a:prstGeom>
          <a:solidFill>
            <a:srgbClr val="EDF9E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029200" y="3291839"/>
            <a:ext cx="91440" cy="91440"/>
          </a:xfrm>
          <a:prstGeom prst="rect">
            <a:avLst/>
          </a:prstGeom>
          <a:solidFill>
            <a:srgbClr val="69CD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175504" y="3127248"/>
            <a:ext cx="1755648" cy="475488"/>
          </a:xfrm>
          <a:prstGeom prst="rect">
            <a:avLst/>
          </a:prstGeom>
          <a:noFill/>
        </p:spPr>
        <p:txBody>
          <a:bodyPr wrap="square"/>
          <a:lstStyle/>
          <a:p>
            <a:pPr algn="l"/>
            <a:r>
              <a:rPr sz="800" b="0" i="0">
                <a:solidFill>
                  <a:srgbClr val="1E293B"/>
                </a:solidFill>
                <a:latin typeface="Poppins"/>
              </a:rPr>
              <a:t>Build after-hours coverage for missed leads</a:t>
            </a:r>
          </a:p>
        </p:txBody>
      </p:sp>
      <p:sp>
        <p:nvSpPr>
          <p:cNvPr id="44" name="Rectangle 43"/>
          <p:cNvSpPr/>
          <p:nvPr/>
        </p:nvSpPr>
        <p:spPr>
          <a:xfrm>
            <a:off x="4937760" y="3675887"/>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29200" y="3895344"/>
            <a:ext cx="91440" cy="91440"/>
          </a:xfrm>
          <a:prstGeom prst="rect">
            <a:avLst/>
          </a:prstGeom>
          <a:solidFill>
            <a:srgbClr val="69CD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75504" y="3730751"/>
            <a:ext cx="1755648" cy="475488"/>
          </a:xfrm>
          <a:prstGeom prst="rect">
            <a:avLst/>
          </a:prstGeom>
          <a:noFill/>
        </p:spPr>
        <p:txBody>
          <a:bodyPr wrap="square"/>
          <a:lstStyle/>
          <a:p>
            <a:pPr algn="l"/>
            <a:r>
              <a:rPr sz="800" b="0" i="0">
                <a:solidFill>
                  <a:srgbClr val="1E293B"/>
                </a:solidFill>
                <a:latin typeface="Poppins"/>
              </a:rPr>
              <a:t>Confirm PageSpeed and mobile experience</a:t>
            </a:r>
          </a:p>
        </p:txBody>
      </p:sp>
      <p:sp>
        <p:nvSpPr>
          <p:cNvPr id="47" name="Rectangle 46"/>
          <p:cNvSpPr/>
          <p:nvPr/>
        </p:nvSpPr>
        <p:spPr>
          <a:xfrm>
            <a:off x="4937760" y="4279392"/>
            <a:ext cx="2048256" cy="566928"/>
          </a:xfrm>
          <a:prstGeom prst="rect">
            <a:avLst/>
          </a:prstGeom>
          <a:solidFill>
            <a:srgbClr val="EDF9E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029200" y="4498848"/>
            <a:ext cx="91440" cy="91440"/>
          </a:xfrm>
          <a:prstGeom prst="rect">
            <a:avLst/>
          </a:prstGeom>
          <a:solidFill>
            <a:srgbClr val="69CD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175504" y="4334255"/>
            <a:ext cx="1755648" cy="475488"/>
          </a:xfrm>
          <a:prstGeom prst="rect">
            <a:avLst/>
          </a:prstGeom>
          <a:noFill/>
        </p:spPr>
        <p:txBody>
          <a:bodyPr wrap="square"/>
          <a:lstStyle/>
          <a:p>
            <a:pPr algn="l"/>
            <a:r>
              <a:rPr sz="800" b="0" i="0">
                <a:solidFill>
                  <a:srgbClr val="1E293B"/>
                </a:solidFill>
                <a:latin typeface="Poppins"/>
              </a:rPr>
              <a:t>Track intake-to-signed-client conversion</a:t>
            </a:r>
          </a:p>
        </p:txBody>
      </p:sp>
      <p:sp>
        <p:nvSpPr>
          <p:cNvPr id="50" name="Rectangle 49"/>
          <p:cNvSpPr/>
          <p:nvPr/>
        </p:nvSpPr>
        <p:spPr>
          <a:xfrm>
            <a:off x="7059168" y="1024128"/>
            <a:ext cx="2048256" cy="841248"/>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168896" y="1042415"/>
            <a:ext cx="457200" cy="274320"/>
          </a:xfrm>
          <a:prstGeom prst="rect">
            <a:avLst/>
          </a:prstGeom>
          <a:noFill/>
        </p:spPr>
        <p:txBody>
          <a:bodyPr wrap="square"/>
          <a:lstStyle/>
          <a:p>
            <a:pPr algn="l"/>
            <a:r>
              <a:rPr sz="1000" b="1" i="0">
                <a:solidFill>
                  <a:srgbClr val="FFFFFF"/>
                </a:solidFill>
                <a:latin typeface="Poppins"/>
              </a:rPr>
              <a:t>03</a:t>
            </a:r>
          </a:p>
        </p:txBody>
      </p:sp>
      <p:sp>
        <p:nvSpPr>
          <p:cNvPr id="52" name="TextBox 51"/>
          <p:cNvSpPr txBox="1"/>
          <p:nvPr/>
        </p:nvSpPr>
        <p:spPr>
          <a:xfrm>
            <a:off x="7168896" y="1316736"/>
            <a:ext cx="1865376" cy="256032"/>
          </a:xfrm>
          <a:prstGeom prst="rect">
            <a:avLst/>
          </a:prstGeom>
          <a:noFill/>
        </p:spPr>
        <p:txBody>
          <a:bodyPr wrap="square"/>
          <a:lstStyle/>
          <a:p>
            <a:pPr algn="l"/>
            <a:r>
              <a:rPr sz="1200" b="1" i="0">
                <a:solidFill>
                  <a:srgbClr val="FFFFFF"/>
                </a:solidFill>
                <a:latin typeface="Poppins"/>
              </a:rPr>
              <a:t>Install Team &amp;</a:t>
            </a:r>
          </a:p>
        </p:txBody>
      </p:sp>
      <p:sp>
        <p:nvSpPr>
          <p:cNvPr id="53" name="TextBox 52"/>
          <p:cNvSpPr txBox="1"/>
          <p:nvPr/>
        </p:nvSpPr>
        <p:spPr>
          <a:xfrm>
            <a:off x="7168896" y="1554480"/>
            <a:ext cx="1865376" cy="256032"/>
          </a:xfrm>
          <a:prstGeom prst="rect">
            <a:avLst/>
          </a:prstGeom>
          <a:noFill/>
        </p:spPr>
        <p:txBody>
          <a:bodyPr wrap="square"/>
          <a:lstStyle/>
          <a:p>
            <a:pPr algn="l"/>
            <a:r>
              <a:rPr sz="1200" b="1" i="0">
                <a:solidFill>
                  <a:srgbClr val="FFFFFF"/>
                </a:solidFill>
                <a:latin typeface="Poppins"/>
              </a:rPr>
              <a:t>Profit Systems</a:t>
            </a:r>
          </a:p>
        </p:txBody>
      </p:sp>
      <p:sp>
        <p:nvSpPr>
          <p:cNvPr id="54" name="Rectangle 53"/>
          <p:cNvSpPr/>
          <p:nvPr/>
        </p:nvSpPr>
        <p:spPr>
          <a:xfrm>
            <a:off x="7059168" y="1865376"/>
            <a:ext cx="2048256" cy="566928"/>
          </a:xfrm>
          <a:prstGeom prst="rect">
            <a:avLst/>
          </a:prstGeom>
          <a:solidFill>
            <a:srgbClr val="E0E7E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150607" y="2084832"/>
            <a:ext cx="91440" cy="9144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296912" y="1920240"/>
            <a:ext cx="1755648" cy="475488"/>
          </a:xfrm>
          <a:prstGeom prst="rect">
            <a:avLst/>
          </a:prstGeom>
          <a:noFill/>
        </p:spPr>
        <p:txBody>
          <a:bodyPr wrap="square"/>
          <a:lstStyle/>
          <a:p>
            <a:pPr algn="l"/>
            <a:r>
              <a:rPr sz="800" b="0" i="0">
                <a:solidFill>
                  <a:srgbClr val="1E293B"/>
                </a:solidFill>
                <a:latin typeface="Poppins"/>
              </a:rPr>
              <a:t>Build a hiring system so Sarah stops reviewing everything</a:t>
            </a:r>
          </a:p>
        </p:txBody>
      </p:sp>
      <p:sp>
        <p:nvSpPr>
          <p:cNvPr id="57" name="Rectangle 56"/>
          <p:cNvSpPr/>
          <p:nvPr/>
        </p:nvSpPr>
        <p:spPr>
          <a:xfrm>
            <a:off x="7059168" y="2468880"/>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150607" y="2688336"/>
            <a:ext cx="91440" cy="9144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296912" y="2523744"/>
            <a:ext cx="1755648" cy="475488"/>
          </a:xfrm>
          <a:prstGeom prst="rect">
            <a:avLst/>
          </a:prstGeom>
          <a:noFill/>
        </p:spPr>
        <p:txBody>
          <a:bodyPr wrap="square"/>
          <a:lstStyle/>
          <a:p>
            <a:pPr algn="l"/>
            <a:r>
              <a:rPr sz="800" b="0" i="0">
                <a:solidFill>
                  <a:srgbClr val="1E293B"/>
                </a:solidFill>
                <a:latin typeface="Poppins"/>
              </a:rPr>
              <a:t>Turn contractor oversight into a delegated process</a:t>
            </a:r>
          </a:p>
        </p:txBody>
      </p:sp>
      <p:sp>
        <p:nvSpPr>
          <p:cNvPr id="60" name="Rectangle 59"/>
          <p:cNvSpPr/>
          <p:nvPr/>
        </p:nvSpPr>
        <p:spPr>
          <a:xfrm>
            <a:off x="7059168" y="3072384"/>
            <a:ext cx="2048256" cy="566928"/>
          </a:xfrm>
          <a:prstGeom prst="rect">
            <a:avLst/>
          </a:prstGeom>
          <a:solidFill>
            <a:srgbClr val="E0E7E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150607" y="3291839"/>
            <a:ext cx="91440" cy="9144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96912" y="3127248"/>
            <a:ext cx="1755648" cy="475488"/>
          </a:xfrm>
          <a:prstGeom prst="rect">
            <a:avLst/>
          </a:prstGeom>
          <a:noFill/>
        </p:spPr>
        <p:txBody>
          <a:bodyPr wrap="square"/>
          <a:lstStyle/>
          <a:p>
            <a:pPr algn="l"/>
            <a:r>
              <a:rPr sz="800" b="0" i="0">
                <a:solidFill>
                  <a:srgbClr val="1E293B"/>
                </a:solidFill>
                <a:latin typeface="Poppins"/>
              </a:rPr>
              <a:t>Tie the $500K goal to a real hiring/capacity plan</a:t>
            </a:r>
          </a:p>
        </p:txBody>
      </p:sp>
      <p:sp>
        <p:nvSpPr>
          <p:cNvPr id="63" name="Rectangle 62"/>
          <p:cNvSpPr/>
          <p:nvPr/>
        </p:nvSpPr>
        <p:spPr>
          <a:xfrm>
            <a:off x="7059168" y="3675887"/>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150607" y="3895344"/>
            <a:ext cx="91440" cy="9144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296912" y="3730751"/>
            <a:ext cx="1755648" cy="475488"/>
          </a:xfrm>
          <a:prstGeom prst="rect">
            <a:avLst/>
          </a:prstGeom>
          <a:noFill/>
        </p:spPr>
        <p:txBody>
          <a:bodyPr wrap="square"/>
          <a:lstStyle/>
          <a:p>
            <a:pPr algn="l"/>
            <a:r>
              <a:rPr sz="800" b="0" i="0">
                <a:solidFill>
                  <a:srgbClr val="1E293B"/>
                </a:solidFill>
                <a:latin typeface="Poppins"/>
              </a:rPr>
              <a:t>Free Sarah's time for business development</a:t>
            </a:r>
          </a:p>
        </p:txBody>
      </p:sp>
      <p:sp>
        <p:nvSpPr>
          <p:cNvPr id="66" name="Rectangle 65"/>
          <p:cNvSpPr/>
          <p:nvPr/>
        </p:nvSpPr>
        <p:spPr>
          <a:xfrm>
            <a:off x="7059168" y="4279392"/>
            <a:ext cx="2048256" cy="566928"/>
          </a:xfrm>
          <a:prstGeom prst="rect">
            <a:avLst/>
          </a:prstGeom>
          <a:solidFill>
            <a:srgbClr val="E0E7E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150607" y="4498848"/>
            <a:ext cx="91440" cy="9144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96912" y="4334255"/>
            <a:ext cx="1755648" cy="475488"/>
          </a:xfrm>
          <a:prstGeom prst="rect">
            <a:avLst/>
          </a:prstGeom>
          <a:noFill/>
        </p:spPr>
        <p:txBody>
          <a:bodyPr wrap="square"/>
          <a:lstStyle/>
          <a:p>
            <a:pPr algn="l"/>
            <a:r>
              <a:rPr sz="800" b="0" i="0">
                <a:solidFill>
                  <a:srgbClr val="1E293B"/>
                </a:solidFill>
                <a:latin typeface="Poppins"/>
              </a:rPr>
              <a:t>Revisit AI Workforce once revenue nears $500K</a:t>
            </a:r>
          </a:p>
        </p:txBody>
      </p:sp>
      <p:sp>
        <p:nvSpPr>
          <p:cNvPr id="69" name="Rectangle 68"/>
          <p:cNvSpPr/>
          <p:nvPr/>
        </p:nvSpPr>
        <p:spPr>
          <a:xfrm>
            <a:off x="0" y="4828032"/>
            <a:ext cx="9144000" cy="32004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smb_team_logo.png"/>
          <p:cNvPicPr>
            <a:picLocks noChangeAspect="1"/>
          </p:cNvPicPr>
          <p:nvPr/>
        </p:nvPicPr>
        <p:blipFill>
          <a:blip r:embed="rId2"/>
          <a:stretch>
            <a:fillRect/>
          </a:stretch>
        </p:blipFill>
        <p:spPr>
          <a:xfrm>
            <a:off x="201168" y="4837176"/>
            <a:ext cx="1170432" cy="237744"/>
          </a:xfrm>
          <a:prstGeom prst="rect">
            <a:avLst/>
          </a:prstGeom>
        </p:spPr>
      </p:pic>
      <p:sp>
        <p:nvSpPr>
          <p:cNvPr id="71" name="TextBox 70"/>
          <p:cNvSpPr txBox="1"/>
          <p:nvPr/>
        </p:nvSpPr>
        <p:spPr>
          <a:xfrm>
            <a:off x="1609344" y="4837176"/>
            <a:ext cx="5303520" cy="274320"/>
          </a:xfrm>
          <a:prstGeom prst="rect">
            <a:avLst/>
          </a:prstGeom>
          <a:noFill/>
        </p:spPr>
        <p:txBody>
          <a:bodyPr wrap="square"/>
          <a:lstStyle/>
          <a:p>
            <a:pPr algn="l"/>
            <a:r>
              <a:rPr sz="800" b="0" i="0">
                <a:solidFill>
                  <a:srgbClr val="5A7A9A"/>
                </a:solidFill>
                <a:latin typeface="Poppins"/>
              </a:rPr>
              <a:t>CONFIDENTIAL  ·  Prepared by Randy Gold | SMB Team</a:t>
            </a:r>
          </a:p>
        </p:txBody>
      </p:sp>
      <p:sp>
        <p:nvSpPr>
          <p:cNvPr id="72" name="TextBox 71"/>
          <p:cNvSpPr txBox="1"/>
          <p:nvPr/>
        </p:nvSpPr>
        <p:spPr>
          <a:xfrm>
            <a:off x="8138160" y="4837176"/>
            <a:ext cx="786384" cy="274320"/>
          </a:xfrm>
          <a:prstGeom prst="rect">
            <a:avLst/>
          </a:prstGeom>
          <a:noFill/>
        </p:spPr>
        <p:txBody>
          <a:bodyPr wrap="square"/>
          <a:lstStyle/>
          <a:p>
            <a:pPr algn="r"/>
            <a:r>
              <a:rPr sz="800" b="0" i="0">
                <a:solidFill>
                  <a:srgbClr val="5A7A9A"/>
                </a:solidFill>
                <a:latin typeface="Poppins"/>
              </a:rPr>
              <a:t>2 / 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96012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2608" y="91440"/>
            <a:ext cx="8595360" cy="201168"/>
          </a:xfrm>
          <a:prstGeom prst="rect">
            <a:avLst/>
          </a:prstGeom>
          <a:noFill/>
        </p:spPr>
        <p:txBody>
          <a:bodyPr wrap="square"/>
          <a:lstStyle/>
          <a:p>
            <a:pPr algn="l"/>
            <a:r>
              <a:rPr sz="800" b="1" i="0">
                <a:solidFill>
                  <a:srgbClr val="69CD2B"/>
                </a:solidFill>
                <a:latin typeface="Poppins"/>
              </a:rPr>
              <a:t>LAW FIRM GROWTH AUDIT  ·  BW LAW, PLLC</a:t>
            </a:r>
          </a:p>
        </p:txBody>
      </p:sp>
      <p:sp>
        <p:nvSpPr>
          <p:cNvPr id="4" name="TextBox 3"/>
          <p:cNvSpPr txBox="1"/>
          <p:nvPr/>
        </p:nvSpPr>
        <p:spPr>
          <a:xfrm>
            <a:off x="292608" y="310896"/>
            <a:ext cx="8595360" cy="548640"/>
          </a:xfrm>
          <a:prstGeom prst="rect">
            <a:avLst/>
          </a:prstGeom>
          <a:noFill/>
        </p:spPr>
        <p:txBody>
          <a:bodyPr wrap="square"/>
          <a:lstStyle/>
          <a:p>
            <a:pPr algn="l"/>
            <a:r>
              <a:rPr sz="2200" b="1" i="0">
                <a:solidFill>
                  <a:srgbClr val="FFFFFF"/>
                </a:solidFill>
                <a:latin typeface="Poppins"/>
              </a:rPr>
              <a:t>Your Investment &amp; What Happens Next</a:t>
            </a:r>
          </a:p>
        </p:txBody>
      </p:sp>
      <p:sp>
        <p:nvSpPr>
          <p:cNvPr id="5" name="Rectangle 4"/>
          <p:cNvSpPr/>
          <p:nvPr/>
        </p:nvSpPr>
        <p:spPr>
          <a:xfrm>
            <a:off x="201168" y="1024128"/>
            <a:ext cx="4133087" cy="10241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01168" y="1024128"/>
            <a:ext cx="182880" cy="1024128"/>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 y="1115568"/>
            <a:ext cx="3803904" cy="201168"/>
          </a:xfrm>
          <a:prstGeom prst="rect">
            <a:avLst/>
          </a:prstGeom>
          <a:noFill/>
        </p:spPr>
        <p:txBody>
          <a:bodyPr wrap="square"/>
          <a:lstStyle/>
          <a:p>
            <a:pPr algn="l"/>
            <a:r>
              <a:rPr sz="800" b="1" i="0">
                <a:solidFill>
                  <a:srgbClr val="003A59"/>
                </a:solidFill>
                <a:latin typeface="Poppins"/>
              </a:rPr>
              <a:t>ELITE COACH</a:t>
            </a:r>
          </a:p>
        </p:txBody>
      </p:sp>
      <p:sp>
        <p:nvSpPr>
          <p:cNvPr id="8" name="TextBox 7"/>
          <p:cNvSpPr txBox="1"/>
          <p:nvPr/>
        </p:nvSpPr>
        <p:spPr>
          <a:xfrm>
            <a:off x="475488" y="1298448"/>
            <a:ext cx="1828800" cy="438912"/>
          </a:xfrm>
          <a:prstGeom prst="rect">
            <a:avLst/>
          </a:prstGeom>
          <a:noFill/>
        </p:spPr>
        <p:txBody>
          <a:bodyPr wrap="square"/>
          <a:lstStyle/>
          <a:p>
            <a:pPr algn="l"/>
            <a:r>
              <a:rPr sz="3200" b="1" i="0">
                <a:solidFill>
                  <a:srgbClr val="003A59"/>
                </a:solidFill>
                <a:latin typeface="Poppins"/>
              </a:rPr>
              <a:t>$2,600</a:t>
            </a:r>
          </a:p>
        </p:txBody>
      </p:sp>
      <p:sp>
        <p:nvSpPr>
          <p:cNvPr id="9" name="TextBox 8"/>
          <p:cNvSpPr txBox="1"/>
          <p:nvPr/>
        </p:nvSpPr>
        <p:spPr>
          <a:xfrm>
            <a:off x="1865376" y="1408176"/>
            <a:ext cx="420624" cy="256032"/>
          </a:xfrm>
          <a:prstGeom prst="rect">
            <a:avLst/>
          </a:prstGeom>
          <a:noFill/>
        </p:spPr>
        <p:txBody>
          <a:bodyPr wrap="square"/>
          <a:lstStyle/>
          <a:p>
            <a:pPr algn="l"/>
            <a:r>
              <a:rPr sz="1100" b="0" i="0">
                <a:solidFill>
                  <a:srgbClr val="64748B"/>
                </a:solidFill>
                <a:latin typeface="Poppins"/>
              </a:rPr>
              <a:t>/mo</a:t>
            </a:r>
          </a:p>
        </p:txBody>
      </p:sp>
      <p:sp>
        <p:nvSpPr>
          <p:cNvPr id="10" name="TextBox 9"/>
          <p:cNvSpPr txBox="1"/>
          <p:nvPr/>
        </p:nvSpPr>
        <p:spPr>
          <a:xfrm>
            <a:off x="2322576" y="1426464"/>
            <a:ext cx="914400" cy="237744"/>
          </a:xfrm>
          <a:prstGeom prst="rect">
            <a:avLst/>
          </a:prstGeom>
          <a:noFill/>
        </p:spPr>
        <p:txBody>
          <a:bodyPr wrap="square"/>
          <a:lstStyle/>
          <a:p>
            <a:pPr algn="l"/>
            <a:r>
              <a:rPr sz="1100" b="0" i="0">
                <a:solidFill>
                  <a:srgbClr val="334155"/>
                </a:solidFill>
                <a:latin typeface="Poppins"/>
              </a:rPr>
              <a:t>$3,497/mo</a:t>
            </a:r>
          </a:p>
        </p:txBody>
      </p:sp>
      <p:sp>
        <p:nvSpPr>
          <p:cNvPr id="11" name="Rectangle 10"/>
          <p:cNvSpPr/>
          <p:nvPr/>
        </p:nvSpPr>
        <p:spPr>
          <a:xfrm>
            <a:off x="2322576" y="1527048"/>
            <a:ext cx="804672" cy="9144"/>
          </a:xfrm>
          <a:prstGeom prst="rect">
            <a:avLst/>
          </a:prstGeom>
          <a:solidFill>
            <a:srgbClr val="33415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1792224"/>
            <a:ext cx="3803904" cy="201168"/>
          </a:xfrm>
          <a:prstGeom prst="rect">
            <a:avLst/>
          </a:prstGeom>
          <a:noFill/>
        </p:spPr>
        <p:txBody>
          <a:bodyPr wrap="square"/>
          <a:lstStyle/>
          <a:p>
            <a:pPr algn="l"/>
            <a:r>
              <a:rPr sz="800" b="0" i="0">
                <a:solidFill>
                  <a:srgbClr val="64748B"/>
                </a:solidFill>
                <a:latin typeface="Poppins"/>
              </a:rPr>
              <a:t>Weekly group coaching · Masterminds · Hiring/delegation framework</a:t>
            </a:r>
          </a:p>
        </p:txBody>
      </p:sp>
      <p:sp>
        <p:nvSpPr>
          <p:cNvPr id="13" name="Rectangle 12"/>
          <p:cNvSpPr/>
          <p:nvPr/>
        </p:nvSpPr>
        <p:spPr>
          <a:xfrm>
            <a:off x="201168" y="3255264"/>
            <a:ext cx="4133087" cy="658368"/>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 y="3291840"/>
            <a:ext cx="1645920" cy="237744"/>
          </a:xfrm>
          <a:prstGeom prst="rect">
            <a:avLst/>
          </a:prstGeom>
          <a:noFill/>
        </p:spPr>
        <p:txBody>
          <a:bodyPr wrap="square"/>
          <a:lstStyle/>
          <a:p>
            <a:pPr algn="l"/>
            <a:r>
              <a:rPr sz="800" b="1" i="0">
                <a:solidFill>
                  <a:srgbClr val="7CA0C0"/>
                </a:solidFill>
                <a:latin typeface="Poppins"/>
              </a:rPr>
              <a:t>BUNDLE TOTAL</a:t>
            </a:r>
          </a:p>
        </p:txBody>
      </p:sp>
      <p:sp>
        <p:nvSpPr>
          <p:cNvPr id="15" name="TextBox 14"/>
          <p:cNvSpPr txBox="1"/>
          <p:nvPr/>
        </p:nvSpPr>
        <p:spPr>
          <a:xfrm>
            <a:off x="384048" y="3493008"/>
            <a:ext cx="2194560" cy="347472"/>
          </a:xfrm>
          <a:prstGeom prst="rect">
            <a:avLst/>
          </a:prstGeom>
          <a:noFill/>
        </p:spPr>
        <p:txBody>
          <a:bodyPr wrap="square"/>
          <a:lstStyle/>
          <a:p>
            <a:pPr algn="l"/>
            <a:r>
              <a:rPr sz="2200" b="1" i="0">
                <a:solidFill>
                  <a:srgbClr val="0091C9"/>
                </a:solidFill>
                <a:latin typeface="Poppins"/>
              </a:rPr>
              <a:t>$2,600 / mo</a:t>
            </a:r>
          </a:p>
        </p:txBody>
      </p:sp>
      <p:sp>
        <p:nvSpPr>
          <p:cNvPr id="16" name="TextBox 15"/>
          <p:cNvSpPr txBox="1"/>
          <p:nvPr/>
        </p:nvSpPr>
        <p:spPr>
          <a:xfrm>
            <a:off x="2670048" y="3493008"/>
            <a:ext cx="1737360" cy="347472"/>
          </a:xfrm>
          <a:prstGeom prst="rect">
            <a:avLst/>
          </a:prstGeom>
          <a:noFill/>
        </p:spPr>
        <p:txBody>
          <a:bodyPr wrap="square"/>
          <a:lstStyle/>
          <a:p>
            <a:pPr algn="l"/>
            <a:r>
              <a:rPr sz="800" b="0" i="0">
                <a:solidFill>
                  <a:srgbClr val="7CA0C0"/>
                </a:solidFill>
                <a:latin typeface="Poppins"/>
              </a:rPr>
              <a:t>Save $897/mo by bundling</a:t>
            </a:r>
          </a:p>
        </p:txBody>
      </p:sp>
      <p:sp>
        <p:nvSpPr>
          <p:cNvPr id="17" name="Rectangle 16"/>
          <p:cNvSpPr/>
          <p:nvPr/>
        </p:nvSpPr>
        <p:spPr>
          <a:xfrm>
            <a:off x="201168" y="3968496"/>
            <a:ext cx="4133087" cy="402336"/>
          </a:xfrm>
          <a:prstGeom prst="rect">
            <a:avLst/>
          </a:prstGeom>
          <a:solidFill>
            <a:srgbClr val="EEF2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9184" y="3995928"/>
            <a:ext cx="3931920" cy="347472"/>
          </a:xfrm>
          <a:prstGeom prst="rect">
            <a:avLst/>
          </a:prstGeom>
          <a:noFill/>
        </p:spPr>
        <p:txBody>
          <a:bodyPr wrap="square"/>
          <a:lstStyle/>
          <a:p>
            <a:pPr algn="l"/>
            <a:r>
              <a:rPr sz="800" b="0" i="0">
                <a:solidFill>
                  <a:srgbClr val="64748B"/>
                </a:solidFill>
                <a:latin typeface="Poppins"/>
              </a:rPr>
              <a:t>Optional: test paid visibility at $3,000–$8,300/mo, paid directly to Google/LSA</a:t>
            </a:r>
          </a:p>
        </p:txBody>
      </p:sp>
      <p:sp>
        <p:nvSpPr>
          <p:cNvPr id="19" name="Rectangle 18"/>
          <p:cNvSpPr/>
          <p:nvPr/>
        </p:nvSpPr>
        <p:spPr>
          <a:xfrm>
            <a:off x="4535424" y="1024128"/>
            <a:ext cx="4407408" cy="1316736"/>
          </a:xfrm>
          <a:prstGeom prst="rect">
            <a:avLst/>
          </a:prstGeom>
          <a:solidFill>
            <a:srgbClr val="ECFDF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00016" y="1078992"/>
            <a:ext cx="4133087" cy="219456"/>
          </a:xfrm>
          <a:prstGeom prst="rect">
            <a:avLst/>
          </a:prstGeom>
          <a:noFill/>
        </p:spPr>
        <p:txBody>
          <a:bodyPr wrap="square"/>
          <a:lstStyle/>
          <a:p>
            <a:pPr algn="l"/>
            <a:r>
              <a:rPr sz="800" b="1" i="0">
                <a:solidFill>
                  <a:srgbClr val="065F46"/>
                </a:solidFill>
                <a:latin typeface="Poppins"/>
              </a:rPr>
              <a:t>PROJECTED RETURN ON AD SPEND</a:t>
            </a:r>
          </a:p>
        </p:txBody>
      </p:sp>
      <p:sp>
        <p:nvSpPr>
          <p:cNvPr id="21" name="TextBox 20"/>
          <p:cNvSpPr txBox="1"/>
          <p:nvPr/>
        </p:nvSpPr>
        <p:spPr>
          <a:xfrm>
            <a:off x="4700016" y="1335024"/>
            <a:ext cx="1920240" cy="256032"/>
          </a:xfrm>
          <a:prstGeom prst="rect">
            <a:avLst/>
          </a:prstGeom>
          <a:noFill/>
        </p:spPr>
        <p:txBody>
          <a:bodyPr wrap="square"/>
          <a:lstStyle/>
          <a:p>
            <a:pPr algn="l"/>
            <a:r>
              <a:rPr sz="900" b="1" i="0">
                <a:solidFill>
                  <a:srgbClr val="1E293B"/>
                </a:solidFill>
                <a:latin typeface="Poppins"/>
              </a:rPr>
              <a:t>Average case value:</a:t>
            </a:r>
          </a:p>
        </p:txBody>
      </p:sp>
      <p:sp>
        <p:nvSpPr>
          <p:cNvPr id="22" name="TextBox 21"/>
          <p:cNvSpPr txBox="1"/>
          <p:nvPr/>
        </p:nvSpPr>
        <p:spPr>
          <a:xfrm>
            <a:off x="6729984" y="1335024"/>
            <a:ext cx="2103120" cy="256032"/>
          </a:xfrm>
          <a:prstGeom prst="rect">
            <a:avLst/>
          </a:prstGeom>
          <a:noFill/>
        </p:spPr>
        <p:txBody>
          <a:bodyPr wrap="square"/>
          <a:lstStyle/>
          <a:p>
            <a:pPr algn="l"/>
            <a:r>
              <a:rPr sz="900" b="0" i="0">
                <a:solidFill>
                  <a:srgbClr val="065F46"/>
                </a:solidFill>
                <a:latin typeface="Poppins"/>
              </a:rPr>
              <a:t>$4,500</a:t>
            </a:r>
          </a:p>
        </p:txBody>
      </p:sp>
      <p:sp>
        <p:nvSpPr>
          <p:cNvPr id="23" name="Rectangle 22"/>
          <p:cNvSpPr/>
          <p:nvPr/>
        </p:nvSpPr>
        <p:spPr>
          <a:xfrm>
            <a:off x="4645152" y="1609344"/>
            <a:ext cx="4187952" cy="310896"/>
          </a:xfrm>
          <a:prstGeom prst="rect">
            <a:avLst/>
          </a:prstGeom>
          <a:solidFill>
            <a:srgbClr val="D1FAE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00016" y="1645920"/>
            <a:ext cx="1920240" cy="256032"/>
          </a:xfrm>
          <a:prstGeom prst="rect">
            <a:avLst/>
          </a:prstGeom>
          <a:noFill/>
        </p:spPr>
        <p:txBody>
          <a:bodyPr wrap="square"/>
          <a:lstStyle/>
          <a:p>
            <a:pPr algn="l"/>
            <a:r>
              <a:rPr sz="900" b="1" i="0">
                <a:solidFill>
                  <a:srgbClr val="1E293B"/>
                </a:solidFill>
                <a:latin typeface="Poppins"/>
              </a:rPr>
              <a:t>Conservative  (~4 cases/mo):</a:t>
            </a:r>
          </a:p>
        </p:txBody>
      </p:sp>
      <p:sp>
        <p:nvSpPr>
          <p:cNvPr id="25" name="TextBox 24"/>
          <p:cNvSpPr txBox="1"/>
          <p:nvPr/>
        </p:nvSpPr>
        <p:spPr>
          <a:xfrm>
            <a:off x="6729984" y="1645920"/>
            <a:ext cx="2103120" cy="256032"/>
          </a:xfrm>
          <a:prstGeom prst="rect">
            <a:avLst/>
          </a:prstGeom>
          <a:noFill/>
        </p:spPr>
        <p:txBody>
          <a:bodyPr wrap="square"/>
          <a:lstStyle/>
          <a:p>
            <a:pPr algn="l"/>
            <a:r>
              <a:rPr sz="900" b="1" i="0">
                <a:solidFill>
                  <a:srgbClr val="065F46"/>
                </a:solidFill>
                <a:latin typeface="Poppins"/>
              </a:rPr>
              <a:t>$17,300 revenue · 5.8× ROAS</a:t>
            </a:r>
          </a:p>
        </p:txBody>
      </p:sp>
      <p:sp>
        <p:nvSpPr>
          <p:cNvPr id="26" name="TextBox 25"/>
          <p:cNvSpPr txBox="1"/>
          <p:nvPr/>
        </p:nvSpPr>
        <p:spPr>
          <a:xfrm>
            <a:off x="4700016" y="1956816"/>
            <a:ext cx="1920240" cy="256032"/>
          </a:xfrm>
          <a:prstGeom prst="rect">
            <a:avLst/>
          </a:prstGeom>
          <a:noFill/>
        </p:spPr>
        <p:txBody>
          <a:bodyPr wrap="square"/>
          <a:lstStyle/>
          <a:p>
            <a:pPr algn="l"/>
            <a:r>
              <a:rPr sz="900" b="1" i="0">
                <a:solidFill>
                  <a:srgbClr val="1E293B"/>
                </a:solidFill>
                <a:latin typeface="Poppins"/>
              </a:rPr>
              <a:t>Aggressive  (~13 cases/mo):</a:t>
            </a:r>
          </a:p>
        </p:txBody>
      </p:sp>
      <p:sp>
        <p:nvSpPr>
          <p:cNvPr id="27" name="TextBox 26"/>
          <p:cNvSpPr txBox="1"/>
          <p:nvPr/>
        </p:nvSpPr>
        <p:spPr>
          <a:xfrm>
            <a:off x="6729984" y="1956816"/>
            <a:ext cx="2103120" cy="256032"/>
          </a:xfrm>
          <a:prstGeom prst="rect">
            <a:avLst/>
          </a:prstGeom>
          <a:noFill/>
        </p:spPr>
        <p:txBody>
          <a:bodyPr wrap="square"/>
          <a:lstStyle/>
          <a:p>
            <a:pPr algn="l"/>
            <a:r>
              <a:rPr sz="900" b="1" i="0">
                <a:solidFill>
                  <a:srgbClr val="065F46"/>
                </a:solidFill>
                <a:latin typeface="Poppins"/>
              </a:rPr>
              <a:t>$57,600 revenue · 6.9× ROAS</a:t>
            </a:r>
          </a:p>
        </p:txBody>
      </p:sp>
      <p:sp>
        <p:nvSpPr>
          <p:cNvPr id="28" name="TextBox 27"/>
          <p:cNvSpPr txBox="1"/>
          <p:nvPr/>
        </p:nvSpPr>
        <p:spPr>
          <a:xfrm>
            <a:off x="4535424" y="2468880"/>
            <a:ext cx="4407408" cy="237744"/>
          </a:xfrm>
          <a:prstGeom prst="rect">
            <a:avLst/>
          </a:prstGeom>
          <a:noFill/>
        </p:spPr>
        <p:txBody>
          <a:bodyPr wrap="square"/>
          <a:lstStyle/>
          <a:p>
            <a:pPr algn="l"/>
            <a:r>
              <a:rPr sz="800" b="1" i="0">
                <a:solidFill>
                  <a:srgbClr val="003A59"/>
                </a:solidFill>
                <a:latin typeface="Poppins"/>
              </a:rPr>
              <a:t>WHAT HAPPENS IN THE FIRST 90 DAYS</a:t>
            </a:r>
          </a:p>
        </p:txBody>
      </p:sp>
      <p:sp>
        <p:nvSpPr>
          <p:cNvPr id="29" name="Rectangle 28"/>
          <p:cNvSpPr/>
          <p:nvPr/>
        </p:nvSpPr>
        <p:spPr>
          <a:xfrm>
            <a:off x="4590288" y="2724912"/>
            <a:ext cx="256032" cy="256032"/>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37760" y="2734056"/>
            <a:ext cx="804672" cy="256032"/>
          </a:xfrm>
          <a:prstGeom prst="rect">
            <a:avLst/>
          </a:prstGeom>
          <a:noFill/>
        </p:spPr>
        <p:txBody>
          <a:bodyPr wrap="square"/>
          <a:lstStyle/>
          <a:p>
            <a:pPr algn="l"/>
            <a:r>
              <a:rPr sz="800" b="1" i="0">
                <a:solidFill>
                  <a:srgbClr val="003A59"/>
                </a:solidFill>
                <a:latin typeface="Poppins"/>
              </a:rPr>
              <a:t>Day 1</a:t>
            </a:r>
          </a:p>
        </p:txBody>
      </p:sp>
      <p:sp>
        <p:nvSpPr>
          <p:cNvPr id="31" name="TextBox 30"/>
          <p:cNvSpPr txBox="1"/>
          <p:nvPr/>
        </p:nvSpPr>
        <p:spPr>
          <a:xfrm>
            <a:off x="5815584" y="2734056"/>
            <a:ext cx="3054096" cy="256032"/>
          </a:xfrm>
          <a:prstGeom prst="rect">
            <a:avLst/>
          </a:prstGeom>
          <a:noFill/>
        </p:spPr>
        <p:txBody>
          <a:bodyPr wrap="square"/>
          <a:lstStyle/>
          <a:p>
            <a:pPr algn="l"/>
            <a:r>
              <a:rPr sz="800" b="0" i="0">
                <a:solidFill>
                  <a:srgbClr val="1E293B"/>
                </a:solidFill>
                <a:latin typeface="Poppins"/>
              </a:rPr>
              <a:t>Kick off Elite Coach — build the hiring roadmap</a:t>
            </a:r>
          </a:p>
        </p:txBody>
      </p:sp>
      <p:sp>
        <p:nvSpPr>
          <p:cNvPr id="32" name="Rectangle 31"/>
          <p:cNvSpPr/>
          <p:nvPr/>
        </p:nvSpPr>
        <p:spPr>
          <a:xfrm>
            <a:off x="4590288" y="3081528"/>
            <a:ext cx="256032" cy="256032"/>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937760" y="3090672"/>
            <a:ext cx="804672" cy="256032"/>
          </a:xfrm>
          <a:prstGeom prst="rect">
            <a:avLst/>
          </a:prstGeom>
          <a:noFill/>
        </p:spPr>
        <p:txBody>
          <a:bodyPr wrap="square"/>
          <a:lstStyle/>
          <a:p>
            <a:pPr algn="l"/>
            <a:r>
              <a:rPr sz="800" b="1" i="0">
                <a:solidFill>
                  <a:srgbClr val="003A59"/>
                </a:solidFill>
                <a:latin typeface="Poppins"/>
              </a:rPr>
              <a:t>Day 14</a:t>
            </a:r>
          </a:p>
        </p:txBody>
      </p:sp>
      <p:sp>
        <p:nvSpPr>
          <p:cNvPr id="34" name="TextBox 33"/>
          <p:cNvSpPr txBox="1"/>
          <p:nvPr/>
        </p:nvSpPr>
        <p:spPr>
          <a:xfrm>
            <a:off x="5815584" y="3090672"/>
            <a:ext cx="3054096" cy="256032"/>
          </a:xfrm>
          <a:prstGeom prst="rect">
            <a:avLst/>
          </a:prstGeom>
          <a:noFill/>
        </p:spPr>
        <p:txBody>
          <a:bodyPr wrap="square"/>
          <a:lstStyle/>
          <a:p>
            <a:pPr algn="l"/>
            <a:r>
              <a:rPr sz="800" b="0" i="0">
                <a:solidFill>
                  <a:srgbClr val="1E293B"/>
                </a:solidFill>
                <a:latin typeface="Poppins"/>
              </a:rPr>
              <a:t>Fix footer bug and add homepage contact form</a:t>
            </a:r>
          </a:p>
        </p:txBody>
      </p:sp>
      <p:sp>
        <p:nvSpPr>
          <p:cNvPr id="35" name="Rectangle 34"/>
          <p:cNvSpPr/>
          <p:nvPr/>
        </p:nvSpPr>
        <p:spPr>
          <a:xfrm>
            <a:off x="4590288" y="3438144"/>
            <a:ext cx="256032" cy="256032"/>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37760" y="3447287"/>
            <a:ext cx="804672" cy="256032"/>
          </a:xfrm>
          <a:prstGeom prst="rect">
            <a:avLst/>
          </a:prstGeom>
          <a:noFill/>
        </p:spPr>
        <p:txBody>
          <a:bodyPr wrap="square"/>
          <a:lstStyle/>
          <a:p>
            <a:pPr algn="l"/>
            <a:r>
              <a:rPr sz="800" b="1" i="0">
                <a:solidFill>
                  <a:srgbClr val="003A59"/>
                </a:solidFill>
                <a:latin typeface="Poppins"/>
              </a:rPr>
              <a:t>Week 2</a:t>
            </a:r>
          </a:p>
        </p:txBody>
      </p:sp>
      <p:sp>
        <p:nvSpPr>
          <p:cNvPr id="37" name="TextBox 36"/>
          <p:cNvSpPr txBox="1"/>
          <p:nvPr/>
        </p:nvSpPr>
        <p:spPr>
          <a:xfrm>
            <a:off x="5815584" y="3447287"/>
            <a:ext cx="3054096" cy="256032"/>
          </a:xfrm>
          <a:prstGeom prst="rect">
            <a:avLst/>
          </a:prstGeom>
          <a:noFill/>
        </p:spPr>
        <p:txBody>
          <a:bodyPr wrap="square"/>
          <a:lstStyle/>
          <a:p>
            <a:pPr algn="l"/>
            <a:r>
              <a:rPr sz="800" b="0" i="0">
                <a:solidFill>
                  <a:srgbClr val="1E293B"/>
                </a:solidFill>
                <a:latin typeface="Poppins"/>
              </a:rPr>
              <a:t>Resolve NAP address mismatch across directories</a:t>
            </a:r>
          </a:p>
        </p:txBody>
      </p:sp>
      <p:sp>
        <p:nvSpPr>
          <p:cNvPr id="38" name="Rectangle 37"/>
          <p:cNvSpPr/>
          <p:nvPr/>
        </p:nvSpPr>
        <p:spPr>
          <a:xfrm>
            <a:off x="4590288" y="3794760"/>
            <a:ext cx="256032" cy="256032"/>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937760" y="3803904"/>
            <a:ext cx="804672" cy="256032"/>
          </a:xfrm>
          <a:prstGeom prst="rect">
            <a:avLst/>
          </a:prstGeom>
          <a:noFill/>
        </p:spPr>
        <p:txBody>
          <a:bodyPr wrap="square"/>
          <a:lstStyle/>
          <a:p>
            <a:pPr algn="l"/>
            <a:r>
              <a:rPr sz="800" b="1" i="0">
                <a:solidFill>
                  <a:srgbClr val="003A59"/>
                </a:solidFill>
                <a:latin typeface="Poppins"/>
              </a:rPr>
              <a:t>Week 3</a:t>
            </a:r>
          </a:p>
        </p:txBody>
      </p:sp>
      <p:sp>
        <p:nvSpPr>
          <p:cNvPr id="40" name="TextBox 39"/>
          <p:cNvSpPr txBox="1"/>
          <p:nvPr/>
        </p:nvSpPr>
        <p:spPr>
          <a:xfrm>
            <a:off x="5815584" y="3803904"/>
            <a:ext cx="3054096" cy="256032"/>
          </a:xfrm>
          <a:prstGeom prst="rect">
            <a:avLst/>
          </a:prstGeom>
          <a:noFill/>
        </p:spPr>
        <p:txBody>
          <a:bodyPr wrap="square"/>
          <a:lstStyle/>
          <a:p>
            <a:pPr algn="l"/>
            <a:r>
              <a:rPr sz="800" b="0" i="0">
                <a:solidFill>
                  <a:srgbClr val="1E293B"/>
                </a:solidFill>
                <a:latin typeface="Poppins"/>
              </a:rPr>
              <a:t>Confirm PageSpeed and fill Yelp/FindLaw/Justia gaps</a:t>
            </a:r>
          </a:p>
        </p:txBody>
      </p:sp>
      <p:sp>
        <p:nvSpPr>
          <p:cNvPr id="41" name="Rectangle 40"/>
          <p:cNvSpPr/>
          <p:nvPr/>
        </p:nvSpPr>
        <p:spPr>
          <a:xfrm>
            <a:off x="4590288" y="4151376"/>
            <a:ext cx="256032" cy="256032"/>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937760" y="4160520"/>
            <a:ext cx="804672" cy="256032"/>
          </a:xfrm>
          <a:prstGeom prst="rect">
            <a:avLst/>
          </a:prstGeom>
          <a:noFill/>
        </p:spPr>
        <p:txBody>
          <a:bodyPr wrap="square"/>
          <a:lstStyle/>
          <a:p>
            <a:pPr algn="l"/>
            <a:r>
              <a:rPr sz="800" b="1" i="0">
                <a:solidFill>
                  <a:srgbClr val="003A59"/>
                </a:solidFill>
                <a:latin typeface="Poppins"/>
              </a:rPr>
              <a:t>Month 3</a:t>
            </a:r>
          </a:p>
        </p:txBody>
      </p:sp>
      <p:sp>
        <p:nvSpPr>
          <p:cNvPr id="43" name="TextBox 42"/>
          <p:cNvSpPr txBox="1"/>
          <p:nvPr/>
        </p:nvSpPr>
        <p:spPr>
          <a:xfrm>
            <a:off x="5815584" y="4160520"/>
            <a:ext cx="3054096" cy="256032"/>
          </a:xfrm>
          <a:prstGeom prst="rect">
            <a:avLst/>
          </a:prstGeom>
          <a:noFill/>
        </p:spPr>
        <p:txBody>
          <a:bodyPr wrap="square"/>
          <a:lstStyle/>
          <a:p>
            <a:pPr algn="l"/>
            <a:r>
              <a:rPr sz="800" b="0" i="0">
                <a:solidFill>
                  <a:srgbClr val="1E293B"/>
                </a:solidFill>
                <a:latin typeface="Poppins"/>
              </a:rPr>
              <a:t>Optional paid visibility test alongside coaching</a:t>
            </a:r>
          </a:p>
        </p:txBody>
      </p:sp>
      <p:sp>
        <p:nvSpPr>
          <p:cNvPr id="44" name="Rectangle 43"/>
          <p:cNvSpPr/>
          <p:nvPr/>
        </p:nvSpPr>
        <p:spPr>
          <a:xfrm>
            <a:off x="0" y="4425696"/>
            <a:ext cx="9144000" cy="402336"/>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74320" y="4425696"/>
            <a:ext cx="8595360" cy="402336"/>
          </a:xfrm>
          <a:prstGeom prst="rect">
            <a:avLst/>
          </a:prstGeom>
          <a:noFill/>
        </p:spPr>
        <p:txBody>
          <a:bodyPr wrap="square"/>
          <a:lstStyle/>
          <a:p>
            <a:pPr algn="ctr"/>
            <a:r>
              <a:rPr sz="900" b="0" i="1">
                <a:solidFill>
                  <a:srgbClr val="8BADD0"/>
                </a:solidFill>
                <a:latin typeface="Poppins"/>
              </a:rPr>
              <a:t>"Build a trusted team to delegate work and reduce personal stress — and finally have more time for business development and networking."</a:t>
            </a:r>
          </a:p>
        </p:txBody>
      </p:sp>
      <p:sp>
        <p:nvSpPr>
          <p:cNvPr id="46" name="Rectangle 45"/>
          <p:cNvSpPr/>
          <p:nvPr/>
        </p:nvSpPr>
        <p:spPr>
          <a:xfrm>
            <a:off x="0" y="4828032"/>
            <a:ext cx="9144000" cy="320040"/>
          </a:xfrm>
          <a:prstGeom prst="rect">
            <a:avLst/>
          </a:prstGeom>
          <a:solidFill>
            <a:srgbClr val="003A5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smb_team_logo.png"/>
          <p:cNvPicPr>
            <a:picLocks noChangeAspect="1"/>
          </p:cNvPicPr>
          <p:nvPr/>
        </p:nvPicPr>
        <p:blipFill>
          <a:blip r:embed="rId2"/>
          <a:stretch>
            <a:fillRect/>
          </a:stretch>
        </p:blipFill>
        <p:spPr>
          <a:xfrm>
            <a:off x="201168" y="4837176"/>
            <a:ext cx="1170432" cy="237744"/>
          </a:xfrm>
          <a:prstGeom prst="rect">
            <a:avLst/>
          </a:prstGeom>
        </p:spPr>
      </p:pic>
      <p:sp>
        <p:nvSpPr>
          <p:cNvPr id="48" name="TextBox 47"/>
          <p:cNvSpPr txBox="1"/>
          <p:nvPr/>
        </p:nvSpPr>
        <p:spPr>
          <a:xfrm>
            <a:off x="1609344" y="4837176"/>
            <a:ext cx="5303520" cy="274320"/>
          </a:xfrm>
          <a:prstGeom prst="rect">
            <a:avLst/>
          </a:prstGeom>
          <a:noFill/>
        </p:spPr>
        <p:txBody>
          <a:bodyPr wrap="square"/>
          <a:lstStyle/>
          <a:p>
            <a:pPr algn="l"/>
            <a:r>
              <a:rPr sz="800" b="0" i="0">
                <a:solidFill>
                  <a:srgbClr val="5A7A9A"/>
                </a:solidFill>
                <a:latin typeface="Poppins"/>
              </a:rPr>
              <a:t>CONFIDENTIAL  ·  Prepared by Randy Gold | SMB Team</a:t>
            </a:r>
          </a:p>
        </p:txBody>
      </p:sp>
      <p:sp>
        <p:nvSpPr>
          <p:cNvPr id="49" name="TextBox 48"/>
          <p:cNvSpPr txBox="1"/>
          <p:nvPr/>
        </p:nvSpPr>
        <p:spPr>
          <a:xfrm>
            <a:off x="8138160" y="4837176"/>
            <a:ext cx="786384" cy="274320"/>
          </a:xfrm>
          <a:prstGeom prst="rect">
            <a:avLst/>
          </a:prstGeom>
          <a:noFill/>
        </p:spPr>
        <p:txBody>
          <a:bodyPr wrap="square"/>
          <a:lstStyle/>
          <a:p>
            <a:pPr algn="r"/>
            <a:r>
              <a:rPr sz="800" b="0" i="0">
                <a:solidFill>
                  <a:srgbClr val="5A7A9A"/>
                </a:solidFill>
                <a:latin typeface="Poppins"/>
              </a:rPr>
              <a:t>3 /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