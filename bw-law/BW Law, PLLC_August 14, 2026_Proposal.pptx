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BW LAW, PLLC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Poppins"/>
              </a:rPr>
              <a:t>Where BW Law, PLLC Stands Today</a:t>
            </a:r>
          </a:p>
        </p:txBody>
      </p:sp>
      <p:sp>
        <p:nvSpPr>
          <p:cNvPr id="5" name="Rectangle 4"/>
          <p:cNvSpPr/>
          <p:nvPr/>
        </p:nvSpPr>
        <p:spPr>
          <a:xfrm>
            <a:off x="0" y="960120"/>
            <a:ext cx="146304" cy="3867912"/>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Poppins"/>
              </a:rPr>
              <a:t>5</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Poppins"/>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Poppins"/>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Poppins"/>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Poppins"/>
              </a:rPr>
              <a:t>GBP/referrals work</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Poppins"/>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Poppins"/>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Poppins"/>
              </a:rPr>
              <a:t>No homepage contact form</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Poppins"/>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Poppins"/>
              </a:rPr>
              <a:t>Owner reviews all work</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Poppins"/>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Poppins"/>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Poppins"/>
              </a:rPr>
              <a:t>No hiring/capacity plan</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69CD2B"/>
                </a:solidFill>
                <a:latin typeface="Poppins"/>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Poppins"/>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Poppins"/>
              </a:rPr>
              <a:t>Owner personally reviews all contractor work — no delegated team</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Poppins"/>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Poppins"/>
              </a:rPr>
              <a:t>$500K goal has no hiring or capacity plan behind it yet</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Poppins"/>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Poppins"/>
              </a:rPr>
              <a:t>100% of leads come from referrals, GBP, and networking — no paid channel</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Poppins"/>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Poppins"/>
              </a:rPr>
              <a:t>Highest star rating (5.0) of any firm in its local comparison set</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69CD2B"/>
                </a:solidFill>
                <a:latin typeface="Poppins"/>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Poppins"/>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Poppins"/>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Poppins"/>
              </a:rPr>
              <a:t>Maldonado &amp; Vallejo Immigration Law</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Poppins"/>
              </a:rPr>
              <a:t>122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Poppins"/>
              </a:rPr>
              <a:t>4.9 stars · 4x volume</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Poppins"/>
              </a:rPr>
              <a:t>dePaz Cabrera Immigration Law</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Poppins"/>
              </a:rPr>
              <a:t>98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Poppins"/>
              </a:rPr>
              <a:t>4.9 stars · 10+ yrs</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Poppins"/>
              </a:rPr>
              <a:t>Robert J. Jacobs Immigration Law</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Poppins"/>
              </a:rPr>
              <a:t>26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Poppins"/>
              </a:rPr>
              <a:t>3.9 stars · since 1997</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Poppins"/>
              </a:rPr>
              <a:t>BW Law, PLLC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Poppins"/>
              </a:rPr>
              <a:t>30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Poppins"/>
              </a:rPr>
              <a:t>← You are here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Randy Gold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BW LAW, PLLC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Growth Plan: 3 Priorities to Reach $500K</a:t>
            </a:r>
          </a:p>
        </p:txBody>
      </p:sp>
      <p:sp>
        <p:nvSpPr>
          <p:cNvPr id="5" name="Rectangle 4"/>
          <p:cNvSpPr/>
          <p:nvPr/>
        </p:nvSpPr>
        <p:spPr>
          <a:xfrm>
            <a:off x="182880" y="1024128"/>
            <a:ext cx="2487168" cy="363931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69CD2B"/>
                </a:solidFill>
                <a:latin typeface="Poppins"/>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Poppins"/>
              </a:rPr>
              <a:t>All four pillars must work together. When hiring, intake, and team systems are in place, Sarah can finally step away from being "chief everything officer" and spend her time on business development.</a:t>
            </a:r>
          </a:p>
        </p:txBody>
      </p:sp>
      <p:sp>
        <p:nvSpPr>
          <p:cNvPr id="9" name="Rectangle 8"/>
          <p:cNvSpPr/>
          <p:nvPr/>
        </p:nvSpPr>
        <p:spPr>
          <a:xfrm>
            <a:off x="182880" y="2999232"/>
            <a:ext cx="2487168" cy="7498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03A59"/>
                </a:solidFill>
                <a:latin typeface="Poppins"/>
              </a:rPr>
              <a:t>$200K → $500K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03A59"/>
                </a:solidFill>
                <a:latin typeface="Poppins"/>
              </a:rPr>
              <a:t>Step back and trust the team handles it</a:t>
            </a:r>
          </a:p>
        </p:txBody>
      </p:sp>
      <p:sp>
        <p:nvSpPr>
          <p:cNvPr id="12" name="Rectangle 11"/>
          <p:cNvSpPr/>
          <p:nvPr/>
        </p:nvSpPr>
        <p:spPr>
          <a:xfrm>
            <a:off x="2816352" y="1024128"/>
            <a:ext cx="2048256" cy="84124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Poppins"/>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Poppins"/>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Poppins"/>
              </a:rPr>
              <a:t>Marketing Engine</a:t>
            </a:r>
          </a:p>
        </p:txBody>
      </p:sp>
      <p:sp>
        <p:nvSpPr>
          <p:cNvPr id="16" name="Rectangle 15"/>
          <p:cNvSpPr/>
          <p:nvPr/>
        </p:nvSpPr>
        <p:spPr>
          <a:xfrm>
            <a:off x="2816352" y="1865376"/>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Poppins"/>
              </a:rPr>
              <a:t>Fix the "©2035" Wix footer bug</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Poppins"/>
              </a:rPr>
              <a:t>Add a visible homepage contact form</a:t>
            </a:r>
          </a:p>
        </p:txBody>
      </p:sp>
      <p:sp>
        <p:nvSpPr>
          <p:cNvPr id="22" name="Rectangle 21"/>
          <p:cNvSpPr/>
          <p:nvPr/>
        </p:nvSpPr>
        <p:spPr>
          <a:xfrm>
            <a:off x="2816352" y="3072384"/>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Poppins"/>
              </a:rPr>
              <a:t>Resolve the Ste 190 vs. Ste 307 address mismatch</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Poppins"/>
              </a:rPr>
              <a:t>Build out Yelp, FindLaw, and Justia listings</a:t>
            </a:r>
          </a:p>
        </p:txBody>
      </p:sp>
      <p:sp>
        <p:nvSpPr>
          <p:cNvPr id="28" name="Rectangle 27"/>
          <p:cNvSpPr/>
          <p:nvPr/>
        </p:nvSpPr>
        <p:spPr>
          <a:xfrm>
            <a:off x="2816352" y="4279392"/>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Poppins"/>
              </a:rPr>
              <a:t>Monitor local search visibility as directory fixes take effect</a:t>
            </a:r>
          </a:p>
        </p:txBody>
      </p:sp>
      <p:sp>
        <p:nvSpPr>
          <p:cNvPr id="31" name="Rectangle 30"/>
          <p:cNvSpPr/>
          <p:nvPr/>
        </p:nvSpPr>
        <p:spPr>
          <a:xfrm>
            <a:off x="4937760" y="1024128"/>
            <a:ext cx="2048256" cy="84124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003A59"/>
                </a:solidFill>
                <a:latin typeface="Poppins"/>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003A59"/>
                </a:solidFill>
                <a:latin typeface="Poppins"/>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003A59"/>
                </a:solidFill>
                <a:latin typeface="Poppins"/>
              </a:rPr>
              <a:t>Stop Losing Cases</a:t>
            </a:r>
          </a:p>
        </p:txBody>
      </p:sp>
      <p:sp>
        <p:nvSpPr>
          <p:cNvPr id="35" name="Rectangle 34"/>
          <p:cNvSpPr/>
          <p:nvPr/>
        </p:nvSpPr>
        <p:spPr>
          <a:xfrm>
            <a:off x="4937760" y="1865376"/>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Poppins"/>
              </a:rPr>
              <a:t>Add a homepage contact form for ready prospects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Poppins"/>
              </a:rPr>
              <a:t>Define a follow-up process beyond referrals</a:t>
            </a:r>
          </a:p>
        </p:txBody>
      </p:sp>
      <p:sp>
        <p:nvSpPr>
          <p:cNvPr id="41" name="Rectangle 40"/>
          <p:cNvSpPr/>
          <p:nvPr/>
        </p:nvSpPr>
        <p:spPr>
          <a:xfrm>
            <a:off x="4937760" y="3072384"/>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Poppins"/>
              </a:rPr>
              <a:t>Build after-hours coverage for missed leads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Poppins"/>
              </a:rPr>
              <a:t>Confirm PageSpeed and mobile experience</a:t>
            </a:r>
          </a:p>
        </p:txBody>
      </p:sp>
      <p:sp>
        <p:nvSpPr>
          <p:cNvPr id="47" name="Rectangle 46"/>
          <p:cNvSpPr/>
          <p:nvPr/>
        </p:nvSpPr>
        <p:spPr>
          <a:xfrm>
            <a:off x="4937760" y="4279392"/>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Poppins"/>
              </a:rPr>
              <a:t>Track intake-to-signed-client conversion</a:t>
            </a:r>
          </a:p>
        </p:txBody>
      </p:sp>
      <p:sp>
        <p:nvSpPr>
          <p:cNvPr id="50" name="Rectangle 49"/>
          <p:cNvSpPr/>
          <p:nvPr/>
        </p:nvSpPr>
        <p:spPr>
          <a:xfrm>
            <a:off x="7059168" y="1024128"/>
            <a:ext cx="2048256"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Poppins"/>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Poppins"/>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Poppins"/>
              </a:rPr>
              <a:t>Profit Systems</a:t>
            </a:r>
          </a:p>
        </p:txBody>
      </p:sp>
      <p:sp>
        <p:nvSpPr>
          <p:cNvPr id="54" name="Rectangle 53"/>
          <p:cNvSpPr/>
          <p:nvPr/>
        </p:nvSpPr>
        <p:spPr>
          <a:xfrm>
            <a:off x="7059168" y="1865376"/>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Poppins"/>
              </a:rPr>
              <a:t>Build a hiring system so Sarah stops reviewing everything</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Poppins"/>
              </a:rPr>
              <a:t>Turn contractor oversight into a delegated process</a:t>
            </a:r>
          </a:p>
        </p:txBody>
      </p:sp>
      <p:sp>
        <p:nvSpPr>
          <p:cNvPr id="60" name="Rectangle 59"/>
          <p:cNvSpPr/>
          <p:nvPr/>
        </p:nvSpPr>
        <p:spPr>
          <a:xfrm>
            <a:off x="7059168" y="3072384"/>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Poppins"/>
              </a:rPr>
              <a:t>Tie the $500K goal to a real hiring/capacity plan</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Poppins"/>
              </a:rPr>
              <a:t>Free Sarah's time for business development</a:t>
            </a:r>
          </a:p>
        </p:txBody>
      </p:sp>
      <p:sp>
        <p:nvSpPr>
          <p:cNvPr id="66" name="Rectangle 65"/>
          <p:cNvSpPr/>
          <p:nvPr/>
        </p:nvSpPr>
        <p:spPr>
          <a:xfrm>
            <a:off x="7059168" y="4279392"/>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Poppins"/>
              </a:rPr>
              <a:t>Add the AI Workforce Starter seat for admin automation</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Randy Gold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BW LAW, PLLC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003A59"/>
                </a:solidFill>
                <a:latin typeface="Poppins"/>
              </a:rPr>
              <a:t>COACH ESSENTIALS PLUS</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03A59"/>
                </a:solidFill>
                <a:latin typeface="Poppins"/>
              </a:rPr>
              <a:t>$2,497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Poppins"/>
              </a:rPr>
              <a:t>/mo</a:t>
            </a:r>
          </a:p>
        </p:txBody>
      </p:sp>
      <p:sp>
        <p:nvSpPr>
          <p:cNvPr id="10" name="TextBox 9"/>
          <p:cNvSpPr txBox="1"/>
          <p:nvPr/>
        </p:nvSpPr>
        <p:spPr>
          <a:xfrm>
            <a:off x="475488" y="1792224"/>
            <a:ext cx="3803904" cy="201168"/>
          </a:xfrm>
          <a:prstGeom prst="rect">
            <a:avLst/>
          </a:prstGeom>
          <a:noFill/>
        </p:spPr>
        <p:txBody>
          <a:bodyPr wrap="square"/>
          <a:lstStyle/>
          <a:p>
            <a:pPr algn="l"/>
            <a:r>
              <a:rPr sz="800" b="0" i="0">
                <a:solidFill>
                  <a:srgbClr val="64748B"/>
                </a:solidFill>
                <a:latin typeface="Poppins"/>
              </a:rPr>
              <a:t>Weekly group coaching · Monthly 1:1 · Hiring/delegation framework</a:t>
            </a:r>
          </a:p>
        </p:txBody>
      </p:sp>
      <p:sp>
        <p:nvSpPr>
          <p:cNvPr id="11" name="Rectangle 10"/>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1168" y="2139696"/>
            <a:ext cx="182880" cy="102412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231136"/>
            <a:ext cx="3803904" cy="201168"/>
          </a:xfrm>
          <a:prstGeom prst="rect">
            <a:avLst/>
          </a:prstGeom>
          <a:noFill/>
        </p:spPr>
        <p:txBody>
          <a:bodyPr wrap="square"/>
          <a:lstStyle/>
          <a:p>
            <a:pPr algn="l"/>
            <a:r>
              <a:rPr sz="800" b="1" i="0">
                <a:solidFill>
                  <a:srgbClr val="0091C9"/>
                </a:solidFill>
                <a:latin typeface="Poppins"/>
              </a:rPr>
              <a:t>AI WORKFORCE PRO — STARTER (1 USER)</a:t>
            </a:r>
          </a:p>
        </p:txBody>
      </p:sp>
      <p:sp>
        <p:nvSpPr>
          <p:cNvPr id="14" name="TextBox 13"/>
          <p:cNvSpPr txBox="1"/>
          <p:nvPr/>
        </p:nvSpPr>
        <p:spPr>
          <a:xfrm>
            <a:off x="475488" y="2414015"/>
            <a:ext cx="1828800" cy="438912"/>
          </a:xfrm>
          <a:prstGeom prst="rect">
            <a:avLst/>
          </a:prstGeom>
          <a:noFill/>
        </p:spPr>
        <p:txBody>
          <a:bodyPr wrap="square"/>
          <a:lstStyle/>
          <a:p>
            <a:pPr algn="l"/>
            <a:r>
              <a:rPr sz="3200" b="1" i="0">
                <a:solidFill>
                  <a:srgbClr val="003A59"/>
                </a:solidFill>
                <a:latin typeface="Poppins"/>
              </a:rPr>
              <a:t>$350</a:t>
            </a:r>
          </a:p>
        </p:txBody>
      </p:sp>
      <p:sp>
        <p:nvSpPr>
          <p:cNvPr id="15" name="TextBox 14"/>
          <p:cNvSpPr txBox="1"/>
          <p:nvPr/>
        </p:nvSpPr>
        <p:spPr>
          <a:xfrm>
            <a:off x="1865376" y="2523744"/>
            <a:ext cx="420624" cy="256032"/>
          </a:xfrm>
          <a:prstGeom prst="rect">
            <a:avLst/>
          </a:prstGeom>
          <a:noFill/>
        </p:spPr>
        <p:txBody>
          <a:bodyPr wrap="square"/>
          <a:lstStyle/>
          <a:p>
            <a:pPr algn="l"/>
            <a:r>
              <a:rPr sz="1100" b="0" i="0">
                <a:solidFill>
                  <a:srgbClr val="64748B"/>
                </a:solidFill>
                <a:latin typeface="Poppins"/>
              </a:rPr>
              <a:t>/mo</a:t>
            </a:r>
          </a:p>
        </p:txBody>
      </p:sp>
      <p:sp>
        <p:nvSpPr>
          <p:cNvPr id="16" name="TextBox 15"/>
          <p:cNvSpPr txBox="1"/>
          <p:nvPr/>
        </p:nvSpPr>
        <p:spPr>
          <a:xfrm>
            <a:off x="475488" y="2907791"/>
            <a:ext cx="3803904" cy="201168"/>
          </a:xfrm>
          <a:prstGeom prst="rect">
            <a:avLst/>
          </a:prstGeom>
          <a:noFill/>
        </p:spPr>
        <p:txBody>
          <a:bodyPr wrap="square"/>
          <a:lstStyle/>
          <a:p>
            <a:pPr algn="l"/>
            <a:r>
              <a:rPr sz="800" b="0" i="0">
                <a:solidFill>
                  <a:srgbClr val="64748B"/>
                </a:solidFill>
                <a:latin typeface="Poppins"/>
              </a:rPr>
              <a:t>Intake qualification · Case updates · Email drafting</a:t>
            </a:r>
          </a:p>
        </p:txBody>
      </p:sp>
      <p:sp>
        <p:nvSpPr>
          <p:cNvPr id="17" name="Rectangle 16"/>
          <p:cNvSpPr/>
          <p:nvPr/>
        </p:nvSpPr>
        <p:spPr>
          <a:xfrm>
            <a:off x="201168" y="3255264"/>
            <a:ext cx="4133087" cy="65836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3291840"/>
            <a:ext cx="1645920" cy="237744"/>
          </a:xfrm>
          <a:prstGeom prst="rect">
            <a:avLst/>
          </a:prstGeom>
          <a:noFill/>
        </p:spPr>
        <p:txBody>
          <a:bodyPr wrap="square"/>
          <a:lstStyle/>
          <a:p>
            <a:pPr algn="l"/>
            <a:r>
              <a:rPr sz="800" b="1" i="0">
                <a:solidFill>
                  <a:srgbClr val="7CA0C0"/>
                </a:solidFill>
                <a:latin typeface="Poppins"/>
              </a:rPr>
              <a:t>BUNDLE TOTAL</a:t>
            </a:r>
          </a:p>
        </p:txBody>
      </p:sp>
      <p:sp>
        <p:nvSpPr>
          <p:cNvPr id="19" name="TextBox 18"/>
          <p:cNvSpPr txBox="1"/>
          <p:nvPr/>
        </p:nvSpPr>
        <p:spPr>
          <a:xfrm>
            <a:off x="384048" y="3493008"/>
            <a:ext cx="2194560" cy="347472"/>
          </a:xfrm>
          <a:prstGeom prst="rect">
            <a:avLst/>
          </a:prstGeom>
          <a:noFill/>
        </p:spPr>
        <p:txBody>
          <a:bodyPr wrap="square"/>
          <a:lstStyle/>
          <a:p>
            <a:pPr algn="l"/>
            <a:r>
              <a:rPr sz="2200" b="1" i="0">
                <a:solidFill>
                  <a:srgbClr val="0091C9"/>
                </a:solidFill>
                <a:latin typeface="Poppins"/>
              </a:rPr>
              <a:t>$2,847 / mo</a:t>
            </a:r>
          </a:p>
        </p:txBody>
      </p:sp>
      <p:sp>
        <p:nvSpPr>
          <p:cNvPr id="20" name="TextBox 19"/>
          <p:cNvSpPr txBox="1"/>
          <p:nvPr/>
        </p:nvSpPr>
        <p:spPr>
          <a:xfrm>
            <a:off x="2670048" y="3493008"/>
            <a:ext cx="1737360" cy="347472"/>
          </a:xfrm>
          <a:prstGeom prst="rect">
            <a:avLst/>
          </a:prstGeom>
          <a:noFill/>
        </p:spPr>
        <p:txBody>
          <a:bodyPr wrap="square"/>
          <a:lstStyle/>
          <a:p>
            <a:pPr algn="l"/>
            <a:r>
              <a:rPr sz="800" b="0" i="0">
                <a:solidFill>
                  <a:srgbClr val="7CA0C0"/>
                </a:solidFill>
                <a:latin typeface="Poppins"/>
              </a:rPr>
              <a:t>Stand-alone pricing — no marketing bundle</a:t>
            </a:r>
          </a:p>
        </p:txBody>
      </p:sp>
      <p:sp>
        <p:nvSpPr>
          <p:cNvPr id="21" name="Rectangle 20"/>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 y="3995928"/>
            <a:ext cx="3931920" cy="347472"/>
          </a:xfrm>
          <a:prstGeom prst="rect">
            <a:avLst/>
          </a:prstGeom>
          <a:noFill/>
        </p:spPr>
        <p:txBody>
          <a:bodyPr wrap="square"/>
          <a:lstStyle/>
          <a:p>
            <a:pPr algn="l"/>
            <a:r>
              <a:rPr sz="800" b="0" i="0">
                <a:solidFill>
                  <a:srgbClr val="64748B"/>
                </a:solidFill>
                <a:latin typeface="Poppins"/>
              </a:rPr>
              <a:t>Not recommended yet — budget priority is hiring/ops first. LSA/PPC comped by Randy whenever she opts in.</a:t>
            </a:r>
          </a:p>
        </p:txBody>
      </p:sp>
      <p:sp>
        <p:nvSpPr>
          <p:cNvPr id="23" name="Rectangle 22"/>
          <p:cNvSpPr/>
          <p:nvPr/>
        </p:nvSpPr>
        <p:spPr>
          <a:xfrm>
            <a:off x="4535424" y="1024128"/>
            <a:ext cx="4407408" cy="131673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0016" y="1078992"/>
            <a:ext cx="4133087" cy="219456"/>
          </a:xfrm>
          <a:prstGeom prst="rect">
            <a:avLst/>
          </a:prstGeom>
          <a:noFill/>
        </p:spPr>
        <p:txBody>
          <a:bodyPr wrap="square"/>
          <a:lstStyle/>
          <a:p>
            <a:pPr algn="l"/>
            <a:r>
              <a:rPr sz="800" b="1" i="0">
                <a:solidFill>
                  <a:srgbClr val="64748B"/>
                </a:solidFill>
                <a:latin typeface="Poppins"/>
              </a:rPr>
              <a:t>PAID ADS — REFERENCE ONLY, NOT RECOMMENDED YET</a:t>
            </a:r>
          </a:p>
        </p:txBody>
      </p:sp>
      <p:sp>
        <p:nvSpPr>
          <p:cNvPr id="25" name="TextBox 24"/>
          <p:cNvSpPr txBox="1"/>
          <p:nvPr/>
        </p:nvSpPr>
        <p:spPr>
          <a:xfrm>
            <a:off x="4700016" y="1335024"/>
            <a:ext cx="1920240" cy="256032"/>
          </a:xfrm>
          <a:prstGeom prst="rect">
            <a:avLst/>
          </a:prstGeom>
          <a:noFill/>
        </p:spPr>
        <p:txBody>
          <a:bodyPr wrap="square"/>
          <a:lstStyle/>
          <a:p>
            <a:pPr algn="l"/>
            <a:r>
              <a:rPr sz="900" b="1" i="0">
                <a:solidFill>
                  <a:srgbClr val="1E293B"/>
                </a:solidFill>
                <a:latin typeface="Poppins"/>
              </a:rPr>
              <a:t>Average case value:</a:t>
            </a:r>
          </a:p>
        </p:txBody>
      </p:sp>
      <p:sp>
        <p:nvSpPr>
          <p:cNvPr id="26" name="TextBox 25"/>
          <p:cNvSpPr txBox="1"/>
          <p:nvPr/>
        </p:nvSpPr>
        <p:spPr>
          <a:xfrm>
            <a:off x="6729984" y="1335024"/>
            <a:ext cx="2103120" cy="256032"/>
          </a:xfrm>
          <a:prstGeom prst="rect">
            <a:avLst/>
          </a:prstGeom>
          <a:noFill/>
        </p:spPr>
        <p:txBody>
          <a:bodyPr wrap="square"/>
          <a:lstStyle/>
          <a:p>
            <a:pPr algn="l"/>
            <a:r>
              <a:rPr sz="900" b="0" i="0">
                <a:solidFill>
                  <a:srgbClr val="64748B"/>
                </a:solidFill>
                <a:latin typeface="Poppins"/>
              </a:rPr>
              <a:t>$4,500</a:t>
            </a:r>
          </a:p>
        </p:txBody>
      </p:sp>
      <p:sp>
        <p:nvSpPr>
          <p:cNvPr id="27" name="Rectangle 26"/>
          <p:cNvSpPr/>
          <p:nvPr/>
        </p:nvSpPr>
        <p:spPr>
          <a:xfrm>
            <a:off x="4645152" y="1609344"/>
            <a:ext cx="4187952"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645920"/>
            <a:ext cx="1920240" cy="256032"/>
          </a:xfrm>
          <a:prstGeom prst="rect">
            <a:avLst/>
          </a:prstGeom>
          <a:noFill/>
        </p:spPr>
        <p:txBody>
          <a:bodyPr wrap="square"/>
          <a:lstStyle/>
          <a:p>
            <a:pPr algn="l"/>
            <a:r>
              <a:rPr sz="900" b="1" i="0">
                <a:solidFill>
                  <a:srgbClr val="1E293B"/>
                </a:solidFill>
                <a:latin typeface="Poppins"/>
              </a:rPr>
              <a:t>If pursued later (~4 cases/mo):</a:t>
            </a:r>
          </a:p>
        </p:txBody>
      </p:sp>
      <p:sp>
        <p:nvSpPr>
          <p:cNvPr id="29" name="TextBox 28"/>
          <p:cNvSpPr txBox="1"/>
          <p:nvPr/>
        </p:nvSpPr>
        <p:spPr>
          <a:xfrm>
            <a:off x="6729984" y="1645920"/>
            <a:ext cx="2103120" cy="256032"/>
          </a:xfrm>
          <a:prstGeom prst="rect">
            <a:avLst/>
          </a:prstGeom>
          <a:noFill/>
        </p:spPr>
        <p:txBody>
          <a:bodyPr wrap="square"/>
          <a:lstStyle/>
          <a:p>
            <a:pPr algn="l"/>
            <a:r>
              <a:rPr sz="900" b="1" i="0">
                <a:solidFill>
                  <a:srgbClr val="64748B"/>
                </a:solidFill>
                <a:latin typeface="Poppins"/>
              </a:rPr>
              <a:t>$17,300 revenue · 5.8× ROAS</a:t>
            </a:r>
          </a:p>
        </p:txBody>
      </p:sp>
      <p:sp>
        <p:nvSpPr>
          <p:cNvPr id="30" name="TextBox 29"/>
          <p:cNvSpPr txBox="1"/>
          <p:nvPr/>
        </p:nvSpPr>
        <p:spPr>
          <a:xfrm>
            <a:off x="4700016" y="1956816"/>
            <a:ext cx="1920240" cy="256032"/>
          </a:xfrm>
          <a:prstGeom prst="rect">
            <a:avLst/>
          </a:prstGeom>
          <a:noFill/>
        </p:spPr>
        <p:txBody>
          <a:bodyPr wrap="square"/>
          <a:lstStyle/>
          <a:p>
            <a:pPr algn="l"/>
            <a:r>
              <a:rPr sz="900" b="1" i="0">
                <a:solidFill>
                  <a:srgbClr val="1E293B"/>
                </a:solidFill>
                <a:latin typeface="Poppins"/>
              </a:rPr>
              <a:t>If pursued later (~13 cases/mo):</a:t>
            </a:r>
          </a:p>
        </p:txBody>
      </p:sp>
      <p:sp>
        <p:nvSpPr>
          <p:cNvPr id="31" name="TextBox 30"/>
          <p:cNvSpPr txBox="1"/>
          <p:nvPr/>
        </p:nvSpPr>
        <p:spPr>
          <a:xfrm>
            <a:off x="6729984" y="1956816"/>
            <a:ext cx="2103120" cy="256032"/>
          </a:xfrm>
          <a:prstGeom prst="rect">
            <a:avLst/>
          </a:prstGeom>
          <a:noFill/>
        </p:spPr>
        <p:txBody>
          <a:bodyPr wrap="square"/>
          <a:lstStyle/>
          <a:p>
            <a:pPr algn="l"/>
            <a:r>
              <a:rPr sz="900" b="1" i="0">
                <a:solidFill>
                  <a:srgbClr val="64748B"/>
                </a:solidFill>
                <a:latin typeface="Poppins"/>
              </a:rPr>
              <a:t>$57,600 revenue · 6.9× ROAS</a:t>
            </a:r>
          </a:p>
        </p:txBody>
      </p:sp>
      <p:sp>
        <p:nvSpPr>
          <p:cNvPr id="32" name="TextBox 31"/>
          <p:cNvSpPr txBox="1"/>
          <p:nvPr/>
        </p:nvSpPr>
        <p:spPr>
          <a:xfrm>
            <a:off x="4535424" y="2468880"/>
            <a:ext cx="4407408" cy="237744"/>
          </a:xfrm>
          <a:prstGeom prst="rect">
            <a:avLst/>
          </a:prstGeom>
          <a:noFill/>
        </p:spPr>
        <p:txBody>
          <a:bodyPr wrap="square"/>
          <a:lstStyle/>
          <a:p>
            <a:pPr algn="l"/>
            <a:r>
              <a:rPr sz="800" b="1" i="0">
                <a:solidFill>
                  <a:srgbClr val="003A59"/>
                </a:solidFill>
                <a:latin typeface="Poppins"/>
              </a:rPr>
              <a:t>WHAT HAPPENS IN THE FIRST 90 DAYS</a:t>
            </a:r>
          </a:p>
        </p:txBody>
      </p:sp>
      <p:sp>
        <p:nvSpPr>
          <p:cNvPr id="33" name="Rectangle 32"/>
          <p:cNvSpPr/>
          <p:nvPr/>
        </p:nvSpPr>
        <p:spPr>
          <a:xfrm>
            <a:off x="4590288" y="2724912"/>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0" y="2734056"/>
            <a:ext cx="804672" cy="256032"/>
          </a:xfrm>
          <a:prstGeom prst="rect">
            <a:avLst/>
          </a:prstGeom>
          <a:noFill/>
        </p:spPr>
        <p:txBody>
          <a:bodyPr wrap="square"/>
          <a:lstStyle/>
          <a:p>
            <a:pPr algn="l"/>
            <a:r>
              <a:rPr sz="800" b="1" i="0">
                <a:solidFill>
                  <a:srgbClr val="003A59"/>
                </a:solidFill>
                <a:latin typeface="Poppins"/>
              </a:rPr>
              <a:t>Day 1</a:t>
            </a:r>
          </a:p>
        </p:txBody>
      </p:sp>
      <p:sp>
        <p:nvSpPr>
          <p:cNvPr id="35" name="TextBox 34"/>
          <p:cNvSpPr txBox="1"/>
          <p:nvPr/>
        </p:nvSpPr>
        <p:spPr>
          <a:xfrm>
            <a:off x="5815584" y="2734056"/>
            <a:ext cx="3054096" cy="256032"/>
          </a:xfrm>
          <a:prstGeom prst="rect">
            <a:avLst/>
          </a:prstGeom>
          <a:noFill/>
        </p:spPr>
        <p:txBody>
          <a:bodyPr wrap="square"/>
          <a:lstStyle/>
          <a:p>
            <a:pPr algn="l"/>
            <a:r>
              <a:rPr sz="800" b="0" i="0">
                <a:solidFill>
                  <a:srgbClr val="1E293B"/>
                </a:solidFill>
                <a:latin typeface="Poppins"/>
              </a:rPr>
              <a:t>Kick off Coach Essentials Plus — build the hiring roadmap</a:t>
            </a:r>
          </a:p>
        </p:txBody>
      </p:sp>
      <p:sp>
        <p:nvSpPr>
          <p:cNvPr id="36" name="Rectangle 35"/>
          <p:cNvSpPr/>
          <p:nvPr/>
        </p:nvSpPr>
        <p:spPr>
          <a:xfrm>
            <a:off x="4590288" y="3081528"/>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37760" y="3090672"/>
            <a:ext cx="804672" cy="256032"/>
          </a:xfrm>
          <a:prstGeom prst="rect">
            <a:avLst/>
          </a:prstGeom>
          <a:noFill/>
        </p:spPr>
        <p:txBody>
          <a:bodyPr wrap="square"/>
          <a:lstStyle/>
          <a:p>
            <a:pPr algn="l"/>
            <a:r>
              <a:rPr sz="800" b="1" i="0">
                <a:solidFill>
                  <a:srgbClr val="003A59"/>
                </a:solidFill>
                <a:latin typeface="Poppins"/>
              </a:rPr>
              <a:t>Day 1</a:t>
            </a:r>
          </a:p>
        </p:txBody>
      </p:sp>
      <p:sp>
        <p:nvSpPr>
          <p:cNvPr id="38" name="TextBox 37"/>
          <p:cNvSpPr txBox="1"/>
          <p:nvPr/>
        </p:nvSpPr>
        <p:spPr>
          <a:xfrm>
            <a:off x="5815584" y="3090672"/>
            <a:ext cx="3054096" cy="256032"/>
          </a:xfrm>
          <a:prstGeom prst="rect">
            <a:avLst/>
          </a:prstGeom>
          <a:noFill/>
        </p:spPr>
        <p:txBody>
          <a:bodyPr wrap="square"/>
          <a:lstStyle/>
          <a:p>
            <a:pPr algn="l"/>
            <a:r>
              <a:rPr sz="800" b="0" i="0">
                <a:solidFill>
                  <a:srgbClr val="1E293B"/>
                </a:solidFill>
                <a:latin typeface="Poppins"/>
              </a:rPr>
              <a:t>AI Workforce Starter seat live for intake and admin</a:t>
            </a:r>
          </a:p>
        </p:txBody>
      </p:sp>
      <p:sp>
        <p:nvSpPr>
          <p:cNvPr id="39" name="Rectangle 38"/>
          <p:cNvSpPr/>
          <p:nvPr/>
        </p:nvSpPr>
        <p:spPr>
          <a:xfrm>
            <a:off x="4590288" y="3438144"/>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37760" y="3447287"/>
            <a:ext cx="804672" cy="256032"/>
          </a:xfrm>
          <a:prstGeom prst="rect">
            <a:avLst/>
          </a:prstGeom>
          <a:noFill/>
        </p:spPr>
        <p:txBody>
          <a:bodyPr wrap="square"/>
          <a:lstStyle/>
          <a:p>
            <a:pPr algn="l"/>
            <a:r>
              <a:rPr sz="800" b="1" i="0">
                <a:solidFill>
                  <a:srgbClr val="003A59"/>
                </a:solidFill>
                <a:latin typeface="Poppins"/>
              </a:rPr>
              <a:t>Day 14</a:t>
            </a:r>
          </a:p>
        </p:txBody>
      </p:sp>
      <p:sp>
        <p:nvSpPr>
          <p:cNvPr id="41" name="TextBox 40"/>
          <p:cNvSpPr txBox="1"/>
          <p:nvPr/>
        </p:nvSpPr>
        <p:spPr>
          <a:xfrm>
            <a:off x="5815584" y="3447287"/>
            <a:ext cx="3054096" cy="256032"/>
          </a:xfrm>
          <a:prstGeom prst="rect">
            <a:avLst/>
          </a:prstGeom>
          <a:noFill/>
        </p:spPr>
        <p:txBody>
          <a:bodyPr wrap="square"/>
          <a:lstStyle/>
          <a:p>
            <a:pPr algn="l"/>
            <a:r>
              <a:rPr sz="800" b="0" i="0">
                <a:solidFill>
                  <a:srgbClr val="1E293B"/>
                </a:solidFill>
                <a:latin typeface="Poppins"/>
              </a:rPr>
              <a:t>Fix footer bug and add homepage contact form</a:t>
            </a:r>
          </a:p>
        </p:txBody>
      </p:sp>
      <p:sp>
        <p:nvSpPr>
          <p:cNvPr id="42" name="Rectangle 41"/>
          <p:cNvSpPr/>
          <p:nvPr/>
        </p:nvSpPr>
        <p:spPr>
          <a:xfrm>
            <a:off x="4590288" y="3794760"/>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0" y="3803904"/>
            <a:ext cx="804672" cy="256032"/>
          </a:xfrm>
          <a:prstGeom prst="rect">
            <a:avLst/>
          </a:prstGeom>
          <a:noFill/>
        </p:spPr>
        <p:txBody>
          <a:bodyPr wrap="square"/>
          <a:lstStyle/>
          <a:p>
            <a:pPr algn="l"/>
            <a:r>
              <a:rPr sz="800" b="1" i="0">
                <a:solidFill>
                  <a:srgbClr val="003A59"/>
                </a:solidFill>
                <a:latin typeface="Poppins"/>
              </a:rPr>
              <a:t>Week 2</a:t>
            </a:r>
          </a:p>
        </p:txBody>
      </p:sp>
      <p:sp>
        <p:nvSpPr>
          <p:cNvPr id="44" name="TextBox 43"/>
          <p:cNvSpPr txBox="1"/>
          <p:nvPr/>
        </p:nvSpPr>
        <p:spPr>
          <a:xfrm>
            <a:off x="5815584" y="3803904"/>
            <a:ext cx="3054096" cy="256032"/>
          </a:xfrm>
          <a:prstGeom prst="rect">
            <a:avLst/>
          </a:prstGeom>
          <a:noFill/>
        </p:spPr>
        <p:txBody>
          <a:bodyPr wrap="square"/>
          <a:lstStyle/>
          <a:p>
            <a:pPr algn="l"/>
            <a:r>
              <a:rPr sz="800" b="0" i="0">
                <a:solidFill>
                  <a:srgbClr val="1E293B"/>
                </a:solidFill>
                <a:latin typeface="Poppins"/>
              </a:rPr>
              <a:t>Resolve NAP address mismatch across directories</a:t>
            </a:r>
          </a:p>
        </p:txBody>
      </p:sp>
      <p:sp>
        <p:nvSpPr>
          <p:cNvPr id="45" name="Rectangle 44"/>
          <p:cNvSpPr/>
          <p:nvPr/>
        </p:nvSpPr>
        <p:spPr>
          <a:xfrm>
            <a:off x="4590288" y="4151376"/>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0" y="4160520"/>
            <a:ext cx="804672" cy="256032"/>
          </a:xfrm>
          <a:prstGeom prst="rect">
            <a:avLst/>
          </a:prstGeom>
          <a:noFill/>
        </p:spPr>
        <p:txBody>
          <a:bodyPr wrap="square"/>
          <a:lstStyle/>
          <a:p>
            <a:pPr algn="l"/>
            <a:r>
              <a:rPr sz="800" b="1" i="0">
                <a:solidFill>
                  <a:srgbClr val="003A59"/>
                </a:solidFill>
                <a:latin typeface="Poppins"/>
              </a:rPr>
              <a:t>Week 3</a:t>
            </a:r>
          </a:p>
        </p:txBody>
      </p:sp>
      <p:sp>
        <p:nvSpPr>
          <p:cNvPr id="47" name="TextBox 46"/>
          <p:cNvSpPr txBox="1"/>
          <p:nvPr/>
        </p:nvSpPr>
        <p:spPr>
          <a:xfrm>
            <a:off x="5815584" y="4160520"/>
            <a:ext cx="3054096" cy="256032"/>
          </a:xfrm>
          <a:prstGeom prst="rect">
            <a:avLst/>
          </a:prstGeom>
          <a:noFill/>
        </p:spPr>
        <p:txBody>
          <a:bodyPr wrap="square"/>
          <a:lstStyle/>
          <a:p>
            <a:pPr algn="l"/>
            <a:r>
              <a:rPr sz="800" b="0" i="0">
                <a:solidFill>
                  <a:srgbClr val="1E293B"/>
                </a:solidFill>
                <a:latin typeface="Poppins"/>
              </a:rPr>
              <a:t>Confirm PageSpeed and fill Yelp/FindLaw/Justia gaps</a:t>
            </a:r>
          </a:p>
        </p:txBody>
      </p:sp>
      <p:sp>
        <p:nvSpPr>
          <p:cNvPr id="48" name="Rectangle 47"/>
          <p:cNvSpPr/>
          <p:nvPr/>
        </p:nvSpPr>
        <p:spPr>
          <a:xfrm>
            <a:off x="0" y="4425696"/>
            <a:ext cx="9144000" cy="402336"/>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4425696"/>
            <a:ext cx="8595360" cy="402336"/>
          </a:xfrm>
          <a:prstGeom prst="rect">
            <a:avLst/>
          </a:prstGeom>
          <a:noFill/>
        </p:spPr>
        <p:txBody>
          <a:bodyPr wrap="square"/>
          <a:lstStyle/>
          <a:p>
            <a:pPr algn="ctr"/>
            <a:r>
              <a:rPr sz="900" b="0" i="1">
                <a:solidFill>
                  <a:srgbClr val="8BADD0"/>
                </a:solidFill>
                <a:latin typeface="Poppins"/>
              </a:rPr>
              <a:t>"Build a trusted team to delegate work and reduce personal stress — and finally have more time for business development and networking."</a:t>
            </a:r>
          </a:p>
        </p:txBody>
      </p:sp>
      <p:sp>
        <p:nvSpPr>
          <p:cNvPr id="50" name="Rectangle 49"/>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2" name="TextBox 51"/>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Randy Gold | SMB Team</a:t>
            </a:r>
          </a:p>
        </p:txBody>
      </p:sp>
      <p:sp>
        <p:nvSpPr>
          <p:cNvPr id="53" name="TextBox 52"/>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