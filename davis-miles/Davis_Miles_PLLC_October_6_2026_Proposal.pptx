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DAVIS MILES PLLC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63093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Davis Miles PLLC Stands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4848" y="164592"/>
            <a:ext cx="2066543" cy="512064"/>
          </a:xfrm>
          <a:prstGeom prst="rect">
            <a:avLst/>
          </a:prstGeom>
          <a:solidFill>
            <a:srgbClr val="0B4C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31152" y="210312"/>
            <a:ext cx="38404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775" y="274320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69CD2B"/>
                </a:solidFill>
                <a:latin typeface="Poppins"/>
              </a:rPr>
              <a:t>COMPETITIVE 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429768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9CC0D6"/>
                </a:solidFill>
                <a:latin typeface="Poppins"/>
              </a:rPr>
              <a:t>Score out of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3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Lead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3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3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3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Leads down since 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0592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0592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Intake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96896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6896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Under 50% show 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36008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Team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2312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Uneven consult style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8584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Profit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58584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8584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ROI not trackable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01168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KEY FINDINGS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267712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2267712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9768" y="2459736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2386584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Leads have fallen since March 2026 despite about $20K/mo in Google spend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889504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2889504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9768" y="3081528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5800" y="3008376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Fewer than half of free consultations are kept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511296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3511296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29768" y="3703320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85800" y="3630168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Lawmatics is not tied to case management, so ROI cannot be tracked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133087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4133087"/>
            <a:ext cx="36576" cy="557784"/>
          </a:xfrm>
          <a:prstGeom prst="rect">
            <a:avLst/>
          </a:prstGeom>
          <a:solidFill>
            <a:srgbClr val="3F8F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29768" y="4325112"/>
            <a:ext cx="164592" cy="164592"/>
          </a:xfrm>
          <a:prstGeom prst="roundRect">
            <a:avLst/>
          </a:prstGeom>
          <a:solidFill>
            <a:srgbClr val="3F8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65978" y="4415637"/>
            <a:ext cx="32918" cy="31273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98896" y="4367905"/>
            <a:ext cx="62545" cy="79005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85800" y="4251959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Recognized attorneys, three offices, and a clear consultation button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28032" y="2011680"/>
            <a:ext cx="4041648" cy="67665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28032" y="2011680"/>
            <a:ext cx="36576" cy="67665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2130552"/>
            <a:ext cx="3675887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10912" y="2322576"/>
            <a:ext cx="3675887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4: Small Business Manager  →  Goal: Stage 6, Law Firm Owner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28032" y="2871216"/>
            <a:ext cx="40416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COMPETITOR LANDSCAPE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28032" y="3127248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92624" y="3127248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Arizona Law Group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38544" y="3127248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Far larger review base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28431" y="3127248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8 offices · overlaps every market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28032" y="3529584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92624" y="3529584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Hildebrand Law, PC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38544" y="3529584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Review count unconfirmed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28431" y="3529584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Ranks in Tempe and Chandler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28032" y="3931920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92624" y="3931920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Edwards &amp; Petersen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38544" y="3931920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Review count unconfirmed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28431" y="3931920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Mesa and Chandler city pages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28032" y="4334256"/>
            <a:ext cx="4041648" cy="356616"/>
          </a:xfrm>
          <a:prstGeom prst="rect">
            <a:avLst/>
          </a:prstGeom>
          <a:solidFill>
            <a:srgbClr val="FB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828032" y="4334256"/>
            <a:ext cx="36576" cy="35661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92624" y="4334256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B32D2D"/>
                </a:solidFill>
                <a:latin typeface="Poppins"/>
              </a:rPr>
              <a:t>Davis Miles PLLC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38544" y="4334256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B32D2D"/>
                </a:solidFill>
                <a:latin typeface="Poppins"/>
              </a:rPr>
              <a:t>Review count unconfirmed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28431" y="4334256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← You are here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DAVIS MILES PLLC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$1M a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12848" cy="228600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212848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84708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847088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B8CDDD"/>
                </a:solidFill>
                <a:latin typeface="Poppins"/>
              </a:rPr>
              <a:t>Lead generation, intake, team, and profit have to work as one system. When all four pillars work, Davis Miles can reach $1,000,000 predictably, month after month.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56432"/>
            <a:ext cx="2212848" cy="1124712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21024"/>
            <a:ext cx="184708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43306"/>
                </a:solidFill>
                <a:latin typeface="Poppins"/>
              </a:rPr>
              <a:t>$785K → $1M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33087"/>
            <a:ext cx="18470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F470C"/>
                </a:solidFill>
                <a:latin typeface="Poppins"/>
              </a:rPr>
              <a:t>A firm that reaches $1M, predictably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005840"/>
            <a:ext cx="2066543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Rebuild the 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Lead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0048" y="1865376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2093976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Rebuild Google Ads for Tempe, Mesa, and Glendale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6352" y="265176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Turn Local Service Ads into a steady client pipeline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2971800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6352" y="320040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Add Meta retargeting before doubling spend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16352" y="3749039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Add YouTube video to build trust before the 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048" y="4078224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16352" y="4306824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Monthly report on leads and results by channel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1005840"/>
            <a:ext cx="2066543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143306"/>
                </a:solidFill>
                <a:latin typeface="Poppin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1865376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92624" y="2093976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48072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Qualify leads before booking the free consult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92624" y="265176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48072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Raise the share of consultations that are kept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2971800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92624" y="320040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48072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Use one clear consult approach across attorneys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92624" y="3749039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48072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Follow up fast with every lead that did not sign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078224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92624" y="4306824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48072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Add city pages: Chandler, Gilbert, Scottsdale, Peoria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22592" y="1005840"/>
            <a:ext cx="2066543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87183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87183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87183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22592" y="1865376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68896" y="2093976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24344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Track every lead through to a signed case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22592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68896" y="265176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24344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See what each signed case costs to win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22592" y="2971800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68896" y="320040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24344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Clean up listings under one firm name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22592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8896" y="3749039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24344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Phase 2: add an ops advisor to run the process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22592" y="4078224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68896" y="4306824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24344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Phase 3: add finance support to plan profit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DAVIS MILES PLLC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143000"/>
            <a:ext cx="358444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PAID ADS STARTER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335024"/>
            <a:ext cx="1737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$3,497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53619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36192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flat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783080"/>
            <a:ext cx="3584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Google Ads · LSA · Meta · YouTube · Map Pack · ChatGPT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246120"/>
            <a:ext cx="15544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429000"/>
            <a:ext cx="2011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$3,497 /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493008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Flat monthly fee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$3,500–$16,000/mo — to turn high-intent family law searches into signed cases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$5,000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Conservative  (~4–5 cases/mo):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~$22,700 revenue · 6.5× ROAS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(~29 cases/mo):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~$144,900 revenue · 9.1× ROAS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4" y="2784348"/>
            <a:ext cx="685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0992" y="2784348"/>
            <a:ext cx="3063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Kickoff and access to Google, LSA, and Meta accounts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026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0016" y="3108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1184" y="3076956"/>
            <a:ext cx="685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0992" y="3076956"/>
            <a:ext cx="3063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Rebuilt Google Ads live for Tempe, Mesa, Glendale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3310128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33924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01184" y="3360420"/>
            <a:ext cx="685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50992" y="3360420"/>
            <a:ext cx="3063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Local Service Ads taken over and tuned for quality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602736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00016" y="36850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01184" y="3653028"/>
            <a:ext cx="685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60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50992" y="3653028"/>
            <a:ext cx="3063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Meta retargeting live; first channel report shared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0" y="38862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00016" y="39684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01184" y="3936491"/>
            <a:ext cx="685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50992" y="3936491"/>
            <a:ext cx="3063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Review results and plan the path to 16–17 cases/mo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407408"/>
            <a:ext cx="7863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"Our phones ring with the right families, our consultations show up, and we know exactly what is working."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