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INDIANA IMMIGRATION ATTORNEYS</a:t>
            </a:r>
          </a:p>
        </p:txBody>
      </p:sp>
      <p:sp>
        <p:nvSpPr>
          <p:cNvPr id="4" name="TextBox 3"/>
          <p:cNvSpPr txBox="1"/>
          <p:nvPr/>
        </p:nvSpPr>
        <p:spPr>
          <a:xfrm>
            <a:off x="292608" y="310896"/>
            <a:ext cx="8595360" cy="548640"/>
          </a:xfrm>
          <a:prstGeom prst="rect">
            <a:avLst/>
          </a:prstGeom>
          <a:noFill/>
        </p:spPr>
        <p:txBody>
          <a:bodyPr wrap="square"/>
          <a:lstStyle/>
          <a:p>
            <a:pPr algn="l"/>
            <a:r>
              <a:rPr sz="2400" b="1" i="0">
                <a:solidFill>
                  <a:srgbClr val="FFFFFF"/>
                </a:solidFill>
                <a:latin typeface="Calibri"/>
              </a:rPr>
              <a:t>Where Indiana Immigration Attorneys Stands Today</a:t>
            </a:r>
          </a:p>
        </p:txBody>
      </p:sp>
      <p:sp>
        <p:nvSpPr>
          <p:cNvPr id="5" name="Rectangle 4"/>
          <p:cNvSpPr/>
          <p:nvPr/>
        </p:nvSpPr>
        <p:spPr>
          <a:xfrm>
            <a:off x="0" y="960120"/>
            <a:ext cx="146304" cy="3867912"/>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6032" y="1005840"/>
            <a:ext cx="1298448" cy="841248"/>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 y="1005840"/>
            <a:ext cx="1298448" cy="566928"/>
          </a:xfrm>
          <a:prstGeom prst="rect">
            <a:avLst/>
          </a:prstGeom>
          <a:noFill/>
        </p:spPr>
        <p:txBody>
          <a:bodyPr wrap="square"/>
          <a:lstStyle/>
          <a:p>
            <a:pPr algn="ctr"/>
            <a:r>
              <a:rPr sz="2800" b="1" i="0">
                <a:solidFill>
                  <a:srgbClr val="FFFFFF"/>
                </a:solidFill>
                <a:latin typeface="Calibri"/>
              </a:rPr>
              <a:t>5</a:t>
            </a:r>
          </a:p>
        </p:txBody>
      </p:sp>
      <p:sp>
        <p:nvSpPr>
          <p:cNvPr id="8" name="TextBox 7"/>
          <p:cNvSpPr txBox="1"/>
          <p:nvPr/>
        </p:nvSpPr>
        <p:spPr>
          <a:xfrm>
            <a:off x="256032" y="1572768"/>
            <a:ext cx="1298448" cy="274320"/>
          </a:xfrm>
          <a:prstGeom prst="rect">
            <a:avLst/>
          </a:prstGeom>
          <a:noFill/>
        </p:spPr>
        <p:txBody>
          <a:bodyPr wrap="square"/>
          <a:lstStyle/>
          <a:p>
            <a:pPr algn="ctr"/>
            <a:r>
              <a:rPr sz="600" b="1" i="0">
                <a:solidFill>
                  <a:srgbClr val="FFFFFF"/>
                </a:solidFill>
                <a:latin typeface="Calibri"/>
              </a:rPr>
              <a:t>COMPETITIVE URGENCY</a:t>
            </a:r>
          </a:p>
        </p:txBody>
      </p:sp>
      <p:sp>
        <p:nvSpPr>
          <p:cNvPr id="9" name="Rectangle 8"/>
          <p:cNvSpPr/>
          <p:nvPr/>
        </p:nvSpPr>
        <p:spPr>
          <a:xfrm>
            <a:off x="1682496"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82496"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37360" y="1188720"/>
            <a:ext cx="694944" cy="237744"/>
          </a:xfrm>
          <a:prstGeom prst="rect">
            <a:avLst/>
          </a:prstGeom>
          <a:noFill/>
        </p:spPr>
        <p:txBody>
          <a:bodyPr wrap="square"/>
          <a:lstStyle/>
          <a:p>
            <a:pPr algn="l"/>
            <a:r>
              <a:rPr sz="800" b="1" i="0">
                <a:solidFill>
                  <a:srgbClr val="FFFFFF"/>
                </a:solidFill>
                <a:latin typeface="Calibri"/>
              </a:rPr>
              <a:t>Lead Generation</a:t>
            </a:r>
          </a:p>
        </p:txBody>
      </p:sp>
      <p:sp>
        <p:nvSpPr>
          <p:cNvPr id="12" name="TextBox 11"/>
          <p:cNvSpPr txBox="1"/>
          <p:nvPr/>
        </p:nvSpPr>
        <p:spPr>
          <a:xfrm>
            <a:off x="1737360" y="1417320"/>
            <a:ext cx="694944" cy="182880"/>
          </a:xfrm>
          <a:prstGeom prst="rect">
            <a:avLst/>
          </a:prstGeom>
          <a:noFill/>
        </p:spPr>
        <p:txBody>
          <a:bodyPr wrap="square"/>
          <a:lstStyle/>
          <a:p>
            <a:pPr algn="l"/>
            <a:r>
              <a:rPr sz="700" b="1" i="0">
                <a:solidFill>
                  <a:srgbClr val="C0392B"/>
                </a:solidFill>
                <a:latin typeface="Calibri"/>
              </a:rPr>
              <a:t>CRITICAL</a:t>
            </a:r>
          </a:p>
        </p:txBody>
      </p:sp>
      <p:sp>
        <p:nvSpPr>
          <p:cNvPr id="13" name="TextBox 12"/>
          <p:cNvSpPr txBox="1"/>
          <p:nvPr/>
        </p:nvSpPr>
        <p:spPr>
          <a:xfrm>
            <a:off x="1737360" y="1591056"/>
            <a:ext cx="694944" cy="237744"/>
          </a:xfrm>
          <a:prstGeom prst="rect">
            <a:avLst/>
          </a:prstGeom>
          <a:noFill/>
        </p:spPr>
        <p:txBody>
          <a:bodyPr wrap="square"/>
          <a:lstStyle/>
          <a:p>
            <a:pPr algn="l"/>
            <a:r>
              <a:rPr sz="700" b="0" i="0">
                <a:solidFill>
                  <a:srgbClr val="8BADD0"/>
                </a:solidFill>
                <a:latin typeface="Calibri"/>
              </a:rPr>
              <a:t>No paid lead system</a:t>
            </a:r>
          </a:p>
        </p:txBody>
      </p:sp>
      <p:sp>
        <p:nvSpPr>
          <p:cNvPr id="14" name="Rectangle 13"/>
          <p:cNvSpPr/>
          <p:nvPr/>
        </p:nvSpPr>
        <p:spPr>
          <a:xfrm>
            <a:off x="2542032"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42032"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96896" y="1188720"/>
            <a:ext cx="694944" cy="237744"/>
          </a:xfrm>
          <a:prstGeom prst="rect">
            <a:avLst/>
          </a:prstGeom>
          <a:noFill/>
        </p:spPr>
        <p:txBody>
          <a:bodyPr wrap="square"/>
          <a:lstStyle/>
          <a:p>
            <a:pPr algn="l"/>
            <a:r>
              <a:rPr sz="800" b="1" i="0">
                <a:solidFill>
                  <a:srgbClr val="FFFFFF"/>
                </a:solidFill>
                <a:latin typeface="Calibri"/>
              </a:rPr>
              <a:t>Intake</a:t>
            </a:r>
          </a:p>
        </p:txBody>
      </p:sp>
      <p:sp>
        <p:nvSpPr>
          <p:cNvPr id="17" name="TextBox 16"/>
          <p:cNvSpPr txBox="1"/>
          <p:nvPr/>
        </p:nvSpPr>
        <p:spPr>
          <a:xfrm>
            <a:off x="2596896" y="1417320"/>
            <a:ext cx="694944" cy="182880"/>
          </a:xfrm>
          <a:prstGeom prst="rect">
            <a:avLst/>
          </a:prstGeom>
          <a:noFill/>
        </p:spPr>
        <p:txBody>
          <a:bodyPr wrap="square"/>
          <a:lstStyle/>
          <a:p>
            <a:pPr algn="l"/>
            <a:r>
              <a:rPr sz="700" b="1" i="0">
                <a:solidFill>
                  <a:srgbClr val="C0392B"/>
                </a:solidFill>
                <a:latin typeface="Calibri"/>
              </a:rPr>
              <a:t>CRITICAL</a:t>
            </a:r>
          </a:p>
        </p:txBody>
      </p:sp>
      <p:sp>
        <p:nvSpPr>
          <p:cNvPr id="18" name="TextBox 17"/>
          <p:cNvSpPr txBox="1"/>
          <p:nvPr/>
        </p:nvSpPr>
        <p:spPr>
          <a:xfrm>
            <a:off x="2596896" y="1591056"/>
            <a:ext cx="694944" cy="237744"/>
          </a:xfrm>
          <a:prstGeom prst="rect">
            <a:avLst/>
          </a:prstGeom>
          <a:noFill/>
        </p:spPr>
        <p:txBody>
          <a:bodyPr wrap="square"/>
          <a:lstStyle/>
          <a:p>
            <a:pPr algn="l"/>
            <a:r>
              <a:rPr sz="700" b="0" i="0">
                <a:solidFill>
                  <a:srgbClr val="8BADD0"/>
                </a:solidFill>
                <a:latin typeface="Calibri"/>
              </a:rPr>
              <a:t>Atty handles intake</a:t>
            </a:r>
          </a:p>
        </p:txBody>
      </p:sp>
      <p:sp>
        <p:nvSpPr>
          <p:cNvPr id="19" name="Rectangle 18"/>
          <p:cNvSpPr/>
          <p:nvPr/>
        </p:nvSpPr>
        <p:spPr>
          <a:xfrm>
            <a:off x="3401568"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401568"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56432" y="1188720"/>
            <a:ext cx="694944" cy="237744"/>
          </a:xfrm>
          <a:prstGeom prst="rect">
            <a:avLst/>
          </a:prstGeom>
          <a:noFill/>
        </p:spPr>
        <p:txBody>
          <a:bodyPr wrap="square"/>
          <a:lstStyle/>
          <a:p>
            <a:pPr algn="l"/>
            <a:r>
              <a:rPr sz="800" b="1" i="0">
                <a:solidFill>
                  <a:srgbClr val="FFFFFF"/>
                </a:solidFill>
                <a:latin typeface="Calibri"/>
              </a:rPr>
              <a:t>Team</a:t>
            </a:r>
          </a:p>
        </p:txBody>
      </p:sp>
      <p:sp>
        <p:nvSpPr>
          <p:cNvPr id="22" name="TextBox 21"/>
          <p:cNvSpPr txBox="1"/>
          <p:nvPr/>
        </p:nvSpPr>
        <p:spPr>
          <a:xfrm>
            <a:off x="3456432" y="1417320"/>
            <a:ext cx="694944" cy="182880"/>
          </a:xfrm>
          <a:prstGeom prst="rect">
            <a:avLst/>
          </a:prstGeom>
          <a:noFill/>
        </p:spPr>
        <p:txBody>
          <a:bodyPr wrap="square"/>
          <a:lstStyle/>
          <a:p>
            <a:pPr algn="l"/>
            <a:r>
              <a:rPr sz="700" b="1" i="0">
                <a:solidFill>
                  <a:srgbClr val="D97706"/>
                </a:solidFill>
                <a:latin typeface="Calibri"/>
              </a:rPr>
              <a:t>AMBER</a:t>
            </a:r>
          </a:p>
        </p:txBody>
      </p:sp>
      <p:sp>
        <p:nvSpPr>
          <p:cNvPr id="23" name="TextBox 22"/>
          <p:cNvSpPr txBox="1"/>
          <p:nvPr/>
        </p:nvSpPr>
        <p:spPr>
          <a:xfrm>
            <a:off x="3456432" y="1591056"/>
            <a:ext cx="694944" cy="237744"/>
          </a:xfrm>
          <a:prstGeom prst="rect">
            <a:avLst/>
          </a:prstGeom>
          <a:noFill/>
        </p:spPr>
        <p:txBody>
          <a:bodyPr wrap="square"/>
          <a:lstStyle/>
          <a:p>
            <a:pPr algn="l"/>
            <a:r>
              <a:rPr sz="700" b="0" i="0">
                <a:solidFill>
                  <a:srgbClr val="8BADD0"/>
                </a:solidFill>
                <a:latin typeface="Calibri"/>
              </a:rPr>
              <a:t>2-person team only</a:t>
            </a:r>
          </a:p>
        </p:txBody>
      </p:sp>
      <p:sp>
        <p:nvSpPr>
          <p:cNvPr id="24" name="Rectangle 23"/>
          <p:cNvSpPr/>
          <p:nvPr/>
        </p:nvSpPr>
        <p:spPr>
          <a:xfrm>
            <a:off x="4261104"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61104"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15968" y="1188720"/>
            <a:ext cx="694944" cy="237744"/>
          </a:xfrm>
          <a:prstGeom prst="rect">
            <a:avLst/>
          </a:prstGeom>
          <a:noFill/>
        </p:spPr>
        <p:txBody>
          <a:bodyPr wrap="square"/>
          <a:lstStyle/>
          <a:p>
            <a:pPr algn="l"/>
            <a:r>
              <a:rPr sz="800" b="1" i="0">
                <a:solidFill>
                  <a:srgbClr val="FFFFFF"/>
                </a:solidFill>
                <a:latin typeface="Calibri"/>
              </a:rPr>
              <a:t>Profit Plan</a:t>
            </a:r>
          </a:p>
        </p:txBody>
      </p:sp>
      <p:sp>
        <p:nvSpPr>
          <p:cNvPr id="27" name="TextBox 26"/>
          <p:cNvSpPr txBox="1"/>
          <p:nvPr/>
        </p:nvSpPr>
        <p:spPr>
          <a:xfrm>
            <a:off x="4315968" y="1417320"/>
            <a:ext cx="694944" cy="182880"/>
          </a:xfrm>
          <a:prstGeom prst="rect">
            <a:avLst/>
          </a:prstGeom>
          <a:noFill/>
        </p:spPr>
        <p:txBody>
          <a:bodyPr wrap="square"/>
          <a:lstStyle/>
          <a:p>
            <a:pPr algn="l"/>
            <a:r>
              <a:rPr sz="700" b="1" i="0">
                <a:solidFill>
                  <a:srgbClr val="C0392B"/>
                </a:solidFill>
                <a:latin typeface="Calibri"/>
              </a:rPr>
              <a:t>CRITICAL</a:t>
            </a:r>
          </a:p>
        </p:txBody>
      </p:sp>
      <p:sp>
        <p:nvSpPr>
          <p:cNvPr id="28" name="TextBox 27"/>
          <p:cNvSpPr txBox="1"/>
          <p:nvPr/>
        </p:nvSpPr>
        <p:spPr>
          <a:xfrm>
            <a:off x="4315968" y="1591056"/>
            <a:ext cx="694944" cy="237744"/>
          </a:xfrm>
          <a:prstGeom prst="rect">
            <a:avLst/>
          </a:prstGeom>
          <a:noFill/>
        </p:spPr>
        <p:txBody>
          <a:bodyPr wrap="square"/>
          <a:lstStyle/>
          <a:p>
            <a:pPr algn="l"/>
            <a:r>
              <a:rPr sz="700" b="0" i="0">
                <a:solidFill>
                  <a:srgbClr val="8BADD0"/>
                </a:solidFill>
                <a:latin typeface="Calibri"/>
              </a:rPr>
              <a:t>No financial tracking</a:t>
            </a:r>
          </a:p>
        </p:txBody>
      </p:sp>
      <p:sp>
        <p:nvSpPr>
          <p:cNvPr id="29" name="TextBox 28"/>
          <p:cNvSpPr txBox="1"/>
          <p:nvPr/>
        </p:nvSpPr>
        <p:spPr>
          <a:xfrm>
            <a:off x="256032" y="1956816"/>
            <a:ext cx="4846320" cy="219456"/>
          </a:xfrm>
          <a:prstGeom prst="rect">
            <a:avLst/>
          </a:prstGeom>
          <a:noFill/>
        </p:spPr>
        <p:txBody>
          <a:bodyPr wrap="square"/>
          <a:lstStyle/>
          <a:p>
            <a:pPr algn="l"/>
            <a:r>
              <a:rPr sz="800" b="1" i="0">
                <a:solidFill>
                  <a:srgbClr val="F5C400"/>
                </a:solidFill>
                <a:latin typeface="Calibri"/>
              </a:rPr>
              <a:t>KEY FINDINGS</a:t>
            </a:r>
          </a:p>
        </p:txBody>
      </p:sp>
      <p:sp>
        <p:nvSpPr>
          <p:cNvPr id="30" name="Rectangle 29"/>
          <p:cNvSpPr/>
          <p:nvPr/>
        </p:nvSpPr>
        <p:spPr>
          <a:xfrm>
            <a:off x="256032" y="2212848"/>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5760" y="2386584"/>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5760" y="2368296"/>
            <a:ext cx="219456" cy="237744"/>
          </a:xfrm>
          <a:prstGeom prst="rect">
            <a:avLst/>
          </a:prstGeom>
          <a:noFill/>
        </p:spPr>
        <p:txBody>
          <a:bodyPr wrap="square"/>
          <a:lstStyle/>
          <a:p>
            <a:pPr algn="ctr"/>
            <a:r>
              <a:rPr sz="900" b="1" i="0">
                <a:solidFill>
                  <a:srgbClr val="FFFFFF"/>
                </a:solidFill>
                <a:latin typeface="Calibri"/>
              </a:rPr>
              <a:t>X</a:t>
            </a:r>
          </a:p>
        </p:txBody>
      </p:sp>
      <p:sp>
        <p:nvSpPr>
          <p:cNvPr id="33" name="TextBox 32"/>
          <p:cNvSpPr txBox="1"/>
          <p:nvPr/>
        </p:nvSpPr>
        <p:spPr>
          <a:xfrm>
            <a:off x="676656" y="2286000"/>
            <a:ext cx="4352544" cy="420624"/>
          </a:xfrm>
          <a:prstGeom prst="rect">
            <a:avLst/>
          </a:prstGeom>
          <a:noFill/>
        </p:spPr>
        <p:txBody>
          <a:bodyPr wrap="square"/>
          <a:lstStyle/>
          <a:p>
            <a:pPr algn="l"/>
            <a:r>
              <a:rPr sz="1000" b="0" i="0">
                <a:solidFill>
                  <a:srgbClr val="F0BABA"/>
                </a:solidFill>
                <a:latin typeface="Calibri"/>
              </a:rPr>
              <a:t>16 reviews vs. 105–792 competitors — invisible in local search</a:t>
            </a:r>
          </a:p>
        </p:txBody>
      </p:sp>
      <p:sp>
        <p:nvSpPr>
          <p:cNvPr id="34" name="Rectangle 33"/>
          <p:cNvSpPr/>
          <p:nvPr/>
        </p:nvSpPr>
        <p:spPr>
          <a:xfrm>
            <a:off x="256032" y="2834640"/>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5760" y="3008376"/>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5760" y="2990088"/>
            <a:ext cx="219456" cy="237744"/>
          </a:xfrm>
          <a:prstGeom prst="rect">
            <a:avLst/>
          </a:prstGeom>
          <a:noFill/>
        </p:spPr>
        <p:txBody>
          <a:bodyPr wrap="square"/>
          <a:lstStyle/>
          <a:p>
            <a:pPr algn="ctr"/>
            <a:r>
              <a:rPr sz="900" b="1" i="0">
                <a:solidFill>
                  <a:srgbClr val="FFFFFF"/>
                </a:solidFill>
                <a:latin typeface="Calibri"/>
              </a:rPr>
              <a:t>X</a:t>
            </a:r>
          </a:p>
        </p:txBody>
      </p:sp>
      <p:sp>
        <p:nvSpPr>
          <p:cNvPr id="37" name="TextBox 36"/>
          <p:cNvSpPr txBox="1"/>
          <p:nvPr/>
        </p:nvSpPr>
        <p:spPr>
          <a:xfrm>
            <a:off x="676656" y="2907792"/>
            <a:ext cx="4352544" cy="420624"/>
          </a:xfrm>
          <a:prstGeom prst="rect">
            <a:avLst/>
          </a:prstGeom>
          <a:noFill/>
        </p:spPr>
        <p:txBody>
          <a:bodyPr wrap="square"/>
          <a:lstStyle/>
          <a:p>
            <a:pPr algn="l"/>
            <a:r>
              <a:rPr sz="1000" b="0" i="0">
                <a:solidFill>
                  <a:srgbClr val="F0BABA"/>
                </a:solidFill>
                <a:latin typeface="Calibri"/>
              </a:rPr>
              <a:t>No paid ads — open north Indiana market left unclaimed</a:t>
            </a:r>
          </a:p>
        </p:txBody>
      </p:sp>
      <p:sp>
        <p:nvSpPr>
          <p:cNvPr id="38" name="Rectangle 37"/>
          <p:cNvSpPr/>
          <p:nvPr/>
        </p:nvSpPr>
        <p:spPr>
          <a:xfrm>
            <a:off x="256032" y="3456432"/>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65760" y="3630168"/>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760" y="3611879"/>
            <a:ext cx="219456" cy="237744"/>
          </a:xfrm>
          <a:prstGeom prst="rect">
            <a:avLst/>
          </a:prstGeom>
          <a:noFill/>
        </p:spPr>
        <p:txBody>
          <a:bodyPr wrap="square"/>
          <a:lstStyle/>
          <a:p>
            <a:pPr algn="ctr"/>
            <a:r>
              <a:rPr sz="900" b="1" i="0">
                <a:solidFill>
                  <a:srgbClr val="FFFFFF"/>
                </a:solidFill>
                <a:latin typeface="Calibri"/>
              </a:rPr>
              <a:t>X</a:t>
            </a:r>
          </a:p>
        </p:txBody>
      </p:sp>
      <p:sp>
        <p:nvSpPr>
          <p:cNvPr id="41" name="TextBox 40"/>
          <p:cNvSpPr txBox="1"/>
          <p:nvPr/>
        </p:nvSpPr>
        <p:spPr>
          <a:xfrm>
            <a:off x="676656" y="3529584"/>
            <a:ext cx="4352544" cy="420624"/>
          </a:xfrm>
          <a:prstGeom prst="rect">
            <a:avLst/>
          </a:prstGeom>
          <a:noFill/>
        </p:spPr>
        <p:txBody>
          <a:bodyPr wrap="square"/>
          <a:lstStyle/>
          <a:p>
            <a:pPr algn="l"/>
            <a:r>
              <a:rPr sz="1000" b="0" i="0">
                <a:solidFill>
                  <a:srgbClr val="F0BABA"/>
                </a:solidFill>
                <a:latin typeface="Calibri"/>
              </a:rPr>
              <a:t>Sole intake point: lead volume growth bottlenecks at Libby</a:t>
            </a:r>
          </a:p>
        </p:txBody>
      </p:sp>
      <p:sp>
        <p:nvSpPr>
          <p:cNvPr id="42" name="Rectangle 41"/>
          <p:cNvSpPr/>
          <p:nvPr/>
        </p:nvSpPr>
        <p:spPr>
          <a:xfrm>
            <a:off x="256032" y="4078224"/>
            <a:ext cx="4846320" cy="566928"/>
          </a:xfrm>
          <a:prstGeom prst="rect">
            <a:avLst/>
          </a:prstGeom>
          <a:solidFill>
            <a:srgbClr val="0C281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65760" y="4251960"/>
            <a:ext cx="219456" cy="219456"/>
          </a:xfrm>
          <a:prstGeom prst="rect">
            <a:avLst/>
          </a:prstGeom>
          <a:solidFill>
            <a:srgbClr val="16A3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5760" y="4233672"/>
            <a:ext cx="219456" cy="237744"/>
          </a:xfrm>
          <a:prstGeom prst="rect">
            <a:avLst/>
          </a:prstGeom>
          <a:noFill/>
        </p:spPr>
        <p:txBody>
          <a:bodyPr wrap="square"/>
          <a:lstStyle/>
          <a:p>
            <a:pPr algn="ctr"/>
            <a:r>
              <a:rPr sz="900" b="1" i="0">
                <a:solidFill>
                  <a:srgbClr val="FFFFFF"/>
                </a:solidFill>
                <a:latin typeface="Calibri"/>
              </a:rPr>
              <a:t>+</a:t>
            </a:r>
          </a:p>
        </p:txBody>
      </p:sp>
      <p:sp>
        <p:nvSpPr>
          <p:cNvPr id="45" name="TextBox 44"/>
          <p:cNvSpPr txBox="1"/>
          <p:nvPr/>
        </p:nvSpPr>
        <p:spPr>
          <a:xfrm>
            <a:off x="676656" y="4151376"/>
            <a:ext cx="4352544" cy="420624"/>
          </a:xfrm>
          <a:prstGeom prst="rect">
            <a:avLst/>
          </a:prstGeom>
          <a:noFill/>
        </p:spPr>
        <p:txBody>
          <a:bodyPr wrap="square"/>
          <a:lstStyle/>
          <a:p>
            <a:pPr algn="l"/>
            <a:r>
              <a:rPr sz="1000" b="0" i="0">
                <a:solidFill>
                  <a:srgbClr val="86EFAC"/>
                </a:solidFill>
                <a:latin typeface="Calibri"/>
              </a:rPr>
              <a:t>Perfect 5.0 Google rating — strongest trust signal in market</a:t>
            </a:r>
          </a:p>
        </p:txBody>
      </p:sp>
      <p:sp>
        <p:nvSpPr>
          <p:cNvPr id="46" name="Rectangle 45"/>
          <p:cNvSpPr/>
          <p:nvPr/>
        </p:nvSpPr>
        <p:spPr>
          <a:xfrm>
            <a:off x="5257800" y="960120"/>
            <a:ext cx="3886200" cy="386791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257800" y="1024128"/>
            <a:ext cx="3886200" cy="694944"/>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257800" y="1024128"/>
            <a:ext cx="128016" cy="694944"/>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486400" y="1042415"/>
            <a:ext cx="3474720" cy="201168"/>
          </a:xfrm>
          <a:prstGeom prst="rect">
            <a:avLst/>
          </a:prstGeom>
          <a:noFill/>
        </p:spPr>
        <p:txBody>
          <a:bodyPr wrap="square"/>
          <a:lstStyle/>
          <a:p>
            <a:pPr algn="l"/>
            <a:r>
              <a:rPr sz="800" b="1" i="0">
                <a:solidFill>
                  <a:srgbClr val="F5C400"/>
                </a:solidFill>
                <a:latin typeface="Calibri"/>
              </a:rPr>
              <a:t>YOU ARE HERE</a:t>
            </a:r>
          </a:p>
        </p:txBody>
      </p:sp>
      <p:sp>
        <p:nvSpPr>
          <p:cNvPr id="50" name="TextBox 49"/>
          <p:cNvSpPr txBox="1"/>
          <p:nvPr/>
        </p:nvSpPr>
        <p:spPr>
          <a:xfrm>
            <a:off x="5486400" y="1243584"/>
            <a:ext cx="3474720" cy="402336"/>
          </a:xfrm>
          <a:prstGeom prst="rect">
            <a:avLst/>
          </a:prstGeom>
          <a:noFill/>
        </p:spPr>
        <p:txBody>
          <a:bodyPr wrap="square"/>
          <a:lstStyle/>
          <a:p>
            <a:pPr algn="l"/>
            <a:r>
              <a:rPr sz="1000" b="1" i="0">
                <a:solidFill>
                  <a:srgbClr val="FFFFFF"/>
                </a:solidFill>
                <a:latin typeface="Calibri"/>
              </a:rPr>
              <a:t>Stage 3: Solo Practitioner  →  Goal: Stage 6, Law Firm Owner</a:t>
            </a:r>
          </a:p>
        </p:txBody>
      </p:sp>
      <p:sp>
        <p:nvSpPr>
          <p:cNvPr id="51" name="TextBox 50"/>
          <p:cNvSpPr txBox="1"/>
          <p:nvPr/>
        </p:nvSpPr>
        <p:spPr>
          <a:xfrm>
            <a:off x="5394960" y="1920240"/>
            <a:ext cx="3566160" cy="219456"/>
          </a:xfrm>
          <a:prstGeom prst="rect">
            <a:avLst/>
          </a:prstGeom>
          <a:noFill/>
        </p:spPr>
        <p:txBody>
          <a:bodyPr wrap="square"/>
          <a:lstStyle/>
          <a:p>
            <a:pPr algn="l"/>
            <a:r>
              <a:rPr sz="800" b="1" i="0">
                <a:solidFill>
                  <a:srgbClr val="64748B"/>
                </a:solidFill>
                <a:latin typeface="Calibri"/>
              </a:rPr>
              <a:t>COMPETITOR LANDSCAPE</a:t>
            </a:r>
          </a:p>
        </p:txBody>
      </p:sp>
      <p:sp>
        <p:nvSpPr>
          <p:cNvPr id="52" name="Rectangle 51"/>
          <p:cNvSpPr/>
          <p:nvPr/>
        </p:nvSpPr>
        <p:spPr>
          <a:xfrm>
            <a:off x="5257800" y="2176272"/>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413248" y="2221991"/>
            <a:ext cx="1828800" cy="219456"/>
          </a:xfrm>
          <a:prstGeom prst="rect">
            <a:avLst/>
          </a:prstGeom>
          <a:noFill/>
        </p:spPr>
        <p:txBody>
          <a:bodyPr wrap="square"/>
          <a:lstStyle/>
          <a:p>
            <a:pPr algn="l"/>
            <a:r>
              <a:rPr sz="800" b="0" i="0">
                <a:solidFill>
                  <a:srgbClr val="1E293B"/>
                </a:solidFill>
                <a:latin typeface="Calibri"/>
              </a:rPr>
              <a:t>Flora Legal Group</a:t>
            </a:r>
          </a:p>
        </p:txBody>
      </p:sp>
      <p:sp>
        <p:nvSpPr>
          <p:cNvPr id="54" name="TextBox 53"/>
          <p:cNvSpPr txBox="1"/>
          <p:nvPr/>
        </p:nvSpPr>
        <p:spPr>
          <a:xfrm>
            <a:off x="7260336" y="2221991"/>
            <a:ext cx="914400" cy="219456"/>
          </a:xfrm>
          <a:prstGeom prst="rect">
            <a:avLst/>
          </a:prstGeom>
          <a:noFill/>
        </p:spPr>
        <p:txBody>
          <a:bodyPr wrap="square"/>
          <a:lstStyle/>
          <a:p>
            <a:pPr algn="l"/>
            <a:r>
              <a:rPr sz="800" b="0" i="0">
                <a:solidFill>
                  <a:srgbClr val="16A34A"/>
                </a:solidFill>
                <a:latin typeface="Calibri"/>
              </a:rPr>
              <a:t>406 reviews</a:t>
            </a:r>
          </a:p>
        </p:txBody>
      </p:sp>
      <p:sp>
        <p:nvSpPr>
          <p:cNvPr id="55" name="TextBox 54"/>
          <p:cNvSpPr txBox="1"/>
          <p:nvPr/>
        </p:nvSpPr>
        <p:spPr>
          <a:xfrm>
            <a:off x="8193024" y="2240279"/>
            <a:ext cx="822960" cy="201168"/>
          </a:xfrm>
          <a:prstGeom prst="rect">
            <a:avLst/>
          </a:prstGeom>
          <a:noFill/>
        </p:spPr>
        <p:txBody>
          <a:bodyPr wrap="square"/>
          <a:lstStyle/>
          <a:p>
            <a:pPr algn="l"/>
            <a:r>
              <a:rPr sz="600" b="0" i="0">
                <a:solidFill>
                  <a:srgbClr val="64748B"/>
                </a:solidFill>
                <a:latin typeface="Calibri"/>
              </a:rPr>
              <a:t>multilingual · statewide</a:t>
            </a:r>
          </a:p>
        </p:txBody>
      </p:sp>
      <p:sp>
        <p:nvSpPr>
          <p:cNvPr id="56" name="Rectangle 55"/>
          <p:cNvSpPr/>
          <p:nvPr/>
        </p:nvSpPr>
        <p:spPr>
          <a:xfrm>
            <a:off x="5257800" y="2523744"/>
            <a:ext cx="3886200" cy="310896"/>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413248" y="2569463"/>
            <a:ext cx="1828800" cy="219456"/>
          </a:xfrm>
          <a:prstGeom prst="rect">
            <a:avLst/>
          </a:prstGeom>
          <a:noFill/>
        </p:spPr>
        <p:txBody>
          <a:bodyPr wrap="square"/>
          <a:lstStyle/>
          <a:p>
            <a:pPr algn="l"/>
            <a:r>
              <a:rPr sz="800" b="0" i="0">
                <a:solidFill>
                  <a:srgbClr val="1E293B"/>
                </a:solidFill>
                <a:latin typeface="Calibri"/>
              </a:rPr>
              <a:t>Banks &amp; Brower</a:t>
            </a:r>
          </a:p>
        </p:txBody>
      </p:sp>
      <p:sp>
        <p:nvSpPr>
          <p:cNvPr id="58" name="TextBox 57"/>
          <p:cNvSpPr txBox="1"/>
          <p:nvPr/>
        </p:nvSpPr>
        <p:spPr>
          <a:xfrm>
            <a:off x="7260336" y="2569463"/>
            <a:ext cx="914400" cy="219456"/>
          </a:xfrm>
          <a:prstGeom prst="rect">
            <a:avLst/>
          </a:prstGeom>
          <a:noFill/>
        </p:spPr>
        <p:txBody>
          <a:bodyPr wrap="square"/>
          <a:lstStyle/>
          <a:p>
            <a:pPr algn="l"/>
            <a:r>
              <a:rPr sz="800" b="0" i="0">
                <a:solidFill>
                  <a:srgbClr val="16A34A"/>
                </a:solidFill>
                <a:latin typeface="Calibri"/>
              </a:rPr>
              <a:t>792 reviews</a:t>
            </a:r>
          </a:p>
        </p:txBody>
      </p:sp>
      <p:sp>
        <p:nvSpPr>
          <p:cNvPr id="59" name="TextBox 58"/>
          <p:cNvSpPr txBox="1"/>
          <p:nvPr/>
        </p:nvSpPr>
        <p:spPr>
          <a:xfrm>
            <a:off x="8193024" y="2587751"/>
            <a:ext cx="822960" cy="201168"/>
          </a:xfrm>
          <a:prstGeom prst="rect">
            <a:avLst/>
          </a:prstGeom>
          <a:noFill/>
        </p:spPr>
        <p:txBody>
          <a:bodyPr wrap="square"/>
          <a:lstStyle/>
          <a:p>
            <a:pPr algn="l"/>
            <a:r>
              <a:rPr sz="600" b="0" i="0">
                <a:solidFill>
                  <a:srgbClr val="64748B"/>
                </a:solidFill>
                <a:latin typeface="Calibri"/>
              </a:rPr>
              <a:t>highest vol in Indiana</a:t>
            </a:r>
          </a:p>
        </p:txBody>
      </p:sp>
      <p:sp>
        <p:nvSpPr>
          <p:cNvPr id="60" name="Rectangle 59"/>
          <p:cNvSpPr/>
          <p:nvPr/>
        </p:nvSpPr>
        <p:spPr>
          <a:xfrm>
            <a:off x="5257800" y="2871216"/>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413248" y="2916936"/>
            <a:ext cx="1828800" cy="219456"/>
          </a:xfrm>
          <a:prstGeom prst="rect">
            <a:avLst/>
          </a:prstGeom>
          <a:noFill/>
        </p:spPr>
        <p:txBody>
          <a:bodyPr wrap="square"/>
          <a:lstStyle/>
          <a:p>
            <a:pPr algn="l"/>
            <a:r>
              <a:rPr sz="800" b="0" i="0">
                <a:solidFill>
                  <a:srgbClr val="1E293B"/>
                </a:solidFill>
                <a:latin typeface="Calibri"/>
              </a:rPr>
              <a:t>Law Office of C. Grimes</a:t>
            </a:r>
          </a:p>
        </p:txBody>
      </p:sp>
      <p:sp>
        <p:nvSpPr>
          <p:cNvPr id="62" name="TextBox 61"/>
          <p:cNvSpPr txBox="1"/>
          <p:nvPr/>
        </p:nvSpPr>
        <p:spPr>
          <a:xfrm>
            <a:off x="7260336" y="2916936"/>
            <a:ext cx="914400" cy="219456"/>
          </a:xfrm>
          <a:prstGeom prst="rect">
            <a:avLst/>
          </a:prstGeom>
          <a:noFill/>
        </p:spPr>
        <p:txBody>
          <a:bodyPr wrap="square"/>
          <a:lstStyle/>
          <a:p>
            <a:pPr algn="l"/>
            <a:r>
              <a:rPr sz="800" b="0" i="0">
                <a:solidFill>
                  <a:srgbClr val="16A34A"/>
                </a:solidFill>
                <a:latin typeface="Calibri"/>
              </a:rPr>
              <a:t>105 reviews</a:t>
            </a:r>
          </a:p>
        </p:txBody>
      </p:sp>
      <p:sp>
        <p:nvSpPr>
          <p:cNvPr id="63" name="TextBox 62"/>
          <p:cNvSpPr txBox="1"/>
          <p:nvPr/>
        </p:nvSpPr>
        <p:spPr>
          <a:xfrm>
            <a:off x="8193024" y="2935224"/>
            <a:ext cx="822960" cy="201168"/>
          </a:xfrm>
          <a:prstGeom prst="rect">
            <a:avLst/>
          </a:prstGeom>
          <a:noFill/>
        </p:spPr>
        <p:txBody>
          <a:bodyPr wrap="square"/>
          <a:lstStyle/>
          <a:p>
            <a:pPr algn="l"/>
            <a:r>
              <a:rPr sz="600" b="0" i="0">
                <a:solidFill>
                  <a:srgbClr val="64748B"/>
                </a:solidFill>
                <a:latin typeface="Calibri"/>
              </a:rPr>
              <a:t>5.0 rating · more reach</a:t>
            </a:r>
          </a:p>
        </p:txBody>
      </p:sp>
      <p:sp>
        <p:nvSpPr>
          <p:cNvPr id="64" name="Rectangle 63"/>
          <p:cNvSpPr/>
          <p:nvPr/>
        </p:nvSpPr>
        <p:spPr>
          <a:xfrm>
            <a:off x="5257800" y="3218688"/>
            <a:ext cx="3886200" cy="310896"/>
          </a:xfrm>
          <a:prstGeom prst="rect">
            <a:avLst/>
          </a:prstGeom>
          <a:solidFill>
            <a:srgbClr val="FFF0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5257800" y="3218688"/>
            <a:ext cx="91440" cy="31089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413248" y="3264408"/>
            <a:ext cx="1828800" cy="219456"/>
          </a:xfrm>
          <a:prstGeom prst="rect">
            <a:avLst/>
          </a:prstGeom>
          <a:noFill/>
        </p:spPr>
        <p:txBody>
          <a:bodyPr wrap="square"/>
          <a:lstStyle/>
          <a:p>
            <a:pPr algn="l"/>
            <a:r>
              <a:rPr sz="900" b="1" i="0">
                <a:solidFill>
                  <a:srgbClr val="C0392B"/>
                </a:solidFill>
                <a:latin typeface="Calibri"/>
              </a:rPr>
              <a:t>Indiana Immigration Attorneys</a:t>
            </a:r>
          </a:p>
        </p:txBody>
      </p:sp>
      <p:sp>
        <p:nvSpPr>
          <p:cNvPr id="67" name="TextBox 66"/>
          <p:cNvSpPr txBox="1"/>
          <p:nvPr/>
        </p:nvSpPr>
        <p:spPr>
          <a:xfrm>
            <a:off x="7260336" y="3264408"/>
            <a:ext cx="914400" cy="219456"/>
          </a:xfrm>
          <a:prstGeom prst="rect">
            <a:avLst/>
          </a:prstGeom>
          <a:noFill/>
        </p:spPr>
        <p:txBody>
          <a:bodyPr wrap="square"/>
          <a:lstStyle/>
          <a:p>
            <a:pPr algn="l"/>
            <a:r>
              <a:rPr sz="800" b="1" i="0">
                <a:solidFill>
                  <a:srgbClr val="C0392B"/>
                </a:solidFill>
                <a:latin typeface="Calibri"/>
              </a:rPr>
              <a:t>16 reviews</a:t>
            </a:r>
          </a:p>
        </p:txBody>
      </p:sp>
      <p:sp>
        <p:nvSpPr>
          <p:cNvPr id="68" name="TextBox 67"/>
          <p:cNvSpPr txBox="1"/>
          <p:nvPr/>
        </p:nvSpPr>
        <p:spPr>
          <a:xfrm>
            <a:off x="8193024" y="3282696"/>
            <a:ext cx="822960" cy="201168"/>
          </a:xfrm>
          <a:prstGeom prst="rect">
            <a:avLst/>
          </a:prstGeom>
          <a:noFill/>
        </p:spPr>
        <p:txBody>
          <a:bodyPr wrap="square"/>
          <a:lstStyle/>
          <a:p>
            <a:pPr algn="l"/>
            <a:r>
              <a:rPr sz="600" b="0" i="0">
                <a:solidFill>
                  <a:srgbClr val="64748B"/>
                </a:solidFill>
                <a:latin typeface="Calibri"/>
              </a:rPr>
              <a:t>← You are here</a:t>
            </a:r>
          </a:p>
        </p:txBody>
      </p:sp>
      <p:sp>
        <p:nvSpPr>
          <p:cNvPr id="69" name="Rectangle 68"/>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0" name="Picture 69" descr="smb_team_logo.png"/>
          <p:cNvPicPr>
            <a:picLocks noChangeAspect="1"/>
          </p:cNvPicPr>
          <p:nvPr/>
        </p:nvPicPr>
        <p:blipFill>
          <a:blip r:embed="rId2"/>
          <a:stretch>
            <a:fillRect/>
          </a:stretch>
        </p:blipFill>
        <p:spPr>
          <a:xfrm>
            <a:off x="201168" y="4837176"/>
            <a:ext cx="1170432" cy="237744"/>
          </a:xfrm>
          <a:prstGeom prst="rect">
            <a:avLst/>
          </a:prstGeom>
        </p:spPr>
      </p:pic>
      <p:sp>
        <p:nvSpPr>
          <p:cNvPr id="71" name="TextBox 70"/>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Jacob Meissner | SMB Team</a:t>
            </a:r>
          </a:p>
        </p:txBody>
      </p:sp>
      <p:sp>
        <p:nvSpPr>
          <p:cNvPr id="72" name="TextBox 71"/>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1 /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INDIANA IMMIGRATION ATTORNEYS</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Calibri"/>
              </a:rPr>
              <a:t>Your Growth Plan: 3 Priorities to Build a Sustainable Firm</a:t>
            </a:r>
          </a:p>
        </p:txBody>
      </p:sp>
      <p:sp>
        <p:nvSpPr>
          <p:cNvPr id="5" name="Rectangle 4"/>
          <p:cNvSpPr/>
          <p:nvPr/>
        </p:nvSpPr>
        <p:spPr>
          <a:xfrm>
            <a:off x="182880" y="1024128"/>
            <a:ext cx="2487168" cy="363931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 y="1042415"/>
            <a:ext cx="2487168" cy="18288"/>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2608" y="1097280"/>
            <a:ext cx="2267712" cy="201168"/>
          </a:xfrm>
          <a:prstGeom prst="rect">
            <a:avLst/>
          </a:prstGeom>
          <a:noFill/>
        </p:spPr>
        <p:txBody>
          <a:bodyPr wrap="square"/>
          <a:lstStyle/>
          <a:p>
            <a:pPr algn="l"/>
            <a:r>
              <a:rPr sz="800" b="1" i="0">
                <a:solidFill>
                  <a:srgbClr val="F5C400"/>
                </a:solidFill>
                <a:latin typeface="Calibri"/>
              </a:rPr>
              <a:t>THE SMB TEAM MODEL</a:t>
            </a:r>
          </a:p>
        </p:txBody>
      </p:sp>
      <p:sp>
        <p:nvSpPr>
          <p:cNvPr id="8" name="TextBox 7"/>
          <p:cNvSpPr txBox="1"/>
          <p:nvPr/>
        </p:nvSpPr>
        <p:spPr>
          <a:xfrm>
            <a:off x="292608" y="1335024"/>
            <a:ext cx="2267712" cy="1572768"/>
          </a:xfrm>
          <a:prstGeom prst="rect">
            <a:avLst/>
          </a:prstGeom>
          <a:noFill/>
        </p:spPr>
        <p:txBody>
          <a:bodyPr wrap="square"/>
          <a:lstStyle/>
          <a:p>
            <a:pPr algn="l"/>
            <a:r>
              <a:rPr sz="900" b="0" i="0">
                <a:solidFill>
                  <a:srgbClr val="A8BFDA"/>
                </a:solidFill>
                <a:latin typeface="Calibri"/>
              </a:rPr>
              <a:t>Lead Generation, Intake, Team, and Profit must all work together. Missing any one, growth stalls regardless of effort. When all four work, Libby can serve every north Indiana family who needs her — without the firm depending on her personal hours to survive.</a:t>
            </a:r>
          </a:p>
        </p:txBody>
      </p:sp>
      <p:sp>
        <p:nvSpPr>
          <p:cNvPr id="9" name="Rectangle 8"/>
          <p:cNvSpPr/>
          <p:nvPr/>
        </p:nvSpPr>
        <p:spPr>
          <a:xfrm>
            <a:off x="182880" y="2999232"/>
            <a:ext cx="2487168" cy="749808"/>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 y="3017520"/>
            <a:ext cx="2286000" cy="274320"/>
          </a:xfrm>
          <a:prstGeom prst="rect">
            <a:avLst/>
          </a:prstGeom>
          <a:noFill/>
        </p:spPr>
        <p:txBody>
          <a:bodyPr wrap="square"/>
          <a:lstStyle/>
          <a:p>
            <a:pPr algn="l"/>
            <a:r>
              <a:rPr sz="1200" b="1" i="0">
                <a:solidFill>
                  <a:srgbClr val="0D1F3C"/>
                </a:solidFill>
                <a:latin typeface="Calibri"/>
              </a:rPr>
              <a:t>Stage 3 → Stage 6 Firm</a:t>
            </a:r>
          </a:p>
        </p:txBody>
      </p:sp>
      <p:sp>
        <p:nvSpPr>
          <p:cNvPr id="11" name="TextBox 10"/>
          <p:cNvSpPr txBox="1"/>
          <p:nvPr/>
        </p:nvSpPr>
        <p:spPr>
          <a:xfrm>
            <a:off x="292608" y="3291840"/>
            <a:ext cx="2286000" cy="402336"/>
          </a:xfrm>
          <a:prstGeom prst="rect">
            <a:avLst/>
          </a:prstGeom>
          <a:noFill/>
        </p:spPr>
        <p:txBody>
          <a:bodyPr wrap="square"/>
          <a:lstStyle/>
          <a:p>
            <a:pPr algn="l"/>
            <a:r>
              <a:rPr sz="900" b="0" i="0">
                <a:solidFill>
                  <a:srgbClr val="0D1F3C"/>
                </a:solidFill>
                <a:latin typeface="Calibri"/>
              </a:rPr>
              <a:t>Serve more families — sustainably</a:t>
            </a:r>
          </a:p>
        </p:txBody>
      </p:sp>
      <p:sp>
        <p:nvSpPr>
          <p:cNvPr id="12" name="Rectangle 11"/>
          <p:cNvSpPr/>
          <p:nvPr/>
        </p:nvSpPr>
        <p:spPr>
          <a:xfrm>
            <a:off x="2816352" y="1024128"/>
            <a:ext cx="2048256" cy="841248"/>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26080" y="1042415"/>
            <a:ext cx="457200" cy="274320"/>
          </a:xfrm>
          <a:prstGeom prst="rect">
            <a:avLst/>
          </a:prstGeom>
          <a:noFill/>
        </p:spPr>
        <p:txBody>
          <a:bodyPr wrap="square"/>
          <a:lstStyle/>
          <a:p>
            <a:pPr algn="l"/>
            <a:r>
              <a:rPr sz="1000" b="1" i="0">
                <a:solidFill>
                  <a:srgbClr val="FFFFFF"/>
                </a:solidFill>
                <a:latin typeface="Calibri"/>
              </a:rPr>
              <a:t>01</a:t>
            </a:r>
          </a:p>
        </p:txBody>
      </p:sp>
      <p:sp>
        <p:nvSpPr>
          <p:cNvPr id="14" name="TextBox 13"/>
          <p:cNvSpPr txBox="1"/>
          <p:nvPr/>
        </p:nvSpPr>
        <p:spPr>
          <a:xfrm>
            <a:off x="2926080" y="1316736"/>
            <a:ext cx="1865376" cy="256032"/>
          </a:xfrm>
          <a:prstGeom prst="rect">
            <a:avLst/>
          </a:prstGeom>
          <a:noFill/>
        </p:spPr>
        <p:txBody>
          <a:bodyPr wrap="square"/>
          <a:lstStyle/>
          <a:p>
            <a:pPr algn="l"/>
            <a:r>
              <a:rPr sz="1200" b="1" i="0">
                <a:solidFill>
                  <a:srgbClr val="FFFFFF"/>
                </a:solidFill>
                <a:latin typeface="Calibri"/>
              </a:rPr>
              <a:t>Build the</a:t>
            </a:r>
          </a:p>
        </p:txBody>
      </p:sp>
      <p:sp>
        <p:nvSpPr>
          <p:cNvPr id="15" name="TextBox 14"/>
          <p:cNvSpPr txBox="1"/>
          <p:nvPr/>
        </p:nvSpPr>
        <p:spPr>
          <a:xfrm>
            <a:off x="2926080" y="1554480"/>
            <a:ext cx="1865376" cy="256032"/>
          </a:xfrm>
          <a:prstGeom prst="rect">
            <a:avLst/>
          </a:prstGeom>
          <a:noFill/>
        </p:spPr>
        <p:txBody>
          <a:bodyPr wrap="square"/>
          <a:lstStyle/>
          <a:p>
            <a:pPr algn="l"/>
            <a:r>
              <a:rPr sz="1200" b="1" i="0">
                <a:solidFill>
                  <a:srgbClr val="FFFFFF"/>
                </a:solidFill>
                <a:latin typeface="Calibri"/>
              </a:rPr>
              <a:t>Marketing Engine</a:t>
            </a:r>
          </a:p>
        </p:txBody>
      </p:sp>
      <p:sp>
        <p:nvSpPr>
          <p:cNvPr id="16" name="Rectangle 15"/>
          <p:cNvSpPr/>
          <p:nvPr/>
        </p:nvSpPr>
        <p:spPr>
          <a:xfrm>
            <a:off x="2816352" y="1865376"/>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07792" y="2084832"/>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54096" y="1920240"/>
            <a:ext cx="1755648" cy="475488"/>
          </a:xfrm>
          <a:prstGeom prst="rect">
            <a:avLst/>
          </a:prstGeom>
          <a:noFill/>
        </p:spPr>
        <p:txBody>
          <a:bodyPr wrap="square"/>
          <a:lstStyle/>
          <a:p>
            <a:pPr algn="l"/>
            <a:r>
              <a:rPr sz="800" b="0" i="0">
                <a:solidFill>
                  <a:srgbClr val="1E293B"/>
                </a:solidFill>
                <a:latin typeface="Calibri"/>
              </a:rPr>
              <a:t>Turn Google into a lead pipeline in north Indiana</a:t>
            </a:r>
          </a:p>
        </p:txBody>
      </p:sp>
      <p:sp>
        <p:nvSpPr>
          <p:cNvPr id="19" name="Rectangle 18"/>
          <p:cNvSpPr/>
          <p:nvPr/>
        </p:nvSpPr>
        <p:spPr>
          <a:xfrm>
            <a:off x="2816352"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907792" y="2688336"/>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54096" y="2523744"/>
            <a:ext cx="1755648" cy="475488"/>
          </a:xfrm>
          <a:prstGeom prst="rect">
            <a:avLst/>
          </a:prstGeom>
          <a:noFill/>
        </p:spPr>
        <p:txBody>
          <a:bodyPr wrap="square"/>
          <a:lstStyle/>
          <a:p>
            <a:pPr algn="l"/>
            <a:r>
              <a:rPr sz="800" b="0" i="0">
                <a:solidFill>
                  <a:srgbClr val="1E293B"/>
                </a:solidFill>
                <a:latin typeface="Calibri"/>
              </a:rPr>
              <a:t>Spanish-language ads reach the underserved community</a:t>
            </a:r>
          </a:p>
        </p:txBody>
      </p:sp>
      <p:sp>
        <p:nvSpPr>
          <p:cNvPr id="22" name="Rectangle 21"/>
          <p:cNvSpPr/>
          <p:nvPr/>
        </p:nvSpPr>
        <p:spPr>
          <a:xfrm>
            <a:off x="2816352" y="3072384"/>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907792" y="3291839"/>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54096" y="3127248"/>
            <a:ext cx="1755648" cy="475488"/>
          </a:xfrm>
          <a:prstGeom prst="rect">
            <a:avLst/>
          </a:prstGeom>
          <a:noFill/>
        </p:spPr>
        <p:txBody>
          <a:bodyPr wrap="square"/>
          <a:lstStyle/>
          <a:p>
            <a:pPr algn="l"/>
            <a:r>
              <a:rPr sz="800" b="0" i="0">
                <a:solidFill>
                  <a:srgbClr val="1E293B"/>
                </a:solidFill>
                <a:latin typeface="Calibri"/>
              </a:rPr>
              <a:t>Claim the LSA #1 spot before any competitor does</a:t>
            </a:r>
          </a:p>
        </p:txBody>
      </p:sp>
      <p:sp>
        <p:nvSpPr>
          <p:cNvPr id="25" name="Rectangle 24"/>
          <p:cNvSpPr/>
          <p:nvPr/>
        </p:nvSpPr>
        <p:spPr>
          <a:xfrm>
            <a:off x="2816352"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907792" y="3895344"/>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054096" y="3730751"/>
            <a:ext cx="1755648" cy="475488"/>
          </a:xfrm>
          <a:prstGeom prst="rect">
            <a:avLst/>
          </a:prstGeom>
          <a:noFill/>
        </p:spPr>
        <p:txBody>
          <a:bodyPr wrap="square"/>
          <a:lstStyle/>
          <a:p>
            <a:pPr algn="l"/>
            <a:r>
              <a:rPr sz="800" b="0" i="0">
                <a:solidFill>
                  <a:srgbClr val="1E293B"/>
                </a:solidFill>
                <a:latin typeface="Calibri"/>
              </a:rPr>
              <a:t>Build 50+ reviews in 90 days — close the gap</a:t>
            </a:r>
          </a:p>
        </p:txBody>
      </p:sp>
      <p:sp>
        <p:nvSpPr>
          <p:cNvPr id="28" name="Rectangle 27"/>
          <p:cNvSpPr/>
          <p:nvPr/>
        </p:nvSpPr>
        <p:spPr>
          <a:xfrm>
            <a:off x="2816352" y="4279392"/>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907792" y="4498848"/>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054096" y="4334255"/>
            <a:ext cx="1755648" cy="475488"/>
          </a:xfrm>
          <a:prstGeom prst="rect">
            <a:avLst/>
          </a:prstGeom>
          <a:noFill/>
        </p:spPr>
        <p:txBody>
          <a:bodyPr wrap="square"/>
          <a:lstStyle/>
          <a:p>
            <a:pPr algn="l"/>
            <a:r>
              <a:rPr sz="800" b="0" i="0">
                <a:solidFill>
                  <a:srgbClr val="1E293B"/>
                </a:solidFill>
                <a:latin typeface="Calibri"/>
              </a:rPr>
              <a:t>Geo pages for Kokomo &amp; nearby cities — own the region</a:t>
            </a:r>
          </a:p>
        </p:txBody>
      </p:sp>
      <p:sp>
        <p:nvSpPr>
          <p:cNvPr id="31" name="Rectangle 30"/>
          <p:cNvSpPr/>
          <p:nvPr/>
        </p:nvSpPr>
        <p:spPr>
          <a:xfrm>
            <a:off x="4937760" y="1024128"/>
            <a:ext cx="2048256" cy="841248"/>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47488" y="1042415"/>
            <a:ext cx="457200" cy="274320"/>
          </a:xfrm>
          <a:prstGeom prst="rect">
            <a:avLst/>
          </a:prstGeom>
          <a:noFill/>
        </p:spPr>
        <p:txBody>
          <a:bodyPr wrap="square"/>
          <a:lstStyle/>
          <a:p>
            <a:pPr algn="l"/>
            <a:r>
              <a:rPr sz="1000" b="1" i="0">
                <a:solidFill>
                  <a:srgbClr val="FFFFFF"/>
                </a:solidFill>
                <a:latin typeface="Calibri"/>
              </a:rPr>
              <a:t>02</a:t>
            </a:r>
          </a:p>
        </p:txBody>
      </p:sp>
      <p:sp>
        <p:nvSpPr>
          <p:cNvPr id="33" name="TextBox 32"/>
          <p:cNvSpPr txBox="1"/>
          <p:nvPr/>
        </p:nvSpPr>
        <p:spPr>
          <a:xfrm>
            <a:off x="5047488" y="1316736"/>
            <a:ext cx="1865376" cy="256032"/>
          </a:xfrm>
          <a:prstGeom prst="rect">
            <a:avLst/>
          </a:prstGeom>
          <a:noFill/>
        </p:spPr>
        <p:txBody>
          <a:bodyPr wrap="square"/>
          <a:lstStyle/>
          <a:p>
            <a:pPr algn="l"/>
            <a:r>
              <a:rPr sz="1200" b="1" i="0">
                <a:solidFill>
                  <a:srgbClr val="FFFFFF"/>
                </a:solidFill>
                <a:latin typeface="Calibri"/>
              </a:rPr>
              <a:t>Fix Intake &amp;</a:t>
            </a:r>
          </a:p>
        </p:txBody>
      </p:sp>
      <p:sp>
        <p:nvSpPr>
          <p:cNvPr id="34" name="TextBox 33"/>
          <p:cNvSpPr txBox="1"/>
          <p:nvPr/>
        </p:nvSpPr>
        <p:spPr>
          <a:xfrm>
            <a:off x="5047488" y="1554480"/>
            <a:ext cx="1865376" cy="256032"/>
          </a:xfrm>
          <a:prstGeom prst="rect">
            <a:avLst/>
          </a:prstGeom>
          <a:noFill/>
        </p:spPr>
        <p:txBody>
          <a:bodyPr wrap="square"/>
          <a:lstStyle/>
          <a:p>
            <a:pPr algn="l"/>
            <a:r>
              <a:rPr sz="1200" b="1" i="0">
                <a:solidFill>
                  <a:srgbClr val="FFFFFF"/>
                </a:solidFill>
                <a:latin typeface="Calibri"/>
              </a:rPr>
              <a:t>Stop Losing Cases</a:t>
            </a:r>
          </a:p>
        </p:txBody>
      </p:sp>
      <p:sp>
        <p:nvSpPr>
          <p:cNvPr id="35" name="Rectangle 34"/>
          <p:cNvSpPr/>
          <p:nvPr/>
        </p:nvSpPr>
        <p:spPr>
          <a:xfrm>
            <a:off x="4937760" y="1865376"/>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29200" y="2084832"/>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75504" y="1920240"/>
            <a:ext cx="1755648" cy="475488"/>
          </a:xfrm>
          <a:prstGeom prst="rect">
            <a:avLst/>
          </a:prstGeom>
          <a:noFill/>
        </p:spPr>
        <p:txBody>
          <a:bodyPr wrap="square"/>
          <a:lstStyle/>
          <a:p>
            <a:pPr algn="l"/>
            <a:r>
              <a:rPr sz="800" b="0" i="0">
                <a:solidFill>
                  <a:srgbClr val="1E293B"/>
                </a:solidFill>
                <a:latin typeface="Calibri"/>
              </a:rPr>
              <a:t>After-hours intake captures urgent asylum/visa cases</a:t>
            </a:r>
          </a:p>
        </p:txBody>
      </p:sp>
      <p:sp>
        <p:nvSpPr>
          <p:cNvPr id="38" name="Rectangle 37"/>
          <p:cNvSpPr/>
          <p:nvPr/>
        </p:nvSpPr>
        <p:spPr>
          <a:xfrm>
            <a:off x="4937760"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29200" y="2688336"/>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175504" y="2523744"/>
            <a:ext cx="1755648" cy="475488"/>
          </a:xfrm>
          <a:prstGeom prst="rect">
            <a:avLst/>
          </a:prstGeom>
          <a:noFill/>
        </p:spPr>
        <p:txBody>
          <a:bodyPr wrap="square"/>
          <a:lstStyle/>
          <a:p>
            <a:pPr algn="l"/>
            <a:r>
              <a:rPr sz="800" b="0" i="0">
                <a:solidFill>
                  <a:srgbClr val="1E293B"/>
                </a:solidFill>
                <a:latin typeface="Calibri"/>
              </a:rPr>
              <a:t>Track every lead — stop silent revenue disappearing</a:t>
            </a:r>
          </a:p>
        </p:txBody>
      </p:sp>
      <p:sp>
        <p:nvSpPr>
          <p:cNvPr id="41" name="Rectangle 40"/>
          <p:cNvSpPr/>
          <p:nvPr/>
        </p:nvSpPr>
        <p:spPr>
          <a:xfrm>
            <a:off x="4937760" y="3072384"/>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029200" y="3291839"/>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175504" y="3127248"/>
            <a:ext cx="1755648" cy="475488"/>
          </a:xfrm>
          <a:prstGeom prst="rect">
            <a:avLst/>
          </a:prstGeom>
          <a:noFill/>
        </p:spPr>
        <p:txBody>
          <a:bodyPr wrap="square"/>
          <a:lstStyle/>
          <a:p>
            <a:pPr algn="l"/>
            <a:r>
              <a:rPr sz="800" b="0" i="0">
                <a:solidFill>
                  <a:srgbClr val="1E293B"/>
                </a:solidFill>
                <a:latin typeface="Calibri"/>
              </a:rPr>
              <a:t>Free Libby from intake calls to focus on casework</a:t>
            </a:r>
          </a:p>
        </p:txBody>
      </p:sp>
      <p:sp>
        <p:nvSpPr>
          <p:cNvPr id="44" name="Rectangle 43"/>
          <p:cNvSpPr/>
          <p:nvPr/>
        </p:nvSpPr>
        <p:spPr>
          <a:xfrm>
            <a:off x="4937760"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029200" y="3895344"/>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175504" y="3730751"/>
            <a:ext cx="1755648" cy="475488"/>
          </a:xfrm>
          <a:prstGeom prst="rect">
            <a:avLst/>
          </a:prstGeom>
          <a:noFill/>
        </p:spPr>
        <p:txBody>
          <a:bodyPr wrap="square"/>
          <a:lstStyle/>
          <a:p>
            <a:pPr algn="l"/>
            <a:r>
              <a:rPr sz="800" b="0" i="0">
                <a:solidFill>
                  <a:srgbClr val="1E293B"/>
                </a:solidFill>
                <a:latin typeface="Calibri"/>
              </a:rPr>
              <a:t>Same-day response converts at 3× the rate of next-day</a:t>
            </a:r>
          </a:p>
        </p:txBody>
      </p:sp>
      <p:sp>
        <p:nvSpPr>
          <p:cNvPr id="47" name="Rectangle 46"/>
          <p:cNvSpPr/>
          <p:nvPr/>
        </p:nvSpPr>
        <p:spPr>
          <a:xfrm>
            <a:off x="4937760" y="4279392"/>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029200" y="4498848"/>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175504" y="4334255"/>
            <a:ext cx="1755648" cy="475488"/>
          </a:xfrm>
          <a:prstGeom prst="rect">
            <a:avLst/>
          </a:prstGeom>
          <a:noFill/>
        </p:spPr>
        <p:txBody>
          <a:bodyPr wrap="square"/>
          <a:lstStyle/>
          <a:p>
            <a:pPr algn="l"/>
            <a:r>
              <a:rPr sz="800" b="0" i="0">
                <a:solidFill>
                  <a:srgbClr val="1E293B"/>
                </a:solidFill>
                <a:latin typeface="Calibri"/>
              </a:rPr>
              <a:t>Intake system runs before more leads start arriving</a:t>
            </a:r>
          </a:p>
        </p:txBody>
      </p:sp>
      <p:sp>
        <p:nvSpPr>
          <p:cNvPr id="50" name="Rectangle 49"/>
          <p:cNvSpPr/>
          <p:nvPr/>
        </p:nvSpPr>
        <p:spPr>
          <a:xfrm>
            <a:off x="7059168" y="1024128"/>
            <a:ext cx="2048256" cy="841248"/>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168896" y="1042415"/>
            <a:ext cx="457200" cy="274320"/>
          </a:xfrm>
          <a:prstGeom prst="rect">
            <a:avLst/>
          </a:prstGeom>
          <a:noFill/>
        </p:spPr>
        <p:txBody>
          <a:bodyPr wrap="square"/>
          <a:lstStyle/>
          <a:p>
            <a:pPr algn="l"/>
            <a:r>
              <a:rPr sz="1000" b="1" i="0">
                <a:solidFill>
                  <a:srgbClr val="FFFFFF"/>
                </a:solidFill>
                <a:latin typeface="Calibri"/>
              </a:rPr>
              <a:t>03</a:t>
            </a:r>
          </a:p>
        </p:txBody>
      </p:sp>
      <p:sp>
        <p:nvSpPr>
          <p:cNvPr id="52" name="TextBox 51"/>
          <p:cNvSpPr txBox="1"/>
          <p:nvPr/>
        </p:nvSpPr>
        <p:spPr>
          <a:xfrm>
            <a:off x="7168896" y="1316736"/>
            <a:ext cx="1865376" cy="256032"/>
          </a:xfrm>
          <a:prstGeom prst="rect">
            <a:avLst/>
          </a:prstGeom>
          <a:noFill/>
        </p:spPr>
        <p:txBody>
          <a:bodyPr wrap="square"/>
          <a:lstStyle/>
          <a:p>
            <a:pPr algn="l"/>
            <a:r>
              <a:rPr sz="1200" b="1" i="0">
                <a:solidFill>
                  <a:srgbClr val="FFFFFF"/>
                </a:solidFill>
                <a:latin typeface="Calibri"/>
              </a:rPr>
              <a:t>Install Team &amp;</a:t>
            </a:r>
          </a:p>
        </p:txBody>
      </p:sp>
      <p:sp>
        <p:nvSpPr>
          <p:cNvPr id="53" name="TextBox 52"/>
          <p:cNvSpPr txBox="1"/>
          <p:nvPr/>
        </p:nvSpPr>
        <p:spPr>
          <a:xfrm>
            <a:off x="7168896" y="1554480"/>
            <a:ext cx="1865376" cy="256032"/>
          </a:xfrm>
          <a:prstGeom prst="rect">
            <a:avLst/>
          </a:prstGeom>
          <a:noFill/>
        </p:spPr>
        <p:txBody>
          <a:bodyPr wrap="square"/>
          <a:lstStyle/>
          <a:p>
            <a:pPr algn="l"/>
            <a:r>
              <a:rPr sz="1200" b="1" i="0">
                <a:solidFill>
                  <a:srgbClr val="FFFFFF"/>
                </a:solidFill>
                <a:latin typeface="Calibri"/>
              </a:rPr>
              <a:t>Profit Systems</a:t>
            </a:r>
          </a:p>
        </p:txBody>
      </p:sp>
      <p:sp>
        <p:nvSpPr>
          <p:cNvPr id="54" name="Rectangle 53"/>
          <p:cNvSpPr/>
          <p:nvPr/>
        </p:nvSpPr>
        <p:spPr>
          <a:xfrm>
            <a:off x="7059168" y="1865376"/>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150607" y="2084832"/>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296912" y="1920240"/>
            <a:ext cx="1755648" cy="475488"/>
          </a:xfrm>
          <a:prstGeom prst="rect">
            <a:avLst/>
          </a:prstGeom>
          <a:noFill/>
        </p:spPr>
        <p:txBody>
          <a:bodyPr wrap="square"/>
          <a:lstStyle/>
          <a:p>
            <a:pPr algn="l"/>
            <a:r>
              <a:rPr sz="800" b="0" i="0">
                <a:solidFill>
                  <a:srgbClr val="1E293B"/>
                </a:solidFill>
                <a:latin typeface="Calibri"/>
              </a:rPr>
              <a:t>Track revenue per case type — know what pays best</a:t>
            </a:r>
          </a:p>
        </p:txBody>
      </p:sp>
      <p:sp>
        <p:nvSpPr>
          <p:cNvPr id="57" name="Rectangle 56"/>
          <p:cNvSpPr/>
          <p:nvPr/>
        </p:nvSpPr>
        <p:spPr>
          <a:xfrm>
            <a:off x="7059168"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150607" y="2688336"/>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296912" y="2523744"/>
            <a:ext cx="1755648" cy="475488"/>
          </a:xfrm>
          <a:prstGeom prst="rect">
            <a:avLst/>
          </a:prstGeom>
          <a:noFill/>
        </p:spPr>
        <p:txBody>
          <a:bodyPr wrap="square"/>
          <a:lstStyle/>
          <a:p>
            <a:pPr algn="l"/>
            <a:r>
              <a:rPr sz="800" b="0" i="0">
                <a:solidFill>
                  <a:srgbClr val="1E293B"/>
                </a:solidFill>
                <a:latin typeface="Calibri"/>
              </a:rPr>
              <a:t>Profit plan created before next growth investment</a:t>
            </a:r>
          </a:p>
        </p:txBody>
      </p:sp>
      <p:sp>
        <p:nvSpPr>
          <p:cNvPr id="60" name="Rectangle 59"/>
          <p:cNvSpPr/>
          <p:nvPr/>
        </p:nvSpPr>
        <p:spPr>
          <a:xfrm>
            <a:off x="7059168" y="3072384"/>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150607" y="3291839"/>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296912" y="3127248"/>
            <a:ext cx="1755648" cy="475488"/>
          </a:xfrm>
          <a:prstGeom prst="rect">
            <a:avLst/>
          </a:prstGeom>
          <a:noFill/>
        </p:spPr>
        <p:txBody>
          <a:bodyPr wrap="square"/>
          <a:lstStyle/>
          <a:p>
            <a:pPr algn="l"/>
            <a:r>
              <a:rPr sz="800" b="0" i="0">
                <a:solidFill>
                  <a:srgbClr val="1E293B"/>
                </a:solidFill>
                <a:latin typeface="Calibri"/>
              </a:rPr>
              <a:t>Elite Coach accountability cadence every week</a:t>
            </a:r>
          </a:p>
        </p:txBody>
      </p:sp>
      <p:sp>
        <p:nvSpPr>
          <p:cNvPr id="63" name="Rectangle 62"/>
          <p:cNvSpPr/>
          <p:nvPr/>
        </p:nvSpPr>
        <p:spPr>
          <a:xfrm>
            <a:off x="7059168"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150607" y="3895344"/>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296912" y="3730751"/>
            <a:ext cx="1755648" cy="475488"/>
          </a:xfrm>
          <a:prstGeom prst="rect">
            <a:avLst/>
          </a:prstGeom>
          <a:noFill/>
        </p:spPr>
        <p:txBody>
          <a:bodyPr wrap="square"/>
          <a:lstStyle/>
          <a:p>
            <a:pPr algn="l"/>
            <a:r>
              <a:rPr sz="800" b="0" i="0">
                <a:solidFill>
                  <a:srgbClr val="1E293B"/>
                </a:solidFill>
                <a:latin typeface="Calibri"/>
              </a:rPr>
              <a:t>Intake specialist role defined before hire is needed</a:t>
            </a:r>
          </a:p>
        </p:txBody>
      </p:sp>
      <p:sp>
        <p:nvSpPr>
          <p:cNvPr id="66" name="Rectangle 65"/>
          <p:cNvSpPr/>
          <p:nvPr/>
        </p:nvSpPr>
        <p:spPr>
          <a:xfrm>
            <a:off x="7059168" y="4279392"/>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7150607" y="4498848"/>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296912" y="4334255"/>
            <a:ext cx="1755648" cy="475488"/>
          </a:xfrm>
          <a:prstGeom prst="rect">
            <a:avLst/>
          </a:prstGeom>
          <a:noFill/>
        </p:spPr>
        <p:txBody>
          <a:bodyPr wrap="square"/>
          <a:lstStyle/>
          <a:p>
            <a:pPr algn="l"/>
            <a:r>
              <a:rPr sz="800" b="0" i="0">
                <a:solidFill>
                  <a:srgbClr val="1E293B"/>
                </a:solidFill>
                <a:latin typeface="Calibri"/>
              </a:rPr>
              <a:t>Financial clarity to answer: can I afford to hire?</a:t>
            </a:r>
          </a:p>
        </p:txBody>
      </p:sp>
      <p:sp>
        <p:nvSpPr>
          <p:cNvPr id="69" name="Rectangle 68"/>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0" name="Picture 69" descr="smb_team_logo.png"/>
          <p:cNvPicPr>
            <a:picLocks noChangeAspect="1"/>
          </p:cNvPicPr>
          <p:nvPr/>
        </p:nvPicPr>
        <p:blipFill>
          <a:blip r:embed="rId2"/>
          <a:stretch>
            <a:fillRect/>
          </a:stretch>
        </p:blipFill>
        <p:spPr>
          <a:xfrm>
            <a:off x="201168" y="4837176"/>
            <a:ext cx="1170432" cy="237744"/>
          </a:xfrm>
          <a:prstGeom prst="rect">
            <a:avLst/>
          </a:prstGeom>
        </p:spPr>
      </p:pic>
      <p:sp>
        <p:nvSpPr>
          <p:cNvPr id="71" name="TextBox 70"/>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Jacob Meissner | SMB Team</a:t>
            </a:r>
          </a:p>
        </p:txBody>
      </p:sp>
      <p:sp>
        <p:nvSpPr>
          <p:cNvPr id="72" name="TextBox 71"/>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2 / 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INDIANA IMMIGRATION ATTORNEYS</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Calibri"/>
              </a:rPr>
              <a:t>Your Investment &amp; What Happens Next</a:t>
            </a:r>
          </a:p>
        </p:txBody>
      </p:sp>
      <p:sp>
        <p:nvSpPr>
          <p:cNvPr id="5" name="Rectangle 4"/>
          <p:cNvSpPr/>
          <p:nvPr/>
        </p:nvSpPr>
        <p:spPr>
          <a:xfrm>
            <a:off x="201168" y="1024128"/>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1168" y="1024128"/>
            <a:ext cx="182880" cy="1024128"/>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1115568"/>
            <a:ext cx="3803904" cy="201168"/>
          </a:xfrm>
          <a:prstGeom prst="rect">
            <a:avLst/>
          </a:prstGeom>
          <a:noFill/>
        </p:spPr>
        <p:txBody>
          <a:bodyPr wrap="square"/>
          <a:lstStyle/>
          <a:p>
            <a:pPr algn="l"/>
            <a:r>
              <a:rPr sz="800" b="1" i="0">
                <a:solidFill>
                  <a:srgbClr val="1D4ED8"/>
                </a:solidFill>
                <a:latin typeface="Calibri"/>
              </a:rPr>
              <a:t>FULL SERVICE MARKETING — ESSENTIALS</a:t>
            </a:r>
          </a:p>
        </p:txBody>
      </p:sp>
      <p:sp>
        <p:nvSpPr>
          <p:cNvPr id="8" name="TextBox 7"/>
          <p:cNvSpPr txBox="1"/>
          <p:nvPr/>
        </p:nvSpPr>
        <p:spPr>
          <a:xfrm>
            <a:off x="475488" y="1298448"/>
            <a:ext cx="1828800" cy="438912"/>
          </a:xfrm>
          <a:prstGeom prst="rect">
            <a:avLst/>
          </a:prstGeom>
          <a:noFill/>
        </p:spPr>
        <p:txBody>
          <a:bodyPr wrap="square"/>
          <a:lstStyle/>
          <a:p>
            <a:pPr algn="l"/>
            <a:r>
              <a:rPr sz="3200" b="1" i="0">
                <a:solidFill>
                  <a:srgbClr val="0D1F3C"/>
                </a:solidFill>
                <a:latin typeface="Calibri"/>
              </a:rPr>
              <a:t>$2,397</a:t>
            </a:r>
          </a:p>
        </p:txBody>
      </p:sp>
      <p:sp>
        <p:nvSpPr>
          <p:cNvPr id="9" name="TextBox 8"/>
          <p:cNvSpPr txBox="1"/>
          <p:nvPr/>
        </p:nvSpPr>
        <p:spPr>
          <a:xfrm>
            <a:off x="1865376" y="1408176"/>
            <a:ext cx="420624" cy="256032"/>
          </a:xfrm>
          <a:prstGeom prst="rect">
            <a:avLst/>
          </a:prstGeom>
          <a:noFill/>
        </p:spPr>
        <p:txBody>
          <a:bodyPr wrap="square"/>
          <a:lstStyle/>
          <a:p>
            <a:pPr algn="l"/>
            <a:r>
              <a:rPr sz="1100" b="0" i="0">
                <a:solidFill>
                  <a:srgbClr val="64748B"/>
                </a:solidFill>
                <a:latin typeface="Calibri"/>
              </a:rPr>
              <a:t>/mo</a:t>
            </a:r>
          </a:p>
        </p:txBody>
      </p:sp>
      <p:sp>
        <p:nvSpPr>
          <p:cNvPr id="10" name="TextBox 9"/>
          <p:cNvSpPr txBox="1"/>
          <p:nvPr/>
        </p:nvSpPr>
        <p:spPr>
          <a:xfrm>
            <a:off x="2322576" y="1426464"/>
            <a:ext cx="914400" cy="237744"/>
          </a:xfrm>
          <a:prstGeom prst="rect">
            <a:avLst/>
          </a:prstGeom>
          <a:noFill/>
        </p:spPr>
        <p:txBody>
          <a:bodyPr wrap="square"/>
          <a:lstStyle/>
          <a:p>
            <a:pPr algn="l"/>
            <a:r>
              <a:rPr sz="1100" b="0" i="0">
                <a:solidFill>
                  <a:srgbClr val="334155"/>
                </a:solidFill>
                <a:latin typeface="Calibri"/>
              </a:rPr>
              <a:t>N/A stand-alone</a:t>
            </a:r>
          </a:p>
        </p:txBody>
      </p:sp>
      <p:sp>
        <p:nvSpPr>
          <p:cNvPr id="11" name="Rectangle 10"/>
          <p:cNvSpPr/>
          <p:nvPr/>
        </p:nvSpPr>
        <p:spPr>
          <a:xfrm>
            <a:off x="2322576" y="1527048"/>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1792224"/>
            <a:ext cx="3803904" cy="201168"/>
          </a:xfrm>
          <a:prstGeom prst="rect">
            <a:avLst/>
          </a:prstGeom>
          <a:noFill/>
        </p:spPr>
        <p:txBody>
          <a:bodyPr wrap="square"/>
          <a:lstStyle/>
          <a:p>
            <a:pPr algn="l"/>
            <a:r>
              <a:rPr sz="800" b="0" i="0">
                <a:solidFill>
                  <a:srgbClr val="64748B"/>
                </a:solidFill>
                <a:latin typeface="Calibri"/>
              </a:rPr>
              <a:t>Google Ads · LSA · Meta/Spanish · GBP · Landing Pages</a:t>
            </a:r>
          </a:p>
        </p:txBody>
      </p:sp>
      <p:sp>
        <p:nvSpPr>
          <p:cNvPr id="13" name="Rectangle 12"/>
          <p:cNvSpPr/>
          <p:nvPr/>
        </p:nvSpPr>
        <p:spPr>
          <a:xfrm>
            <a:off x="201168" y="2139696"/>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01168" y="2139696"/>
            <a:ext cx="182880" cy="1024128"/>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 y="2231136"/>
            <a:ext cx="3803904" cy="201168"/>
          </a:xfrm>
          <a:prstGeom prst="rect">
            <a:avLst/>
          </a:prstGeom>
          <a:noFill/>
        </p:spPr>
        <p:txBody>
          <a:bodyPr wrap="square"/>
          <a:lstStyle/>
          <a:p>
            <a:pPr algn="l"/>
            <a:r>
              <a:rPr sz="800" b="1" i="0">
                <a:solidFill>
                  <a:srgbClr val="6D28D9"/>
                </a:solidFill>
                <a:latin typeface="Calibri"/>
              </a:rPr>
              <a:t>ELITE COACH</a:t>
            </a:r>
          </a:p>
        </p:txBody>
      </p:sp>
      <p:sp>
        <p:nvSpPr>
          <p:cNvPr id="16" name="TextBox 15"/>
          <p:cNvSpPr txBox="1"/>
          <p:nvPr/>
        </p:nvSpPr>
        <p:spPr>
          <a:xfrm>
            <a:off x="475488" y="2414015"/>
            <a:ext cx="1828800" cy="438912"/>
          </a:xfrm>
          <a:prstGeom prst="rect">
            <a:avLst/>
          </a:prstGeom>
          <a:noFill/>
        </p:spPr>
        <p:txBody>
          <a:bodyPr wrap="square"/>
          <a:lstStyle/>
          <a:p>
            <a:pPr algn="l"/>
            <a:r>
              <a:rPr sz="3200" b="1" i="0">
                <a:solidFill>
                  <a:srgbClr val="0D1F3C"/>
                </a:solidFill>
                <a:latin typeface="Calibri"/>
              </a:rPr>
              <a:t>$1,600</a:t>
            </a:r>
          </a:p>
        </p:txBody>
      </p:sp>
      <p:sp>
        <p:nvSpPr>
          <p:cNvPr id="17" name="TextBox 16"/>
          <p:cNvSpPr txBox="1"/>
          <p:nvPr/>
        </p:nvSpPr>
        <p:spPr>
          <a:xfrm>
            <a:off x="1865376" y="2523744"/>
            <a:ext cx="420624" cy="256032"/>
          </a:xfrm>
          <a:prstGeom prst="rect">
            <a:avLst/>
          </a:prstGeom>
          <a:noFill/>
        </p:spPr>
        <p:txBody>
          <a:bodyPr wrap="square"/>
          <a:lstStyle/>
          <a:p>
            <a:pPr algn="l"/>
            <a:r>
              <a:rPr sz="1100" b="0" i="0">
                <a:solidFill>
                  <a:srgbClr val="64748B"/>
                </a:solidFill>
                <a:latin typeface="Calibri"/>
              </a:rPr>
              <a:t>/mo</a:t>
            </a:r>
          </a:p>
        </p:txBody>
      </p:sp>
      <p:sp>
        <p:nvSpPr>
          <p:cNvPr id="18" name="TextBox 17"/>
          <p:cNvSpPr txBox="1"/>
          <p:nvPr/>
        </p:nvSpPr>
        <p:spPr>
          <a:xfrm>
            <a:off x="2322576" y="2542032"/>
            <a:ext cx="914400" cy="237744"/>
          </a:xfrm>
          <a:prstGeom prst="rect">
            <a:avLst/>
          </a:prstGeom>
          <a:noFill/>
        </p:spPr>
        <p:txBody>
          <a:bodyPr wrap="square"/>
          <a:lstStyle/>
          <a:p>
            <a:pPr algn="l"/>
            <a:r>
              <a:rPr sz="1100" b="0" i="0">
                <a:solidFill>
                  <a:srgbClr val="334155"/>
                </a:solidFill>
                <a:latin typeface="Calibri"/>
              </a:rPr>
              <a:t>$2,497/mo</a:t>
            </a:r>
          </a:p>
        </p:txBody>
      </p:sp>
      <p:sp>
        <p:nvSpPr>
          <p:cNvPr id="19" name="Rectangle 18"/>
          <p:cNvSpPr/>
          <p:nvPr/>
        </p:nvSpPr>
        <p:spPr>
          <a:xfrm>
            <a:off x="2322576" y="2642615"/>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488" y="2907791"/>
            <a:ext cx="3803904" cy="201168"/>
          </a:xfrm>
          <a:prstGeom prst="rect">
            <a:avLst/>
          </a:prstGeom>
          <a:noFill/>
        </p:spPr>
        <p:txBody>
          <a:bodyPr wrap="square"/>
          <a:lstStyle/>
          <a:p>
            <a:pPr algn="l"/>
            <a:r>
              <a:rPr sz="800" b="0" i="0">
                <a:solidFill>
                  <a:srgbClr val="64748B"/>
                </a:solidFill>
                <a:latin typeface="Calibri"/>
              </a:rPr>
              <a:t>Weekly coaching · Immigration mastermind · Workshops</a:t>
            </a:r>
          </a:p>
        </p:txBody>
      </p:sp>
      <p:sp>
        <p:nvSpPr>
          <p:cNvPr id="21" name="Rectangle 20"/>
          <p:cNvSpPr/>
          <p:nvPr/>
        </p:nvSpPr>
        <p:spPr>
          <a:xfrm>
            <a:off x="201168" y="3255264"/>
            <a:ext cx="4133087" cy="658368"/>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4048" y="3291840"/>
            <a:ext cx="1645920" cy="237744"/>
          </a:xfrm>
          <a:prstGeom prst="rect">
            <a:avLst/>
          </a:prstGeom>
          <a:noFill/>
        </p:spPr>
        <p:txBody>
          <a:bodyPr wrap="square"/>
          <a:lstStyle/>
          <a:p>
            <a:pPr algn="l"/>
            <a:r>
              <a:rPr sz="800" b="1" i="0">
                <a:solidFill>
                  <a:srgbClr val="7CA0C0"/>
                </a:solidFill>
                <a:latin typeface="Calibri"/>
              </a:rPr>
              <a:t>BUNDLE TOTAL</a:t>
            </a:r>
          </a:p>
        </p:txBody>
      </p:sp>
      <p:sp>
        <p:nvSpPr>
          <p:cNvPr id="23" name="TextBox 22"/>
          <p:cNvSpPr txBox="1"/>
          <p:nvPr/>
        </p:nvSpPr>
        <p:spPr>
          <a:xfrm>
            <a:off x="384048" y="3493008"/>
            <a:ext cx="2194560" cy="347472"/>
          </a:xfrm>
          <a:prstGeom prst="rect">
            <a:avLst/>
          </a:prstGeom>
          <a:noFill/>
        </p:spPr>
        <p:txBody>
          <a:bodyPr wrap="square"/>
          <a:lstStyle/>
          <a:p>
            <a:pPr algn="l"/>
            <a:r>
              <a:rPr sz="2200" b="1" i="0">
                <a:solidFill>
                  <a:srgbClr val="F5C400"/>
                </a:solidFill>
                <a:latin typeface="Calibri"/>
              </a:rPr>
              <a:t>$3,997 / mo</a:t>
            </a:r>
          </a:p>
        </p:txBody>
      </p:sp>
      <p:sp>
        <p:nvSpPr>
          <p:cNvPr id="24" name="TextBox 23"/>
          <p:cNvSpPr txBox="1"/>
          <p:nvPr/>
        </p:nvSpPr>
        <p:spPr>
          <a:xfrm>
            <a:off x="2670048" y="3493008"/>
            <a:ext cx="1737360" cy="347472"/>
          </a:xfrm>
          <a:prstGeom prst="rect">
            <a:avLst/>
          </a:prstGeom>
          <a:noFill/>
        </p:spPr>
        <p:txBody>
          <a:bodyPr wrap="square"/>
          <a:lstStyle/>
          <a:p>
            <a:pPr algn="l"/>
            <a:r>
              <a:rPr sz="800" b="0" i="0">
                <a:solidFill>
                  <a:srgbClr val="7CA0C0"/>
                </a:solidFill>
                <a:latin typeface="Calibri"/>
              </a:rPr>
              <a:t>Save $897/mo by bundling</a:t>
            </a:r>
          </a:p>
        </p:txBody>
      </p:sp>
      <p:sp>
        <p:nvSpPr>
          <p:cNvPr id="25" name="Rectangle 24"/>
          <p:cNvSpPr/>
          <p:nvPr/>
        </p:nvSpPr>
        <p:spPr>
          <a:xfrm>
            <a:off x="201168" y="3968496"/>
            <a:ext cx="4133087" cy="402336"/>
          </a:xfrm>
          <a:prstGeom prst="rect">
            <a:avLst/>
          </a:prstGeom>
          <a:solidFill>
            <a:srgbClr val="EEF2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9184" y="3995928"/>
            <a:ext cx="3931920" cy="347472"/>
          </a:xfrm>
          <a:prstGeom prst="rect">
            <a:avLst/>
          </a:prstGeom>
          <a:noFill/>
        </p:spPr>
        <p:txBody>
          <a:bodyPr wrap="square"/>
          <a:lstStyle/>
          <a:p>
            <a:pPr algn="l"/>
            <a:r>
              <a:rPr sz="800" b="0" i="0">
                <a:solidFill>
                  <a:srgbClr val="64748B"/>
                </a:solidFill>
                <a:latin typeface="Calibri"/>
              </a:rPr>
              <a:t>+ Recommended ad spend: $3,000–$7,000/mo paid directly to Google/Meta</a:t>
            </a:r>
          </a:p>
        </p:txBody>
      </p:sp>
      <p:sp>
        <p:nvSpPr>
          <p:cNvPr id="27" name="Rectangle 26"/>
          <p:cNvSpPr/>
          <p:nvPr/>
        </p:nvSpPr>
        <p:spPr>
          <a:xfrm>
            <a:off x="4535424" y="1024128"/>
            <a:ext cx="4407408" cy="1316736"/>
          </a:xfrm>
          <a:prstGeom prst="rect">
            <a:avLst/>
          </a:prstGeom>
          <a:solidFill>
            <a:srgbClr val="ECFDF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00016" y="1078992"/>
            <a:ext cx="4133087" cy="219456"/>
          </a:xfrm>
          <a:prstGeom prst="rect">
            <a:avLst/>
          </a:prstGeom>
          <a:noFill/>
        </p:spPr>
        <p:txBody>
          <a:bodyPr wrap="square"/>
          <a:lstStyle/>
          <a:p>
            <a:pPr algn="l"/>
            <a:r>
              <a:rPr sz="800" b="1" i="0">
                <a:solidFill>
                  <a:srgbClr val="065F46"/>
                </a:solidFill>
                <a:latin typeface="Calibri"/>
              </a:rPr>
              <a:t>PROJECTED RETURN ON AD SPEND</a:t>
            </a:r>
          </a:p>
        </p:txBody>
      </p:sp>
      <p:sp>
        <p:nvSpPr>
          <p:cNvPr id="29" name="TextBox 28"/>
          <p:cNvSpPr txBox="1"/>
          <p:nvPr/>
        </p:nvSpPr>
        <p:spPr>
          <a:xfrm>
            <a:off x="4700016" y="1335024"/>
            <a:ext cx="1920240" cy="256032"/>
          </a:xfrm>
          <a:prstGeom prst="rect">
            <a:avLst/>
          </a:prstGeom>
          <a:noFill/>
        </p:spPr>
        <p:txBody>
          <a:bodyPr wrap="square"/>
          <a:lstStyle/>
          <a:p>
            <a:pPr algn="l"/>
            <a:r>
              <a:rPr sz="900" b="1" i="0">
                <a:solidFill>
                  <a:srgbClr val="1E293B"/>
                </a:solidFill>
                <a:latin typeface="Calibri"/>
              </a:rPr>
              <a:t>Average case value:</a:t>
            </a:r>
          </a:p>
        </p:txBody>
      </p:sp>
      <p:sp>
        <p:nvSpPr>
          <p:cNvPr id="30" name="TextBox 29"/>
          <p:cNvSpPr txBox="1"/>
          <p:nvPr/>
        </p:nvSpPr>
        <p:spPr>
          <a:xfrm>
            <a:off x="6729984" y="1335024"/>
            <a:ext cx="2103120" cy="256032"/>
          </a:xfrm>
          <a:prstGeom prst="rect">
            <a:avLst/>
          </a:prstGeom>
          <a:noFill/>
        </p:spPr>
        <p:txBody>
          <a:bodyPr wrap="square"/>
          <a:lstStyle/>
          <a:p>
            <a:pPr algn="l"/>
            <a:r>
              <a:rPr sz="900" b="0" i="0">
                <a:solidFill>
                  <a:srgbClr val="065F46"/>
                </a:solidFill>
                <a:latin typeface="Calibri"/>
              </a:rPr>
              <a:t>~$3,500</a:t>
            </a:r>
          </a:p>
        </p:txBody>
      </p:sp>
      <p:sp>
        <p:nvSpPr>
          <p:cNvPr id="31" name="Rectangle 30"/>
          <p:cNvSpPr/>
          <p:nvPr/>
        </p:nvSpPr>
        <p:spPr>
          <a:xfrm>
            <a:off x="4645152" y="1609344"/>
            <a:ext cx="4187952" cy="310896"/>
          </a:xfrm>
          <a:prstGeom prst="rect">
            <a:avLst/>
          </a:prstGeom>
          <a:solidFill>
            <a:srgbClr val="D1FAE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700016" y="1645920"/>
            <a:ext cx="1920240" cy="256032"/>
          </a:xfrm>
          <a:prstGeom prst="rect">
            <a:avLst/>
          </a:prstGeom>
          <a:noFill/>
        </p:spPr>
        <p:txBody>
          <a:bodyPr wrap="square"/>
          <a:lstStyle/>
          <a:p>
            <a:pPr algn="l"/>
            <a:r>
              <a:rPr sz="900" b="1" i="0">
                <a:solidFill>
                  <a:srgbClr val="1E293B"/>
                </a:solidFill>
                <a:latin typeface="Calibri"/>
              </a:rPr>
              <a:t>Conservative  (3–4 cases/mo):</a:t>
            </a:r>
          </a:p>
        </p:txBody>
      </p:sp>
      <p:sp>
        <p:nvSpPr>
          <p:cNvPr id="33" name="TextBox 32"/>
          <p:cNvSpPr txBox="1"/>
          <p:nvPr/>
        </p:nvSpPr>
        <p:spPr>
          <a:xfrm>
            <a:off x="6729984" y="1645920"/>
            <a:ext cx="2103120" cy="256032"/>
          </a:xfrm>
          <a:prstGeom prst="rect">
            <a:avLst/>
          </a:prstGeom>
          <a:noFill/>
        </p:spPr>
        <p:txBody>
          <a:bodyPr wrap="square"/>
          <a:lstStyle/>
          <a:p>
            <a:pPr algn="l"/>
            <a:r>
              <a:rPr sz="900" b="1" i="0">
                <a:solidFill>
                  <a:srgbClr val="065F46"/>
                </a:solidFill>
                <a:latin typeface="Calibri"/>
              </a:rPr>
              <a:t>~$14,000 revenue · ~4.7x ROAS</a:t>
            </a:r>
          </a:p>
        </p:txBody>
      </p:sp>
      <p:sp>
        <p:nvSpPr>
          <p:cNvPr id="34" name="TextBox 33"/>
          <p:cNvSpPr txBox="1"/>
          <p:nvPr/>
        </p:nvSpPr>
        <p:spPr>
          <a:xfrm>
            <a:off x="4700016" y="1956816"/>
            <a:ext cx="1920240" cy="256032"/>
          </a:xfrm>
          <a:prstGeom prst="rect">
            <a:avLst/>
          </a:prstGeom>
          <a:noFill/>
        </p:spPr>
        <p:txBody>
          <a:bodyPr wrap="square"/>
          <a:lstStyle/>
          <a:p>
            <a:pPr algn="l"/>
            <a:r>
              <a:rPr sz="900" b="1" i="0">
                <a:solidFill>
                  <a:srgbClr val="1E293B"/>
                </a:solidFill>
                <a:latin typeface="Calibri"/>
              </a:rPr>
              <a:t>Aggressive  (10–11 cases/mo):</a:t>
            </a:r>
          </a:p>
        </p:txBody>
      </p:sp>
      <p:sp>
        <p:nvSpPr>
          <p:cNvPr id="35" name="TextBox 34"/>
          <p:cNvSpPr txBox="1"/>
          <p:nvPr/>
        </p:nvSpPr>
        <p:spPr>
          <a:xfrm>
            <a:off x="6729984" y="1956816"/>
            <a:ext cx="2103120" cy="256032"/>
          </a:xfrm>
          <a:prstGeom prst="rect">
            <a:avLst/>
          </a:prstGeom>
          <a:noFill/>
        </p:spPr>
        <p:txBody>
          <a:bodyPr wrap="square"/>
          <a:lstStyle/>
          <a:p>
            <a:pPr algn="l"/>
            <a:r>
              <a:rPr sz="900" b="1" i="0">
                <a:solidFill>
                  <a:srgbClr val="065F46"/>
                </a:solidFill>
                <a:latin typeface="Calibri"/>
              </a:rPr>
              <a:t>~$37,000 revenue · ~5x ROAS</a:t>
            </a:r>
          </a:p>
        </p:txBody>
      </p:sp>
      <p:sp>
        <p:nvSpPr>
          <p:cNvPr id="36" name="TextBox 35"/>
          <p:cNvSpPr txBox="1"/>
          <p:nvPr/>
        </p:nvSpPr>
        <p:spPr>
          <a:xfrm>
            <a:off x="4535424" y="2468880"/>
            <a:ext cx="4407408" cy="237744"/>
          </a:xfrm>
          <a:prstGeom prst="rect">
            <a:avLst/>
          </a:prstGeom>
          <a:noFill/>
        </p:spPr>
        <p:txBody>
          <a:bodyPr wrap="square"/>
          <a:lstStyle/>
          <a:p>
            <a:pPr algn="l"/>
            <a:r>
              <a:rPr sz="800" b="1" i="0">
                <a:solidFill>
                  <a:srgbClr val="0D1F3C"/>
                </a:solidFill>
                <a:latin typeface="Calibri"/>
              </a:rPr>
              <a:t>WHAT HAPPENS IN THE FIRST 90 DAYS</a:t>
            </a:r>
          </a:p>
        </p:txBody>
      </p:sp>
      <p:sp>
        <p:nvSpPr>
          <p:cNvPr id="37" name="Rectangle 36"/>
          <p:cNvSpPr/>
          <p:nvPr/>
        </p:nvSpPr>
        <p:spPr>
          <a:xfrm>
            <a:off x="4590288" y="2724912"/>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937760" y="2734056"/>
            <a:ext cx="804672" cy="256032"/>
          </a:xfrm>
          <a:prstGeom prst="rect">
            <a:avLst/>
          </a:prstGeom>
          <a:noFill/>
        </p:spPr>
        <p:txBody>
          <a:bodyPr wrap="square"/>
          <a:lstStyle/>
          <a:p>
            <a:pPr algn="l"/>
            <a:r>
              <a:rPr sz="800" b="1" i="0">
                <a:solidFill>
                  <a:srgbClr val="0D1F3C"/>
                </a:solidFill>
                <a:latin typeface="Calibri"/>
              </a:rPr>
              <a:t>Day 1</a:t>
            </a:r>
          </a:p>
        </p:txBody>
      </p:sp>
      <p:sp>
        <p:nvSpPr>
          <p:cNvPr id="39" name="TextBox 38"/>
          <p:cNvSpPr txBox="1"/>
          <p:nvPr/>
        </p:nvSpPr>
        <p:spPr>
          <a:xfrm>
            <a:off x="5815584" y="2734056"/>
            <a:ext cx="3054096" cy="256032"/>
          </a:xfrm>
          <a:prstGeom prst="rect">
            <a:avLst/>
          </a:prstGeom>
          <a:noFill/>
        </p:spPr>
        <p:txBody>
          <a:bodyPr wrap="square"/>
          <a:lstStyle/>
          <a:p>
            <a:pPr algn="l"/>
            <a:r>
              <a:rPr sz="800" b="0" i="0">
                <a:solidFill>
                  <a:srgbClr val="1E293B"/>
                </a:solidFill>
                <a:latin typeface="Calibri"/>
              </a:rPr>
              <a:t>Google Search campaigns + coach kickoff</a:t>
            </a:r>
          </a:p>
        </p:txBody>
      </p:sp>
      <p:sp>
        <p:nvSpPr>
          <p:cNvPr id="40" name="Rectangle 39"/>
          <p:cNvSpPr/>
          <p:nvPr/>
        </p:nvSpPr>
        <p:spPr>
          <a:xfrm>
            <a:off x="4590288" y="3081528"/>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937760" y="3090672"/>
            <a:ext cx="804672" cy="256032"/>
          </a:xfrm>
          <a:prstGeom prst="rect">
            <a:avLst/>
          </a:prstGeom>
          <a:noFill/>
        </p:spPr>
        <p:txBody>
          <a:bodyPr wrap="square"/>
          <a:lstStyle/>
          <a:p>
            <a:pPr algn="l"/>
            <a:r>
              <a:rPr sz="800" b="1" i="0">
                <a:solidFill>
                  <a:srgbClr val="0D1F3C"/>
                </a:solidFill>
                <a:latin typeface="Calibri"/>
              </a:rPr>
              <a:t>Day 14</a:t>
            </a:r>
          </a:p>
        </p:txBody>
      </p:sp>
      <p:sp>
        <p:nvSpPr>
          <p:cNvPr id="42" name="TextBox 41"/>
          <p:cNvSpPr txBox="1"/>
          <p:nvPr/>
        </p:nvSpPr>
        <p:spPr>
          <a:xfrm>
            <a:off x="5815584" y="3090672"/>
            <a:ext cx="3054096" cy="256032"/>
          </a:xfrm>
          <a:prstGeom prst="rect">
            <a:avLst/>
          </a:prstGeom>
          <a:noFill/>
        </p:spPr>
        <p:txBody>
          <a:bodyPr wrap="square"/>
          <a:lstStyle/>
          <a:p>
            <a:pPr algn="l"/>
            <a:r>
              <a:rPr sz="800" b="0" i="0">
                <a:solidFill>
                  <a:srgbClr val="1E293B"/>
                </a:solidFill>
                <a:latin typeface="Calibri"/>
              </a:rPr>
              <a:t>Submit LSA Google Screened application</a:t>
            </a:r>
          </a:p>
        </p:txBody>
      </p:sp>
      <p:sp>
        <p:nvSpPr>
          <p:cNvPr id="43" name="Rectangle 42"/>
          <p:cNvSpPr/>
          <p:nvPr/>
        </p:nvSpPr>
        <p:spPr>
          <a:xfrm>
            <a:off x="4590288" y="3438144"/>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937760" y="3447287"/>
            <a:ext cx="804672" cy="256032"/>
          </a:xfrm>
          <a:prstGeom prst="rect">
            <a:avLst/>
          </a:prstGeom>
          <a:noFill/>
        </p:spPr>
        <p:txBody>
          <a:bodyPr wrap="square"/>
          <a:lstStyle/>
          <a:p>
            <a:pPr algn="l"/>
            <a:r>
              <a:rPr sz="800" b="1" i="0">
                <a:solidFill>
                  <a:srgbClr val="0D1F3C"/>
                </a:solidFill>
                <a:latin typeface="Calibri"/>
              </a:rPr>
              <a:t>Week 3</a:t>
            </a:r>
          </a:p>
        </p:txBody>
      </p:sp>
      <p:sp>
        <p:nvSpPr>
          <p:cNvPr id="45" name="TextBox 44"/>
          <p:cNvSpPr txBox="1"/>
          <p:nvPr/>
        </p:nvSpPr>
        <p:spPr>
          <a:xfrm>
            <a:off x="5815584" y="3447287"/>
            <a:ext cx="3054096" cy="256032"/>
          </a:xfrm>
          <a:prstGeom prst="rect">
            <a:avLst/>
          </a:prstGeom>
          <a:noFill/>
        </p:spPr>
        <p:txBody>
          <a:bodyPr wrap="square"/>
          <a:lstStyle/>
          <a:p>
            <a:pPr algn="l"/>
            <a:r>
              <a:rPr sz="800" b="0" i="0">
                <a:solidFill>
                  <a:srgbClr val="1E293B"/>
                </a:solidFill>
                <a:latin typeface="Calibri"/>
              </a:rPr>
              <a:t>GBP review request strategy deployed</a:t>
            </a:r>
          </a:p>
        </p:txBody>
      </p:sp>
      <p:sp>
        <p:nvSpPr>
          <p:cNvPr id="46" name="Rectangle 45"/>
          <p:cNvSpPr/>
          <p:nvPr/>
        </p:nvSpPr>
        <p:spPr>
          <a:xfrm>
            <a:off x="4590288" y="3794760"/>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937760" y="3803904"/>
            <a:ext cx="804672" cy="256032"/>
          </a:xfrm>
          <a:prstGeom prst="rect">
            <a:avLst/>
          </a:prstGeom>
          <a:noFill/>
        </p:spPr>
        <p:txBody>
          <a:bodyPr wrap="square"/>
          <a:lstStyle/>
          <a:p>
            <a:pPr algn="l"/>
            <a:r>
              <a:rPr sz="800" b="1" i="0">
                <a:solidFill>
                  <a:srgbClr val="0D1F3C"/>
                </a:solidFill>
                <a:latin typeface="Calibri"/>
              </a:rPr>
              <a:t>Week 4</a:t>
            </a:r>
          </a:p>
        </p:txBody>
      </p:sp>
      <p:sp>
        <p:nvSpPr>
          <p:cNvPr id="48" name="TextBox 47"/>
          <p:cNvSpPr txBox="1"/>
          <p:nvPr/>
        </p:nvSpPr>
        <p:spPr>
          <a:xfrm>
            <a:off x="5815584" y="3803904"/>
            <a:ext cx="3054096" cy="256032"/>
          </a:xfrm>
          <a:prstGeom prst="rect">
            <a:avLst/>
          </a:prstGeom>
          <a:noFill/>
        </p:spPr>
        <p:txBody>
          <a:bodyPr wrap="square"/>
          <a:lstStyle/>
          <a:p>
            <a:pPr algn="l"/>
            <a:r>
              <a:rPr sz="800" b="0" i="0">
                <a:solidFill>
                  <a:srgbClr val="1E293B"/>
                </a:solidFill>
                <a:latin typeface="Calibri"/>
              </a:rPr>
              <a:t>Geo landing pages live: Kokomo + nearby cities</a:t>
            </a:r>
          </a:p>
        </p:txBody>
      </p:sp>
      <p:sp>
        <p:nvSpPr>
          <p:cNvPr id="49" name="Rectangle 48"/>
          <p:cNvSpPr/>
          <p:nvPr/>
        </p:nvSpPr>
        <p:spPr>
          <a:xfrm>
            <a:off x="4590288" y="4151376"/>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937760" y="4160520"/>
            <a:ext cx="804672" cy="256032"/>
          </a:xfrm>
          <a:prstGeom prst="rect">
            <a:avLst/>
          </a:prstGeom>
          <a:noFill/>
        </p:spPr>
        <p:txBody>
          <a:bodyPr wrap="square"/>
          <a:lstStyle/>
          <a:p>
            <a:pPr algn="l"/>
            <a:r>
              <a:rPr sz="800" b="1" i="0">
                <a:solidFill>
                  <a:srgbClr val="0D1F3C"/>
                </a:solidFill>
                <a:latin typeface="Calibri"/>
              </a:rPr>
              <a:t>Month 3</a:t>
            </a:r>
          </a:p>
        </p:txBody>
      </p:sp>
      <p:sp>
        <p:nvSpPr>
          <p:cNvPr id="51" name="TextBox 50"/>
          <p:cNvSpPr txBox="1"/>
          <p:nvPr/>
        </p:nvSpPr>
        <p:spPr>
          <a:xfrm>
            <a:off x="5815584" y="4160520"/>
            <a:ext cx="3054096" cy="256032"/>
          </a:xfrm>
          <a:prstGeom prst="rect">
            <a:avLst/>
          </a:prstGeom>
          <a:noFill/>
        </p:spPr>
        <p:txBody>
          <a:bodyPr wrap="square"/>
          <a:lstStyle/>
          <a:p>
            <a:pPr algn="l"/>
            <a:r>
              <a:rPr sz="800" b="0" i="0">
                <a:solidFill>
                  <a:srgbClr val="1E293B"/>
                </a:solidFill>
                <a:latin typeface="Calibri"/>
              </a:rPr>
              <a:t>50+ reviews added; Spanish campaigns running</a:t>
            </a:r>
          </a:p>
        </p:txBody>
      </p:sp>
      <p:sp>
        <p:nvSpPr>
          <p:cNvPr id="52" name="Rectangle 51"/>
          <p:cNvSpPr/>
          <p:nvPr/>
        </p:nvSpPr>
        <p:spPr>
          <a:xfrm>
            <a:off x="0" y="4425696"/>
            <a:ext cx="9144000" cy="402336"/>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74320" y="4425696"/>
            <a:ext cx="8595360" cy="402336"/>
          </a:xfrm>
          <a:prstGeom prst="rect">
            <a:avLst/>
          </a:prstGeom>
          <a:noFill/>
        </p:spPr>
        <p:txBody>
          <a:bodyPr wrap="square"/>
          <a:lstStyle/>
          <a:p>
            <a:pPr algn="ctr"/>
            <a:r>
              <a:rPr sz="900" b="0" i="1">
                <a:solidFill>
                  <a:srgbClr val="8BADD0"/>
                </a:solidFill>
                <a:latin typeface="Calibri"/>
              </a:rPr>
              <a:t>"Every family in north-central Indiana who needs an immigration attorney is one Google search away. The system that makes sure they find you — that is what we are building together."</a:t>
            </a:r>
          </a:p>
        </p:txBody>
      </p:sp>
      <p:sp>
        <p:nvSpPr>
          <p:cNvPr id="54" name="Rectangle 53"/>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5" name="Picture 54" descr="smb_team_logo.png"/>
          <p:cNvPicPr>
            <a:picLocks noChangeAspect="1"/>
          </p:cNvPicPr>
          <p:nvPr/>
        </p:nvPicPr>
        <p:blipFill>
          <a:blip r:embed="rId2"/>
          <a:stretch>
            <a:fillRect/>
          </a:stretch>
        </p:blipFill>
        <p:spPr>
          <a:xfrm>
            <a:off x="201168" y="4837176"/>
            <a:ext cx="1170432" cy="237744"/>
          </a:xfrm>
          <a:prstGeom prst="rect">
            <a:avLst/>
          </a:prstGeom>
        </p:spPr>
      </p:pic>
      <p:sp>
        <p:nvSpPr>
          <p:cNvPr id="56" name="TextBox 55"/>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Jacob Meissner | SMB Team</a:t>
            </a:r>
          </a:p>
        </p:txBody>
      </p:sp>
      <p:sp>
        <p:nvSpPr>
          <p:cNvPr id="57" name="TextBox 56"/>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3 /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