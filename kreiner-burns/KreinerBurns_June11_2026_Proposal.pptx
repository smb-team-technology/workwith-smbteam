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85953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LAW FIRM GROWTH AUDIT  ·  KREINER BURNS LLP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10896"/>
            <a:ext cx="85953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Where Kreiner Burns LLP Stands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46304" cy="3867912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1005840"/>
            <a:ext cx="1298448" cy="841248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6032" y="1005840"/>
            <a:ext cx="1298448" cy="56692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" y="1572768"/>
            <a:ext cx="1298448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600" b="1" i="0">
                <a:solidFill>
                  <a:srgbClr val="FFFFFF"/>
                </a:solidFill>
                <a:latin typeface="Calibri"/>
              </a:rPr>
              <a:t>COMPETITIVE URGENCY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2496" y="1005840"/>
            <a:ext cx="804672" cy="164592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82496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0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Lead Generation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C0392B"/>
                </a:solidFill>
                <a:latin typeface="Calibri"/>
              </a:rPr>
              <a:t>CRITICAL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100% referrals, 0 ads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42032" y="1005840"/>
            <a:ext cx="804672" cy="164592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42032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96896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Intake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96896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C0392B"/>
                </a:solidFill>
                <a:latin typeface="Calibri"/>
              </a:rPr>
              <a:t>CRITICAL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96896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Form leads not received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01568" y="1005840"/>
            <a:ext cx="804672" cy="164592"/>
          </a:xfrm>
          <a:prstGeom prst="rect">
            <a:avLst/>
          </a:prstGeom>
          <a:solidFill>
            <a:srgbClr val="D9770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01568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56432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Team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56432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D97706"/>
                </a:solidFill>
                <a:latin typeface="Calibri"/>
              </a:rPr>
              <a:t>IN PROGRESS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56432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Partners handle it all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61104" y="1005840"/>
            <a:ext cx="804672" cy="164592"/>
          </a:xfrm>
          <a:prstGeom prst="rect">
            <a:avLst/>
          </a:prstGeom>
          <a:solidFill>
            <a:srgbClr val="D9770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61104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15968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Profit Plan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15968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D97706"/>
                </a:solidFill>
                <a:latin typeface="Calibri"/>
              </a:rPr>
              <a:t>IN PROGRESS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15968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No financial roadmap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6032" y="1956816"/>
            <a:ext cx="484632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KEY FINDINGS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6032" y="2212848"/>
            <a:ext cx="4846320" cy="566928"/>
          </a:xfrm>
          <a:prstGeom prst="rect">
            <a:avLst/>
          </a:prstGeom>
          <a:solidFill>
            <a:srgbClr val="2C101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2386584"/>
            <a:ext cx="219456" cy="21945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2368296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" y="2286000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F0BABA"/>
                </a:solidFill>
                <a:latin typeface="Calibri"/>
              </a:rPr>
              <a:t>Invisible online: no GBP, no ads, no local presence in any market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6032" y="2834640"/>
            <a:ext cx="4846320" cy="566928"/>
          </a:xfrm>
          <a:prstGeom prst="rect">
            <a:avLst/>
          </a:prstGeom>
          <a:solidFill>
            <a:srgbClr val="2C101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65760" y="3008376"/>
            <a:ext cx="219456" cy="21945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2990088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" y="2907792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F0BABA"/>
                </a:solidFill>
                <a:latin typeface="Calibri"/>
              </a:rPr>
              <a:t>Form leads route to 3rd party — cases lost with no awareness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6032" y="3456432"/>
            <a:ext cx="4846320" cy="566928"/>
          </a:xfrm>
          <a:prstGeom prst="rect">
            <a:avLst/>
          </a:prstGeom>
          <a:solidFill>
            <a:srgbClr val="2C101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3630168"/>
            <a:ext cx="219456" cy="21945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3611879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X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6656" y="3529584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F0BABA"/>
                </a:solidFill>
                <a:latin typeface="Calibri"/>
              </a:rPr>
              <a:t>60-70% revenue in 1-2 clients — a single departure is catastrophic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6032" y="4078224"/>
            <a:ext cx="4846320" cy="566928"/>
          </a:xfrm>
          <a:prstGeom prst="rect">
            <a:avLst/>
          </a:prstGeom>
          <a:solidFill>
            <a:srgbClr val="0C281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5760" y="4251960"/>
            <a:ext cx="219456" cy="219456"/>
          </a:xfrm>
          <a:prstGeom prst="rect">
            <a:avLst/>
          </a:prstGeom>
          <a:solidFill>
            <a:srgbClr val="16A34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60" y="4233672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+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6656" y="4151376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86EFAC"/>
                </a:solidFill>
                <a:latin typeface="Calibri"/>
              </a:rPr>
              <a:t>$900K revenue and 75-80% close rate prove the firm can convert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257800" y="960120"/>
            <a:ext cx="3886200" cy="3867912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257800" y="1024128"/>
            <a:ext cx="3886200" cy="694944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257800" y="1024128"/>
            <a:ext cx="128016" cy="694944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486400" y="1042415"/>
            <a:ext cx="34747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YOU ARE HERE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0" y="1243584"/>
            <a:ext cx="3474720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Stage 4: Small Business Manager  →  Goal: Stage 6, Law Firm Owner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394960" y="1920240"/>
            <a:ext cx="356616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64748B"/>
                </a:solidFill>
                <a:latin typeface="Calibri"/>
              </a:rPr>
              <a:t>COMPETITOR LANDSCAPE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57800" y="2176272"/>
            <a:ext cx="3886200" cy="310896"/>
          </a:xfrm>
          <a:prstGeom prst="rect">
            <a:avLst/>
          </a:prstGeom>
          <a:solidFill>
            <a:srgbClr val="F0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13248" y="2221991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The Epstein Law Firm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60336" y="2221991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6A34A"/>
                </a:solidFill>
                <a:latin typeface="Calibri"/>
              </a:rPr>
              <a:t>169 reviews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93024" y="2240279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Comml. litigation NJ · 4.8★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257800" y="2523744"/>
            <a:ext cx="3886200" cy="31089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13248" y="2569463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Smith Eibeler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260336" y="2569463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6A34A"/>
                </a:solidFill>
                <a:latin typeface="Calibri"/>
              </a:rPr>
              <a:t>117 reviews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93024" y="2587751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Employment law NJ · 4.8★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257800" y="2871216"/>
            <a:ext cx="3886200" cy="310896"/>
          </a:xfrm>
          <a:prstGeom prst="rect">
            <a:avLst/>
          </a:prstGeom>
          <a:solidFill>
            <a:srgbClr val="F0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13248" y="2916936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Frank P. Marciano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260336" y="2916936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6A34A"/>
                </a:solidFill>
                <a:latin typeface="Calibri"/>
              </a:rPr>
              <a:t>61 reviews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93024" y="2935224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Family law Hoboken · 4.1★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257800" y="3218688"/>
            <a:ext cx="3886200" cy="310896"/>
          </a:xfrm>
          <a:prstGeom prst="rect">
            <a:avLst/>
          </a:prstGeom>
          <a:solidFill>
            <a:srgbClr val="FFF0F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257800" y="3218688"/>
            <a:ext cx="91440" cy="31089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13248" y="3264408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C0392B"/>
                </a:solidFill>
                <a:latin typeface="Calibri"/>
              </a:rPr>
              <a:t>Kreiner Burns LLP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60336" y="3264408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C0392B"/>
                </a:solidFill>
                <a:latin typeface="Calibri"/>
              </a:rPr>
              <a:t>~0 confirmed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93024" y="3282696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← You are here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609344" y="4837176"/>
            <a:ext cx="5303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5A7A9A"/>
                </a:solidFill>
                <a:latin typeface="Calibri"/>
              </a:rPr>
              <a:t>CONFIDENTIAL  ·  Prepared by Randy Gold | SMB Team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38160" y="4837176"/>
            <a:ext cx="786384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800" b="0" i="0">
                <a:solidFill>
                  <a:srgbClr val="5A7A9A"/>
                </a:solidFill>
                <a:latin typeface="Calibri"/>
              </a:rPr>
              <a:t>1 /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85953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LAW FIRM GROWTH AUDIT  ·  KREINER BURNS LLP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10896"/>
            <a:ext cx="85953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Your Growth Plan: 3 Priorities to Reach $2M Revenue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1024128"/>
            <a:ext cx="2487168" cy="363931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" y="1042415"/>
            <a:ext cx="2487168" cy="18288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" y="1097280"/>
            <a:ext cx="2267712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THE SMB TEAM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335024"/>
            <a:ext cx="2267712" cy="15727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A8BFDA"/>
                </a:solidFill>
                <a:latin typeface="Calibri"/>
              </a:rPr>
              <a:t>Lead generation, intake, team, and profit must all work together — fix one without the others and growth stalls. When all four pillars are aligned, Tom, Seth, and Peter can step back and trust that the firm generates $2M without them in every conversation.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" y="2999232"/>
            <a:ext cx="2487168" cy="749808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301752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0D1F3C"/>
                </a:solidFill>
                <a:latin typeface="Calibri"/>
              </a:rPr>
              <a:t>$900K → $2M revenue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" y="3291840"/>
            <a:ext cx="2286000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0D1F3C"/>
                </a:solidFill>
                <a:latin typeface="Calibri"/>
              </a:rPr>
              <a:t>Build a firm that scales beyond the founders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16352" y="1024128"/>
            <a:ext cx="2048256" cy="841248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26080" y="1042415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1316736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Build the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1554480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Marketing Engine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16352" y="1865376"/>
            <a:ext cx="2048256" cy="566928"/>
          </a:xfrm>
          <a:prstGeom prst="rect">
            <a:avLst/>
          </a:prstGeom>
          <a:solidFill>
            <a:srgbClr val="EFF6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07792" y="2084832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54096" y="1920240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Turn Google into a client pipeline that runs itself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16352" y="2468880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907792" y="2688336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54096" y="2523744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Launch LSA in NJ and PA across 3 practice areas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16352" y="3072384"/>
            <a:ext cx="2048256" cy="566928"/>
          </a:xfrm>
          <a:prstGeom prst="rect">
            <a:avLst/>
          </a:prstGeom>
          <a:solidFill>
            <a:srgbClr val="EFF6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907792" y="3291839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54096" y="3127248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Fix NAP across directories — end the SEO penalty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16352" y="3675887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907792" y="3895344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54096" y="3730751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Build GBP into a competitive asset in all 4 markets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16352" y="4279392"/>
            <a:ext cx="2048256" cy="566928"/>
          </a:xfrm>
          <a:prstGeom prst="rect">
            <a:avLst/>
          </a:prstGeom>
          <a:solidFill>
            <a:srgbClr val="EFF6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907792" y="4498848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54096" y="4334255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Meta ads for family law in Hoboken and Hudson County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937760" y="1024128"/>
            <a:ext cx="2048256" cy="841248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47488" y="1042415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47488" y="1316736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Fix Intake &amp;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47488" y="1554480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Stop Losing Cases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37760" y="1865376"/>
            <a:ext cx="2048256" cy="566928"/>
          </a:xfrm>
          <a:prstGeom prst="rect">
            <a:avLst/>
          </a:prstGeom>
          <a:solidFill>
            <a:srgbClr val="F0FD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0" y="2084832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75504" y="1920240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Fix form routing — stop losing cases you don't know about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37760" y="2468880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029200" y="2688336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175504" y="2523744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Move contact form above the fold + add booking widget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937760" y="3072384"/>
            <a:ext cx="2048256" cy="566928"/>
          </a:xfrm>
          <a:prstGeom prst="rect">
            <a:avLst/>
          </a:prstGeom>
          <a:solidFill>
            <a:srgbClr val="F0FD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0" y="3291839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175504" y="3127248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Define who handles leads and by what deadline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37760" y="3675887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029200" y="3895344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175504" y="3730751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Build a 48-hour follow-up for all marketing leads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937760" y="4279392"/>
            <a:ext cx="2048256" cy="566928"/>
          </a:xfrm>
          <a:prstGeom prst="rect">
            <a:avLst/>
          </a:prstGeom>
          <a:solidFill>
            <a:srgbClr val="F0FD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029200" y="4498848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175504" y="4334255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Convert the 8-10 monthly targets into signed clients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059168" y="1024128"/>
            <a:ext cx="2048256" cy="841248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168896" y="1042415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68896" y="1316736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Install Team &amp;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168896" y="1554480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Profit Systems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59168" y="1865376"/>
            <a:ext cx="2048256" cy="566928"/>
          </a:xfrm>
          <a:prstGeom prst="rect">
            <a:avLst/>
          </a:prstGeom>
          <a:solidFill>
            <a:srgbClr val="F5F3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150607" y="2084832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296912" y="1920240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Map $900K-to-$2M roadmap by practice area + market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059168" y="2468880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150607" y="2688336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296912" y="2523744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Define partner accountability for each practice area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59168" y="3072384"/>
            <a:ext cx="2048256" cy="566928"/>
          </a:xfrm>
          <a:prstGeom prst="rect">
            <a:avLst/>
          </a:prstGeom>
          <a:solidFill>
            <a:srgbClr val="F5F3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150607" y="3291839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296912" y="3127248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Build ops structure to support new associate hires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059168" y="3675887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150607" y="3895344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296912" y="3730751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Track revenue by case type to find your real margin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59168" y="4279392"/>
            <a:ext cx="2048256" cy="566928"/>
          </a:xfrm>
          <a:prstGeom prst="rect">
            <a:avLst/>
          </a:prstGeom>
          <a:solidFill>
            <a:srgbClr val="F5F3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50607" y="4498848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296912" y="4334255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Eliminate the 60-70% client concentration risk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609344" y="4837176"/>
            <a:ext cx="5303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5A7A9A"/>
                </a:solidFill>
                <a:latin typeface="Calibri"/>
              </a:rPr>
              <a:t>CONFIDENTIAL  ·  Prepared by Randy Gold | SMB Team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38160" y="4837176"/>
            <a:ext cx="786384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800" b="0" i="0">
                <a:solidFill>
                  <a:srgbClr val="5A7A9A"/>
                </a:solidFill>
                <a:latin typeface="Calibri"/>
              </a:rPr>
              <a:t>2 /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85953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LAW FIRM GROWTH AUDIT  ·  KREINER BURNS LLP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10896"/>
            <a:ext cx="85953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Your Investment &amp; What Happens Next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" y="1024128"/>
            <a:ext cx="4133087" cy="10241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" y="1024128"/>
            <a:ext cx="182880" cy="1024128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115568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1D4ED8"/>
                </a:solidFill>
                <a:latin typeface="Calibri"/>
              </a:rPr>
              <a:t>FULL SERVICE MARKETING — STARTER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298448"/>
            <a:ext cx="182880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 i="0">
                <a:solidFill>
                  <a:srgbClr val="0D1F3C"/>
                </a:solidFill>
                <a:latin typeface="Calibri"/>
              </a:rPr>
              <a:t>$5,697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65376" y="1408176"/>
            <a:ext cx="420624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/mo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792224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Google Ads · LSA · Meta · Website · GBP · Directories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1168" y="2176272"/>
            <a:ext cx="4133087" cy="658368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" y="2212848"/>
            <a:ext cx="164592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7CA0C0"/>
                </a:solidFill>
                <a:latin typeface="Calibri"/>
              </a:rPr>
              <a:t>TOTAL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2414015"/>
            <a:ext cx="21945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F5C400"/>
                </a:solidFill>
                <a:latin typeface="Calibri"/>
              </a:rPr>
              <a:t>$5,697 / 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70048" y="2414015"/>
            <a:ext cx="17373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7CA0C0"/>
                </a:solidFill>
                <a:latin typeface="Calibri"/>
              </a:rPr>
              <a:t>Standalone pricing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1168" y="2889504"/>
            <a:ext cx="4133087" cy="402336"/>
          </a:xfrm>
          <a:prstGeom prst="rect">
            <a:avLst/>
          </a:prstGeom>
          <a:solidFill>
            <a:srgbClr val="EEF2F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9184" y="2916936"/>
            <a:ext cx="39319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+ Recommended ad spend: $3,500–$7,000/mo paid directly to Google/Meta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424" y="1024128"/>
            <a:ext cx="4407408" cy="1316736"/>
          </a:xfrm>
          <a:prstGeom prst="rect">
            <a:avLst/>
          </a:prstGeom>
          <a:solidFill>
            <a:srgbClr val="ECFD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00016" y="1078992"/>
            <a:ext cx="4133087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65F46"/>
                </a:solidFill>
                <a:latin typeface="Calibri"/>
              </a:rPr>
              <a:t>PROJECTED RETURN ON AD SPEND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0016" y="1335024"/>
            <a:ext cx="1920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1E293B"/>
                </a:solidFill>
                <a:latin typeface="Calibri"/>
              </a:rPr>
              <a:t>Average case value: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9984" y="1335024"/>
            <a:ext cx="21031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065F46"/>
                </a:solidFill>
                <a:latin typeface="Calibri"/>
              </a:rPr>
              <a:t>$5,000 (default)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45152" y="1609344"/>
            <a:ext cx="4187952" cy="310896"/>
          </a:xfrm>
          <a:prstGeom prst="rect">
            <a:avLst/>
          </a:prstGeom>
          <a:solidFill>
            <a:srgbClr val="D1FAE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00016" y="1645920"/>
            <a:ext cx="1920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1E293B"/>
                </a:solidFill>
                <a:latin typeface="Calibri"/>
              </a:rPr>
              <a:t>Conservative  (3–4 cases/mo):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9984" y="1645920"/>
            <a:ext cx="21031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065F46"/>
                </a:solidFill>
                <a:latin typeface="Calibri"/>
              </a:rPr>
              <a:t>~$17,500 revenue · ~5× ROAS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0016" y="1956816"/>
            <a:ext cx="1920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1E293B"/>
                </a:solidFill>
                <a:latin typeface="Calibri"/>
              </a:rPr>
              <a:t>Aggressive  (8–9 cases/mo):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9984" y="1956816"/>
            <a:ext cx="21031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065F46"/>
                </a:solidFill>
                <a:latin typeface="Calibri"/>
              </a:rPr>
              <a:t>~$42,500 revenue · ~6× ROAS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35424" y="2468880"/>
            <a:ext cx="4407408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WHAT HAPPENS IN THE FIRST 90 DAYS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90288" y="2724912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37760" y="2734056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Day 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15584" y="2734056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Marketing onboarding + account setup begins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90288" y="3081528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37760" y="3090672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Day 14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15584" y="3090672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Google Ads + LSA launch in NJ and PA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90288" y="3438144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37760" y="3447287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Week 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15584" y="3447287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Form routing fixed; intake protocol live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90288" y="3794760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937760" y="3803904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Week 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15584" y="3803904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NAP corrections across all directories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90288" y="4151376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937760" y="4160520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Month 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15584" y="4160520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Full pipeline reporting by practice area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4425696"/>
            <a:ext cx="9144000" cy="402336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4320" y="4425696"/>
            <a:ext cx="8595360" cy="40233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0" i="1">
                <a:solidFill>
                  <a:srgbClr val="8BADD0"/>
                </a:solidFill>
                <a:latin typeface="Calibri"/>
              </a:rPr>
              <a:t>"The goal is $2 million — not because we worked harder, but because we built a system that generates clients whether we show up or not."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609344" y="4837176"/>
            <a:ext cx="5303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5A7A9A"/>
                </a:solidFill>
                <a:latin typeface="Calibri"/>
              </a:rPr>
              <a:t>CONFIDENTIAL  ·  Prepared by Randy Gold | SMB Team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38160" y="4837176"/>
            <a:ext cx="786384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800" b="0" i="0">
                <a:solidFill>
                  <a:srgbClr val="5A7A9A"/>
                </a:solidFill>
                <a:latin typeface="Calibri"/>
              </a:rPr>
              <a:t>3 /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