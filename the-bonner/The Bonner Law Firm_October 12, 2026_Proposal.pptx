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BONNER LAW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63093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Bonner Law Firm Stands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4848" y="164592"/>
            <a:ext cx="2066543" cy="512064"/>
          </a:xfrm>
          <a:prstGeom prst="rect">
            <a:avLst/>
          </a:prstGeom>
          <a:solidFill>
            <a:srgbClr val="0B4C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10312"/>
            <a:ext cx="38404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7432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 i="0">
                <a:solidFill>
                  <a:srgbClr val="69CD2B"/>
                </a:solidFill>
                <a:latin typeface="Poppins"/>
              </a:rPr>
              <a:t>COMPETITIVE 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2976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9CC0D6"/>
                </a:solidFill>
                <a:latin typeface="Poppins"/>
              </a:rPr>
              <a:t>Score out of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3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Lead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3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Inconsistent lead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0592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0592" y="1005840"/>
            <a:ext cx="2066543" cy="3657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Intake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6896" y="1426464"/>
            <a:ext cx="585216" cy="173736"/>
          </a:xfrm>
          <a:prstGeom prst="roundRect">
            <a:avLst/>
          </a:prstGeom>
          <a:solidFill>
            <a:srgbClr val="FB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896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32D2D"/>
                </a:solidFill>
                <a:latin typeface="Poppins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No formal intake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36008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82312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Paper-based files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005840"/>
            <a:ext cx="2066543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1005840"/>
            <a:ext cx="2066543" cy="36576"/>
          </a:xfrm>
          <a:prstGeom prst="rect">
            <a:avLst/>
          </a:prstGeom>
          <a:solidFill>
            <a:srgbClr val="B577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8584" y="1152144"/>
            <a:ext cx="17739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B2A38"/>
                </a:solidFill>
                <a:latin typeface="Poppins"/>
              </a:rPr>
              <a:t>Profit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8584" y="1426464"/>
            <a:ext cx="585216" cy="173736"/>
          </a:xfrm>
          <a:prstGeom prst="roundRect">
            <a:avLst/>
          </a:prstGeom>
          <a:solidFill>
            <a:srgbClr val="FD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426464"/>
            <a:ext cx="585216" cy="173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 i="0">
                <a:solidFill>
                  <a:srgbClr val="B5770B"/>
                </a:solidFill>
                <a:latin typeface="Poppins"/>
              </a:rPr>
              <a:t>AMBER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16642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7C8D9B"/>
                </a:solidFill>
                <a:latin typeface="Poppins"/>
              </a:rPr>
              <a:t>Profit not tracked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2011680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KEY FINDINGS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267712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267712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9768" y="2459736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69270" y="2499238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2386584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After-hours calls reach a recorded message, so weekend accident cases can go to rivals who answer.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4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2889504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081528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9270" y="3121030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3008376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With no digital lead system, new clients depend on word-of-mouth, TV, radio, and billboards.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511296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3511296"/>
            <a:ext cx="36576" cy="557784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9768" y="3703320"/>
            <a:ext cx="164592" cy="164592"/>
          </a:xfrm>
          <a:prstGeom prst="roundRect">
            <a:avLst/>
          </a:prstGeom>
          <a:solidFill>
            <a:srgbClr val="B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69270" y="3742822"/>
            <a:ext cx="85587" cy="85587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85800" y="3630168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Houston competitors with far larger review bases win trust before prospects ever call.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133087"/>
            <a:ext cx="431596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4320" y="4133087"/>
            <a:ext cx="36576" cy="557784"/>
          </a:xfrm>
          <a:prstGeom prst="rect">
            <a:avLst/>
          </a:prstGeom>
          <a:solidFill>
            <a:srgbClr val="3F8F1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9768" y="4325112"/>
            <a:ext cx="164592" cy="164592"/>
          </a:xfrm>
          <a:prstGeom prst="roundRect">
            <a:avLst/>
          </a:prstGeom>
          <a:solidFill>
            <a:srgbClr val="3F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465978" y="4415637"/>
            <a:ext cx="32918" cy="31273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98896" y="4367905"/>
            <a:ext cx="62545" cy="79005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800" y="4251959"/>
            <a:ext cx="3447288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4A5C6B"/>
                </a:solidFill>
                <a:latin typeface="Poppins"/>
              </a:rPr>
              <a:t>Four decades in Houston and 40–50 active cases a month give the firm a strong base to build 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28032" y="2011680"/>
            <a:ext cx="4041648" cy="67665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8032" y="2011680"/>
            <a:ext cx="36576" cy="67665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2130552"/>
            <a:ext cx="3675887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10912" y="2322576"/>
            <a:ext cx="3675887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8032" y="2871216"/>
            <a:ext cx="40416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COMPETITOR LANDSCAPE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28032" y="3127248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92624" y="3127248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Jim Adler &amp; Associates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3127248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Far larger review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8431" y="3127248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Houston PI brand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28032" y="3529584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2624" y="3529584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Joe I. Zaid &amp; Associates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38544" y="3529584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Far larger review base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3529584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Multi-office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28032" y="3931920"/>
            <a:ext cx="4041648" cy="356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2624" y="3931920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B2A38"/>
                </a:solidFill>
                <a:latin typeface="Poppins"/>
              </a:rPr>
              <a:t>The Doan Law Firm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8544" y="3931920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3F8F1A"/>
                </a:solidFill>
                <a:latin typeface="Poppins"/>
              </a:rPr>
              <a:t>Far larger review base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3931920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Truck &amp; accident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28032" y="4334256"/>
            <a:ext cx="4041648" cy="356616"/>
          </a:xfrm>
          <a:prstGeom prst="rect">
            <a:avLst/>
          </a:prstGeom>
          <a:solidFill>
            <a:srgbClr val="FB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28032" y="4334256"/>
            <a:ext cx="36576" cy="356616"/>
          </a:xfrm>
          <a:prstGeom prst="rect">
            <a:avLst/>
          </a:prstGeom>
          <a:solidFill>
            <a:srgbClr val="B32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92624" y="4334256"/>
            <a:ext cx="162763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B32D2D"/>
                </a:solidFill>
                <a:latin typeface="Poppins"/>
              </a:rPr>
              <a:t>The Bonner Law Firm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38544" y="4334256"/>
            <a:ext cx="1353312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32D2D"/>
                </a:solidFill>
                <a:latin typeface="Poppins"/>
              </a:rPr>
              <a:t>Count to be confirmed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8431" y="4334256"/>
            <a:ext cx="73152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7C8D9B"/>
                </a:solidFill>
                <a:latin typeface="Poppins"/>
              </a:rPr>
              <a:t>← You are here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BONNER LAW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10–15 New Clients a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12848" cy="228600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12848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84708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26464"/>
            <a:ext cx="1847088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B8CDDD"/>
                </a:solidFill>
                <a:latin typeface="Poppins"/>
              </a:rPr>
              <a:t>Lead generation, intake, team, and profit must work together — missing any one means growth stalls regardless of ad spend. When all four pillars work, the firm can enjoy steady new clients and a practice that runs on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56432"/>
            <a:ext cx="2212848" cy="1124712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21024"/>
            <a:ext cx="184708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143306"/>
                </a:solidFill>
                <a:latin typeface="Poppins"/>
              </a:rPr>
              <a:t>10–15 new clients every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33087"/>
            <a:ext cx="1847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1F470C"/>
                </a:solidFill>
                <a:latin typeface="Poppins"/>
              </a:rPr>
              <a:t>A steady firm that runs on systems, not 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005840"/>
            <a:ext cx="2066543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1865376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093976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Turn Google into a client pipeline that runs 24/7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6352" y="265176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Launch Houston car and truck accident search 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971800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6352" y="3200400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Add LSA and retargeting for slip, fall, dog bite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16352" y="3749039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Build a steady flow of Google reviews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4078224"/>
            <a:ext cx="2066543" cy="512064"/>
          </a:xfrm>
          <a:prstGeom prst="rect">
            <a:avLst/>
          </a:prstGeom>
          <a:solidFill>
            <a:srgbClr val="ECF5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16352" y="4306824"/>
            <a:ext cx="64008" cy="6400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800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Fix directory phone, domain, and hours conflicts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1005840"/>
            <a:ext cx="2066543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143306"/>
                </a:solidFill>
                <a:latin typeface="Poppin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1865376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92624" y="2093976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Replace the after-hours recorded message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92624" y="265176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Write an intake script and follow-up sequence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2971800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92624" y="3200400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48072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Track every call and form to a signed case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92624" y="3749039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Make the contact form easy to find and use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078224"/>
            <a:ext cx="2066543" cy="512064"/>
          </a:xfrm>
          <a:prstGeom prst="rect">
            <a:avLst/>
          </a:prstGeom>
          <a:solidFill>
            <a:srgbClr val="ECF7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92624" y="4306824"/>
            <a:ext cx="64008" cy="640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48072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Catch weekend accident calls before rivals 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22592" y="1005840"/>
            <a:ext cx="2066543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87183" y="1097280"/>
            <a:ext cx="457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3" y="1316736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87183" y="1536192"/>
            <a:ext cx="1828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22592" y="1865376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8896" y="2093976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24344" y="1965960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Move paper case files to a digital system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22592" y="242316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68896" y="265176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24344" y="252374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Document workflows so the team runs on systems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22592" y="2971800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8896" y="3200400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307238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Know your cost per signed case each month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22592" y="3520440"/>
            <a:ext cx="2066543" cy="5120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8896" y="3749039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24344" y="3621024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Plan growth spend around profit, not guesses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4078224"/>
            <a:ext cx="2066543" cy="512064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68896" y="4306824"/>
            <a:ext cx="64008" cy="6400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24344" y="4178808"/>
            <a:ext cx="1609344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1B2A38"/>
                </a:solidFill>
                <a:latin typeface="Poppins"/>
              </a:rPr>
              <a:t>Make the firm easy to hand to the next generation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82880"/>
            <a:ext cx="5486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BONNER LAW 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365760"/>
            <a:ext cx="8503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143000"/>
            <a:ext cx="3584448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335024"/>
            <a:ext cx="17373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$8,997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365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36192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783080"/>
            <a:ext cx="3584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Google Ads · LSA · Meta Ads · Local SEO · Reviews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246120"/>
            <a:ext cx="15544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3429000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$8,997 /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493008"/>
            <a:ext cx="1463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$10,000–$20,000/mo — to turn high-intent Houston accident searches into signed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$7,500 (estimate)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Conservative  (~2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~$13,300 revenue · 1.3×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(~7 cases/mo):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~$51,000 revenue · 2.6× ROAS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2784348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1–7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2784348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Checklist, platform access, portal &amp; welcome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3131820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8–14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15584" y="3131820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Strategy Call with full team + 3 budget options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01184" y="3479292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15–30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479292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Campaign builds begin + homepage design delivered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776472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00016" y="385876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3826763"/>
            <a:ext cx="868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Days 30–90+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584" y="3826763"/>
            <a:ext cx="29260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reporting, check-ins &amp; optimization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07408"/>
            <a:ext cx="7863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phones keep ringing, every call gets answered, and the firm runs on systems — strong today and ready for whatever comes next."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