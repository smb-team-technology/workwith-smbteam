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ERKAN &amp; SULLIVAN, P.C.</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Poppins"/>
              </a:rPr>
              <a:t>Where Erkan &amp; Sullivan, P.C. Stands Today</a:t>
            </a:r>
          </a:p>
        </p:txBody>
      </p:sp>
      <p:sp>
        <p:nvSpPr>
          <p:cNvPr id="5" name="Rectangle 4"/>
          <p:cNvSpPr/>
          <p:nvPr/>
        </p:nvSpPr>
        <p:spPr>
          <a:xfrm>
            <a:off x="0" y="960120"/>
            <a:ext cx="146304" cy="3867912"/>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Poppins"/>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Poppins"/>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Poppins"/>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Poppins"/>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Poppins"/>
              </a:rPr>
              <a:t>212 visits vs. 1,900</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Poppins"/>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Poppins"/>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Poppins"/>
              </a:rPr>
              <a:t>CTA buried mid-page</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Poppins"/>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Poppins"/>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Poppins"/>
              </a:rPr>
              <a:t>Hinges on 1 new hire</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26587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Poppins"/>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Poppins"/>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Poppins"/>
              </a:rPr>
              <a:t>$800/hr target only</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69CD2B"/>
                </a:solidFill>
                <a:latin typeface="Poppins"/>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Poppins"/>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Poppins"/>
              </a:rPr>
              <a:t>6-9x organic visibility gap vs. Neyman and Urbelis despite better reviews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Poppins"/>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Poppins"/>
              </a:rPr>
              <a:t>Zero paid ads running — the 27,000-case OUI ruling sits in one unseen blog post</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Poppins"/>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Poppins"/>
              </a:rPr>
              <a:t>No after-hours lead capture risks losing high-urgency criminal defense inquiries</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Poppins"/>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Poppins"/>
              </a:rPr>
              <a:t>154 five-star Google reviews — already ahead of 2 of 3 named competitors</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69CD2B"/>
                </a:solidFill>
                <a:latin typeface="Poppins"/>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Poppins"/>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Poppins"/>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Poppins"/>
              </a:rPr>
              <a:t>Stephen Neyman Law Offices</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Poppins"/>
              </a:rPr>
              <a:t>96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Poppins"/>
              </a:rPr>
              <a:t>868 keywords · dominates SEO</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Poppins"/>
              </a:rPr>
              <a:t>Gilman Law, P.C.</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Poppins"/>
              </a:rPr>
              <a:t>470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Poppins"/>
              </a:rPr>
              <a:t>OUI specialist · 3x reviews</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Poppins"/>
              </a:rPr>
              <a:t>Urbelis Law</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Poppins"/>
              </a:rPr>
              <a:t>37 reviews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Poppins"/>
              </a:rPr>
              <a:t>Out-ranks despite fewer reviews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Poppins"/>
              </a:rPr>
              <a:t>Erkan &amp; Sullivan, P.C.</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Poppins"/>
              </a:rPr>
              <a:t>154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Poppins"/>
              </a:rPr>
              <a:t>← You are here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Michael Kopp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ERKAN &amp; SULLIVAN,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Growth Plan: 3 Priorities to Reach $1M in Revenue</a:t>
            </a:r>
          </a:p>
        </p:txBody>
      </p:sp>
      <p:sp>
        <p:nvSpPr>
          <p:cNvPr id="5" name="Rectangle 4"/>
          <p:cNvSpPr/>
          <p:nvPr/>
        </p:nvSpPr>
        <p:spPr>
          <a:xfrm>
            <a:off x="182880" y="1024128"/>
            <a:ext cx="2487168" cy="363931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69CD2B"/>
                </a:solidFill>
                <a:latin typeface="Poppins"/>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Poppins"/>
              </a:rPr>
              <a:t>All four pillars must work together. Missing any one means growth stalls regardless of ad spend. When all four work, Murat and Ryan can finally step back from personally running every hearing.</a:t>
            </a:r>
          </a:p>
        </p:txBody>
      </p:sp>
      <p:sp>
        <p:nvSpPr>
          <p:cNvPr id="9" name="Rectangle 8"/>
          <p:cNvSpPr/>
          <p:nvPr/>
        </p:nvSpPr>
        <p:spPr>
          <a:xfrm>
            <a:off x="182880" y="2999232"/>
            <a:ext cx="2487168" cy="74980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03A59"/>
                </a:solidFill>
                <a:latin typeface="Poppins"/>
              </a:rPr>
              <a:t>$500K → $1M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03A59"/>
                </a:solidFill>
                <a:latin typeface="Poppins"/>
              </a:rPr>
              <a:t>Step back — and the firm still wins cases</a:t>
            </a:r>
          </a:p>
        </p:txBody>
      </p:sp>
      <p:sp>
        <p:nvSpPr>
          <p:cNvPr id="12" name="Rectangle 11"/>
          <p:cNvSpPr/>
          <p:nvPr/>
        </p:nvSpPr>
        <p:spPr>
          <a:xfrm>
            <a:off x="2816352" y="1024128"/>
            <a:ext cx="2048256" cy="84124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Poppins"/>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Poppins"/>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Poppins"/>
              </a:rPr>
              <a:t>Marketing Engine</a:t>
            </a:r>
          </a:p>
        </p:txBody>
      </p:sp>
      <p:sp>
        <p:nvSpPr>
          <p:cNvPr id="16" name="Rectangle 15"/>
          <p:cNvSpPr/>
          <p:nvPr/>
        </p:nvSpPr>
        <p:spPr>
          <a:xfrm>
            <a:off x="2816352" y="1865376"/>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Poppins"/>
              </a:rPr>
              <a:t>Launch Google PPC on OUI/DUI terms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Poppins"/>
              </a:rPr>
              <a:t>Add Meta retargeting for lost visitors</a:t>
            </a:r>
          </a:p>
        </p:txBody>
      </p:sp>
      <p:sp>
        <p:nvSpPr>
          <p:cNvPr id="22" name="Rectangle 21"/>
          <p:cNvSpPr/>
          <p:nvPr/>
        </p:nvSpPr>
        <p:spPr>
          <a:xfrm>
            <a:off x="2816352" y="3072384"/>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Poppins"/>
              </a:rPr>
              <a:t>Rebuild SEO to close the Neyman gap</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Poppins"/>
              </a:rPr>
              <a:t>Campaign around the 27K-case OUI ruling</a:t>
            </a:r>
          </a:p>
        </p:txBody>
      </p:sp>
      <p:sp>
        <p:nvSpPr>
          <p:cNvPr id="28" name="Rectangle 27"/>
          <p:cNvSpPr/>
          <p:nvPr/>
        </p:nvSpPr>
        <p:spPr>
          <a:xfrm>
            <a:off x="2816352" y="4279392"/>
            <a:ext cx="2048256" cy="566928"/>
          </a:xfrm>
          <a:prstGeom prst="rect">
            <a:avLst/>
          </a:prstGeom>
          <a:solidFill>
            <a:srgbClr val="E3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Poppins"/>
              </a:rPr>
              <a:t>Turn visibility into premium case flow</a:t>
            </a:r>
          </a:p>
        </p:txBody>
      </p:sp>
      <p:sp>
        <p:nvSpPr>
          <p:cNvPr id="31" name="Rectangle 30"/>
          <p:cNvSpPr/>
          <p:nvPr/>
        </p:nvSpPr>
        <p:spPr>
          <a:xfrm>
            <a:off x="4937760" y="1024128"/>
            <a:ext cx="2048256" cy="841248"/>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003A59"/>
                </a:solidFill>
                <a:latin typeface="Poppins"/>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003A59"/>
                </a:solidFill>
                <a:latin typeface="Poppins"/>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003A59"/>
                </a:solidFill>
                <a:latin typeface="Poppins"/>
              </a:rPr>
              <a:t>Stop Losing Cases</a:t>
            </a:r>
          </a:p>
        </p:txBody>
      </p:sp>
      <p:sp>
        <p:nvSpPr>
          <p:cNvPr id="35" name="Rectangle 34"/>
          <p:cNvSpPr/>
          <p:nvPr/>
        </p:nvSpPr>
        <p:spPr>
          <a:xfrm>
            <a:off x="4937760" y="1865376"/>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Poppins"/>
              </a:rPr>
              <a:t>Move consultation CTA above the fold</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Poppins"/>
              </a:rPr>
              <a:t>Add live capture for after-hours inquiries</a:t>
            </a:r>
          </a:p>
        </p:txBody>
      </p:sp>
      <p:sp>
        <p:nvSpPr>
          <p:cNvPr id="41" name="Rectangle 40"/>
          <p:cNvSpPr/>
          <p:nvPr/>
        </p:nvSpPr>
        <p:spPr>
          <a:xfrm>
            <a:off x="4937760" y="3072384"/>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Poppins"/>
              </a:rPr>
              <a:t>Build a defined intake follow-up process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Poppins"/>
              </a:rPr>
              <a:t>Track which leads convert to signed cases</a:t>
            </a:r>
          </a:p>
        </p:txBody>
      </p:sp>
      <p:sp>
        <p:nvSpPr>
          <p:cNvPr id="47" name="Rectangle 46"/>
          <p:cNvSpPr/>
          <p:nvPr/>
        </p:nvSpPr>
        <p:spPr>
          <a:xfrm>
            <a:off x="4937760" y="4279392"/>
            <a:ext cx="2048256" cy="566928"/>
          </a:xfrm>
          <a:prstGeom prst="rect">
            <a:avLst/>
          </a:prstGeom>
          <a:solidFill>
            <a:srgbClr val="EDF9E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69CD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Poppins"/>
              </a:rPr>
              <a:t>Stop losing paid-for leads to slow follow-up</a:t>
            </a:r>
          </a:p>
        </p:txBody>
      </p:sp>
      <p:sp>
        <p:nvSpPr>
          <p:cNvPr id="50" name="Rectangle 49"/>
          <p:cNvSpPr/>
          <p:nvPr/>
        </p:nvSpPr>
        <p:spPr>
          <a:xfrm>
            <a:off x="7059168" y="1024128"/>
            <a:ext cx="2048256" cy="84124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Poppins"/>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Poppins"/>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Poppins"/>
              </a:rPr>
              <a:t>Profit Systems</a:t>
            </a:r>
          </a:p>
        </p:txBody>
      </p:sp>
      <p:sp>
        <p:nvSpPr>
          <p:cNvPr id="54" name="Rectangle 53"/>
          <p:cNvSpPr/>
          <p:nvPr/>
        </p:nvSpPr>
        <p:spPr>
          <a:xfrm>
            <a:off x="7059168" y="1865376"/>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Poppins"/>
              </a:rPr>
              <a:t>Add leadership layer before the new hire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Poppins"/>
              </a:rPr>
              <a:t>Build a system for delegating high-margin work</a:t>
            </a:r>
          </a:p>
        </p:txBody>
      </p:sp>
      <p:sp>
        <p:nvSpPr>
          <p:cNvPr id="60" name="Rectangle 59"/>
          <p:cNvSpPr/>
          <p:nvPr/>
        </p:nvSpPr>
        <p:spPr>
          <a:xfrm>
            <a:off x="7059168" y="3072384"/>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Poppins"/>
              </a:rPr>
              <a:t>Track profitability across every case type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Poppins"/>
              </a:rPr>
              <a:t>Confirm the $800/hr partner target is real</a:t>
            </a:r>
          </a:p>
        </p:txBody>
      </p:sp>
      <p:sp>
        <p:nvSpPr>
          <p:cNvPr id="66" name="Rectangle 65"/>
          <p:cNvSpPr/>
          <p:nvPr/>
        </p:nvSpPr>
        <p:spPr>
          <a:xfrm>
            <a:off x="7059168" y="4279392"/>
            <a:ext cx="2048256" cy="566928"/>
          </a:xfrm>
          <a:prstGeom prst="rect">
            <a:avLst/>
          </a:prstGeom>
          <a:solidFill>
            <a:srgbClr val="E0E7E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Poppins"/>
              </a:rPr>
              <a:t>Make the associate hire capacity, not rescue</a:t>
            </a:r>
          </a:p>
        </p:txBody>
      </p:sp>
      <p:sp>
        <p:nvSpPr>
          <p:cNvPr id="69" name="Rectangle 68"/>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0" name="Picture 69"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71" name="TextBox 70"/>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Michael Kopp | SMB Team</a:t>
            </a:r>
          </a:p>
        </p:txBody>
      </p:sp>
      <p:sp>
        <p:nvSpPr>
          <p:cNvPr id="72" name="TextBox 71"/>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69CD2B"/>
                </a:solidFill>
                <a:latin typeface="Poppins"/>
              </a:rPr>
              <a:t>LAW FIRM GROWTH AUDIT  ·  ERKAN &amp; SULLIVAN, P.C.</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Poppins"/>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0091C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0091C9"/>
                </a:solidFill>
                <a:latin typeface="Poppins"/>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03A59"/>
                </a:solidFill>
                <a:latin typeface="Poppins"/>
              </a:rPr>
              <a:t>$4,997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Poppins"/>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Poppins"/>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Poppins"/>
              </a:rPr>
              <a:t>SEO rebuild · Google PPC · Meta retargeting</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003A59"/>
                </a:solidFill>
                <a:latin typeface="Poppins"/>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03A59"/>
                </a:solidFill>
                <a:latin typeface="Poppins"/>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Poppins"/>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Poppins"/>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Poppins"/>
              </a:rPr>
              <a:t>1:1 coaching · group sessions · masterminds</a:t>
            </a:r>
          </a:p>
        </p:txBody>
      </p:sp>
      <p:sp>
        <p:nvSpPr>
          <p:cNvPr id="21" name="Rectangle 20"/>
          <p:cNvSpPr/>
          <p:nvPr/>
        </p:nvSpPr>
        <p:spPr>
          <a:xfrm>
            <a:off x="201168" y="3255264"/>
            <a:ext cx="4133087" cy="658368"/>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Poppins"/>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0091C9"/>
                </a:solidFill>
                <a:latin typeface="Poppins"/>
              </a:rPr>
              <a:t>$8,197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Poppins"/>
              </a:rPr>
              <a:t>Save $997/mo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Poppins"/>
              </a:rPr>
              <a:t>+ Recommended ad spend: $6,700-$16,500/mo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Poppins"/>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Poppins"/>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Poppins"/>
              </a:rPr>
              <a:t>$15,000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Poppins"/>
              </a:rPr>
              <a:t>Conservative  (~5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Poppins"/>
              </a:rPr>
              <a:t>$75,000 revenue · 11.2x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Poppins"/>
              </a:rPr>
              <a:t>Aggressive  (~16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Poppins"/>
              </a:rPr>
              <a:t>$240,000 revenue · 14.5x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03A59"/>
                </a:solidFill>
                <a:latin typeface="Poppins"/>
              </a:rPr>
              <a:t>WHAT HAPPENS IN THE FIRST 90 DAYS</a:t>
            </a:r>
          </a:p>
        </p:txBody>
      </p:sp>
      <p:sp>
        <p:nvSpPr>
          <p:cNvPr id="37" name="Rectangle 36"/>
          <p:cNvSpPr/>
          <p:nvPr/>
        </p:nvSpPr>
        <p:spPr>
          <a:xfrm>
            <a:off x="4590288" y="2724912"/>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03A59"/>
                </a:solidFill>
                <a:latin typeface="Poppins"/>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Poppins"/>
              </a:rPr>
              <a:t>Launch Google PPC &amp; Meta retargeting</a:t>
            </a:r>
          </a:p>
        </p:txBody>
      </p:sp>
      <p:sp>
        <p:nvSpPr>
          <p:cNvPr id="40" name="Rectangle 39"/>
          <p:cNvSpPr/>
          <p:nvPr/>
        </p:nvSpPr>
        <p:spPr>
          <a:xfrm>
            <a:off x="4590288" y="3081528"/>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03A59"/>
                </a:solidFill>
                <a:latin typeface="Poppins"/>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Poppins"/>
              </a:rPr>
              <a:t>Elite Coach Plus kickoff with Murat &amp; Ryan</a:t>
            </a:r>
          </a:p>
        </p:txBody>
      </p:sp>
      <p:sp>
        <p:nvSpPr>
          <p:cNvPr id="43" name="Rectangle 42"/>
          <p:cNvSpPr/>
          <p:nvPr/>
        </p:nvSpPr>
        <p:spPr>
          <a:xfrm>
            <a:off x="4590288" y="3438144"/>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03A59"/>
                </a:solidFill>
                <a:latin typeface="Poppins"/>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Poppins"/>
              </a:rPr>
              <a:t>Move consultation CTA above the fold</a:t>
            </a:r>
          </a:p>
        </p:txBody>
      </p:sp>
      <p:sp>
        <p:nvSpPr>
          <p:cNvPr id="46" name="Rectangle 45"/>
          <p:cNvSpPr/>
          <p:nvPr/>
        </p:nvSpPr>
        <p:spPr>
          <a:xfrm>
            <a:off x="4590288" y="3794760"/>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03A59"/>
                </a:solidFill>
                <a:latin typeface="Poppins"/>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Poppins"/>
              </a:rPr>
              <a:t>Begin local SEO rebuild &amp; OUI campaign</a:t>
            </a:r>
          </a:p>
        </p:txBody>
      </p:sp>
      <p:sp>
        <p:nvSpPr>
          <p:cNvPr id="49" name="Rectangle 48"/>
          <p:cNvSpPr/>
          <p:nvPr/>
        </p:nvSpPr>
        <p:spPr>
          <a:xfrm>
            <a:off x="4590288" y="4151376"/>
            <a:ext cx="256032" cy="256032"/>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03A59"/>
                </a:solidFill>
                <a:latin typeface="Poppins"/>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Poppins"/>
              </a:rPr>
              <a:t>Add leadership layer ahead of associate hire</a:t>
            </a:r>
          </a:p>
        </p:txBody>
      </p:sp>
      <p:sp>
        <p:nvSpPr>
          <p:cNvPr id="52" name="Rectangle 51"/>
          <p:cNvSpPr/>
          <p:nvPr/>
        </p:nvSpPr>
        <p:spPr>
          <a:xfrm>
            <a:off x="0" y="4425696"/>
            <a:ext cx="9144000" cy="402336"/>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Poppins"/>
              </a:rPr>
              <a:t>"We've built the trial record. Now it's time our marketing, and our team, caught up to it."</a:t>
            </a:r>
          </a:p>
        </p:txBody>
      </p:sp>
      <p:sp>
        <p:nvSpPr>
          <p:cNvPr id="54" name="Rectangle 53"/>
          <p:cNvSpPr/>
          <p:nvPr/>
        </p:nvSpPr>
        <p:spPr>
          <a:xfrm>
            <a:off x="0" y="4828032"/>
            <a:ext cx="9144000" cy="320040"/>
          </a:xfrm>
          <a:prstGeom prst="rect">
            <a:avLst/>
          </a:prstGeom>
          <a:solidFill>
            <a:srgbClr val="003A5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smb_team_logo.png"/>
          <p:cNvPicPr>
            <a:picLocks noChangeAspect="1"/>
          </p:cNvPicPr>
          <p:nvPr/>
        </p:nvPicPr>
        <p:blipFill>
          <a:blip r:embed="rId2"/>
          <a:stretch>
            <a:fillRect/>
          </a:stretch>
        </p:blipFill>
        <p:spPr>
          <a:xfrm>
            <a:off x="201168" y="4837176"/>
            <a:ext cx="1170432" cy="237744"/>
          </a:xfrm>
          <a:prstGeom prst="rect">
            <a:avLst/>
          </a:prstGeom>
        </p:spPr>
      </p:pic>
      <p:sp>
        <p:nvSpPr>
          <p:cNvPr id="56" name="TextBox 55"/>
          <p:cNvSpPr txBox="1"/>
          <p:nvPr/>
        </p:nvSpPr>
        <p:spPr>
          <a:xfrm>
            <a:off x="1609344" y="4837176"/>
            <a:ext cx="5303520" cy="274320"/>
          </a:xfrm>
          <a:prstGeom prst="rect">
            <a:avLst/>
          </a:prstGeom>
          <a:noFill/>
        </p:spPr>
        <p:txBody>
          <a:bodyPr wrap="square"/>
          <a:lstStyle/>
          <a:p>
            <a:pPr algn="l"/>
            <a:r>
              <a:rPr sz="800" b="0" i="0">
                <a:solidFill>
                  <a:srgbClr val="5A7A9A"/>
                </a:solidFill>
                <a:latin typeface="Poppins"/>
              </a:rPr>
              <a:t>CONFIDENTIAL  ·  Prepared by Michael Kopp | SMB Team</a:t>
            </a:r>
          </a:p>
        </p:txBody>
      </p:sp>
      <p:sp>
        <p:nvSpPr>
          <p:cNvPr id="57" name="TextBox 56"/>
          <p:cNvSpPr txBox="1"/>
          <p:nvPr/>
        </p:nvSpPr>
        <p:spPr>
          <a:xfrm>
            <a:off x="8138160" y="4837176"/>
            <a:ext cx="786384" cy="274320"/>
          </a:xfrm>
          <a:prstGeom prst="rect">
            <a:avLst/>
          </a:prstGeom>
          <a:noFill/>
        </p:spPr>
        <p:txBody>
          <a:bodyPr wrap="square"/>
          <a:lstStyle/>
          <a:p>
            <a:pPr algn="r"/>
            <a:r>
              <a:rPr sz="800" b="0" i="0">
                <a:solidFill>
                  <a:srgbClr val="5A7A9A"/>
                </a:solidFill>
                <a:latin typeface="Poppins"/>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