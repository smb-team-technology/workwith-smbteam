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MORRIS, ANDREWS, TALMADGE &amp; DRIGGERS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Where Morris, Andrews, Talmadge &amp; Driggers LLC Stands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46304" cy="3867912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1005840"/>
            <a:ext cx="1298448" cy="841248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1005840"/>
            <a:ext cx="1298448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1572768"/>
            <a:ext cx="1298448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COMPETITIVE URGENCY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2496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82496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0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Lead Generation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RED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80% from referrals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42032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42032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96896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Intake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96896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RED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96896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Vacant intake role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56432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Team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56432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AMBER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6432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Four chiefs, no ops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61104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61104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15968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Profit Plan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5968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AMBER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15968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35% fixed overhead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" y="1956816"/>
            <a:ext cx="484632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KEY FINDINGS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" y="2212848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2386584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2368296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" y="2286000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mcatlaw.com domain is broken — losing referral leads today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" y="2834640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3008376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2990088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" y="2907792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Vacant intake role delays filed lawsuits and demands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6032" y="3456432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5760" y="3630168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3611879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" y="3529584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Dothan GBP unverified — invisible in local search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6032" y="4078224"/>
            <a:ext cx="4846320" cy="566928"/>
          </a:xfrm>
          <a:prstGeom prst="rect">
            <a:avLst/>
          </a:prstGeom>
          <a:solidFill>
            <a:srgbClr val="0C281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65760" y="4251960"/>
            <a:ext cx="219456" cy="219456"/>
          </a:xfrm>
          <a:prstGeom prst="rect">
            <a:avLst/>
          </a:prstGeom>
          <a:solidFill>
            <a:srgbClr val="16A3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4233672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6656" y="4151376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86EFAC"/>
                </a:solidFill>
                <a:latin typeface="Calibri"/>
              </a:rPr>
              <a:t>25+ years of trusted reputation across two AL offices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257800" y="960120"/>
            <a:ext cx="3886200" cy="38679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257800" y="1024128"/>
            <a:ext cx="3886200" cy="694944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257800" y="1024128"/>
            <a:ext cx="128016" cy="694944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0" y="1042415"/>
            <a:ext cx="34747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YOU ARE HERE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0" y="1243584"/>
            <a:ext cx="347472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Stage 4: Small Business Manager  →  Goal: Stage 6, Law Firm Owner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94960" y="1920240"/>
            <a:ext cx="356616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4748B"/>
                </a:solidFill>
                <a:latin typeface="Calibri"/>
              </a:rPr>
              <a:t>COMPETITOR LANDSCAPE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257800" y="2176272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13248" y="2221991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Stokes Stemle, LLC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60336" y="2221991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119 reviews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93024" y="2240279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4.9★ · Dothan leader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257800" y="2523744"/>
            <a:ext cx="3886200" cy="3108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13248" y="2569463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The Cochran Firm — Dothan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60336" y="2569463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66 reviews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93024" y="2587751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National brand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257800" y="2871216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13248" y="2916936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Andy Citrin Injury Attorneys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60336" y="2916936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144 reviews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193024" y="2935224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4.7★ · Mobile leader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257800" y="3218688"/>
            <a:ext cx="3886200" cy="310896"/>
          </a:xfrm>
          <a:prstGeom prst="rect">
            <a:avLst/>
          </a:prstGeom>
          <a:solidFill>
            <a:srgbClr val="FFF0F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257800" y="3218688"/>
            <a:ext cx="91440" cy="31089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13248" y="3264408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C0392B"/>
                </a:solidFill>
                <a:latin typeface="Calibri"/>
              </a:rPr>
              <a:t>Morris, Andrews, Talmadge &amp; Driggers LLC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60336" y="3264408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C0392B"/>
                </a:solidFill>
                <a:latin typeface="Calibri"/>
              </a:rPr>
              <a:t>3 reviews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193024" y="3282696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← You are here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Jacob Meissner | SMB Team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MORRIS, ANDREWS, TALMADGE &amp; DRIGGERS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Growth Plan: 3 Priorities to Reach $10M+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024128"/>
            <a:ext cx="2487168" cy="363931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1042415"/>
            <a:ext cx="2487168" cy="1828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1097280"/>
            <a:ext cx="226771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THE SMB TEAM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335024"/>
            <a:ext cx="2267712" cy="15727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A8BFDA"/>
                </a:solidFill>
                <a:latin typeface="Calibri"/>
              </a:rPr>
              <a:t>All four pillars — lead gen, intake, team, and profit — must work together. When all four work, MCAT's partners can finally prove the ROI needed to scale and dominate the Black Belt market.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2999232"/>
            <a:ext cx="2487168" cy="74980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30175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D1F3C"/>
                </a:solidFill>
                <a:latin typeface="Calibri"/>
              </a:rPr>
              <a:t>$4-6M → $10M+ 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" y="3291840"/>
            <a:ext cx="228600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D1F3C"/>
                </a:solidFill>
                <a:latin typeface="Calibri"/>
              </a:rPr>
              <a:t>Prove it works, then dominate the region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16352" y="1024128"/>
            <a:ext cx="2048256" cy="84124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0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Build the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Marketing Engine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16352" y="1865376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07792" y="2084832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54096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Launch tracked Google + Meta campaigns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16352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907792" y="2688336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Verify and rebuild the Dothan GBP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16352" y="3072384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07792" y="3291839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54096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Fix the broken mcatlaw.com domain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16352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07792" y="3895344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Clean up NAP across all directories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16352" y="4279392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907792" y="4498848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54096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Target high-value Black Belt venues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37760" y="1024128"/>
            <a:ext cx="2048256" cy="841248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47488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47488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Fix Intake &amp;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47488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Stop Losing Cases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37760" y="1865376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29200" y="2084832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75504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Hire a dedicated intake specialist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37760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29200" y="2688336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75504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End the paralegal intake bottleneck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37760" y="3072384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0" y="3291839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75504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Add after-hours call coverage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37760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029200" y="3895344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175504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Track lead-to-client conversion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937760" y="4279392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029200" y="4498848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175504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Free paralegals for lawsuits &amp; demands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59168" y="1024128"/>
            <a:ext cx="2048256" cy="84124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68896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68896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Install Team &amp;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68896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Profit Systems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059168" y="1865376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150607" y="2084832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296912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Bring in a Fractional COO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059168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150607" y="2688336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296912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Unify the four-partner practices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059168" y="3072384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150607" y="3291839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296912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a profit plan from new revenue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059168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150607" y="3895344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296912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Fund growth without cutting partner pay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059168" y="4279392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150607" y="4498848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296912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Turn four chiefs into one growth engine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Jacob Meissner | SMB Team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MORRIS, ANDREWS, TALMADGE &amp; DRIGGERS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Investment &amp; What Happens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024128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" y="1024128"/>
            <a:ext cx="182880" cy="102412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115568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1D4ED8"/>
                </a:solidFill>
                <a:latin typeface="Calibri"/>
              </a:rPr>
              <a:t>FULL SERVICE MARKETING — PLATINUM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298448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$15,997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65376" y="1408176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22576" y="1426464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$18,997/mo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22576" y="1527048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792224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Google+Meta ads · Local SEO · GBP · Website · Call tracking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" y="2139696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1168" y="2139696"/>
            <a:ext cx="182880" cy="102412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2231136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D28D9"/>
                </a:solidFill>
                <a:latin typeface="Calibri"/>
              </a:rPr>
              <a:t>FCOO ADVISOR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2414015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$3,297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65376" y="2523744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22576" y="2542032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$3,797/mo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22576" y="2642615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2907791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Dedicated fractional COO · Intake team build-out · Coaching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1168" y="3255264"/>
            <a:ext cx="4133087" cy="658368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3291840"/>
            <a:ext cx="16459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7CA0C0"/>
                </a:solidFill>
                <a:latin typeface="Calibri"/>
              </a:rPr>
              <a:t>BUNDLE TOTAL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3493008"/>
            <a:ext cx="21945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5C400"/>
                </a:solidFill>
                <a:latin typeface="Calibri"/>
              </a:rPr>
              <a:t>$19,294 / 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70048" y="3493008"/>
            <a:ext cx="17373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7CA0C0"/>
                </a:solidFill>
                <a:latin typeface="Calibri"/>
              </a:rPr>
              <a:t>Save $3,500/mo by bundling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1168" y="3968496"/>
            <a:ext cx="4133087" cy="402336"/>
          </a:xfrm>
          <a:prstGeom prst="rect">
            <a:avLst/>
          </a:prstGeom>
          <a:solidFill>
            <a:srgbClr val="EEF2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184" y="3995928"/>
            <a:ext cx="39319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+ Recommended ad spend: $17,500–$125,000/mo paid directly to Google/Meta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35424" y="1024128"/>
            <a:ext cx="4407408" cy="1316736"/>
          </a:xfrm>
          <a:prstGeom prst="rect">
            <a:avLst/>
          </a:prstGeom>
          <a:solidFill>
            <a:srgbClr val="ECFD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0016" y="1078992"/>
            <a:ext cx="4133087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65F46"/>
                </a:solidFill>
                <a:latin typeface="Calibri"/>
              </a:rPr>
              <a:t>PROJECTED RETURN ON AD SPEND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0016" y="1335024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Average case value: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9984" y="1335024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65F46"/>
                </a:solidFill>
                <a:latin typeface="Calibri"/>
              </a:rPr>
              <a:t>$7,500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1609344"/>
            <a:ext cx="4187952" cy="310896"/>
          </a:xfrm>
          <a:prstGeom prst="rect">
            <a:avLst/>
          </a:prstGeom>
          <a:solidFill>
            <a:srgbClr val="D1FAE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00016" y="1645920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Conservative  (~5 cases/mo):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9984" y="1645920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$37,500 revenue · 2.1× ROAS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00016" y="1956816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Aggressive  (~40 cases/mo):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9984" y="1956816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$300,000 revenue · 2.4× ROAS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35424" y="2468880"/>
            <a:ext cx="4407408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WHAT HAPPENS IN THE FIRST 90 DAYS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90288" y="2724912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37760" y="2734056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15584" y="2734056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Launch Google + Meta campaigns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90288" y="3081528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37760" y="3090672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15584" y="3090672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Verify Dothan GBP, fix mcatlaw.com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90288" y="3438144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937760" y="3447287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15584" y="3447287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Begin FCOO engagement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90288" y="3794760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937760" y="3803904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15584" y="3803904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Start building dedicated intake team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90288" y="4151376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37760" y="4160520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Month 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15584" y="4160520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Full campaigns + intake team live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4425696"/>
            <a:ext cx="9144000" cy="402336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4320" y="4425696"/>
            <a:ext cx="8595360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1">
                <a:solidFill>
                  <a:srgbClr val="8BADD0"/>
                </a:solidFill>
                <a:latin typeface="Calibri"/>
              </a:rPr>
              <a:t>"We built this firm on trust for 25 years. Now we want the proof — and the systems — to dominate the region."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Jacob Meissner | SMB Team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