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embeddedFontLst>
    <p:embeddedFont>
      <p:font typeface="Poppins"/>
      <p:regular r:id="rIdEmbedFont1"/>
      <p:bold r:id="rIdEmbedFont2"/>
      <p:italic r:id="rIdEmbedFont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EmbedFont1" Type="http://schemas.openxmlformats.org/officeDocument/2006/relationships/font" Target="fonts/font1.fntdata"/><Relationship Id="rIdEmbedFont2" Type="http://schemas.openxmlformats.org/officeDocument/2006/relationships/font" Target="fonts/font2.fntdata"/><Relationship Id="rIdEmbedFont3" Type="http://schemas.openxmlformats.org/officeDocument/2006/relationships/font" Target="fonts/font3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182880"/>
            <a:ext cx="85039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LAW FIRM GROWTH AUDIT  ·  LANGRIN-ROBERTSON LAW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384048"/>
            <a:ext cx="8503920" cy="4023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oppins"/>
              </a:rPr>
              <a:t>Where Langrin-Robertson Law Stands 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987552"/>
            <a:ext cx="457200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WHAT YOU TOLD US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07008"/>
            <a:ext cx="4572000" cy="188366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207008"/>
            <a:ext cx="45720" cy="1883664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4297680" cy="175564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sz="650" b="1" i="0">
                <a:solidFill>
                  <a:srgbClr val="3F8F1A"/>
                </a:solidFill>
                <a:latin typeface="Poppins"/>
              </a:rPr>
              <a:t>JACQUEL SAID:</a:t>
            </a:r>
          </a:p>
          <a:p>
            <a:pPr>
              <a:spcBef>
                <a:spcPts val="86"/>
              </a:spcBef>
            </a:pPr>
            <a:r>
              <a:rPr sz="950" b="0" i="1">
                <a:solidFill>
                  <a:srgbClr val="003A59"/>
                </a:solidFill>
                <a:latin typeface="Poppins"/>
              </a:rPr>
              <a:t>“She's not even having to look through email hunting and pecking for stuff, that's an hour, potentially two.”</a:t>
            </a:r>
          </a:p>
          <a:p>
            <a:pPr>
              <a:spcBef>
                <a:spcPts val="777"/>
              </a:spcBef>
            </a:pPr>
            <a:r>
              <a:rPr sz="650" b="1" i="0">
                <a:solidFill>
                  <a:srgbClr val="3F8F1A"/>
                </a:solidFill>
                <a:latin typeface="Poppins"/>
              </a:rPr>
              <a:t>JACQUEL SAID:</a:t>
            </a:r>
          </a:p>
          <a:p>
            <a:pPr>
              <a:spcBef>
                <a:spcPts val="86"/>
              </a:spcBef>
            </a:pPr>
            <a:r>
              <a:rPr sz="950" b="0" i="1">
                <a:solidFill>
                  <a:srgbClr val="003A59"/>
                </a:solidFill>
                <a:latin typeface="Poppins"/>
              </a:rPr>
              <a:t>“Let's make sure we get the SOP correct instead of having to rebuild this three, four, or five different times.”</a:t>
            </a:r>
          </a:p>
          <a:p>
            <a:pPr>
              <a:spcBef>
                <a:spcPts val="777"/>
              </a:spcBef>
            </a:pPr>
            <a:r>
              <a:rPr sz="650" b="1" i="0">
                <a:solidFill>
                  <a:srgbClr val="3F8F1A"/>
                </a:solidFill>
                <a:latin typeface="Poppins"/>
              </a:rPr>
              <a:t>JACQUEL SAID:</a:t>
            </a:r>
          </a:p>
          <a:p>
            <a:pPr>
              <a:spcBef>
                <a:spcPts val="86"/>
              </a:spcBef>
            </a:pPr>
            <a:r>
              <a:rPr sz="950" b="0" i="1">
                <a:solidFill>
                  <a:srgbClr val="003A59"/>
                </a:solidFill>
                <a:latin typeface="Poppins"/>
              </a:rPr>
              <a:t>“She is not getting the right people, and I have to help her get the right people.”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987552"/>
            <a:ext cx="384048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WHERE YOU ARE TODAY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0" y="1207008"/>
            <a:ext cx="3840480" cy="1883664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0" y="1316736"/>
            <a:ext cx="169164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TODAY  ·  STAGE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1463040"/>
            <a:ext cx="1691640" cy="42062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Poppins"/>
              </a:rPr>
              <a:t>Solo Practitioner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316736"/>
            <a:ext cx="169164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50" b="1" i="0">
                <a:solidFill>
                  <a:srgbClr val="69CD2B"/>
                </a:solidFill>
                <a:latin typeface="Poppins"/>
              </a:rPr>
              <a:t>GOAL  ·  STAGE 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1463040"/>
            <a:ext cx="1691640" cy="42062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Poppins"/>
              </a:rPr>
              <a:t>Law Firm Owner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12080" y="2754172"/>
            <a:ext cx="651052" cy="190195"/>
          </a:xfrm>
          <a:prstGeom prst="rect">
            <a:avLst/>
          </a:prstGeom>
          <a:solidFill>
            <a:srgbClr val="2F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80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A9D68C"/>
                </a:solidFill>
                <a:latin typeface="Poppins"/>
              </a:rPr>
              <a:t>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17996" y="2563977"/>
            <a:ext cx="651052" cy="380390"/>
          </a:xfrm>
          <a:prstGeom prst="rect">
            <a:avLst/>
          </a:prstGeom>
          <a:solidFill>
            <a:srgbClr val="69C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17996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143306"/>
                </a:solidFill>
                <a:latin typeface="Poppins"/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23913" y="2373782"/>
            <a:ext cx="651052" cy="570585"/>
          </a:xfrm>
          <a:prstGeom prst="rect">
            <a:avLst/>
          </a:prstGeom>
          <a:solidFill>
            <a:srgbClr val="0B4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3913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9CC0D6"/>
                </a:solidFill>
                <a:latin typeface="Poppins"/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29830" y="2183587"/>
            <a:ext cx="651052" cy="760780"/>
          </a:xfrm>
          <a:prstGeom prst="rect">
            <a:avLst/>
          </a:prstGeom>
          <a:solidFill>
            <a:srgbClr val="0B4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29830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9CC0D6"/>
                </a:solidFill>
                <a:latin typeface="Poppins"/>
              </a:rPr>
              <a:t>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35747" y="1993392"/>
            <a:ext cx="651052" cy="950975"/>
          </a:xfrm>
          <a:prstGeom prst="rect">
            <a:avLst/>
          </a:prstGeom>
          <a:solidFill>
            <a:srgbClr val="003A59"/>
          </a:solidFill>
          <a:ln w="19050">
            <a:solidFill>
              <a:srgbClr val="69C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35747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69CD2B"/>
                </a:solidFill>
                <a:latin typeface="Poppins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3200400"/>
            <a:ext cx="365760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YOUR KEY GAPS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419856"/>
            <a:ext cx="8595360" cy="124358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93776" y="3602736"/>
            <a:ext cx="256032" cy="36576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8912" y="3675887"/>
            <a:ext cx="253593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TEAM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" y="3895344"/>
            <a:ext cx="2535936" cy="6949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50" b="0" i="0">
                <a:solidFill>
                  <a:srgbClr val="4A5C6B"/>
                </a:solidFill>
                <a:latin typeface="Poppins"/>
              </a:rPr>
              <a:t>No written procedures, so every new hire means rebuilding the process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139440" y="3584448"/>
            <a:ext cx="0" cy="932688"/>
          </a:xfrm>
          <a:prstGeom prst="line">
            <a:avLst/>
          </a:prstGeom>
          <a:ln w="9525">
            <a:solidFill>
              <a:srgbClr val="D9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3358895" y="3602736"/>
            <a:ext cx="256032" cy="36576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04032" y="3675887"/>
            <a:ext cx="253593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INTAKE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04032" y="3895344"/>
            <a:ext cx="2535936" cy="6949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50" b="0" i="0">
                <a:solidFill>
                  <a:srgbClr val="4A5C6B"/>
                </a:solidFill>
                <a:latin typeface="Poppins"/>
              </a:rPr>
              <a:t>Email and admin triage can take an hour or two a day out of the owner's time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004560" y="3584448"/>
            <a:ext cx="0" cy="932688"/>
          </a:xfrm>
          <a:prstGeom prst="line">
            <a:avLst/>
          </a:prstGeom>
          <a:ln w="9525">
            <a:solidFill>
              <a:srgbClr val="D9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6224016" y="3602736"/>
            <a:ext cx="256032" cy="36576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69151" y="3675887"/>
            <a:ext cx="253593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LEAD GENERATION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69151" y="3895344"/>
            <a:ext cx="2535936" cy="6949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50" b="0" i="0">
                <a:solidFill>
                  <a:srgbClr val="4A5C6B"/>
                </a:solidFill>
                <a:latin typeface="Poppins"/>
              </a:rPr>
              <a:t>Mismatched listings and a blog silent since Feb 2025 can lower trust before a call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873752"/>
            <a:ext cx="941832" cy="192024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417320" y="4892040"/>
            <a:ext cx="493776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00" b="0" i="0">
                <a:solidFill>
                  <a:srgbClr val="8FB2C6"/>
                </a:solidFill>
                <a:latin typeface="Poppins"/>
              </a:rPr>
              <a:t>CONFIDENTIAL  ·  PREPARED BY DAN BRYANT | SMB TEAM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80960" y="4892040"/>
            <a:ext cx="118872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00" b="0" i="0">
                <a:solidFill>
                  <a:srgbClr val="8FB2C6"/>
                </a:solidFill>
                <a:latin typeface="Poppins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182880"/>
            <a:ext cx="85039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LAW FIRM GROWTH AUDIT  ·  LANGRIN-ROBERTSON LAW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384048"/>
            <a:ext cx="8503920" cy="4023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oppins"/>
              </a:rPr>
              <a:t>Your Growth Plan: 3 Priorities to Get Your Time Back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2724912" cy="877824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2359152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PRIORITY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Build Your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AI Workspace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883664"/>
            <a:ext cx="2724912" cy="2743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" y="2029968"/>
            <a:ext cx="2468880" cy="2505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146304" indent="-146304"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One AI workspace for projects, content, and email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AI staff sort email and manage your calendar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Weekly session so your team learns it step by step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Replace several separate tools with one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Get the daily hour or two in the inbox back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9544" y="1005840"/>
            <a:ext cx="2724912" cy="877824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92424" y="1097280"/>
            <a:ext cx="2359152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143306"/>
                </a:solidFill>
                <a:latin typeface="Poppins"/>
              </a:rPr>
              <a:t>PRIORITY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92424" y="1280160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143306"/>
                </a:solidFill>
                <a:latin typeface="Poppins"/>
              </a:rPr>
              <a:t>Write SOPs &amp;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92424" y="1527048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143306"/>
                </a:solidFill>
                <a:latin typeface="Poppins"/>
              </a:rPr>
              <a:t>Fix Intake Follow-Up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9544" y="1883664"/>
            <a:ext cx="2724912" cy="2743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37560" y="2029968"/>
            <a:ext cx="2468880" cy="2505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146304" indent="-146304"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Capture each process once, in writing</a:t>
            </a:r>
          </a:p>
          <a:p>
            <a:pPr marL="146304" indent="-146304">
              <a:spcBef>
                <a:spcPts val="600"/>
              </a:spcBef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Every new hire starts from a ready playbook</a:t>
            </a:r>
          </a:p>
          <a:p>
            <a:pPr marL="146304" indent="-146304">
              <a:spcBef>
                <a:spcPts val="600"/>
              </a:spcBef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AI-assisted replies so no inquiry waits</a:t>
            </a:r>
          </a:p>
          <a:p>
            <a:pPr marL="146304" indent="-146304">
              <a:spcBef>
                <a:spcPts val="600"/>
              </a:spcBef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Add a form and intro video above the fold</a:t>
            </a:r>
          </a:p>
          <a:p>
            <a:pPr marL="146304" indent="-146304">
              <a:spcBef>
                <a:spcPts val="600"/>
              </a:spcBef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Fewer calls and emails depend on you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4768" y="1005840"/>
            <a:ext cx="2724912" cy="877824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8" y="1097280"/>
            <a:ext cx="2359152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PRIORITY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1280160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Build a Team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7648" y="1527048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That Runs Itself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883664"/>
            <a:ext cx="2724912" cy="2743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72783" y="2029968"/>
            <a:ext cx="2468880" cy="2505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146304" indent="-146304"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Weekly group coaching for the owner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Practice area masterminds with peer firm owners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A hiring plan for the case manager role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Delegation structure behind the new procedures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A firm that does not need your six-day week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873752"/>
            <a:ext cx="941832" cy="19202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417320" y="4892040"/>
            <a:ext cx="493776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00" b="0" i="0">
                <a:solidFill>
                  <a:srgbClr val="8FB2C6"/>
                </a:solidFill>
                <a:latin typeface="Poppins"/>
              </a:rPr>
              <a:t>CONFIDENTIAL  ·  PREPARED BY DAN BRYANT | SMB TEAM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4892040"/>
            <a:ext cx="118872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00" b="0" i="0">
                <a:solidFill>
                  <a:srgbClr val="8FB2C6"/>
                </a:solidFill>
                <a:latin typeface="Poppins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182880"/>
            <a:ext cx="85039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LAW FIRM GROWTH AUDIT  ·  LANGRIN-ROBERTSON LAW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384048"/>
            <a:ext cx="8503920" cy="4023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oppins"/>
              </a:rPr>
              <a:t>Your Investment &amp; What Happens Next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4041648" cy="9601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36576" cy="96012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" y="1115568"/>
            <a:ext cx="3621024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91C9"/>
                </a:solidFill>
                <a:latin typeface="Poppins"/>
              </a:rPr>
              <a:t>AI WORKFORCE PRO — 5 USERS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1252728"/>
            <a:ext cx="2377440" cy="53035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000" b="1" i="0">
                <a:solidFill>
                  <a:srgbClr val="003A59"/>
                </a:solidFill>
                <a:latin typeface="Poppins"/>
              </a:rPr>
              <a:t>$1,597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741" y="1519428"/>
            <a:ext cx="457200" cy="219456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1000" b="0" i="0">
                <a:solidFill>
                  <a:srgbClr val="7C8D9B"/>
                </a:solidFill>
                <a:latin typeface="Poppins"/>
              </a:rPr>
              <a:t>/mo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8027" y="1519428"/>
            <a:ext cx="1976501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000" b="0" i="0">
                <a:solidFill>
                  <a:srgbClr val="7C8D9B"/>
                </a:solidFill>
                <a:latin typeface="Poppins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" y="1737360"/>
            <a:ext cx="3621024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50" b="0" i="0">
                <a:solidFill>
                  <a:srgbClr val="7C8D9B"/>
                </a:solidFill>
                <a:latin typeface="Poppins"/>
              </a:rPr>
              <a:t>Managed AI workspace · Weekly implementation session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057400"/>
            <a:ext cx="4041648" cy="9601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2057400"/>
            <a:ext cx="36576" cy="96012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" y="2167128"/>
            <a:ext cx="3621024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ELITE COACH PLUS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" y="2304288"/>
            <a:ext cx="2377440" cy="53035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000" b="1" i="0">
                <a:solidFill>
                  <a:srgbClr val="003A59"/>
                </a:solidFill>
                <a:latin typeface="Poppins"/>
              </a:rPr>
              <a:t>$3,200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53564" y="2570988"/>
            <a:ext cx="457200" cy="219456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1000" b="0" i="0">
                <a:solidFill>
                  <a:srgbClr val="7C8D9B"/>
                </a:solidFill>
                <a:latin typeface="Poppins"/>
              </a:rPr>
              <a:t>/mo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63851" y="2570988"/>
            <a:ext cx="1860677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000" b="0" i="0">
                <a:solidFill>
                  <a:srgbClr val="7C8D9B"/>
                </a:solidFill>
                <a:latin typeface="Poppins"/>
              </a:rPr>
              <a:t>$3,497/mo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" y="2788920"/>
            <a:ext cx="3621024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50" b="0" i="0">
                <a:solidFill>
                  <a:srgbClr val="7C8D9B"/>
                </a:solidFill>
                <a:latin typeface="Poppins"/>
              </a:rPr>
              <a:t>Weekly group coaching · Masterminds · Quarterly workshops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108960"/>
            <a:ext cx="4041648" cy="65836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3108960"/>
            <a:ext cx="36576" cy="65836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2064" y="3200400"/>
            <a:ext cx="155448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BUNDLE TOTAL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" y="3346704"/>
            <a:ext cx="219456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Poppins"/>
              </a:rPr>
              <a:t>$4,797 / 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64436" y="3460051"/>
            <a:ext cx="2260092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850" b="0" i="0">
                <a:solidFill>
                  <a:srgbClr val="A9D68C"/>
                </a:solidFill>
                <a:latin typeface="Poppins"/>
              </a:rPr>
              <a:t>Save $297/mo by bundling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1005840"/>
            <a:ext cx="429768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HOW THIS PLAN ADDRESSES IT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0" y="1335024"/>
            <a:ext cx="4297680" cy="265176"/>
          </a:xfrm>
          <a:prstGeom prst="rect">
            <a:avLst/>
          </a:prstGeom>
          <a:solidFill>
            <a:srgbClr val="EEF2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700016" y="1417320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46320" y="1335024"/>
            <a:ext cx="114300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One hub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1335024"/>
            <a:ext cx="292608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One AI workspace brings your tools together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0" y="1883664"/>
            <a:ext cx="4297680" cy="26517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700016" y="1965960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46320" y="1883664"/>
            <a:ext cx="114300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Email time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0" y="1883664"/>
            <a:ext cx="292608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AI staff help sort email and manage the calendar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0" y="2432304"/>
            <a:ext cx="4297680" cy="265176"/>
          </a:xfrm>
          <a:prstGeom prst="rect">
            <a:avLst/>
          </a:prstGeom>
          <a:solidFill>
            <a:srgbClr val="EEF2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700016" y="2514600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46320" y="2432304"/>
            <a:ext cx="114300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SOPs for hires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0" y="2432304"/>
            <a:ext cx="292608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Coaching builds your SOPs and hiring plan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4261104"/>
            <a:ext cx="9144000" cy="557784"/>
          </a:xfrm>
          <a:prstGeom prst="rect">
            <a:avLst/>
          </a:prstGeom>
          <a:solidFill>
            <a:srgbClr val="002A4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4261104"/>
            <a:ext cx="9144000" cy="1828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4297680"/>
            <a:ext cx="7863840" cy="4937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950" b="0" i="0">
                <a:solidFill>
                  <a:srgbClr val="C2D8E6"/>
                </a:solidFill>
                <a:latin typeface="Poppins"/>
              </a:rPr>
              <a:t>"The staff we hire can take over, it's already set and ready to go — and my week is finally my own."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873752"/>
            <a:ext cx="941832" cy="192024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417320" y="4892040"/>
            <a:ext cx="493776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00" b="0" i="0">
                <a:solidFill>
                  <a:srgbClr val="8FB2C6"/>
                </a:solidFill>
                <a:latin typeface="Poppins"/>
              </a:rPr>
              <a:t>CONFIDENTIAL  ·  PREPARED BY DAN BRYANT | SMB TEAM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80960" y="4892040"/>
            <a:ext cx="118872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00" b="0" i="0">
                <a:solidFill>
                  <a:srgbClr val="8FB2C6"/>
                </a:solidFill>
                <a:latin typeface="Poppins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