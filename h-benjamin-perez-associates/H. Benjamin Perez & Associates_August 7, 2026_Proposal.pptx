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Lst>
  <p:sldSz cx="9144000" cy="51435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960120"/>
          </a:xfrm>
          <a:prstGeom prst="rect">
            <a:avLst/>
          </a:prstGeom>
          <a:solidFill>
            <a:srgbClr val="0D1F3C"/>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92608" y="91440"/>
            <a:ext cx="8595360" cy="201168"/>
          </a:xfrm>
          <a:prstGeom prst="rect">
            <a:avLst/>
          </a:prstGeom>
          <a:noFill/>
        </p:spPr>
        <p:txBody>
          <a:bodyPr wrap="square"/>
          <a:lstStyle/>
          <a:p>
            <a:pPr algn="l"/>
            <a:r>
              <a:rPr sz="800" b="1" i="0">
                <a:solidFill>
                  <a:srgbClr val="F5C400"/>
                </a:solidFill>
                <a:latin typeface="Calibri"/>
              </a:rPr>
              <a:t>LAW FIRM GROWTH AUDIT  ·  H. BENJAMIN PEREZ &amp; ASSOCIATES, P.C.</a:t>
            </a:r>
          </a:p>
        </p:txBody>
      </p:sp>
      <p:sp>
        <p:nvSpPr>
          <p:cNvPr id="4" name="TextBox 3"/>
          <p:cNvSpPr txBox="1"/>
          <p:nvPr/>
        </p:nvSpPr>
        <p:spPr>
          <a:xfrm>
            <a:off x="292608" y="310896"/>
            <a:ext cx="8595360" cy="548640"/>
          </a:xfrm>
          <a:prstGeom prst="rect">
            <a:avLst/>
          </a:prstGeom>
          <a:noFill/>
        </p:spPr>
        <p:txBody>
          <a:bodyPr wrap="square"/>
          <a:lstStyle/>
          <a:p>
            <a:pPr algn="l"/>
            <a:r>
              <a:rPr sz="2400" b="1" i="0">
                <a:solidFill>
                  <a:srgbClr val="FFFFFF"/>
                </a:solidFill>
                <a:latin typeface="Calibri"/>
              </a:rPr>
              <a:t>Where H. Benjamin Perez &amp; Associates, P.C. Stands Today</a:t>
            </a:r>
          </a:p>
        </p:txBody>
      </p:sp>
      <p:sp>
        <p:nvSpPr>
          <p:cNvPr id="5" name="Rectangle 4"/>
          <p:cNvSpPr/>
          <p:nvPr/>
        </p:nvSpPr>
        <p:spPr>
          <a:xfrm>
            <a:off x="0" y="960120"/>
            <a:ext cx="146304" cy="3867912"/>
          </a:xfrm>
          <a:prstGeom prst="rect">
            <a:avLst/>
          </a:prstGeom>
          <a:solidFill>
            <a:srgbClr val="F5C400"/>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256032" y="1005840"/>
            <a:ext cx="1298448" cy="841248"/>
          </a:xfrm>
          <a:prstGeom prst="rect">
            <a:avLst/>
          </a:prstGeom>
          <a:solidFill>
            <a:srgbClr val="C0392B"/>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56032" y="1005840"/>
            <a:ext cx="1298448" cy="566928"/>
          </a:xfrm>
          <a:prstGeom prst="rect">
            <a:avLst/>
          </a:prstGeom>
          <a:noFill/>
        </p:spPr>
        <p:txBody>
          <a:bodyPr wrap="square"/>
          <a:lstStyle/>
          <a:p>
            <a:pPr algn="ctr"/>
            <a:r>
              <a:rPr sz="2800" b="1" i="0">
                <a:solidFill>
                  <a:srgbClr val="FFFFFF"/>
                </a:solidFill>
                <a:latin typeface="Calibri"/>
              </a:rPr>
              <a:t>5</a:t>
            </a:r>
          </a:p>
        </p:txBody>
      </p:sp>
      <p:sp>
        <p:nvSpPr>
          <p:cNvPr id="8" name="TextBox 7"/>
          <p:cNvSpPr txBox="1"/>
          <p:nvPr/>
        </p:nvSpPr>
        <p:spPr>
          <a:xfrm>
            <a:off x="256032" y="1572768"/>
            <a:ext cx="1298448" cy="274320"/>
          </a:xfrm>
          <a:prstGeom prst="rect">
            <a:avLst/>
          </a:prstGeom>
          <a:noFill/>
        </p:spPr>
        <p:txBody>
          <a:bodyPr wrap="square"/>
          <a:lstStyle/>
          <a:p>
            <a:pPr algn="ctr"/>
            <a:r>
              <a:rPr sz="600" b="1" i="0">
                <a:solidFill>
                  <a:srgbClr val="FFFFFF"/>
                </a:solidFill>
                <a:latin typeface="Calibri"/>
              </a:rPr>
              <a:t>COMPETITIVE URGENCY</a:t>
            </a:r>
          </a:p>
        </p:txBody>
      </p:sp>
      <p:sp>
        <p:nvSpPr>
          <p:cNvPr id="9" name="Rectangle 8"/>
          <p:cNvSpPr/>
          <p:nvPr/>
        </p:nvSpPr>
        <p:spPr>
          <a:xfrm>
            <a:off x="1682496" y="1005840"/>
            <a:ext cx="804672" cy="164592"/>
          </a:xfrm>
          <a:prstGeom prst="rect">
            <a:avLst/>
          </a:prstGeom>
          <a:solidFill>
            <a:srgbClr val="C0392B"/>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1682496" y="1170432"/>
            <a:ext cx="804672" cy="676656"/>
          </a:xfrm>
          <a:prstGeom prst="rect">
            <a:avLst/>
          </a:prstGeom>
          <a:solidFill>
            <a:srgbClr val="162947"/>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737360" y="1188720"/>
            <a:ext cx="694944" cy="237744"/>
          </a:xfrm>
          <a:prstGeom prst="rect">
            <a:avLst/>
          </a:prstGeom>
          <a:noFill/>
        </p:spPr>
        <p:txBody>
          <a:bodyPr wrap="square"/>
          <a:lstStyle/>
          <a:p>
            <a:pPr algn="l"/>
            <a:r>
              <a:rPr sz="800" b="1" i="0">
                <a:solidFill>
                  <a:srgbClr val="FFFFFF"/>
                </a:solidFill>
                <a:latin typeface="Calibri"/>
              </a:rPr>
              <a:t>Lead Generation</a:t>
            </a:r>
          </a:p>
        </p:txBody>
      </p:sp>
      <p:sp>
        <p:nvSpPr>
          <p:cNvPr id="12" name="TextBox 11"/>
          <p:cNvSpPr txBox="1"/>
          <p:nvPr/>
        </p:nvSpPr>
        <p:spPr>
          <a:xfrm>
            <a:off x="1737360" y="1417320"/>
            <a:ext cx="694944" cy="182880"/>
          </a:xfrm>
          <a:prstGeom prst="rect">
            <a:avLst/>
          </a:prstGeom>
          <a:noFill/>
        </p:spPr>
        <p:txBody>
          <a:bodyPr wrap="square"/>
          <a:lstStyle/>
          <a:p>
            <a:pPr algn="l"/>
            <a:r>
              <a:rPr sz="700" b="1" i="0">
                <a:solidFill>
                  <a:srgbClr val="C0392B"/>
                </a:solidFill>
                <a:latin typeface="Calibri"/>
              </a:rPr>
              <a:t>RED</a:t>
            </a:r>
          </a:p>
        </p:txBody>
      </p:sp>
      <p:sp>
        <p:nvSpPr>
          <p:cNvPr id="13" name="TextBox 12"/>
          <p:cNvSpPr txBox="1"/>
          <p:nvPr/>
        </p:nvSpPr>
        <p:spPr>
          <a:xfrm>
            <a:off x="1737360" y="1591056"/>
            <a:ext cx="694944" cy="237744"/>
          </a:xfrm>
          <a:prstGeom prst="rect">
            <a:avLst/>
          </a:prstGeom>
          <a:noFill/>
        </p:spPr>
        <p:txBody>
          <a:bodyPr wrap="square"/>
          <a:lstStyle/>
          <a:p>
            <a:pPr algn="l"/>
            <a:r>
              <a:rPr sz="700" b="0" i="0">
                <a:solidFill>
                  <a:srgbClr val="8BADD0"/>
                </a:solidFill>
                <a:latin typeface="Calibri"/>
              </a:rPr>
              <a:t>Invisible in search</a:t>
            </a:r>
          </a:p>
        </p:txBody>
      </p:sp>
      <p:sp>
        <p:nvSpPr>
          <p:cNvPr id="14" name="Rectangle 13"/>
          <p:cNvSpPr/>
          <p:nvPr/>
        </p:nvSpPr>
        <p:spPr>
          <a:xfrm>
            <a:off x="2542032" y="1005840"/>
            <a:ext cx="804672" cy="164592"/>
          </a:xfrm>
          <a:prstGeom prst="rect">
            <a:avLst/>
          </a:prstGeom>
          <a:solidFill>
            <a:srgbClr val="C0392B"/>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542032" y="1170432"/>
            <a:ext cx="804672" cy="676656"/>
          </a:xfrm>
          <a:prstGeom prst="rect">
            <a:avLst/>
          </a:prstGeom>
          <a:solidFill>
            <a:srgbClr val="162947"/>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596896" y="1188720"/>
            <a:ext cx="694944" cy="237744"/>
          </a:xfrm>
          <a:prstGeom prst="rect">
            <a:avLst/>
          </a:prstGeom>
          <a:noFill/>
        </p:spPr>
        <p:txBody>
          <a:bodyPr wrap="square"/>
          <a:lstStyle/>
          <a:p>
            <a:pPr algn="l"/>
            <a:r>
              <a:rPr sz="800" b="1" i="0">
                <a:solidFill>
                  <a:srgbClr val="FFFFFF"/>
                </a:solidFill>
                <a:latin typeface="Calibri"/>
              </a:rPr>
              <a:t>Intake</a:t>
            </a:r>
          </a:p>
        </p:txBody>
      </p:sp>
      <p:sp>
        <p:nvSpPr>
          <p:cNvPr id="17" name="TextBox 16"/>
          <p:cNvSpPr txBox="1"/>
          <p:nvPr/>
        </p:nvSpPr>
        <p:spPr>
          <a:xfrm>
            <a:off x="2596896" y="1417320"/>
            <a:ext cx="694944" cy="182880"/>
          </a:xfrm>
          <a:prstGeom prst="rect">
            <a:avLst/>
          </a:prstGeom>
          <a:noFill/>
        </p:spPr>
        <p:txBody>
          <a:bodyPr wrap="square"/>
          <a:lstStyle/>
          <a:p>
            <a:pPr algn="l"/>
            <a:r>
              <a:rPr sz="700" b="1" i="0">
                <a:solidFill>
                  <a:srgbClr val="C0392B"/>
                </a:solidFill>
                <a:latin typeface="Calibri"/>
              </a:rPr>
              <a:t>RED</a:t>
            </a:r>
          </a:p>
        </p:txBody>
      </p:sp>
      <p:sp>
        <p:nvSpPr>
          <p:cNvPr id="18" name="TextBox 17"/>
          <p:cNvSpPr txBox="1"/>
          <p:nvPr/>
        </p:nvSpPr>
        <p:spPr>
          <a:xfrm>
            <a:off x="2596896" y="1591056"/>
            <a:ext cx="694944" cy="237744"/>
          </a:xfrm>
          <a:prstGeom prst="rect">
            <a:avLst/>
          </a:prstGeom>
          <a:noFill/>
        </p:spPr>
        <p:txBody>
          <a:bodyPr wrap="square"/>
          <a:lstStyle/>
          <a:p>
            <a:pPr algn="l"/>
            <a:r>
              <a:rPr sz="700" b="0" i="0">
                <a:solidFill>
                  <a:srgbClr val="8BADD0"/>
                </a:solidFill>
                <a:latin typeface="Calibri"/>
              </a:rPr>
              <a:t>No after-hours cover</a:t>
            </a:r>
          </a:p>
        </p:txBody>
      </p:sp>
      <p:sp>
        <p:nvSpPr>
          <p:cNvPr id="19" name="Rectangle 18"/>
          <p:cNvSpPr/>
          <p:nvPr/>
        </p:nvSpPr>
        <p:spPr>
          <a:xfrm>
            <a:off x="3401568" y="1005840"/>
            <a:ext cx="804672" cy="164592"/>
          </a:xfrm>
          <a:prstGeom prst="rect">
            <a:avLst/>
          </a:prstGeom>
          <a:solidFill>
            <a:srgbClr val="D97706"/>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3401568" y="1170432"/>
            <a:ext cx="804672" cy="676656"/>
          </a:xfrm>
          <a:prstGeom prst="rect">
            <a:avLst/>
          </a:prstGeom>
          <a:solidFill>
            <a:srgbClr val="162947"/>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3456432" y="1188720"/>
            <a:ext cx="694944" cy="237744"/>
          </a:xfrm>
          <a:prstGeom prst="rect">
            <a:avLst/>
          </a:prstGeom>
          <a:noFill/>
        </p:spPr>
        <p:txBody>
          <a:bodyPr wrap="square"/>
          <a:lstStyle/>
          <a:p>
            <a:pPr algn="l"/>
            <a:r>
              <a:rPr sz="800" b="1" i="0">
                <a:solidFill>
                  <a:srgbClr val="FFFFFF"/>
                </a:solidFill>
                <a:latin typeface="Calibri"/>
              </a:rPr>
              <a:t>Team</a:t>
            </a:r>
          </a:p>
        </p:txBody>
      </p:sp>
      <p:sp>
        <p:nvSpPr>
          <p:cNvPr id="22" name="TextBox 21"/>
          <p:cNvSpPr txBox="1"/>
          <p:nvPr/>
        </p:nvSpPr>
        <p:spPr>
          <a:xfrm>
            <a:off x="3456432" y="1417320"/>
            <a:ext cx="694944" cy="182880"/>
          </a:xfrm>
          <a:prstGeom prst="rect">
            <a:avLst/>
          </a:prstGeom>
          <a:noFill/>
        </p:spPr>
        <p:txBody>
          <a:bodyPr wrap="square"/>
          <a:lstStyle/>
          <a:p>
            <a:pPr algn="l"/>
            <a:r>
              <a:rPr sz="700" b="1" i="0">
                <a:solidFill>
                  <a:srgbClr val="D97706"/>
                </a:solidFill>
                <a:latin typeface="Calibri"/>
              </a:rPr>
              <a:t>AMBER</a:t>
            </a:r>
          </a:p>
        </p:txBody>
      </p:sp>
      <p:sp>
        <p:nvSpPr>
          <p:cNvPr id="23" name="TextBox 22"/>
          <p:cNvSpPr txBox="1"/>
          <p:nvPr/>
        </p:nvSpPr>
        <p:spPr>
          <a:xfrm>
            <a:off x="3456432" y="1591056"/>
            <a:ext cx="694944" cy="237744"/>
          </a:xfrm>
          <a:prstGeom prst="rect">
            <a:avLst/>
          </a:prstGeom>
          <a:noFill/>
        </p:spPr>
        <p:txBody>
          <a:bodyPr wrap="square"/>
          <a:lstStyle/>
          <a:p>
            <a:pPr algn="l"/>
            <a:r>
              <a:rPr sz="700" b="0" i="0">
                <a:solidFill>
                  <a:srgbClr val="8BADD0"/>
                </a:solidFill>
                <a:latin typeface="Calibri"/>
              </a:rPr>
              <a:t>Owner approval gate</a:t>
            </a:r>
          </a:p>
        </p:txBody>
      </p:sp>
      <p:sp>
        <p:nvSpPr>
          <p:cNvPr id="24" name="Rectangle 23"/>
          <p:cNvSpPr/>
          <p:nvPr/>
        </p:nvSpPr>
        <p:spPr>
          <a:xfrm>
            <a:off x="4261104" y="1005840"/>
            <a:ext cx="804672" cy="164592"/>
          </a:xfrm>
          <a:prstGeom prst="rect">
            <a:avLst/>
          </a:prstGeom>
          <a:solidFill>
            <a:srgbClr val="D97706"/>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4261104" y="1170432"/>
            <a:ext cx="804672" cy="676656"/>
          </a:xfrm>
          <a:prstGeom prst="rect">
            <a:avLst/>
          </a:prstGeom>
          <a:solidFill>
            <a:srgbClr val="162947"/>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315968" y="1188720"/>
            <a:ext cx="694944" cy="237744"/>
          </a:xfrm>
          <a:prstGeom prst="rect">
            <a:avLst/>
          </a:prstGeom>
          <a:noFill/>
        </p:spPr>
        <p:txBody>
          <a:bodyPr wrap="square"/>
          <a:lstStyle/>
          <a:p>
            <a:pPr algn="l"/>
            <a:r>
              <a:rPr sz="800" b="1" i="0">
                <a:solidFill>
                  <a:srgbClr val="FFFFFF"/>
                </a:solidFill>
                <a:latin typeface="Calibri"/>
              </a:rPr>
              <a:t>Profit Plan</a:t>
            </a:r>
          </a:p>
        </p:txBody>
      </p:sp>
      <p:sp>
        <p:nvSpPr>
          <p:cNvPr id="27" name="TextBox 26"/>
          <p:cNvSpPr txBox="1"/>
          <p:nvPr/>
        </p:nvSpPr>
        <p:spPr>
          <a:xfrm>
            <a:off x="4315968" y="1417320"/>
            <a:ext cx="694944" cy="182880"/>
          </a:xfrm>
          <a:prstGeom prst="rect">
            <a:avLst/>
          </a:prstGeom>
          <a:noFill/>
        </p:spPr>
        <p:txBody>
          <a:bodyPr wrap="square"/>
          <a:lstStyle/>
          <a:p>
            <a:pPr algn="l"/>
            <a:r>
              <a:rPr sz="700" b="1" i="0">
                <a:solidFill>
                  <a:srgbClr val="D97706"/>
                </a:solidFill>
                <a:latin typeface="Calibri"/>
              </a:rPr>
              <a:t>AMBER</a:t>
            </a:r>
          </a:p>
        </p:txBody>
      </p:sp>
      <p:sp>
        <p:nvSpPr>
          <p:cNvPr id="28" name="TextBox 27"/>
          <p:cNvSpPr txBox="1"/>
          <p:nvPr/>
        </p:nvSpPr>
        <p:spPr>
          <a:xfrm>
            <a:off x="4315968" y="1591056"/>
            <a:ext cx="694944" cy="237744"/>
          </a:xfrm>
          <a:prstGeom prst="rect">
            <a:avLst/>
          </a:prstGeom>
          <a:noFill/>
        </p:spPr>
        <p:txBody>
          <a:bodyPr wrap="square"/>
          <a:lstStyle/>
          <a:p>
            <a:pPr algn="l"/>
            <a:r>
              <a:rPr sz="700" b="0" i="0">
                <a:solidFill>
                  <a:srgbClr val="8BADD0"/>
                </a:solidFill>
                <a:latin typeface="Calibri"/>
              </a:rPr>
              <a:t>No profit plan yet</a:t>
            </a:r>
          </a:p>
        </p:txBody>
      </p:sp>
      <p:sp>
        <p:nvSpPr>
          <p:cNvPr id="29" name="TextBox 28"/>
          <p:cNvSpPr txBox="1"/>
          <p:nvPr/>
        </p:nvSpPr>
        <p:spPr>
          <a:xfrm>
            <a:off x="256032" y="1956816"/>
            <a:ext cx="4846320" cy="219456"/>
          </a:xfrm>
          <a:prstGeom prst="rect">
            <a:avLst/>
          </a:prstGeom>
          <a:noFill/>
        </p:spPr>
        <p:txBody>
          <a:bodyPr wrap="square"/>
          <a:lstStyle/>
          <a:p>
            <a:pPr algn="l"/>
            <a:r>
              <a:rPr sz="800" b="1" i="0">
                <a:solidFill>
                  <a:srgbClr val="F5C400"/>
                </a:solidFill>
                <a:latin typeface="Calibri"/>
              </a:rPr>
              <a:t>KEY FINDINGS</a:t>
            </a:r>
          </a:p>
        </p:txBody>
      </p:sp>
      <p:sp>
        <p:nvSpPr>
          <p:cNvPr id="30" name="Rectangle 29"/>
          <p:cNvSpPr/>
          <p:nvPr/>
        </p:nvSpPr>
        <p:spPr>
          <a:xfrm>
            <a:off x="256032" y="2212848"/>
            <a:ext cx="4846320" cy="566928"/>
          </a:xfrm>
          <a:prstGeom prst="rect">
            <a:avLst/>
          </a:prstGeom>
          <a:solidFill>
            <a:srgbClr val="2C1010"/>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365760" y="2386584"/>
            <a:ext cx="219456" cy="219456"/>
          </a:xfrm>
          <a:prstGeom prst="rect">
            <a:avLst/>
          </a:prstGeom>
          <a:solidFill>
            <a:srgbClr val="C0392B"/>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365760" y="2368296"/>
            <a:ext cx="219456" cy="237744"/>
          </a:xfrm>
          <a:prstGeom prst="rect">
            <a:avLst/>
          </a:prstGeom>
          <a:noFill/>
        </p:spPr>
        <p:txBody>
          <a:bodyPr wrap="square"/>
          <a:lstStyle/>
          <a:p>
            <a:pPr algn="ctr"/>
            <a:r>
              <a:rPr sz="900" b="1" i="0">
                <a:solidFill>
                  <a:srgbClr val="FFFFFF"/>
                </a:solidFill>
                <a:latin typeface="Calibri"/>
              </a:rPr>
              <a:t>✕</a:t>
            </a:r>
          </a:p>
        </p:txBody>
      </p:sp>
      <p:sp>
        <p:nvSpPr>
          <p:cNvPr id="33" name="TextBox 32"/>
          <p:cNvSpPr txBox="1"/>
          <p:nvPr/>
        </p:nvSpPr>
        <p:spPr>
          <a:xfrm>
            <a:off x="676656" y="2286000"/>
            <a:ext cx="4352544" cy="420624"/>
          </a:xfrm>
          <a:prstGeom prst="rect">
            <a:avLst/>
          </a:prstGeom>
          <a:noFill/>
        </p:spPr>
        <p:txBody>
          <a:bodyPr wrap="square"/>
          <a:lstStyle/>
          <a:p>
            <a:pPr algn="l"/>
            <a:r>
              <a:rPr sz="1000" b="0" i="0">
                <a:solidFill>
                  <a:srgbClr val="F0BABA"/>
                </a:solidFill>
                <a:latin typeface="Calibri"/>
              </a:rPr>
              <a:t>Invisible in organic search across all three practice areas</a:t>
            </a:r>
          </a:p>
        </p:txBody>
      </p:sp>
      <p:sp>
        <p:nvSpPr>
          <p:cNvPr id="34" name="Rectangle 33"/>
          <p:cNvSpPr/>
          <p:nvPr/>
        </p:nvSpPr>
        <p:spPr>
          <a:xfrm>
            <a:off x="256032" y="2834640"/>
            <a:ext cx="4846320" cy="566928"/>
          </a:xfrm>
          <a:prstGeom prst="rect">
            <a:avLst/>
          </a:prstGeom>
          <a:solidFill>
            <a:srgbClr val="2C1010"/>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365760" y="3008376"/>
            <a:ext cx="219456" cy="219456"/>
          </a:xfrm>
          <a:prstGeom prst="rect">
            <a:avLst/>
          </a:prstGeom>
          <a:solidFill>
            <a:srgbClr val="C0392B"/>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365760" y="2990088"/>
            <a:ext cx="219456" cy="237744"/>
          </a:xfrm>
          <a:prstGeom prst="rect">
            <a:avLst/>
          </a:prstGeom>
          <a:noFill/>
        </p:spPr>
        <p:txBody>
          <a:bodyPr wrap="square"/>
          <a:lstStyle/>
          <a:p>
            <a:pPr algn="ctr"/>
            <a:r>
              <a:rPr sz="900" b="1" i="0">
                <a:solidFill>
                  <a:srgbClr val="FFFFFF"/>
                </a:solidFill>
                <a:latin typeface="Calibri"/>
              </a:rPr>
              <a:t>✕</a:t>
            </a:r>
          </a:p>
        </p:txBody>
      </p:sp>
      <p:sp>
        <p:nvSpPr>
          <p:cNvPr id="37" name="TextBox 36"/>
          <p:cNvSpPr txBox="1"/>
          <p:nvPr/>
        </p:nvSpPr>
        <p:spPr>
          <a:xfrm>
            <a:off x="676656" y="2907792"/>
            <a:ext cx="4352544" cy="420624"/>
          </a:xfrm>
          <a:prstGeom prst="rect">
            <a:avLst/>
          </a:prstGeom>
          <a:noFill/>
        </p:spPr>
        <p:txBody>
          <a:bodyPr wrap="square"/>
          <a:lstStyle/>
          <a:p>
            <a:pPr algn="l"/>
            <a:r>
              <a:rPr sz="1000" b="0" i="0">
                <a:solidFill>
                  <a:srgbClr val="F0BABA"/>
                </a:solidFill>
                <a:latin typeface="Calibri"/>
              </a:rPr>
              <a:t>After-hours calls go uncovered — costly for criminal defense</a:t>
            </a:r>
          </a:p>
        </p:txBody>
      </p:sp>
      <p:sp>
        <p:nvSpPr>
          <p:cNvPr id="38" name="Rectangle 37"/>
          <p:cNvSpPr/>
          <p:nvPr/>
        </p:nvSpPr>
        <p:spPr>
          <a:xfrm>
            <a:off x="256032" y="3456432"/>
            <a:ext cx="4846320" cy="566928"/>
          </a:xfrm>
          <a:prstGeom prst="rect">
            <a:avLst/>
          </a:prstGeom>
          <a:solidFill>
            <a:srgbClr val="2C1010"/>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365760" y="3630168"/>
            <a:ext cx="219456" cy="219456"/>
          </a:xfrm>
          <a:prstGeom prst="rect">
            <a:avLst/>
          </a:prstGeom>
          <a:solidFill>
            <a:srgbClr val="C0392B"/>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365760" y="3611879"/>
            <a:ext cx="219456" cy="237744"/>
          </a:xfrm>
          <a:prstGeom prst="rect">
            <a:avLst/>
          </a:prstGeom>
          <a:noFill/>
        </p:spPr>
        <p:txBody>
          <a:bodyPr wrap="square"/>
          <a:lstStyle/>
          <a:p>
            <a:pPr algn="ctr"/>
            <a:r>
              <a:rPr sz="900" b="1" i="0">
                <a:solidFill>
                  <a:srgbClr val="FFFFFF"/>
                </a:solidFill>
                <a:latin typeface="Calibri"/>
              </a:rPr>
              <a:t>✕</a:t>
            </a:r>
          </a:p>
        </p:txBody>
      </p:sp>
      <p:sp>
        <p:nvSpPr>
          <p:cNvPr id="41" name="TextBox 40"/>
          <p:cNvSpPr txBox="1"/>
          <p:nvPr/>
        </p:nvSpPr>
        <p:spPr>
          <a:xfrm>
            <a:off x="676656" y="3529584"/>
            <a:ext cx="4352544" cy="420624"/>
          </a:xfrm>
          <a:prstGeom prst="rect">
            <a:avLst/>
          </a:prstGeom>
          <a:noFill/>
        </p:spPr>
        <p:txBody>
          <a:bodyPr wrap="square"/>
          <a:lstStyle/>
          <a:p>
            <a:pPr algn="l"/>
            <a:r>
              <a:rPr sz="1000" b="0" i="0">
                <a:solidFill>
                  <a:srgbClr val="F0BABA"/>
                </a:solidFill>
                <a:latin typeface="Calibri"/>
              </a:rPr>
              <a:t>27 of 39 probate steps still done manually, capping capacity</a:t>
            </a:r>
          </a:p>
        </p:txBody>
      </p:sp>
      <p:sp>
        <p:nvSpPr>
          <p:cNvPr id="42" name="Rectangle 41"/>
          <p:cNvSpPr/>
          <p:nvPr/>
        </p:nvSpPr>
        <p:spPr>
          <a:xfrm>
            <a:off x="256032" y="4078224"/>
            <a:ext cx="4846320" cy="566928"/>
          </a:xfrm>
          <a:prstGeom prst="rect">
            <a:avLst/>
          </a:prstGeom>
          <a:solidFill>
            <a:srgbClr val="0C2818"/>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365760" y="4251960"/>
            <a:ext cx="219456" cy="219456"/>
          </a:xfrm>
          <a:prstGeom prst="rect">
            <a:avLst/>
          </a:prstGeom>
          <a:solidFill>
            <a:srgbClr val="16A34A"/>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365760" y="4233672"/>
            <a:ext cx="219456" cy="237744"/>
          </a:xfrm>
          <a:prstGeom prst="rect">
            <a:avLst/>
          </a:prstGeom>
          <a:noFill/>
        </p:spPr>
        <p:txBody>
          <a:bodyPr wrap="square"/>
          <a:lstStyle/>
          <a:p>
            <a:pPr algn="ctr"/>
            <a:r>
              <a:rPr sz="900" b="1" i="0">
                <a:solidFill>
                  <a:srgbClr val="FFFFFF"/>
                </a:solidFill>
                <a:latin typeface="Calibri"/>
              </a:rPr>
              <a:t>✓</a:t>
            </a:r>
          </a:p>
        </p:txBody>
      </p:sp>
      <p:sp>
        <p:nvSpPr>
          <p:cNvPr id="45" name="TextBox 44"/>
          <p:cNvSpPr txBox="1"/>
          <p:nvPr/>
        </p:nvSpPr>
        <p:spPr>
          <a:xfrm>
            <a:off x="676656" y="4151376"/>
            <a:ext cx="4352544" cy="420624"/>
          </a:xfrm>
          <a:prstGeom prst="rect">
            <a:avLst/>
          </a:prstGeom>
          <a:noFill/>
        </p:spPr>
        <p:txBody>
          <a:bodyPr wrap="square"/>
          <a:lstStyle/>
          <a:p>
            <a:pPr algn="l"/>
            <a:r>
              <a:rPr sz="1000" b="0" i="0">
                <a:solidFill>
                  <a:srgbClr val="86EFAC"/>
                </a:solidFill>
                <a:latin typeface="Calibri"/>
              </a:rPr>
              <a:t>4.9/5.0 Avvo rating and Super Lawyers recognition already earned</a:t>
            </a:r>
          </a:p>
        </p:txBody>
      </p:sp>
      <p:sp>
        <p:nvSpPr>
          <p:cNvPr id="46" name="Rectangle 45"/>
          <p:cNvSpPr/>
          <p:nvPr/>
        </p:nvSpPr>
        <p:spPr>
          <a:xfrm>
            <a:off x="5257800" y="960120"/>
            <a:ext cx="3886200" cy="3867912"/>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ectangle 46"/>
          <p:cNvSpPr/>
          <p:nvPr/>
        </p:nvSpPr>
        <p:spPr>
          <a:xfrm>
            <a:off x="5257800" y="1024128"/>
            <a:ext cx="3886200" cy="694944"/>
          </a:xfrm>
          <a:prstGeom prst="rect">
            <a:avLst/>
          </a:prstGeom>
          <a:solidFill>
            <a:srgbClr val="0D1F3C"/>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ectangle 47"/>
          <p:cNvSpPr/>
          <p:nvPr/>
        </p:nvSpPr>
        <p:spPr>
          <a:xfrm>
            <a:off x="5257800" y="1024128"/>
            <a:ext cx="128016" cy="694944"/>
          </a:xfrm>
          <a:prstGeom prst="rect">
            <a:avLst/>
          </a:prstGeom>
          <a:solidFill>
            <a:srgbClr val="F5C400"/>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5486400" y="1042415"/>
            <a:ext cx="3474720" cy="201168"/>
          </a:xfrm>
          <a:prstGeom prst="rect">
            <a:avLst/>
          </a:prstGeom>
          <a:noFill/>
        </p:spPr>
        <p:txBody>
          <a:bodyPr wrap="square"/>
          <a:lstStyle/>
          <a:p>
            <a:pPr algn="l"/>
            <a:r>
              <a:rPr sz="800" b="1" i="0">
                <a:solidFill>
                  <a:srgbClr val="F5C400"/>
                </a:solidFill>
                <a:latin typeface="Calibri"/>
              </a:rPr>
              <a:t>YOU ARE HERE</a:t>
            </a:r>
          </a:p>
        </p:txBody>
      </p:sp>
      <p:sp>
        <p:nvSpPr>
          <p:cNvPr id="50" name="TextBox 49"/>
          <p:cNvSpPr txBox="1"/>
          <p:nvPr/>
        </p:nvSpPr>
        <p:spPr>
          <a:xfrm>
            <a:off x="5486400" y="1243584"/>
            <a:ext cx="3474720" cy="402336"/>
          </a:xfrm>
          <a:prstGeom prst="rect">
            <a:avLst/>
          </a:prstGeom>
          <a:noFill/>
        </p:spPr>
        <p:txBody>
          <a:bodyPr wrap="square"/>
          <a:lstStyle/>
          <a:p>
            <a:pPr algn="l"/>
            <a:r>
              <a:rPr sz="1000" b="1" i="0">
                <a:solidFill>
                  <a:srgbClr val="FFFFFF"/>
                </a:solidFill>
                <a:latin typeface="Calibri"/>
              </a:rPr>
              <a:t>Stage 4: Small Business Manager  →  Goal: Stage 6, Law Firm Owner</a:t>
            </a:r>
          </a:p>
        </p:txBody>
      </p:sp>
      <p:sp>
        <p:nvSpPr>
          <p:cNvPr id="51" name="TextBox 50"/>
          <p:cNvSpPr txBox="1"/>
          <p:nvPr/>
        </p:nvSpPr>
        <p:spPr>
          <a:xfrm>
            <a:off x="5394960" y="1920240"/>
            <a:ext cx="3566160" cy="219456"/>
          </a:xfrm>
          <a:prstGeom prst="rect">
            <a:avLst/>
          </a:prstGeom>
          <a:noFill/>
        </p:spPr>
        <p:txBody>
          <a:bodyPr wrap="square"/>
          <a:lstStyle/>
          <a:p>
            <a:pPr algn="l"/>
            <a:r>
              <a:rPr sz="800" b="1" i="0">
                <a:solidFill>
                  <a:srgbClr val="64748B"/>
                </a:solidFill>
                <a:latin typeface="Calibri"/>
              </a:rPr>
              <a:t>COMPETITOR LANDSCAPE</a:t>
            </a:r>
          </a:p>
        </p:txBody>
      </p:sp>
      <p:sp>
        <p:nvSpPr>
          <p:cNvPr id="52" name="Rectangle 51"/>
          <p:cNvSpPr/>
          <p:nvPr/>
        </p:nvSpPr>
        <p:spPr>
          <a:xfrm>
            <a:off x="5257800" y="2176272"/>
            <a:ext cx="3886200" cy="310896"/>
          </a:xfrm>
          <a:prstGeom prst="rect">
            <a:avLst/>
          </a:prstGeom>
          <a:solidFill>
            <a:srgbClr val="F0F4FA"/>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5413248" y="2221991"/>
            <a:ext cx="1828800" cy="219456"/>
          </a:xfrm>
          <a:prstGeom prst="rect">
            <a:avLst/>
          </a:prstGeom>
          <a:noFill/>
        </p:spPr>
        <p:txBody>
          <a:bodyPr wrap="square"/>
          <a:lstStyle/>
          <a:p>
            <a:pPr algn="l"/>
            <a:r>
              <a:rPr sz="800" b="0" i="0">
                <a:solidFill>
                  <a:srgbClr val="1E293B"/>
                </a:solidFill>
                <a:latin typeface="Calibri"/>
              </a:rPr>
              <a:t>Richard Roman Shum</a:t>
            </a:r>
          </a:p>
        </p:txBody>
      </p:sp>
      <p:sp>
        <p:nvSpPr>
          <p:cNvPr id="54" name="TextBox 53"/>
          <p:cNvSpPr txBox="1"/>
          <p:nvPr/>
        </p:nvSpPr>
        <p:spPr>
          <a:xfrm>
            <a:off x="7260336" y="2221991"/>
            <a:ext cx="914400" cy="219456"/>
          </a:xfrm>
          <a:prstGeom prst="rect">
            <a:avLst/>
          </a:prstGeom>
          <a:noFill/>
        </p:spPr>
        <p:txBody>
          <a:bodyPr wrap="square"/>
          <a:lstStyle/>
          <a:p>
            <a:pPr algn="l"/>
            <a:r>
              <a:rPr sz="800" b="0" i="0">
                <a:solidFill>
                  <a:srgbClr val="16A34A"/>
                </a:solidFill>
                <a:latin typeface="Calibri"/>
              </a:rPr>
              <a:t>217 reviews</a:t>
            </a:r>
          </a:p>
        </p:txBody>
      </p:sp>
      <p:sp>
        <p:nvSpPr>
          <p:cNvPr id="55" name="TextBox 54"/>
          <p:cNvSpPr txBox="1"/>
          <p:nvPr/>
        </p:nvSpPr>
        <p:spPr>
          <a:xfrm>
            <a:off x="8193024" y="2240279"/>
            <a:ext cx="822960" cy="201168"/>
          </a:xfrm>
          <a:prstGeom prst="rect">
            <a:avLst/>
          </a:prstGeom>
          <a:noFill/>
        </p:spPr>
        <p:txBody>
          <a:bodyPr wrap="square"/>
          <a:lstStyle/>
          <a:p>
            <a:pPr algn="l"/>
            <a:r>
              <a:rPr sz="600" b="0" i="0">
                <a:solidFill>
                  <a:srgbClr val="64748B"/>
                </a:solidFill>
                <a:latin typeface="Calibri"/>
              </a:rPr>
              <a:t>Divorce · outranks us</a:t>
            </a:r>
          </a:p>
        </p:txBody>
      </p:sp>
      <p:sp>
        <p:nvSpPr>
          <p:cNvPr id="56" name="Rectangle 55"/>
          <p:cNvSpPr/>
          <p:nvPr/>
        </p:nvSpPr>
        <p:spPr>
          <a:xfrm>
            <a:off x="5257800" y="2523744"/>
            <a:ext cx="3886200" cy="310896"/>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5413248" y="2569463"/>
            <a:ext cx="1828800" cy="219456"/>
          </a:xfrm>
          <a:prstGeom prst="rect">
            <a:avLst/>
          </a:prstGeom>
          <a:noFill/>
        </p:spPr>
        <p:txBody>
          <a:bodyPr wrap="square"/>
          <a:lstStyle/>
          <a:p>
            <a:pPr algn="l"/>
            <a:r>
              <a:rPr sz="800" b="0" i="0">
                <a:solidFill>
                  <a:srgbClr val="1E293B"/>
                </a:solidFill>
                <a:latin typeface="Calibri"/>
              </a:rPr>
              <a:t>Robert Tsigler</a:t>
            </a:r>
          </a:p>
        </p:txBody>
      </p:sp>
      <p:sp>
        <p:nvSpPr>
          <p:cNvPr id="58" name="TextBox 57"/>
          <p:cNvSpPr txBox="1"/>
          <p:nvPr/>
        </p:nvSpPr>
        <p:spPr>
          <a:xfrm>
            <a:off x="7260336" y="2569463"/>
            <a:ext cx="914400" cy="219456"/>
          </a:xfrm>
          <a:prstGeom prst="rect">
            <a:avLst/>
          </a:prstGeom>
          <a:noFill/>
        </p:spPr>
        <p:txBody>
          <a:bodyPr wrap="square"/>
          <a:lstStyle/>
          <a:p>
            <a:pPr algn="l"/>
            <a:r>
              <a:rPr sz="800" b="0" i="0">
                <a:solidFill>
                  <a:srgbClr val="16A34A"/>
                </a:solidFill>
                <a:latin typeface="Calibri"/>
              </a:rPr>
              <a:t>46+ reviews</a:t>
            </a:r>
          </a:p>
        </p:txBody>
      </p:sp>
      <p:sp>
        <p:nvSpPr>
          <p:cNvPr id="59" name="TextBox 58"/>
          <p:cNvSpPr txBox="1"/>
          <p:nvPr/>
        </p:nvSpPr>
        <p:spPr>
          <a:xfrm>
            <a:off x="8193024" y="2587751"/>
            <a:ext cx="822960" cy="201168"/>
          </a:xfrm>
          <a:prstGeom prst="rect">
            <a:avLst/>
          </a:prstGeom>
          <a:noFill/>
        </p:spPr>
        <p:txBody>
          <a:bodyPr wrap="square"/>
          <a:lstStyle/>
          <a:p>
            <a:pPr algn="l"/>
            <a:r>
              <a:rPr sz="600" b="0" i="0">
                <a:solidFill>
                  <a:srgbClr val="64748B"/>
                </a:solidFill>
                <a:latin typeface="Calibri"/>
              </a:rPr>
              <a:t>Criminal defense lead</a:t>
            </a:r>
          </a:p>
        </p:txBody>
      </p:sp>
      <p:sp>
        <p:nvSpPr>
          <p:cNvPr id="60" name="Rectangle 59"/>
          <p:cNvSpPr/>
          <p:nvPr/>
        </p:nvSpPr>
        <p:spPr>
          <a:xfrm>
            <a:off x="5257800" y="2871216"/>
            <a:ext cx="3886200" cy="310896"/>
          </a:xfrm>
          <a:prstGeom prst="rect">
            <a:avLst/>
          </a:prstGeom>
          <a:solidFill>
            <a:srgbClr val="F0F4FA"/>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5413248" y="2916936"/>
            <a:ext cx="1828800" cy="219456"/>
          </a:xfrm>
          <a:prstGeom prst="rect">
            <a:avLst/>
          </a:prstGeom>
          <a:noFill/>
        </p:spPr>
        <p:txBody>
          <a:bodyPr wrap="square"/>
          <a:lstStyle/>
          <a:p>
            <a:pPr algn="l"/>
            <a:r>
              <a:rPr sz="800" b="0" i="0">
                <a:solidFill>
                  <a:srgbClr val="1E293B"/>
                </a:solidFill>
                <a:latin typeface="Calibri"/>
              </a:rPr>
              <a:t>Stephen Bilkis &amp; Assoc.</a:t>
            </a:r>
          </a:p>
        </p:txBody>
      </p:sp>
      <p:sp>
        <p:nvSpPr>
          <p:cNvPr id="62" name="TextBox 61"/>
          <p:cNvSpPr txBox="1"/>
          <p:nvPr/>
        </p:nvSpPr>
        <p:spPr>
          <a:xfrm>
            <a:off x="7260336" y="2916936"/>
            <a:ext cx="914400" cy="219456"/>
          </a:xfrm>
          <a:prstGeom prst="rect">
            <a:avLst/>
          </a:prstGeom>
          <a:noFill/>
        </p:spPr>
        <p:txBody>
          <a:bodyPr wrap="square"/>
          <a:lstStyle/>
          <a:p>
            <a:pPr algn="l"/>
            <a:r>
              <a:rPr sz="800" b="0" i="0">
                <a:solidFill>
                  <a:srgbClr val="16A34A"/>
                </a:solidFill>
                <a:latin typeface="Calibri"/>
              </a:rPr>
              <a:t>9 reviews</a:t>
            </a:r>
          </a:p>
        </p:txBody>
      </p:sp>
      <p:sp>
        <p:nvSpPr>
          <p:cNvPr id="63" name="TextBox 62"/>
          <p:cNvSpPr txBox="1"/>
          <p:nvPr/>
        </p:nvSpPr>
        <p:spPr>
          <a:xfrm>
            <a:off x="8193024" y="2935224"/>
            <a:ext cx="822960" cy="201168"/>
          </a:xfrm>
          <a:prstGeom prst="rect">
            <a:avLst/>
          </a:prstGeom>
          <a:noFill/>
        </p:spPr>
        <p:txBody>
          <a:bodyPr wrap="square"/>
          <a:lstStyle/>
          <a:p>
            <a:pPr algn="l"/>
            <a:r>
              <a:rPr sz="600" b="0" i="0">
                <a:solidFill>
                  <a:srgbClr val="64748B"/>
                </a:solidFill>
                <a:latin typeface="Calibri"/>
              </a:rPr>
              <a:t>Has geo-pages, we don't</a:t>
            </a:r>
          </a:p>
        </p:txBody>
      </p:sp>
      <p:sp>
        <p:nvSpPr>
          <p:cNvPr id="64" name="Rectangle 63"/>
          <p:cNvSpPr/>
          <p:nvPr/>
        </p:nvSpPr>
        <p:spPr>
          <a:xfrm>
            <a:off x="5257800" y="3218688"/>
            <a:ext cx="3886200" cy="310896"/>
          </a:xfrm>
          <a:prstGeom prst="rect">
            <a:avLst/>
          </a:prstGeom>
          <a:solidFill>
            <a:srgbClr val="FFF0F0"/>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Rectangle 64"/>
          <p:cNvSpPr/>
          <p:nvPr/>
        </p:nvSpPr>
        <p:spPr>
          <a:xfrm>
            <a:off x="5257800" y="3218688"/>
            <a:ext cx="91440" cy="310896"/>
          </a:xfrm>
          <a:prstGeom prst="rect">
            <a:avLst/>
          </a:prstGeom>
          <a:solidFill>
            <a:srgbClr val="C0392B"/>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TextBox 65"/>
          <p:cNvSpPr txBox="1"/>
          <p:nvPr/>
        </p:nvSpPr>
        <p:spPr>
          <a:xfrm>
            <a:off x="5413248" y="3264408"/>
            <a:ext cx="1828800" cy="219456"/>
          </a:xfrm>
          <a:prstGeom prst="rect">
            <a:avLst/>
          </a:prstGeom>
          <a:noFill/>
        </p:spPr>
        <p:txBody>
          <a:bodyPr wrap="square"/>
          <a:lstStyle/>
          <a:p>
            <a:pPr algn="l"/>
            <a:r>
              <a:rPr sz="900" b="1" i="0">
                <a:solidFill>
                  <a:srgbClr val="C0392B"/>
                </a:solidFill>
                <a:latin typeface="Calibri"/>
              </a:rPr>
              <a:t>H. Benjamin Perez &amp; Associates, P.C.</a:t>
            </a:r>
          </a:p>
        </p:txBody>
      </p:sp>
      <p:sp>
        <p:nvSpPr>
          <p:cNvPr id="67" name="TextBox 66"/>
          <p:cNvSpPr txBox="1"/>
          <p:nvPr/>
        </p:nvSpPr>
        <p:spPr>
          <a:xfrm>
            <a:off x="7260336" y="3264408"/>
            <a:ext cx="914400" cy="219456"/>
          </a:xfrm>
          <a:prstGeom prst="rect">
            <a:avLst/>
          </a:prstGeom>
          <a:noFill/>
        </p:spPr>
        <p:txBody>
          <a:bodyPr wrap="square"/>
          <a:lstStyle/>
          <a:p>
            <a:pPr algn="l"/>
            <a:r>
              <a:rPr sz="800" b="1" i="0">
                <a:solidFill>
                  <a:srgbClr val="C0392B"/>
                </a:solidFill>
                <a:latin typeface="Calibri"/>
              </a:rPr>
              <a:t>30 reviews</a:t>
            </a:r>
          </a:p>
        </p:txBody>
      </p:sp>
      <p:sp>
        <p:nvSpPr>
          <p:cNvPr id="68" name="TextBox 67"/>
          <p:cNvSpPr txBox="1"/>
          <p:nvPr/>
        </p:nvSpPr>
        <p:spPr>
          <a:xfrm>
            <a:off x="8193024" y="3282696"/>
            <a:ext cx="822960" cy="201168"/>
          </a:xfrm>
          <a:prstGeom prst="rect">
            <a:avLst/>
          </a:prstGeom>
          <a:noFill/>
        </p:spPr>
        <p:txBody>
          <a:bodyPr wrap="square"/>
          <a:lstStyle/>
          <a:p>
            <a:pPr algn="l"/>
            <a:r>
              <a:rPr sz="600" b="0" i="0">
                <a:solidFill>
                  <a:srgbClr val="64748B"/>
                </a:solidFill>
                <a:latin typeface="Calibri"/>
              </a:rPr>
              <a:t>← You are here</a:t>
            </a:r>
          </a:p>
        </p:txBody>
      </p:sp>
      <p:sp>
        <p:nvSpPr>
          <p:cNvPr id="69" name="Rectangle 68"/>
          <p:cNvSpPr/>
          <p:nvPr/>
        </p:nvSpPr>
        <p:spPr>
          <a:xfrm>
            <a:off x="0" y="4828032"/>
            <a:ext cx="9144000" cy="320040"/>
          </a:xfrm>
          <a:prstGeom prst="rect">
            <a:avLst/>
          </a:prstGeom>
          <a:solidFill>
            <a:srgbClr val="0D1F3C"/>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TextBox 69"/>
          <p:cNvSpPr txBox="1"/>
          <p:nvPr/>
        </p:nvSpPr>
        <p:spPr>
          <a:xfrm>
            <a:off x="1609344" y="4837176"/>
            <a:ext cx="5303520" cy="274320"/>
          </a:xfrm>
          <a:prstGeom prst="rect">
            <a:avLst/>
          </a:prstGeom>
          <a:noFill/>
        </p:spPr>
        <p:txBody>
          <a:bodyPr wrap="square"/>
          <a:lstStyle/>
          <a:p>
            <a:pPr algn="l"/>
            <a:r>
              <a:rPr sz="800" b="0" i="0">
                <a:solidFill>
                  <a:srgbClr val="5A7A9A"/>
                </a:solidFill>
                <a:latin typeface="Calibri"/>
              </a:rPr>
              <a:t>CONFIDENTIAL  ·  Prepared by Jacob Meissner | SMB Team</a:t>
            </a:r>
          </a:p>
        </p:txBody>
      </p:sp>
      <p:sp>
        <p:nvSpPr>
          <p:cNvPr id="71" name="TextBox 70"/>
          <p:cNvSpPr txBox="1"/>
          <p:nvPr/>
        </p:nvSpPr>
        <p:spPr>
          <a:xfrm>
            <a:off x="8138160" y="4837176"/>
            <a:ext cx="786384" cy="274320"/>
          </a:xfrm>
          <a:prstGeom prst="rect">
            <a:avLst/>
          </a:prstGeom>
          <a:noFill/>
        </p:spPr>
        <p:txBody>
          <a:bodyPr wrap="square"/>
          <a:lstStyle/>
          <a:p>
            <a:pPr algn="r"/>
            <a:r>
              <a:rPr sz="800" b="0" i="0">
                <a:solidFill>
                  <a:srgbClr val="5A7A9A"/>
                </a:solidFill>
                <a:latin typeface="Calibri"/>
              </a:rPr>
              <a:t>1 / 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960120"/>
          </a:xfrm>
          <a:prstGeom prst="rect">
            <a:avLst/>
          </a:prstGeom>
          <a:solidFill>
            <a:srgbClr val="0D1F3C"/>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92608" y="91440"/>
            <a:ext cx="8595360" cy="201168"/>
          </a:xfrm>
          <a:prstGeom prst="rect">
            <a:avLst/>
          </a:prstGeom>
          <a:noFill/>
        </p:spPr>
        <p:txBody>
          <a:bodyPr wrap="square"/>
          <a:lstStyle/>
          <a:p>
            <a:pPr algn="l"/>
            <a:r>
              <a:rPr sz="800" b="1" i="0">
                <a:solidFill>
                  <a:srgbClr val="F5C400"/>
                </a:solidFill>
                <a:latin typeface="Calibri"/>
              </a:rPr>
              <a:t>LAW FIRM GROWTH AUDIT  ·  H. BENJAMIN PEREZ &amp; ASSOCIATES, P.C.</a:t>
            </a:r>
          </a:p>
        </p:txBody>
      </p:sp>
      <p:sp>
        <p:nvSpPr>
          <p:cNvPr id="4" name="TextBox 3"/>
          <p:cNvSpPr txBox="1"/>
          <p:nvPr/>
        </p:nvSpPr>
        <p:spPr>
          <a:xfrm>
            <a:off x="292608" y="310896"/>
            <a:ext cx="8595360" cy="548640"/>
          </a:xfrm>
          <a:prstGeom prst="rect">
            <a:avLst/>
          </a:prstGeom>
          <a:noFill/>
        </p:spPr>
        <p:txBody>
          <a:bodyPr wrap="square"/>
          <a:lstStyle/>
          <a:p>
            <a:pPr algn="l"/>
            <a:r>
              <a:rPr sz="2200" b="1" i="0">
                <a:solidFill>
                  <a:srgbClr val="FFFFFF"/>
                </a:solidFill>
                <a:latin typeface="Calibri"/>
              </a:rPr>
              <a:t>Your Growth Plan: 3 Priorities to Reach 3x Growth</a:t>
            </a:r>
          </a:p>
        </p:txBody>
      </p:sp>
      <p:sp>
        <p:nvSpPr>
          <p:cNvPr id="5" name="Rectangle 4"/>
          <p:cNvSpPr/>
          <p:nvPr/>
        </p:nvSpPr>
        <p:spPr>
          <a:xfrm>
            <a:off x="182880" y="1024128"/>
            <a:ext cx="2487168" cy="3639312"/>
          </a:xfrm>
          <a:prstGeom prst="rect">
            <a:avLst/>
          </a:prstGeom>
          <a:solidFill>
            <a:srgbClr val="0D1F3C"/>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182880" y="1042415"/>
            <a:ext cx="2487168" cy="18288"/>
          </a:xfrm>
          <a:prstGeom prst="rect">
            <a:avLst/>
          </a:prstGeom>
          <a:solidFill>
            <a:srgbClr val="F5C400"/>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92608" y="1097280"/>
            <a:ext cx="2267712" cy="201168"/>
          </a:xfrm>
          <a:prstGeom prst="rect">
            <a:avLst/>
          </a:prstGeom>
          <a:noFill/>
        </p:spPr>
        <p:txBody>
          <a:bodyPr wrap="square"/>
          <a:lstStyle/>
          <a:p>
            <a:pPr algn="l"/>
            <a:r>
              <a:rPr sz="800" b="1" i="0">
                <a:solidFill>
                  <a:srgbClr val="F5C400"/>
                </a:solidFill>
                <a:latin typeface="Calibri"/>
              </a:rPr>
              <a:t>THE SMB TEAM MODEL</a:t>
            </a:r>
          </a:p>
        </p:txBody>
      </p:sp>
      <p:sp>
        <p:nvSpPr>
          <p:cNvPr id="8" name="TextBox 7"/>
          <p:cNvSpPr txBox="1"/>
          <p:nvPr/>
        </p:nvSpPr>
        <p:spPr>
          <a:xfrm>
            <a:off x="292608" y="1335024"/>
            <a:ext cx="2267712" cy="1572768"/>
          </a:xfrm>
          <a:prstGeom prst="rect">
            <a:avLst/>
          </a:prstGeom>
          <a:noFill/>
        </p:spPr>
        <p:txBody>
          <a:bodyPr wrap="square"/>
          <a:lstStyle/>
          <a:p>
            <a:pPr algn="l"/>
            <a:r>
              <a:rPr sz="900" b="0" i="0">
                <a:solidFill>
                  <a:srgbClr val="A8BFDA"/>
                </a:solidFill>
                <a:latin typeface="Calibri"/>
              </a:rPr>
              <a:t>All four pillars — lead generation, intake, team, and profit — have to work together, or growth stalls no matter how much you spend. When intake and casework run without needing Hector's hand on every step, the firm can finally grow toward 3x without everyone working three times as hard.</a:t>
            </a:r>
          </a:p>
        </p:txBody>
      </p:sp>
      <p:sp>
        <p:nvSpPr>
          <p:cNvPr id="9" name="Rectangle 8"/>
          <p:cNvSpPr/>
          <p:nvPr/>
        </p:nvSpPr>
        <p:spPr>
          <a:xfrm>
            <a:off x="182880" y="2999232"/>
            <a:ext cx="2487168" cy="749808"/>
          </a:xfrm>
          <a:prstGeom prst="rect">
            <a:avLst/>
          </a:prstGeom>
          <a:solidFill>
            <a:srgbClr val="F5C400"/>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92608" y="3017520"/>
            <a:ext cx="2286000" cy="274320"/>
          </a:xfrm>
          <a:prstGeom prst="rect">
            <a:avLst/>
          </a:prstGeom>
          <a:noFill/>
        </p:spPr>
        <p:txBody>
          <a:bodyPr wrap="square"/>
          <a:lstStyle/>
          <a:p>
            <a:pPr algn="l"/>
            <a:r>
              <a:rPr sz="1200" b="1" i="0">
                <a:solidFill>
                  <a:srgbClr val="0D1F3C"/>
                </a:solidFill>
                <a:latin typeface="Calibri"/>
              </a:rPr>
              <a:t>Goal: 3x revenue in 1 year</a:t>
            </a:r>
          </a:p>
        </p:txBody>
      </p:sp>
      <p:sp>
        <p:nvSpPr>
          <p:cNvPr id="11" name="TextBox 10"/>
          <p:cNvSpPr txBox="1"/>
          <p:nvPr/>
        </p:nvSpPr>
        <p:spPr>
          <a:xfrm>
            <a:off x="292608" y="3291840"/>
            <a:ext cx="2286000" cy="402336"/>
          </a:xfrm>
          <a:prstGeom prst="rect">
            <a:avLst/>
          </a:prstGeom>
          <a:noFill/>
        </p:spPr>
        <p:txBody>
          <a:bodyPr wrap="square"/>
          <a:lstStyle/>
          <a:p>
            <a:pPr algn="l"/>
            <a:r>
              <a:rPr sz="900" b="0" i="0">
                <a:solidFill>
                  <a:srgbClr val="0D1F3C"/>
                </a:solidFill>
                <a:latin typeface="Calibri"/>
              </a:rPr>
              <a:t>Hector stops being the bottleneck</a:t>
            </a:r>
          </a:p>
        </p:txBody>
      </p:sp>
      <p:sp>
        <p:nvSpPr>
          <p:cNvPr id="12" name="Rectangle 11"/>
          <p:cNvSpPr/>
          <p:nvPr/>
        </p:nvSpPr>
        <p:spPr>
          <a:xfrm>
            <a:off x="2816352" y="1024128"/>
            <a:ext cx="2048256" cy="841248"/>
          </a:xfrm>
          <a:prstGeom prst="rect">
            <a:avLst/>
          </a:prstGeom>
          <a:solidFill>
            <a:srgbClr val="1D4ED8"/>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926080" y="1042415"/>
            <a:ext cx="457200" cy="274320"/>
          </a:xfrm>
          <a:prstGeom prst="rect">
            <a:avLst/>
          </a:prstGeom>
          <a:noFill/>
        </p:spPr>
        <p:txBody>
          <a:bodyPr wrap="square"/>
          <a:lstStyle/>
          <a:p>
            <a:pPr algn="l"/>
            <a:r>
              <a:rPr sz="1000" b="1" i="0">
                <a:solidFill>
                  <a:srgbClr val="FFFFFF"/>
                </a:solidFill>
                <a:latin typeface="Calibri"/>
              </a:rPr>
              <a:t>01</a:t>
            </a:r>
          </a:p>
        </p:txBody>
      </p:sp>
      <p:sp>
        <p:nvSpPr>
          <p:cNvPr id="14" name="TextBox 13"/>
          <p:cNvSpPr txBox="1"/>
          <p:nvPr/>
        </p:nvSpPr>
        <p:spPr>
          <a:xfrm>
            <a:off x="2926080" y="1316736"/>
            <a:ext cx="1865376" cy="256032"/>
          </a:xfrm>
          <a:prstGeom prst="rect">
            <a:avLst/>
          </a:prstGeom>
          <a:noFill/>
        </p:spPr>
        <p:txBody>
          <a:bodyPr wrap="square"/>
          <a:lstStyle/>
          <a:p>
            <a:pPr algn="l"/>
            <a:r>
              <a:rPr sz="1200" b="1" i="0">
                <a:solidFill>
                  <a:srgbClr val="FFFFFF"/>
                </a:solidFill>
                <a:latin typeface="Calibri"/>
              </a:rPr>
              <a:t>Build the</a:t>
            </a:r>
          </a:p>
        </p:txBody>
      </p:sp>
      <p:sp>
        <p:nvSpPr>
          <p:cNvPr id="15" name="TextBox 14"/>
          <p:cNvSpPr txBox="1"/>
          <p:nvPr/>
        </p:nvSpPr>
        <p:spPr>
          <a:xfrm>
            <a:off x="2926080" y="1554480"/>
            <a:ext cx="1865376" cy="256032"/>
          </a:xfrm>
          <a:prstGeom prst="rect">
            <a:avLst/>
          </a:prstGeom>
          <a:noFill/>
        </p:spPr>
        <p:txBody>
          <a:bodyPr wrap="square"/>
          <a:lstStyle/>
          <a:p>
            <a:pPr algn="l"/>
            <a:r>
              <a:rPr sz="1200" b="1" i="0">
                <a:solidFill>
                  <a:srgbClr val="FFFFFF"/>
                </a:solidFill>
                <a:latin typeface="Calibri"/>
              </a:rPr>
              <a:t>Marketing Engine</a:t>
            </a:r>
          </a:p>
        </p:txBody>
      </p:sp>
      <p:sp>
        <p:nvSpPr>
          <p:cNvPr id="16" name="Rectangle 15"/>
          <p:cNvSpPr/>
          <p:nvPr/>
        </p:nvSpPr>
        <p:spPr>
          <a:xfrm>
            <a:off x="2816352" y="1865376"/>
            <a:ext cx="2048256" cy="566928"/>
          </a:xfrm>
          <a:prstGeom prst="rect">
            <a:avLst/>
          </a:prstGeom>
          <a:solidFill>
            <a:srgbClr val="EFF6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2907792" y="2084832"/>
            <a:ext cx="91440" cy="91440"/>
          </a:xfrm>
          <a:prstGeom prst="rect">
            <a:avLst/>
          </a:prstGeom>
          <a:solidFill>
            <a:srgbClr val="1D4ED8"/>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054096" y="1920240"/>
            <a:ext cx="1755648" cy="475488"/>
          </a:xfrm>
          <a:prstGeom prst="rect">
            <a:avLst/>
          </a:prstGeom>
          <a:noFill/>
        </p:spPr>
        <p:txBody>
          <a:bodyPr wrap="square"/>
          <a:lstStyle/>
          <a:p>
            <a:pPr algn="l"/>
            <a:r>
              <a:rPr sz="800" b="0" i="0">
                <a:solidFill>
                  <a:srgbClr val="1E293B"/>
                </a:solidFill>
                <a:latin typeface="Calibri"/>
              </a:rPr>
              <a:t>Reclaim visibility competitors already have</a:t>
            </a:r>
          </a:p>
        </p:txBody>
      </p:sp>
      <p:sp>
        <p:nvSpPr>
          <p:cNvPr id="19" name="Rectangle 18"/>
          <p:cNvSpPr/>
          <p:nvPr/>
        </p:nvSpPr>
        <p:spPr>
          <a:xfrm>
            <a:off x="2816352" y="2468880"/>
            <a:ext cx="2048256" cy="566928"/>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2907792" y="2688336"/>
            <a:ext cx="91440" cy="91440"/>
          </a:xfrm>
          <a:prstGeom prst="rect">
            <a:avLst/>
          </a:prstGeom>
          <a:solidFill>
            <a:srgbClr val="1D4ED8"/>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3054096" y="2523744"/>
            <a:ext cx="1755648" cy="475488"/>
          </a:xfrm>
          <a:prstGeom prst="rect">
            <a:avLst/>
          </a:prstGeom>
          <a:noFill/>
        </p:spPr>
        <p:txBody>
          <a:bodyPr wrap="square"/>
          <a:lstStyle/>
          <a:p>
            <a:pPr algn="l"/>
            <a:r>
              <a:rPr sz="800" b="0" i="0">
                <a:solidFill>
                  <a:srgbClr val="1E293B"/>
                </a:solidFill>
                <a:latin typeface="Calibri"/>
              </a:rPr>
              <a:t>Fix the NAP mismatch splitting local SEO</a:t>
            </a:r>
          </a:p>
        </p:txBody>
      </p:sp>
      <p:sp>
        <p:nvSpPr>
          <p:cNvPr id="22" name="Rectangle 21"/>
          <p:cNvSpPr/>
          <p:nvPr/>
        </p:nvSpPr>
        <p:spPr>
          <a:xfrm>
            <a:off x="2816352" y="3072384"/>
            <a:ext cx="2048256" cy="566928"/>
          </a:xfrm>
          <a:prstGeom prst="rect">
            <a:avLst/>
          </a:prstGeom>
          <a:solidFill>
            <a:srgbClr val="EFF6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2907792" y="3291839"/>
            <a:ext cx="91440" cy="91440"/>
          </a:xfrm>
          <a:prstGeom prst="rect">
            <a:avLst/>
          </a:prstGeom>
          <a:solidFill>
            <a:srgbClr val="1D4ED8"/>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3054096" y="3127248"/>
            <a:ext cx="1755648" cy="475488"/>
          </a:xfrm>
          <a:prstGeom prst="rect">
            <a:avLst/>
          </a:prstGeom>
          <a:noFill/>
        </p:spPr>
        <p:txBody>
          <a:bodyPr wrap="square"/>
          <a:lstStyle/>
          <a:p>
            <a:pPr algn="l"/>
            <a:r>
              <a:rPr sz="800" b="0" i="0">
                <a:solidFill>
                  <a:srgbClr val="1E293B"/>
                </a:solidFill>
                <a:latin typeface="Calibri"/>
              </a:rPr>
              <a:t>Restart content after 3 years dormant</a:t>
            </a:r>
          </a:p>
        </p:txBody>
      </p:sp>
      <p:sp>
        <p:nvSpPr>
          <p:cNvPr id="25" name="Rectangle 24"/>
          <p:cNvSpPr/>
          <p:nvPr/>
        </p:nvSpPr>
        <p:spPr>
          <a:xfrm>
            <a:off x="2816352" y="3675887"/>
            <a:ext cx="2048256" cy="566928"/>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2907792" y="3895344"/>
            <a:ext cx="91440" cy="91440"/>
          </a:xfrm>
          <a:prstGeom prst="rect">
            <a:avLst/>
          </a:prstGeom>
          <a:solidFill>
            <a:srgbClr val="1D4ED8"/>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3054096" y="3730751"/>
            <a:ext cx="1755648" cy="475488"/>
          </a:xfrm>
          <a:prstGeom prst="rect">
            <a:avLst/>
          </a:prstGeom>
          <a:noFill/>
        </p:spPr>
        <p:txBody>
          <a:bodyPr wrap="square"/>
          <a:lstStyle/>
          <a:p>
            <a:pPr algn="l"/>
            <a:r>
              <a:rPr sz="800" b="0" i="0">
                <a:solidFill>
                  <a:srgbClr val="1E293B"/>
                </a:solidFill>
                <a:latin typeface="Calibri"/>
              </a:rPr>
              <a:t>Build borough pages like Bilkis already has</a:t>
            </a:r>
          </a:p>
        </p:txBody>
      </p:sp>
      <p:sp>
        <p:nvSpPr>
          <p:cNvPr id="28" name="Rectangle 27"/>
          <p:cNvSpPr/>
          <p:nvPr/>
        </p:nvSpPr>
        <p:spPr>
          <a:xfrm>
            <a:off x="2816352" y="4279392"/>
            <a:ext cx="2048256" cy="566928"/>
          </a:xfrm>
          <a:prstGeom prst="rect">
            <a:avLst/>
          </a:prstGeom>
          <a:solidFill>
            <a:srgbClr val="EFF6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2907792" y="4498848"/>
            <a:ext cx="91440" cy="91440"/>
          </a:xfrm>
          <a:prstGeom prst="rect">
            <a:avLst/>
          </a:prstGeom>
          <a:solidFill>
            <a:srgbClr val="1D4ED8"/>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3054096" y="4334255"/>
            <a:ext cx="1755648" cy="475488"/>
          </a:xfrm>
          <a:prstGeom prst="rect">
            <a:avLst/>
          </a:prstGeom>
          <a:noFill/>
        </p:spPr>
        <p:txBody>
          <a:bodyPr wrap="square"/>
          <a:lstStyle/>
          <a:p>
            <a:pPr algn="l"/>
            <a:r>
              <a:rPr sz="800" b="0" i="0">
                <a:solidFill>
                  <a:srgbClr val="1E293B"/>
                </a:solidFill>
                <a:latin typeface="Calibri"/>
              </a:rPr>
              <a:t>Turn Google into a pipeline you don't run</a:t>
            </a:r>
          </a:p>
        </p:txBody>
      </p:sp>
      <p:sp>
        <p:nvSpPr>
          <p:cNvPr id="31" name="Rectangle 30"/>
          <p:cNvSpPr/>
          <p:nvPr/>
        </p:nvSpPr>
        <p:spPr>
          <a:xfrm>
            <a:off x="4937760" y="1024128"/>
            <a:ext cx="2048256" cy="841248"/>
          </a:xfrm>
          <a:prstGeom prst="rect">
            <a:avLst/>
          </a:prstGeom>
          <a:solidFill>
            <a:srgbClr val="0F766E"/>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5047488" y="1042415"/>
            <a:ext cx="457200" cy="274320"/>
          </a:xfrm>
          <a:prstGeom prst="rect">
            <a:avLst/>
          </a:prstGeom>
          <a:noFill/>
        </p:spPr>
        <p:txBody>
          <a:bodyPr wrap="square"/>
          <a:lstStyle/>
          <a:p>
            <a:pPr algn="l"/>
            <a:r>
              <a:rPr sz="1000" b="1" i="0">
                <a:solidFill>
                  <a:srgbClr val="FFFFFF"/>
                </a:solidFill>
                <a:latin typeface="Calibri"/>
              </a:rPr>
              <a:t>02</a:t>
            </a:r>
          </a:p>
        </p:txBody>
      </p:sp>
      <p:sp>
        <p:nvSpPr>
          <p:cNvPr id="33" name="TextBox 32"/>
          <p:cNvSpPr txBox="1"/>
          <p:nvPr/>
        </p:nvSpPr>
        <p:spPr>
          <a:xfrm>
            <a:off x="5047488" y="1316736"/>
            <a:ext cx="1865376" cy="256032"/>
          </a:xfrm>
          <a:prstGeom prst="rect">
            <a:avLst/>
          </a:prstGeom>
          <a:noFill/>
        </p:spPr>
        <p:txBody>
          <a:bodyPr wrap="square"/>
          <a:lstStyle/>
          <a:p>
            <a:pPr algn="l"/>
            <a:r>
              <a:rPr sz="1200" b="1" i="0">
                <a:solidFill>
                  <a:srgbClr val="FFFFFF"/>
                </a:solidFill>
                <a:latin typeface="Calibri"/>
              </a:rPr>
              <a:t>Fix Intake &amp;</a:t>
            </a:r>
          </a:p>
        </p:txBody>
      </p:sp>
      <p:sp>
        <p:nvSpPr>
          <p:cNvPr id="34" name="TextBox 33"/>
          <p:cNvSpPr txBox="1"/>
          <p:nvPr/>
        </p:nvSpPr>
        <p:spPr>
          <a:xfrm>
            <a:off x="5047488" y="1554480"/>
            <a:ext cx="1865376" cy="256032"/>
          </a:xfrm>
          <a:prstGeom prst="rect">
            <a:avLst/>
          </a:prstGeom>
          <a:noFill/>
        </p:spPr>
        <p:txBody>
          <a:bodyPr wrap="square"/>
          <a:lstStyle/>
          <a:p>
            <a:pPr algn="l"/>
            <a:r>
              <a:rPr sz="1200" b="1" i="0">
                <a:solidFill>
                  <a:srgbClr val="FFFFFF"/>
                </a:solidFill>
                <a:latin typeface="Calibri"/>
              </a:rPr>
              <a:t>Stop Losing Cases</a:t>
            </a:r>
          </a:p>
        </p:txBody>
      </p:sp>
      <p:sp>
        <p:nvSpPr>
          <p:cNvPr id="35" name="Rectangle 34"/>
          <p:cNvSpPr/>
          <p:nvPr/>
        </p:nvSpPr>
        <p:spPr>
          <a:xfrm>
            <a:off x="4937760" y="1865376"/>
            <a:ext cx="2048256" cy="566928"/>
          </a:xfrm>
          <a:prstGeom prst="rect">
            <a:avLst/>
          </a:prstGeom>
          <a:solidFill>
            <a:srgbClr val="F0FDFA"/>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5029200" y="2084832"/>
            <a:ext cx="91440" cy="91440"/>
          </a:xfrm>
          <a:prstGeom prst="rect">
            <a:avLst/>
          </a:prstGeom>
          <a:solidFill>
            <a:srgbClr val="0F766E"/>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5175504" y="1920240"/>
            <a:ext cx="1755648" cy="475488"/>
          </a:xfrm>
          <a:prstGeom prst="rect">
            <a:avLst/>
          </a:prstGeom>
          <a:noFill/>
        </p:spPr>
        <p:txBody>
          <a:bodyPr wrap="square"/>
          <a:lstStyle/>
          <a:p>
            <a:pPr algn="l"/>
            <a:r>
              <a:rPr sz="800" b="0" i="0">
                <a:solidFill>
                  <a:srgbClr val="1E293B"/>
                </a:solidFill>
                <a:latin typeface="Calibri"/>
              </a:rPr>
              <a:t>Deploy AI coverage for after-hours calls</a:t>
            </a:r>
          </a:p>
        </p:txBody>
      </p:sp>
      <p:sp>
        <p:nvSpPr>
          <p:cNvPr id="38" name="Rectangle 37"/>
          <p:cNvSpPr/>
          <p:nvPr/>
        </p:nvSpPr>
        <p:spPr>
          <a:xfrm>
            <a:off x="4937760" y="2468880"/>
            <a:ext cx="2048256" cy="566928"/>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5029200" y="2688336"/>
            <a:ext cx="91440" cy="91440"/>
          </a:xfrm>
          <a:prstGeom prst="rect">
            <a:avLst/>
          </a:prstGeom>
          <a:solidFill>
            <a:srgbClr val="0F766E"/>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5175504" y="2523744"/>
            <a:ext cx="1755648" cy="475488"/>
          </a:xfrm>
          <a:prstGeom prst="rect">
            <a:avLst/>
          </a:prstGeom>
          <a:noFill/>
        </p:spPr>
        <p:txBody>
          <a:bodyPr wrap="square"/>
          <a:lstStyle/>
          <a:p>
            <a:pPr algn="l"/>
            <a:r>
              <a:rPr sz="800" b="0" i="0">
                <a:solidFill>
                  <a:srgbClr val="1E293B"/>
                </a:solidFill>
                <a:latin typeface="Calibri"/>
              </a:rPr>
              <a:t>Automate 27 of 39 manual probate steps</a:t>
            </a:r>
          </a:p>
        </p:txBody>
      </p:sp>
      <p:sp>
        <p:nvSpPr>
          <p:cNvPr id="41" name="Rectangle 40"/>
          <p:cNvSpPr/>
          <p:nvPr/>
        </p:nvSpPr>
        <p:spPr>
          <a:xfrm>
            <a:off x="4937760" y="3072384"/>
            <a:ext cx="2048256" cy="566928"/>
          </a:xfrm>
          <a:prstGeom prst="rect">
            <a:avLst/>
          </a:prstGeom>
          <a:solidFill>
            <a:srgbClr val="F0FDFA"/>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5029200" y="3291839"/>
            <a:ext cx="91440" cy="91440"/>
          </a:xfrm>
          <a:prstGeom prst="rect">
            <a:avLst/>
          </a:prstGeom>
          <a:solidFill>
            <a:srgbClr val="0F766E"/>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5175504" y="3127248"/>
            <a:ext cx="1755648" cy="475488"/>
          </a:xfrm>
          <a:prstGeom prst="rect">
            <a:avLst/>
          </a:prstGeom>
          <a:noFill/>
        </p:spPr>
        <p:txBody>
          <a:bodyPr wrap="square"/>
          <a:lstStyle/>
          <a:p>
            <a:pPr algn="l"/>
            <a:r>
              <a:rPr sz="800" b="0" i="0">
                <a:solidFill>
                  <a:srgbClr val="1E293B"/>
                </a:solidFill>
                <a:latin typeface="Calibri"/>
              </a:rPr>
              <a:t>Sync intake data into Clio automatically</a:t>
            </a:r>
          </a:p>
        </p:txBody>
      </p:sp>
      <p:sp>
        <p:nvSpPr>
          <p:cNvPr id="44" name="Rectangle 43"/>
          <p:cNvSpPr/>
          <p:nvPr/>
        </p:nvSpPr>
        <p:spPr>
          <a:xfrm>
            <a:off x="4937760" y="3675887"/>
            <a:ext cx="2048256" cy="566928"/>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5029200" y="3895344"/>
            <a:ext cx="91440" cy="91440"/>
          </a:xfrm>
          <a:prstGeom prst="rect">
            <a:avLst/>
          </a:prstGeom>
          <a:solidFill>
            <a:srgbClr val="0F766E"/>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5175504" y="3730751"/>
            <a:ext cx="1755648" cy="475488"/>
          </a:xfrm>
          <a:prstGeom prst="rect">
            <a:avLst/>
          </a:prstGeom>
          <a:noFill/>
        </p:spPr>
        <p:txBody>
          <a:bodyPr wrap="square"/>
          <a:lstStyle/>
          <a:p>
            <a:pPr algn="l"/>
            <a:r>
              <a:rPr sz="800" b="0" i="0">
                <a:solidFill>
                  <a:srgbClr val="1E293B"/>
                </a:solidFill>
                <a:latin typeface="Calibri"/>
              </a:rPr>
              <a:t>Free the team from repetitive case prep</a:t>
            </a:r>
          </a:p>
        </p:txBody>
      </p:sp>
      <p:sp>
        <p:nvSpPr>
          <p:cNvPr id="47" name="Rectangle 46"/>
          <p:cNvSpPr/>
          <p:nvPr/>
        </p:nvSpPr>
        <p:spPr>
          <a:xfrm>
            <a:off x="4937760" y="4279392"/>
            <a:ext cx="2048256" cy="566928"/>
          </a:xfrm>
          <a:prstGeom prst="rect">
            <a:avLst/>
          </a:prstGeom>
          <a:solidFill>
            <a:srgbClr val="F0FDFA"/>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ectangle 47"/>
          <p:cNvSpPr/>
          <p:nvPr/>
        </p:nvSpPr>
        <p:spPr>
          <a:xfrm>
            <a:off x="5029200" y="4498848"/>
            <a:ext cx="91440" cy="91440"/>
          </a:xfrm>
          <a:prstGeom prst="rect">
            <a:avLst/>
          </a:prstGeom>
          <a:solidFill>
            <a:srgbClr val="0F766E"/>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5175504" y="4334255"/>
            <a:ext cx="1755648" cy="475488"/>
          </a:xfrm>
          <a:prstGeom prst="rect">
            <a:avLst/>
          </a:prstGeom>
          <a:noFill/>
        </p:spPr>
        <p:txBody>
          <a:bodyPr wrap="square"/>
          <a:lstStyle/>
          <a:p>
            <a:pPr algn="l"/>
            <a:r>
              <a:rPr sz="800" b="0" i="0">
                <a:solidFill>
                  <a:srgbClr val="1E293B"/>
                </a:solidFill>
                <a:latin typeface="Calibri"/>
              </a:rPr>
              <a:t>Turn manual intake into a system that runs itself</a:t>
            </a:r>
          </a:p>
        </p:txBody>
      </p:sp>
      <p:sp>
        <p:nvSpPr>
          <p:cNvPr id="50" name="Rectangle 49"/>
          <p:cNvSpPr/>
          <p:nvPr/>
        </p:nvSpPr>
        <p:spPr>
          <a:xfrm>
            <a:off x="7059168" y="1024128"/>
            <a:ext cx="2048256" cy="841248"/>
          </a:xfrm>
          <a:prstGeom prst="rect">
            <a:avLst/>
          </a:prstGeom>
          <a:solidFill>
            <a:srgbClr val="6D28D9"/>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7168896" y="1042415"/>
            <a:ext cx="457200" cy="274320"/>
          </a:xfrm>
          <a:prstGeom prst="rect">
            <a:avLst/>
          </a:prstGeom>
          <a:noFill/>
        </p:spPr>
        <p:txBody>
          <a:bodyPr wrap="square"/>
          <a:lstStyle/>
          <a:p>
            <a:pPr algn="l"/>
            <a:r>
              <a:rPr sz="1000" b="1" i="0">
                <a:solidFill>
                  <a:srgbClr val="FFFFFF"/>
                </a:solidFill>
                <a:latin typeface="Calibri"/>
              </a:rPr>
              <a:t>03</a:t>
            </a:r>
          </a:p>
        </p:txBody>
      </p:sp>
      <p:sp>
        <p:nvSpPr>
          <p:cNvPr id="52" name="TextBox 51"/>
          <p:cNvSpPr txBox="1"/>
          <p:nvPr/>
        </p:nvSpPr>
        <p:spPr>
          <a:xfrm>
            <a:off x="7168896" y="1316736"/>
            <a:ext cx="1865376" cy="256032"/>
          </a:xfrm>
          <a:prstGeom prst="rect">
            <a:avLst/>
          </a:prstGeom>
          <a:noFill/>
        </p:spPr>
        <p:txBody>
          <a:bodyPr wrap="square"/>
          <a:lstStyle/>
          <a:p>
            <a:pPr algn="l"/>
            <a:r>
              <a:rPr sz="1200" b="1" i="0">
                <a:solidFill>
                  <a:srgbClr val="FFFFFF"/>
                </a:solidFill>
                <a:latin typeface="Calibri"/>
              </a:rPr>
              <a:t>Install Team &amp;</a:t>
            </a:r>
          </a:p>
        </p:txBody>
      </p:sp>
      <p:sp>
        <p:nvSpPr>
          <p:cNvPr id="53" name="TextBox 52"/>
          <p:cNvSpPr txBox="1"/>
          <p:nvPr/>
        </p:nvSpPr>
        <p:spPr>
          <a:xfrm>
            <a:off x="7168896" y="1554480"/>
            <a:ext cx="1865376" cy="256032"/>
          </a:xfrm>
          <a:prstGeom prst="rect">
            <a:avLst/>
          </a:prstGeom>
          <a:noFill/>
        </p:spPr>
        <p:txBody>
          <a:bodyPr wrap="square"/>
          <a:lstStyle/>
          <a:p>
            <a:pPr algn="l"/>
            <a:r>
              <a:rPr sz="1200" b="1" i="0">
                <a:solidFill>
                  <a:srgbClr val="FFFFFF"/>
                </a:solidFill>
                <a:latin typeface="Calibri"/>
              </a:rPr>
              <a:t>Profit Systems</a:t>
            </a:r>
          </a:p>
        </p:txBody>
      </p:sp>
      <p:sp>
        <p:nvSpPr>
          <p:cNvPr id="54" name="Rectangle 53"/>
          <p:cNvSpPr/>
          <p:nvPr/>
        </p:nvSpPr>
        <p:spPr>
          <a:xfrm>
            <a:off x="7059168" y="1865376"/>
            <a:ext cx="2048256" cy="566928"/>
          </a:xfrm>
          <a:prstGeom prst="rect">
            <a:avLst/>
          </a:prstGeom>
          <a:solidFill>
            <a:srgbClr val="F5F3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Rectangle 54"/>
          <p:cNvSpPr/>
          <p:nvPr/>
        </p:nvSpPr>
        <p:spPr>
          <a:xfrm>
            <a:off x="7150607" y="2084832"/>
            <a:ext cx="91440" cy="91440"/>
          </a:xfrm>
          <a:prstGeom prst="rect">
            <a:avLst/>
          </a:prstGeom>
          <a:solidFill>
            <a:srgbClr val="6D28D9"/>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7296912" y="1920240"/>
            <a:ext cx="1755648" cy="475488"/>
          </a:xfrm>
          <a:prstGeom prst="rect">
            <a:avLst/>
          </a:prstGeom>
          <a:noFill/>
        </p:spPr>
        <p:txBody>
          <a:bodyPr wrap="square"/>
          <a:lstStyle/>
          <a:p>
            <a:pPr algn="l"/>
            <a:r>
              <a:rPr sz="800" b="0" i="0">
                <a:solidFill>
                  <a:srgbClr val="1E293B"/>
                </a:solidFill>
                <a:latin typeface="Calibri"/>
              </a:rPr>
              <a:t>Build a real profit plan behind the 3x goal</a:t>
            </a:r>
          </a:p>
        </p:txBody>
      </p:sp>
      <p:sp>
        <p:nvSpPr>
          <p:cNvPr id="57" name="Rectangle 56"/>
          <p:cNvSpPr/>
          <p:nvPr/>
        </p:nvSpPr>
        <p:spPr>
          <a:xfrm>
            <a:off x="7059168" y="2468880"/>
            <a:ext cx="2048256" cy="566928"/>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Rectangle 57"/>
          <p:cNvSpPr/>
          <p:nvPr/>
        </p:nvSpPr>
        <p:spPr>
          <a:xfrm>
            <a:off x="7150607" y="2688336"/>
            <a:ext cx="91440" cy="91440"/>
          </a:xfrm>
          <a:prstGeom prst="rect">
            <a:avLst/>
          </a:prstGeom>
          <a:solidFill>
            <a:srgbClr val="6D28D9"/>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7296912" y="2523744"/>
            <a:ext cx="1755648" cy="475488"/>
          </a:xfrm>
          <a:prstGeom prst="rect">
            <a:avLst/>
          </a:prstGeom>
          <a:noFill/>
        </p:spPr>
        <p:txBody>
          <a:bodyPr wrap="square"/>
          <a:lstStyle/>
          <a:p>
            <a:pPr algn="l"/>
            <a:r>
              <a:rPr sz="800" b="0" i="0">
                <a:solidFill>
                  <a:srgbClr val="1E293B"/>
                </a:solidFill>
                <a:latin typeface="Calibri"/>
              </a:rPr>
              <a:t>Track cost-per-case to know true margins</a:t>
            </a:r>
          </a:p>
        </p:txBody>
      </p:sp>
      <p:sp>
        <p:nvSpPr>
          <p:cNvPr id="60" name="Rectangle 59"/>
          <p:cNvSpPr/>
          <p:nvPr/>
        </p:nvSpPr>
        <p:spPr>
          <a:xfrm>
            <a:off x="7059168" y="3072384"/>
            <a:ext cx="2048256" cy="566928"/>
          </a:xfrm>
          <a:prstGeom prst="rect">
            <a:avLst/>
          </a:prstGeom>
          <a:solidFill>
            <a:srgbClr val="F5F3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Rectangle 60"/>
          <p:cNvSpPr/>
          <p:nvPr/>
        </p:nvSpPr>
        <p:spPr>
          <a:xfrm>
            <a:off x="7150607" y="3291839"/>
            <a:ext cx="91440" cy="91440"/>
          </a:xfrm>
          <a:prstGeom prst="rect">
            <a:avLst/>
          </a:prstGeom>
          <a:solidFill>
            <a:srgbClr val="6D28D9"/>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7296912" y="3127248"/>
            <a:ext cx="1755648" cy="475488"/>
          </a:xfrm>
          <a:prstGeom prst="rect">
            <a:avLst/>
          </a:prstGeom>
          <a:noFill/>
        </p:spPr>
        <p:txBody>
          <a:bodyPr wrap="square"/>
          <a:lstStyle/>
          <a:p>
            <a:pPr algn="l"/>
            <a:r>
              <a:rPr sz="800" b="0" i="0">
                <a:solidFill>
                  <a:srgbClr val="1E293B"/>
                </a:solidFill>
                <a:latin typeface="Calibri"/>
              </a:rPr>
              <a:t>Free Hector from being the single point of failure</a:t>
            </a:r>
          </a:p>
        </p:txBody>
      </p:sp>
      <p:sp>
        <p:nvSpPr>
          <p:cNvPr id="63" name="Rectangle 62"/>
          <p:cNvSpPr/>
          <p:nvPr/>
        </p:nvSpPr>
        <p:spPr>
          <a:xfrm>
            <a:off x="7059168" y="3675887"/>
            <a:ext cx="2048256" cy="566928"/>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Rectangle 63"/>
          <p:cNvSpPr/>
          <p:nvPr/>
        </p:nvSpPr>
        <p:spPr>
          <a:xfrm>
            <a:off x="7150607" y="3895344"/>
            <a:ext cx="91440" cy="91440"/>
          </a:xfrm>
          <a:prstGeom prst="rect">
            <a:avLst/>
          </a:prstGeom>
          <a:solidFill>
            <a:srgbClr val="6D28D9"/>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7296912" y="3730751"/>
            <a:ext cx="1755648" cy="475488"/>
          </a:xfrm>
          <a:prstGeom prst="rect">
            <a:avLst/>
          </a:prstGeom>
          <a:noFill/>
        </p:spPr>
        <p:txBody>
          <a:bodyPr wrap="square"/>
          <a:lstStyle/>
          <a:p>
            <a:pPr algn="l"/>
            <a:r>
              <a:rPr sz="800" b="0" i="0">
                <a:solidFill>
                  <a:srgbClr val="1E293B"/>
                </a:solidFill>
                <a:latin typeface="Calibri"/>
              </a:rPr>
              <a:t>Formalize systems so they outlast one person</a:t>
            </a:r>
          </a:p>
        </p:txBody>
      </p:sp>
      <p:sp>
        <p:nvSpPr>
          <p:cNvPr id="66" name="Rectangle 65"/>
          <p:cNvSpPr/>
          <p:nvPr/>
        </p:nvSpPr>
        <p:spPr>
          <a:xfrm>
            <a:off x="7059168" y="4279392"/>
            <a:ext cx="2048256" cy="566928"/>
          </a:xfrm>
          <a:prstGeom prst="rect">
            <a:avLst/>
          </a:prstGeom>
          <a:solidFill>
            <a:srgbClr val="F5F3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Rectangle 66"/>
          <p:cNvSpPr/>
          <p:nvPr/>
        </p:nvSpPr>
        <p:spPr>
          <a:xfrm>
            <a:off x="7150607" y="4498848"/>
            <a:ext cx="91440" cy="91440"/>
          </a:xfrm>
          <a:prstGeom prst="rect">
            <a:avLst/>
          </a:prstGeom>
          <a:solidFill>
            <a:srgbClr val="6D28D9"/>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TextBox 67"/>
          <p:cNvSpPr txBox="1"/>
          <p:nvPr/>
        </p:nvSpPr>
        <p:spPr>
          <a:xfrm>
            <a:off x="7296912" y="4334255"/>
            <a:ext cx="1755648" cy="475488"/>
          </a:xfrm>
          <a:prstGeom prst="rect">
            <a:avLst/>
          </a:prstGeom>
          <a:noFill/>
        </p:spPr>
        <p:txBody>
          <a:bodyPr wrap="square"/>
          <a:lstStyle/>
          <a:p>
            <a:pPr algn="l"/>
            <a:r>
              <a:rPr sz="800" b="0" i="0">
                <a:solidFill>
                  <a:srgbClr val="1E293B"/>
                </a:solidFill>
                <a:latin typeface="Calibri"/>
              </a:rPr>
              <a:t>Let Ben approve on proof, not just trust</a:t>
            </a:r>
          </a:p>
        </p:txBody>
      </p:sp>
      <p:sp>
        <p:nvSpPr>
          <p:cNvPr id="69" name="Rectangle 68"/>
          <p:cNvSpPr/>
          <p:nvPr/>
        </p:nvSpPr>
        <p:spPr>
          <a:xfrm>
            <a:off x="0" y="4828032"/>
            <a:ext cx="9144000" cy="320040"/>
          </a:xfrm>
          <a:prstGeom prst="rect">
            <a:avLst/>
          </a:prstGeom>
          <a:solidFill>
            <a:srgbClr val="0D1F3C"/>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TextBox 69"/>
          <p:cNvSpPr txBox="1"/>
          <p:nvPr/>
        </p:nvSpPr>
        <p:spPr>
          <a:xfrm>
            <a:off x="1609344" y="4837176"/>
            <a:ext cx="5303520" cy="274320"/>
          </a:xfrm>
          <a:prstGeom prst="rect">
            <a:avLst/>
          </a:prstGeom>
          <a:noFill/>
        </p:spPr>
        <p:txBody>
          <a:bodyPr wrap="square"/>
          <a:lstStyle/>
          <a:p>
            <a:pPr algn="l"/>
            <a:r>
              <a:rPr sz="800" b="0" i="0">
                <a:solidFill>
                  <a:srgbClr val="5A7A9A"/>
                </a:solidFill>
                <a:latin typeface="Calibri"/>
              </a:rPr>
              <a:t>CONFIDENTIAL  ·  Prepared by Jacob Meissner | SMB Team</a:t>
            </a:r>
          </a:p>
        </p:txBody>
      </p:sp>
      <p:sp>
        <p:nvSpPr>
          <p:cNvPr id="71" name="TextBox 70"/>
          <p:cNvSpPr txBox="1"/>
          <p:nvPr/>
        </p:nvSpPr>
        <p:spPr>
          <a:xfrm>
            <a:off x="8138160" y="4837176"/>
            <a:ext cx="786384" cy="274320"/>
          </a:xfrm>
          <a:prstGeom prst="rect">
            <a:avLst/>
          </a:prstGeom>
          <a:noFill/>
        </p:spPr>
        <p:txBody>
          <a:bodyPr wrap="square"/>
          <a:lstStyle/>
          <a:p>
            <a:pPr algn="r"/>
            <a:r>
              <a:rPr sz="800" b="0" i="0">
                <a:solidFill>
                  <a:srgbClr val="5A7A9A"/>
                </a:solidFill>
                <a:latin typeface="Calibri"/>
              </a:rPr>
              <a:t>2 / 3</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960120"/>
          </a:xfrm>
          <a:prstGeom prst="rect">
            <a:avLst/>
          </a:prstGeom>
          <a:solidFill>
            <a:srgbClr val="0D1F3C"/>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92608" y="91440"/>
            <a:ext cx="8595360" cy="201168"/>
          </a:xfrm>
          <a:prstGeom prst="rect">
            <a:avLst/>
          </a:prstGeom>
          <a:noFill/>
        </p:spPr>
        <p:txBody>
          <a:bodyPr wrap="square"/>
          <a:lstStyle/>
          <a:p>
            <a:pPr algn="l"/>
            <a:r>
              <a:rPr sz="800" b="1" i="0">
                <a:solidFill>
                  <a:srgbClr val="F5C400"/>
                </a:solidFill>
                <a:latin typeface="Calibri"/>
              </a:rPr>
              <a:t>LAW FIRM GROWTH AUDIT  ·  H. BENJAMIN PEREZ &amp; ASSOCIATES, P.C.</a:t>
            </a:r>
          </a:p>
        </p:txBody>
      </p:sp>
      <p:sp>
        <p:nvSpPr>
          <p:cNvPr id="4" name="TextBox 3"/>
          <p:cNvSpPr txBox="1"/>
          <p:nvPr/>
        </p:nvSpPr>
        <p:spPr>
          <a:xfrm>
            <a:off x="292608" y="310896"/>
            <a:ext cx="8595360" cy="548640"/>
          </a:xfrm>
          <a:prstGeom prst="rect">
            <a:avLst/>
          </a:prstGeom>
          <a:noFill/>
        </p:spPr>
        <p:txBody>
          <a:bodyPr wrap="square"/>
          <a:lstStyle/>
          <a:p>
            <a:pPr algn="l"/>
            <a:r>
              <a:rPr sz="2200" b="1" i="0">
                <a:solidFill>
                  <a:srgbClr val="FFFFFF"/>
                </a:solidFill>
                <a:latin typeface="Calibri"/>
              </a:rPr>
              <a:t>Your Investment &amp; What Happens Next</a:t>
            </a:r>
          </a:p>
        </p:txBody>
      </p:sp>
      <p:sp>
        <p:nvSpPr>
          <p:cNvPr id="5" name="Rectangle 4"/>
          <p:cNvSpPr/>
          <p:nvPr/>
        </p:nvSpPr>
        <p:spPr>
          <a:xfrm>
            <a:off x="201168" y="1024128"/>
            <a:ext cx="4133087" cy="1024128"/>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201168" y="1024128"/>
            <a:ext cx="182880" cy="1024128"/>
          </a:xfrm>
          <a:prstGeom prst="rect">
            <a:avLst/>
          </a:prstGeom>
          <a:solidFill>
            <a:srgbClr val="1D4ED8"/>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75488" y="1115568"/>
            <a:ext cx="3803904" cy="201168"/>
          </a:xfrm>
          <a:prstGeom prst="rect">
            <a:avLst/>
          </a:prstGeom>
          <a:noFill/>
        </p:spPr>
        <p:txBody>
          <a:bodyPr wrap="square"/>
          <a:lstStyle/>
          <a:p>
            <a:pPr algn="l"/>
            <a:r>
              <a:rPr sz="800" b="1" i="0">
                <a:solidFill>
                  <a:srgbClr val="1D4ED8"/>
                </a:solidFill>
                <a:latin typeface="Calibri"/>
              </a:rPr>
              <a:t>LEGAL AI WORKFORCE — FRACTIONAL CTO LEVEL 1</a:t>
            </a:r>
          </a:p>
        </p:txBody>
      </p:sp>
      <p:sp>
        <p:nvSpPr>
          <p:cNvPr id="8" name="TextBox 7"/>
          <p:cNvSpPr txBox="1"/>
          <p:nvPr/>
        </p:nvSpPr>
        <p:spPr>
          <a:xfrm>
            <a:off x="475488" y="1298448"/>
            <a:ext cx="1828800" cy="438912"/>
          </a:xfrm>
          <a:prstGeom prst="rect">
            <a:avLst/>
          </a:prstGeom>
          <a:noFill/>
        </p:spPr>
        <p:txBody>
          <a:bodyPr wrap="square"/>
          <a:lstStyle/>
          <a:p>
            <a:pPr algn="l"/>
            <a:r>
              <a:rPr sz="3200" b="1" i="0">
                <a:solidFill>
                  <a:srgbClr val="0D1F3C"/>
                </a:solidFill>
                <a:latin typeface="Calibri"/>
              </a:rPr>
              <a:t>$3,297</a:t>
            </a:r>
          </a:p>
        </p:txBody>
      </p:sp>
      <p:sp>
        <p:nvSpPr>
          <p:cNvPr id="9" name="TextBox 8"/>
          <p:cNvSpPr txBox="1"/>
          <p:nvPr/>
        </p:nvSpPr>
        <p:spPr>
          <a:xfrm>
            <a:off x="1865376" y="1408176"/>
            <a:ext cx="420624" cy="256032"/>
          </a:xfrm>
          <a:prstGeom prst="rect">
            <a:avLst/>
          </a:prstGeom>
          <a:noFill/>
        </p:spPr>
        <p:txBody>
          <a:bodyPr wrap="square"/>
          <a:lstStyle/>
          <a:p>
            <a:pPr algn="l"/>
            <a:r>
              <a:rPr sz="1100" b="0" i="0">
                <a:solidFill>
                  <a:srgbClr val="64748B"/>
                </a:solidFill>
                <a:latin typeface="Calibri"/>
              </a:rPr>
              <a:t>/mo</a:t>
            </a:r>
          </a:p>
        </p:txBody>
      </p:sp>
      <p:sp>
        <p:nvSpPr>
          <p:cNvPr id="10" name="TextBox 9"/>
          <p:cNvSpPr txBox="1"/>
          <p:nvPr/>
        </p:nvSpPr>
        <p:spPr>
          <a:xfrm>
            <a:off x="2322576" y="1426464"/>
            <a:ext cx="914400" cy="237744"/>
          </a:xfrm>
          <a:prstGeom prst="rect">
            <a:avLst/>
          </a:prstGeom>
          <a:noFill/>
        </p:spPr>
        <p:txBody>
          <a:bodyPr wrap="square"/>
          <a:lstStyle/>
          <a:p>
            <a:pPr algn="l"/>
            <a:r>
              <a:rPr sz="1100" b="0" i="0">
                <a:solidFill>
                  <a:srgbClr val="334155"/>
                </a:solidFill>
                <a:latin typeface="Calibri"/>
              </a:rPr>
              <a:t>$3,797/mo</a:t>
            </a:r>
          </a:p>
        </p:txBody>
      </p:sp>
      <p:sp>
        <p:nvSpPr>
          <p:cNvPr id="11" name="Rectangle 10"/>
          <p:cNvSpPr/>
          <p:nvPr/>
        </p:nvSpPr>
        <p:spPr>
          <a:xfrm>
            <a:off x="2322576" y="1527048"/>
            <a:ext cx="804672" cy="9144"/>
          </a:xfrm>
          <a:prstGeom prst="rect">
            <a:avLst/>
          </a:prstGeom>
          <a:solidFill>
            <a:srgbClr val="334155"/>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75488" y="1792224"/>
            <a:ext cx="3803904" cy="201168"/>
          </a:xfrm>
          <a:prstGeom prst="rect">
            <a:avLst/>
          </a:prstGeom>
          <a:noFill/>
        </p:spPr>
        <p:txBody>
          <a:bodyPr wrap="square"/>
          <a:lstStyle/>
          <a:p>
            <a:pPr algn="l"/>
            <a:r>
              <a:rPr sz="800" b="0" i="0">
                <a:solidFill>
                  <a:srgbClr val="64748B"/>
                </a:solidFill>
                <a:latin typeface="Calibri"/>
              </a:rPr>
              <a:t>Dedicated CTO · Probate &amp; intake automation · After-hours AI coverage</a:t>
            </a:r>
          </a:p>
        </p:txBody>
      </p:sp>
      <p:sp>
        <p:nvSpPr>
          <p:cNvPr id="13" name="Rectangle 12"/>
          <p:cNvSpPr/>
          <p:nvPr/>
        </p:nvSpPr>
        <p:spPr>
          <a:xfrm>
            <a:off x="201168" y="3255264"/>
            <a:ext cx="4133087" cy="658368"/>
          </a:xfrm>
          <a:prstGeom prst="rect">
            <a:avLst/>
          </a:prstGeom>
          <a:solidFill>
            <a:srgbClr val="0D1F3C"/>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84048" y="3291840"/>
            <a:ext cx="1645920" cy="237744"/>
          </a:xfrm>
          <a:prstGeom prst="rect">
            <a:avLst/>
          </a:prstGeom>
          <a:noFill/>
        </p:spPr>
        <p:txBody>
          <a:bodyPr wrap="square"/>
          <a:lstStyle/>
          <a:p>
            <a:pPr algn="l"/>
            <a:r>
              <a:rPr sz="800" b="1" i="0">
                <a:solidFill>
                  <a:srgbClr val="7CA0C0"/>
                </a:solidFill>
                <a:latin typeface="Calibri"/>
              </a:rPr>
              <a:t>BUNDLE TOTAL</a:t>
            </a:r>
          </a:p>
        </p:txBody>
      </p:sp>
      <p:sp>
        <p:nvSpPr>
          <p:cNvPr id="15" name="TextBox 14"/>
          <p:cNvSpPr txBox="1"/>
          <p:nvPr/>
        </p:nvSpPr>
        <p:spPr>
          <a:xfrm>
            <a:off x="384048" y="3493008"/>
            <a:ext cx="2194560" cy="347472"/>
          </a:xfrm>
          <a:prstGeom prst="rect">
            <a:avLst/>
          </a:prstGeom>
          <a:noFill/>
        </p:spPr>
        <p:txBody>
          <a:bodyPr wrap="square"/>
          <a:lstStyle/>
          <a:p>
            <a:pPr algn="l"/>
            <a:r>
              <a:rPr sz="2200" b="1" i="0">
                <a:solidFill>
                  <a:srgbClr val="F5C400"/>
                </a:solidFill>
                <a:latin typeface="Calibri"/>
              </a:rPr>
              <a:t>$3,297 / mo</a:t>
            </a:r>
          </a:p>
        </p:txBody>
      </p:sp>
      <p:sp>
        <p:nvSpPr>
          <p:cNvPr id="16" name="TextBox 15"/>
          <p:cNvSpPr txBox="1"/>
          <p:nvPr/>
        </p:nvSpPr>
        <p:spPr>
          <a:xfrm>
            <a:off x="2670048" y="3493008"/>
            <a:ext cx="1737360" cy="347472"/>
          </a:xfrm>
          <a:prstGeom prst="rect">
            <a:avLst/>
          </a:prstGeom>
          <a:noFill/>
        </p:spPr>
        <p:txBody>
          <a:bodyPr wrap="square"/>
          <a:lstStyle/>
          <a:p>
            <a:pPr algn="l"/>
            <a:r>
              <a:rPr sz="800" b="0" i="0">
                <a:solidFill>
                  <a:srgbClr val="7CA0C0"/>
                </a:solidFill>
                <a:latin typeface="Calibri"/>
              </a:rPr>
              <a:t>Save $500/mo by bundling</a:t>
            </a:r>
          </a:p>
        </p:txBody>
      </p:sp>
      <p:sp>
        <p:nvSpPr>
          <p:cNvPr id="17" name="Rectangle 16"/>
          <p:cNvSpPr/>
          <p:nvPr/>
        </p:nvSpPr>
        <p:spPr>
          <a:xfrm>
            <a:off x="201168" y="3968496"/>
            <a:ext cx="4133087" cy="402336"/>
          </a:xfrm>
          <a:prstGeom prst="rect">
            <a:avLst/>
          </a:prstGeom>
          <a:solidFill>
            <a:srgbClr val="EEF2F8"/>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29184" y="3995928"/>
            <a:ext cx="3931920" cy="347472"/>
          </a:xfrm>
          <a:prstGeom prst="rect">
            <a:avLst/>
          </a:prstGeom>
          <a:noFill/>
        </p:spPr>
        <p:txBody>
          <a:bodyPr wrap="square"/>
          <a:lstStyle/>
          <a:p>
            <a:pPr algn="l"/>
            <a:r>
              <a:rPr sz="800" b="0" i="0">
                <a:solidFill>
                  <a:srgbClr val="64748B"/>
                </a:solidFill>
                <a:latin typeface="Calibri"/>
              </a:rPr>
              <a:t>No paid ad spend this round — this is an automation-only engagement</a:t>
            </a:r>
          </a:p>
        </p:txBody>
      </p:sp>
      <p:sp>
        <p:nvSpPr>
          <p:cNvPr id="19" name="Rectangle 18"/>
          <p:cNvSpPr/>
          <p:nvPr/>
        </p:nvSpPr>
        <p:spPr>
          <a:xfrm>
            <a:off x="4535424" y="1024128"/>
            <a:ext cx="4407408" cy="1316736"/>
          </a:xfrm>
          <a:prstGeom prst="rect">
            <a:avLst/>
          </a:prstGeom>
          <a:solidFill>
            <a:srgbClr val="ECFDF5"/>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700016" y="1078992"/>
            <a:ext cx="4133087" cy="219456"/>
          </a:xfrm>
          <a:prstGeom prst="rect">
            <a:avLst/>
          </a:prstGeom>
          <a:noFill/>
        </p:spPr>
        <p:txBody>
          <a:bodyPr wrap="square"/>
          <a:lstStyle/>
          <a:p>
            <a:pPr algn="l"/>
            <a:r>
              <a:rPr sz="800" b="1" i="0">
                <a:solidFill>
                  <a:srgbClr val="065F46"/>
                </a:solidFill>
                <a:latin typeface="Calibri"/>
              </a:rPr>
              <a:t>WHY FRACTIONAL CTO, NOT ADS</a:t>
            </a:r>
          </a:p>
        </p:txBody>
      </p:sp>
      <p:sp>
        <p:nvSpPr>
          <p:cNvPr id="21" name="TextBox 20"/>
          <p:cNvSpPr txBox="1"/>
          <p:nvPr/>
        </p:nvSpPr>
        <p:spPr>
          <a:xfrm>
            <a:off x="4700016" y="1335024"/>
            <a:ext cx="1920240" cy="256032"/>
          </a:xfrm>
          <a:prstGeom prst="rect">
            <a:avLst/>
          </a:prstGeom>
          <a:noFill/>
        </p:spPr>
        <p:txBody>
          <a:bodyPr wrap="square"/>
          <a:lstStyle/>
          <a:p>
            <a:pPr algn="l"/>
            <a:r>
              <a:rPr sz="900" b="1" i="0">
                <a:solidFill>
                  <a:srgbClr val="1E293B"/>
                </a:solidFill>
                <a:latin typeface="Calibri"/>
              </a:rPr>
              <a:t>Transcript price match:</a:t>
            </a:r>
          </a:p>
        </p:txBody>
      </p:sp>
      <p:sp>
        <p:nvSpPr>
          <p:cNvPr id="22" name="TextBox 21"/>
          <p:cNvSpPr txBox="1"/>
          <p:nvPr/>
        </p:nvSpPr>
        <p:spPr>
          <a:xfrm>
            <a:off x="6729984" y="1335024"/>
            <a:ext cx="2103120" cy="256032"/>
          </a:xfrm>
          <a:prstGeom prst="rect">
            <a:avLst/>
          </a:prstGeom>
          <a:noFill/>
        </p:spPr>
        <p:txBody>
          <a:bodyPr wrap="square"/>
          <a:lstStyle/>
          <a:p>
            <a:pPr algn="l"/>
            <a:r>
              <a:rPr sz="900" b="0" i="0">
                <a:solidFill>
                  <a:srgbClr val="065F46"/>
                </a:solidFill>
                <a:latin typeface="Calibri"/>
              </a:rPr>
              <a:t>$3,797/mo (1 automation)</a:t>
            </a:r>
          </a:p>
        </p:txBody>
      </p:sp>
      <p:sp>
        <p:nvSpPr>
          <p:cNvPr id="23" name="Rectangle 22"/>
          <p:cNvSpPr/>
          <p:nvPr/>
        </p:nvSpPr>
        <p:spPr>
          <a:xfrm>
            <a:off x="4645152" y="1609344"/>
            <a:ext cx="4187952" cy="310896"/>
          </a:xfrm>
          <a:prstGeom prst="rect">
            <a:avLst/>
          </a:prstGeom>
          <a:solidFill>
            <a:srgbClr val="D1FAE5"/>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700016" y="1645920"/>
            <a:ext cx="1920240" cy="256032"/>
          </a:xfrm>
          <a:prstGeom prst="rect">
            <a:avLst/>
          </a:prstGeom>
          <a:noFill/>
        </p:spPr>
        <p:txBody>
          <a:bodyPr wrap="square"/>
          <a:lstStyle/>
          <a:p>
            <a:pPr algn="l"/>
            <a:r>
              <a:rPr sz="900" b="1" i="0">
                <a:solidFill>
                  <a:srgbClr val="1E293B"/>
                </a:solidFill>
                <a:latin typeface="Calibri"/>
              </a:rPr>
              <a:t>This engagement:</a:t>
            </a:r>
          </a:p>
        </p:txBody>
      </p:sp>
      <p:sp>
        <p:nvSpPr>
          <p:cNvPr id="25" name="TextBox 24"/>
          <p:cNvSpPr txBox="1"/>
          <p:nvPr/>
        </p:nvSpPr>
        <p:spPr>
          <a:xfrm>
            <a:off x="6729984" y="1645920"/>
            <a:ext cx="2103120" cy="256032"/>
          </a:xfrm>
          <a:prstGeom prst="rect">
            <a:avLst/>
          </a:prstGeom>
          <a:noFill/>
        </p:spPr>
        <p:txBody>
          <a:bodyPr wrap="square"/>
          <a:lstStyle/>
          <a:p>
            <a:pPr algn="l"/>
            <a:r>
              <a:rPr sz="900" b="1" i="0">
                <a:solidFill>
                  <a:srgbClr val="065F46"/>
                </a:solidFill>
                <a:latin typeface="Calibri"/>
              </a:rPr>
              <a:t>$0 ad spend — automation only</a:t>
            </a:r>
          </a:p>
        </p:txBody>
      </p:sp>
      <p:sp>
        <p:nvSpPr>
          <p:cNvPr id="26" name="TextBox 25"/>
          <p:cNvSpPr txBox="1"/>
          <p:nvPr/>
        </p:nvSpPr>
        <p:spPr>
          <a:xfrm>
            <a:off x="4700016" y="1956816"/>
            <a:ext cx="1920240" cy="256032"/>
          </a:xfrm>
          <a:prstGeom prst="rect">
            <a:avLst/>
          </a:prstGeom>
          <a:noFill/>
        </p:spPr>
        <p:txBody>
          <a:bodyPr wrap="square"/>
          <a:lstStyle/>
          <a:p>
            <a:pPr algn="l"/>
            <a:r>
              <a:rPr sz="900" b="1" i="0">
                <a:solidFill>
                  <a:srgbClr val="1E293B"/>
                </a:solidFill>
                <a:latin typeface="Calibri"/>
              </a:rPr>
              <a:t>Next phase:</a:t>
            </a:r>
          </a:p>
        </p:txBody>
      </p:sp>
      <p:sp>
        <p:nvSpPr>
          <p:cNvPr id="27" name="TextBox 26"/>
          <p:cNvSpPr txBox="1"/>
          <p:nvPr/>
        </p:nvSpPr>
        <p:spPr>
          <a:xfrm>
            <a:off x="6729984" y="1956816"/>
            <a:ext cx="2103120" cy="256032"/>
          </a:xfrm>
          <a:prstGeom prst="rect">
            <a:avLst/>
          </a:prstGeom>
          <a:noFill/>
        </p:spPr>
        <p:txBody>
          <a:bodyPr wrap="square"/>
          <a:lstStyle/>
          <a:p>
            <a:pPr algn="l"/>
            <a:r>
              <a:rPr sz="900" b="1" i="0">
                <a:solidFill>
                  <a:srgbClr val="065F46"/>
                </a:solidFill>
                <a:latin typeface="Calibri"/>
              </a:rPr>
              <a:t>Marketing scoped after Phase 1 proof</a:t>
            </a:r>
          </a:p>
        </p:txBody>
      </p:sp>
      <p:sp>
        <p:nvSpPr>
          <p:cNvPr id="28" name="TextBox 27"/>
          <p:cNvSpPr txBox="1"/>
          <p:nvPr/>
        </p:nvSpPr>
        <p:spPr>
          <a:xfrm>
            <a:off x="4535424" y="2468880"/>
            <a:ext cx="4407408" cy="237744"/>
          </a:xfrm>
          <a:prstGeom prst="rect">
            <a:avLst/>
          </a:prstGeom>
          <a:noFill/>
        </p:spPr>
        <p:txBody>
          <a:bodyPr wrap="square"/>
          <a:lstStyle/>
          <a:p>
            <a:pPr algn="l"/>
            <a:r>
              <a:rPr sz="800" b="1" i="0">
                <a:solidFill>
                  <a:srgbClr val="0D1F3C"/>
                </a:solidFill>
                <a:latin typeface="Calibri"/>
              </a:rPr>
              <a:t>WHAT HAPPENS IN THE FIRST 90 DAYS</a:t>
            </a:r>
          </a:p>
        </p:txBody>
      </p:sp>
      <p:sp>
        <p:nvSpPr>
          <p:cNvPr id="29" name="Rectangle 28"/>
          <p:cNvSpPr/>
          <p:nvPr/>
        </p:nvSpPr>
        <p:spPr>
          <a:xfrm>
            <a:off x="4590288" y="2724912"/>
            <a:ext cx="256032" cy="256032"/>
          </a:xfrm>
          <a:prstGeom prst="rect">
            <a:avLst/>
          </a:prstGeom>
          <a:solidFill>
            <a:srgbClr val="0D1F3C"/>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937760" y="2734056"/>
            <a:ext cx="804672" cy="256032"/>
          </a:xfrm>
          <a:prstGeom prst="rect">
            <a:avLst/>
          </a:prstGeom>
          <a:noFill/>
        </p:spPr>
        <p:txBody>
          <a:bodyPr wrap="square"/>
          <a:lstStyle/>
          <a:p>
            <a:pPr algn="l"/>
            <a:r>
              <a:rPr sz="800" b="1" i="0">
                <a:solidFill>
                  <a:srgbClr val="0D1F3C"/>
                </a:solidFill>
                <a:latin typeface="Calibri"/>
              </a:rPr>
              <a:t>Day 1</a:t>
            </a:r>
          </a:p>
        </p:txBody>
      </p:sp>
      <p:sp>
        <p:nvSpPr>
          <p:cNvPr id="31" name="TextBox 30"/>
          <p:cNvSpPr txBox="1"/>
          <p:nvPr/>
        </p:nvSpPr>
        <p:spPr>
          <a:xfrm>
            <a:off x="5815584" y="2734056"/>
            <a:ext cx="3054096" cy="256032"/>
          </a:xfrm>
          <a:prstGeom prst="rect">
            <a:avLst/>
          </a:prstGeom>
          <a:noFill/>
        </p:spPr>
        <p:txBody>
          <a:bodyPr wrap="square"/>
          <a:lstStyle/>
          <a:p>
            <a:pPr algn="l"/>
            <a:r>
              <a:rPr sz="800" b="0" i="0">
                <a:solidFill>
                  <a:srgbClr val="1E293B"/>
                </a:solidFill>
                <a:latin typeface="Calibri"/>
              </a:rPr>
              <a:t>Fractional CTO kickoff, audit Clio &amp; tools</a:t>
            </a:r>
          </a:p>
        </p:txBody>
      </p:sp>
      <p:sp>
        <p:nvSpPr>
          <p:cNvPr id="32" name="Rectangle 31"/>
          <p:cNvSpPr/>
          <p:nvPr/>
        </p:nvSpPr>
        <p:spPr>
          <a:xfrm>
            <a:off x="4590288" y="3081528"/>
            <a:ext cx="256032" cy="256032"/>
          </a:xfrm>
          <a:prstGeom prst="rect">
            <a:avLst/>
          </a:prstGeom>
          <a:solidFill>
            <a:srgbClr val="0D1F3C"/>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4937760" y="3090672"/>
            <a:ext cx="804672" cy="256032"/>
          </a:xfrm>
          <a:prstGeom prst="rect">
            <a:avLst/>
          </a:prstGeom>
          <a:noFill/>
        </p:spPr>
        <p:txBody>
          <a:bodyPr wrap="square"/>
          <a:lstStyle/>
          <a:p>
            <a:pPr algn="l"/>
            <a:r>
              <a:rPr sz="800" b="1" i="0">
                <a:solidFill>
                  <a:srgbClr val="0D1F3C"/>
                </a:solidFill>
                <a:latin typeface="Calibri"/>
              </a:rPr>
              <a:t>Day 14</a:t>
            </a:r>
          </a:p>
        </p:txBody>
      </p:sp>
      <p:sp>
        <p:nvSpPr>
          <p:cNvPr id="34" name="TextBox 33"/>
          <p:cNvSpPr txBox="1"/>
          <p:nvPr/>
        </p:nvSpPr>
        <p:spPr>
          <a:xfrm>
            <a:off x="5815584" y="3090672"/>
            <a:ext cx="3054096" cy="256032"/>
          </a:xfrm>
          <a:prstGeom prst="rect">
            <a:avLst/>
          </a:prstGeom>
          <a:noFill/>
        </p:spPr>
        <p:txBody>
          <a:bodyPr wrap="square"/>
          <a:lstStyle/>
          <a:p>
            <a:pPr algn="l"/>
            <a:r>
              <a:rPr sz="800" b="0" i="0">
                <a:solidFill>
                  <a:srgbClr val="1E293B"/>
                </a:solidFill>
                <a:latin typeface="Calibri"/>
              </a:rPr>
              <a:t>After-hours AI call coverage goes live</a:t>
            </a:r>
          </a:p>
        </p:txBody>
      </p:sp>
      <p:sp>
        <p:nvSpPr>
          <p:cNvPr id="35" name="Rectangle 34"/>
          <p:cNvSpPr/>
          <p:nvPr/>
        </p:nvSpPr>
        <p:spPr>
          <a:xfrm>
            <a:off x="4590288" y="3438144"/>
            <a:ext cx="256032" cy="256032"/>
          </a:xfrm>
          <a:prstGeom prst="rect">
            <a:avLst/>
          </a:prstGeom>
          <a:solidFill>
            <a:srgbClr val="0D1F3C"/>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4937760" y="3447287"/>
            <a:ext cx="804672" cy="256032"/>
          </a:xfrm>
          <a:prstGeom prst="rect">
            <a:avLst/>
          </a:prstGeom>
          <a:noFill/>
        </p:spPr>
        <p:txBody>
          <a:bodyPr wrap="square"/>
          <a:lstStyle/>
          <a:p>
            <a:pPr algn="l"/>
            <a:r>
              <a:rPr sz="800" b="1" i="0">
                <a:solidFill>
                  <a:srgbClr val="0D1F3C"/>
                </a:solidFill>
                <a:latin typeface="Calibri"/>
              </a:rPr>
              <a:t>Week 2</a:t>
            </a:r>
          </a:p>
        </p:txBody>
      </p:sp>
      <p:sp>
        <p:nvSpPr>
          <p:cNvPr id="37" name="TextBox 36"/>
          <p:cNvSpPr txBox="1"/>
          <p:nvPr/>
        </p:nvSpPr>
        <p:spPr>
          <a:xfrm>
            <a:off x="5815584" y="3447287"/>
            <a:ext cx="3054096" cy="256032"/>
          </a:xfrm>
          <a:prstGeom prst="rect">
            <a:avLst/>
          </a:prstGeom>
          <a:noFill/>
        </p:spPr>
        <p:txBody>
          <a:bodyPr wrap="square"/>
          <a:lstStyle/>
          <a:p>
            <a:pPr algn="l"/>
            <a:r>
              <a:rPr sz="800" b="0" i="0">
                <a:solidFill>
                  <a:srgbClr val="1E293B"/>
                </a:solidFill>
                <a:latin typeface="Calibri"/>
              </a:rPr>
              <a:t>Map every step of the probate workflow</a:t>
            </a:r>
          </a:p>
        </p:txBody>
      </p:sp>
      <p:sp>
        <p:nvSpPr>
          <p:cNvPr id="38" name="Rectangle 37"/>
          <p:cNvSpPr/>
          <p:nvPr/>
        </p:nvSpPr>
        <p:spPr>
          <a:xfrm>
            <a:off x="4590288" y="3794760"/>
            <a:ext cx="256032" cy="256032"/>
          </a:xfrm>
          <a:prstGeom prst="rect">
            <a:avLst/>
          </a:prstGeom>
          <a:solidFill>
            <a:srgbClr val="0D1F3C"/>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4937760" y="3803904"/>
            <a:ext cx="804672" cy="256032"/>
          </a:xfrm>
          <a:prstGeom prst="rect">
            <a:avLst/>
          </a:prstGeom>
          <a:noFill/>
        </p:spPr>
        <p:txBody>
          <a:bodyPr wrap="square"/>
          <a:lstStyle/>
          <a:p>
            <a:pPr algn="l"/>
            <a:r>
              <a:rPr sz="800" b="1" i="0">
                <a:solidFill>
                  <a:srgbClr val="0D1F3C"/>
                </a:solidFill>
                <a:latin typeface="Calibri"/>
              </a:rPr>
              <a:t>Week 3</a:t>
            </a:r>
          </a:p>
        </p:txBody>
      </p:sp>
      <p:sp>
        <p:nvSpPr>
          <p:cNvPr id="40" name="TextBox 39"/>
          <p:cNvSpPr txBox="1"/>
          <p:nvPr/>
        </p:nvSpPr>
        <p:spPr>
          <a:xfrm>
            <a:off x="5815584" y="3803904"/>
            <a:ext cx="3054096" cy="256032"/>
          </a:xfrm>
          <a:prstGeom prst="rect">
            <a:avLst/>
          </a:prstGeom>
          <a:noFill/>
        </p:spPr>
        <p:txBody>
          <a:bodyPr wrap="square"/>
          <a:lstStyle/>
          <a:p>
            <a:pPr algn="l"/>
            <a:r>
              <a:rPr sz="800" b="0" i="0">
                <a:solidFill>
                  <a:srgbClr val="1E293B"/>
                </a:solidFill>
                <a:latin typeface="Calibri"/>
              </a:rPr>
              <a:t>First automated probate steps deployed</a:t>
            </a:r>
          </a:p>
        </p:txBody>
      </p:sp>
      <p:sp>
        <p:nvSpPr>
          <p:cNvPr id="41" name="Rectangle 40"/>
          <p:cNvSpPr/>
          <p:nvPr/>
        </p:nvSpPr>
        <p:spPr>
          <a:xfrm>
            <a:off x="4590288" y="4151376"/>
            <a:ext cx="256032" cy="256032"/>
          </a:xfrm>
          <a:prstGeom prst="rect">
            <a:avLst/>
          </a:prstGeom>
          <a:solidFill>
            <a:srgbClr val="0D1F3C"/>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4937760" y="4160520"/>
            <a:ext cx="804672" cy="256032"/>
          </a:xfrm>
          <a:prstGeom prst="rect">
            <a:avLst/>
          </a:prstGeom>
          <a:noFill/>
        </p:spPr>
        <p:txBody>
          <a:bodyPr wrap="square"/>
          <a:lstStyle/>
          <a:p>
            <a:pPr algn="l"/>
            <a:r>
              <a:rPr sz="800" b="1" i="0">
                <a:solidFill>
                  <a:srgbClr val="0D1F3C"/>
                </a:solidFill>
                <a:latin typeface="Calibri"/>
              </a:rPr>
              <a:t>Month 3</a:t>
            </a:r>
          </a:p>
        </p:txBody>
      </p:sp>
      <p:sp>
        <p:nvSpPr>
          <p:cNvPr id="43" name="TextBox 42"/>
          <p:cNvSpPr txBox="1"/>
          <p:nvPr/>
        </p:nvSpPr>
        <p:spPr>
          <a:xfrm>
            <a:off x="5815584" y="4160520"/>
            <a:ext cx="3054096" cy="256032"/>
          </a:xfrm>
          <a:prstGeom prst="rect">
            <a:avLst/>
          </a:prstGeom>
          <a:noFill/>
        </p:spPr>
        <p:txBody>
          <a:bodyPr wrap="square"/>
          <a:lstStyle/>
          <a:p>
            <a:pPr algn="l"/>
            <a:r>
              <a:rPr sz="800" b="0" i="0">
                <a:solidFill>
                  <a:srgbClr val="1E293B"/>
                </a:solidFill>
                <a:latin typeface="Calibri"/>
              </a:rPr>
              <a:t>Intake synced to Clio, time savings reported</a:t>
            </a:r>
          </a:p>
        </p:txBody>
      </p:sp>
      <p:sp>
        <p:nvSpPr>
          <p:cNvPr id="44" name="Rectangle 43"/>
          <p:cNvSpPr/>
          <p:nvPr/>
        </p:nvSpPr>
        <p:spPr>
          <a:xfrm>
            <a:off x="0" y="4425696"/>
            <a:ext cx="9144000" cy="402336"/>
          </a:xfrm>
          <a:prstGeom prst="rect">
            <a:avLst/>
          </a:prstGeom>
          <a:solidFill>
            <a:srgbClr val="0D1F3C"/>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274320" y="4425696"/>
            <a:ext cx="8595360" cy="402336"/>
          </a:xfrm>
          <a:prstGeom prst="rect">
            <a:avLst/>
          </a:prstGeom>
          <a:noFill/>
        </p:spPr>
        <p:txBody>
          <a:bodyPr wrap="square"/>
          <a:lstStyle/>
          <a:p>
            <a:pPr algn="ctr"/>
            <a:r>
              <a:rPr sz="900" b="0" i="1">
                <a:solidFill>
                  <a:srgbClr val="8BADD0"/>
                </a:solidFill>
                <a:latin typeface="Calibri"/>
              </a:rPr>
              <a:t>"When the repetitive work runs itself, growing 3x doesn't mean any of us working three times as hard."</a:t>
            </a:r>
          </a:p>
        </p:txBody>
      </p:sp>
      <p:sp>
        <p:nvSpPr>
          <p:cNvPr id="46" name="Rectangle 45"/>
          <p:cNvSpPr/>
          <p:nvPr/>
        </p:nvSpPr>
        <p:spPr>
          <a:xfrm>
            <a:off x="0" y="4828032"/>
            <a:ext cx="9144000" cy="320040"/>
          </a:xfrm>
          <a:prstGeom prst="rect">
            <a:avLst/>
          </a:prstGeom>
          <a:solidFill>
            <a:srgbClr val="0D1F3C"/>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1609344" y="4837176"/>
            <a:ext cx="5303520" cy="274320"/>
          </a:xfrm>
          <a:prstGeom prst="rect">
            <a:avLst/>
          </a:prstGeom>
          <a:noFill/>
        </p:spPr>
        <p:txBody>
          <a:bodyPr wrap="square"/>
          <a:lstStyle/>
          <a:p>
            <a:pPr algn="l"/>
            <a:r>
              <a:rPr sz="800" b="0" i="0">
                <a:solidFill>
                  <a:srgbClr val="5A7A9A"/>
                </a:solidFill>
                <a:latin typeface="Calibri"/>
              </a:rPr>
              <a:t>CONFIDENTIAL  ·  Prepared by Jacob Meissner | SMB Team</a:t>
            </a:r>
          </a:p>
        </p:txBody>
      </p:sp>
      <p:sp>
        <p:nvSpPr>
          <p:cNvPr id="48" name="TextBox 47"/>
          <p:cNvSpPr txBox="1"/>
          <p:nvPr/>
        </p:nvSpPr>
        <p:spPr>
          <a:xfrm>
            <a:off x="8138160" y="4837176"/>
            <a:ext cx="786384" cy="274320"/>
          </a:xfrm>
          <a:prstGeom prst="rect">
            <a:avLst/>
          </a:prstGeom>
          <a:noFill/>
        </p:spPr>
        <p:txBody>
          <a:bodyPr wrap="square"/>
          <a:lstStyle/>
          <a:p>
            <a:pPr algn="r"/>
            <a:r>
              <a:rPr sz="800" b="0" i="0">
                <a:solidFill>
                  <a:srgbClr val="5A7A9A"/>
                </a:solidFill>
                <a:latin typeface="Calibri"/>
              </a:rPr>
              <a:t>3 / 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