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LUCERO PC</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Poppins"/>
              </a:rPr>
              <a:t>Where Lucero PC Stands Today</a:t>
            </a:r>
          </a:p>
        </p:txBody>
      </p:sp>
      <p:sp>
        <p:nvSpPr>
          <p:cNvPr id="5" name="Rectangle 4"/>
          <p:cNvSpPr/>
          <p:nvPr/>
        </p:nvSpPr>
        <p:spPr>
          <a:xfrm>
            <a:off x="0" y="960120"/>
            <a:ext cx="146304" cy="3867912"/>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Poppins"/>
              </a:rPr>
              <a:t>6</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Poppins"/>
              </a:rPr>
              <a:t>COMPETITIVE URGENCY</a:t>
            </a:r>
          </a:p>
        </p:txBody>
      </p:sp>
      <p:sp>
        <p:nvSpPr>
          <p:cNvPr id="9" name="Rectangle 8"/>
          <p:cNvSpPr/>
          <p:nvPr/>
        </p:nvSpPr>
        <p:spPr>
          <a:xfrm>
            <a:off x="1682496"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Poppins"/>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D97706"/>
                </a:solidFill>
                <a:latin typeface="Poppins"/>
              </a:rPr>
              <a:t>AMBER</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Poppins"/>
              </a:rPr>
              <a:t>Unprofitable PPC spend</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Poppins"/>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Poppins"/>
              </a:rPr>
              <a:t>RED</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Poppins"/>
              </a:rPr>
              <a:t>Close rate now ~7%</a:t>
            </a:r>
          </a:p>
        </p:txBody>
      </p:sp>
      <p:sp>
        <p:nvSpPr>
          <p:cNvPr id="19" name="Rectangle 18"/>
          <p:cNvSpPr/>
          <p:nvPr/>
        </p:nvSpPr>
        <p:spPr>
          <a:xfrm>
            <a:off x="3401568"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Poppins"/>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C0392B"/>
                </a:solidFill>
                <a:latin typeface="Poppins"/>
              </a:rPr>
              <a:t>RED</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Poppins"/>
              </a:rPr>
              <a:t>No associate yet</a:t>
            </a:r>
          </a:p>
        </p:txBody>
      </p:sp>
      <p:sp>
        <p:nvSpPr>
          <p:cNvPr id="24" name="Rectangle 23"/>
          <p:cNvSpPr/>
          <p:nvPr/>
        </p:nvSpPr>
        <p:spPr>
          <a:xfrm>
            <a:off x="4261104"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Poppins"/>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C0392B"/>
                </a:solidFill>
                <a:latin typeface="Poppins"/>
              </a:rPr>
              <a:t>RED</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Poppins"/>
              </a:rPr>
              <a:t>No profit visibility</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69CD2B"/>
                </a:solidFill>
                <a:latin typeface="Poppins"/>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Poppins"/>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Poppins"/>
              </a:rPr>
              <a:t>Unprofitable $5,800/mo PPC produces ~1 client a month</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Poppins"/>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Poppins"/>
              </a:rPr>
              <a:t>Close rate collapsed from ~30% in July to ~7% in August</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Poppins"/>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Poppins"/>
              </a:rPr>
              <a:t>Solo attorney handles every case and court date personally</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Poppins"/>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Poppins"/>
              </a:rPr>
              <a:t>Organic blog already outperforms paid marketing spend</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69CD2B"/>
                </a:solidFill>
                <a:latin typeface="Poppins"/>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Poppins"/>
              </a:rPr>
              <a:t>Stage 3: Solo Practitioner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Poppins"/>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Poppins"/>
              </a:rPr>
              <a:t>Confianza Legal</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Poppins"/>
              </a:rPr>
              <a:t>Larger review base</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Poppins"/>
              </a:rPr>
              <a:t>Built a La Verne page</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Poppins"/>
              </a:rPr>
              <a:t>Law Offices of Ali Komaili</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Poppins"/>
              </a:rPr>
              <a:t>Strong sentiment</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Poppins"/>
              </a:rPr>
              <a:t>30 min away, still visible</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Poppins"/>
              </a:rPr>
              <a:t>Poseidon Defense APC</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Poppins"/>
              </a:rPr>
              <a:t>Appears in DUI search</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Poppins"/>
              </a:rPr>
              <a:t>Lucero, PC does not</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Poppins"/>
              </a:rPr>
              <a:t>Lucero PC</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Poppins"/>
              </a:rPr>
              <a:t>Very few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Poppins"/>
              </a:rPr>
              <a:t>← You are here</a:t>
            </a:r>
          </a:p>
        </p:txBody>
      </p:sp>
      <p:sp>
        <p:nvSpPr>
          <p:cNvPr id="69" name="Rectangle 68"/>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Nick Holderman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LUCERO PC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Poppins"/>
              </a:rPr>
              <a:t>Your Growth Plan: 3 Priorities to Reach 5-6 Cases a Month</a:t>
            </a:r>
          </a:p>
        </p:txBody>
      </p:sp>
      <p:sp>
        <p:nvSpPr>
          <p:cNvPr id="5" name="Rectangle 4"/>
          <p:cNvSpPr/>
          <p:nvPr/>
        </p:nvSpPr>
        <p:spPr>
          <a:xfrm>
            <a:off x="182880" y="1024128"/>
            <a:ext cx="2487168" cy="363931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69CD2B"/>
                </a:solidFill>
                <a:latin typeface="Poppins"/>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Poppins"/>
              </a:rPr>
              <a:t>Lead Generation, Intake, Team, and Profit have to work together. When all four do, Christopher can finally step back from being the only person who can show up in court every day.</a:t>
            </a:r>
          </a:p>
        </p:txBody>
      </p:sp>
      <p:sp>
        <p:nvSpPr>
          <p:cNvPr id="9" name="Rectangle 8"/>
          <p:cNvSpPr/>
          <p:nvPr/>
        </p:nvSpPr>
        <p:spPr>
          <a:xfrm>
            <a:off x="182880" y="2999232"/>
            <a:ext cx="2487168" cy="74980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03A59"/>
                </a:solidFill>
                <a:latin typeface="Poppins"/>
              </a:rPr>
              <a:t>2-3 → 5-6 private cases/mo</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03A59"/>
                </a:solidFill>
                <a:latin typeface="Poppins"/>
              </a:rPr>
              <a:t>Christopher isn't the only one who can show up</a:t>
            </a:r>
          </a:p>
        </p:txBody>
      </p:sp>
      <p:sp>
        <p:nvSpPr>
          <p:cNvPr id="12" name="Rectangle 11"/>
          <p:cNvSpPr/>
          <p:nvPr/>
        </p:nvSpPr>
        <p:spPr>
          <a:xfrm>
            <a:off x="2816352" y="1024128"/>
            <a:ext cx="2048256" cy="84124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Poppins"/>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Poppins"/>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Poppins"/>
              </a:rPr>
              <a:t>Marketing Engine</a:t>
            </a:r>
          </a:p>
        </p:txBody>
      </p:sp>
      <p:sp>
        <p:nvSpPr>
          <p:cNvPr id="16" name="Rectangle 15"/>
          <p:cNvSpPr/>
          <p:nvPr/>
        </p:nvSpPr>
        <p:spPr>
          <a:xfrm>
            <a:off x="2816352" y="1865376"/>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Poppins"/>
              </a:rPr>
              <a:t>Fix the failing $5,800/mo PPC campaign</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Poppins"/>
              </a:rPr>
              <a:t>Launch Local Service Ads for qualified leads</a:t>
            </a:r>
          </a:p>
        </p:txBody>
      </p:sp>
      <p:sp>
        <p:nvSpPr>
          <p:cNvPr id="22" name="Rectangle 21"/>
          <p:cNvSpPr/>
          <p:nvPr/>
        </p:nvSpPr>
        <p:spPr>
          <a:xfrm>
            <a:off x="2816352" y="3072384"/>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Poppins"/>
              </a:rPr>
              <a:t>Build geo-pages for Pomona, Claremont, San Dimas</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Poppins"/>
              </a:rPr>
              <a:t>Fix the NAP phone number mismatch</a:t>
            </a:r>
          </a:p>
        </p:txBody>
      </p:sp>
      <p:sp>
        <p:nvSpPr>
          <p:cNvPr id="28" name="Rectangle 27"/>
          <p:cNvSpPr/>
          <p:nvPr/>
        </p:nvSpPr>
        <p:spPr>
          <a:xfrm>
            <a:off x="2816352" y="4279392"/>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Poppins"/>
              </a:rPr>
              <a:t>Turn ads into a pipeline that runs without you</a:t>
            </a:r>
          </a:p>
        </p:txBody>
      </p:sp>
      <p:sp>
        <p:nvSpPr>
          <p:cNvPr id="31" name="Rectangle 30"/>
          <p:cNvSpPr/>
          <p:nvPr/>
        </p:nvSpPr>
        <p:spPr>
          <a:xfrm>
            <a:off x="4937760" y="1024128"/>
            <a:ext cx="2048256" cy="84124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003A59"/>
                </a:solidFill>
                <a:latin typeface="Poppins"/>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003A59"/>
                </a:solidFill>
                <a:latin typeface="Poppins"/>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003A59"/>
                </a:solidFill>
                <a:latin typeface="Poppins"/>
              </a:rPr>
              <a:t>Stop Losing Cases</a:t>
            </a:r>
          </a:p>
        </p:txBody>
      </p:sp>
      <p:sp>
        <p:nvSpPr>
          <p:cNvPr id="35" name="Rectangle 34"/>
          <p:cNvSpPr/>
          <p:nvPr/>
        </p:nvSpPr>
        <p:spPr>
          <a:xfrm>
            <a:off x="4937760" y="1865376"/>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Poppins"/>
              </a:rPr>
              <a:t>Build a defined intake follow-up process</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Poppins"/>
              </a:rPr>
              <a:t>Recover close rate from ~7% back to benchmark</a:t>
            </a:r>
          </a:p>
        </p:txBody>
      </p:sp>
      <p:sp>
        <p:nvSpPr>
          <p:cNvPr id="41" name="Rectangle 40"/>
          <p:cNvSpPr/>
          <p:nvPr/>
        </p:nvSpPr>
        <p:spPr>
          <a:xfrm>
            <a:off x="4937760" y="3072384"/>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Poppins"/>
              </a:rPr>
              <a:t>Add a website contact form</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Poppins"/>
              </a:rPr>
              <a:t>Capture leads who won't call first</a:t>
            </a:r>
          </a:p>
        </p:txBody>
      </p:sp>
      <p:sp>
        <p:nvSpPr>
          <p:cNvPr id="47" name="Rectangle 46"/>
          <p:cNvSpPr/>
          <p:nvPr/>
        </p:nvSpPr>
        <p:spPr>
          <a:xfrm>
            <a:off x="4937760" y="4279392"/>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Poppins"/>
              </a:rPr>
              <a:t>Convert leads you already paid for — no new spend</a:t>
            </a:r>
          </a:p>
        </p:txBody>
      </p:sp>
      <p:sp>
        <p:nvSpPr>
          <p:cNvPr id="50" name="Rectangle 49"/>
          <p:cNvSpPr/>
          <p:nvPr/>
        </p:nvSpPr>
        <p:spPr>
          <a:xfrm>
            <a:off x="7059168" y="1024128"/>
            <a:ext cx="2048256" cy="84124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Poppins"/>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Poppins"/>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Poppins"/>
              </a:rPr>
              <a:t>Profit Systems</a:t>
            </a:r>
          </a:p>
        </p:txBody>
      </p:sp>
      <p:sp>
        <p:nvSpPr>
          <p:cNvPr id="54" name="Rectangle 53"/>
          <p:cNvSpPr/>
          <p:nvPr/>
        </p:nvSpPr>
        <p:spPr>
          <a:xfrm>
            <a:off x="7059168" y="1865376"/>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Poppins"/>
              </a:rPr>
              <a:t>Build the associate-hiring plan now</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Poppins"/>
              </a:rPr>
              <a:t>Start coaching to build a delegation structure</a:t>
            </a:r>
          </a:p>
        </p:txBody>
      </p:sp>
      <p:sp>
        <p:nvSpPr>
          <p:cNvPr id="60" name="Rectangle 59"/>
          <p:cNvSpPr/>
          <p:nvPr/>
        </p:nvSpPr>
        <p:spPr>
          <a:xfrm>
            <a:off x="7059168" y="3072384"/>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Poppins"/>
              </a:rPr>
              <a:t>Establish a real profit plan, not just case counts</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Poppins"/>
              </a:rPr>
              <a:t>Know the margin needed to fund the hire</a:t>
            </a:r>
          </a:p>
        </p:txBody>
      </p:sp>
      <p:sp>
        <p:nvSpPr>
          <p:cNvPr id="66" name="Rectangle 65"/>
          <p:cNvSpPr/>
          <p:nvPr/>
        </p:nvSpPr>
        <p:spPr>
          <a:xfrm>
            <a:off x="7059168" y="4279392"/>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Poppins"/>
              </a:rPr>
              <a:t>Step back from court, and trust it still runs</a:t>
            </a:r>
          </a:p>
        </p:txBody>
      </p:sp>
      <p:sp>
        <p:nvSpPr>
          <p:cNvPr id="69" name="Rectangle 68"/>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Nick Holderman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LUCERO PC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Poppins"/>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0091C9"/>
                </a:solidFill>
                <a:latin typeface="Poppins"/>
              </a:rPr>
              <a:t>FULL SERVICE MARKETING —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03A59"/>
                </a:solidFill>
                <a:latin typeface="Poppins"/>
              </a:rPr>
              <a:t>$4,997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Poppins"/>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Poppins"/>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Poppins"/>
              </a:rPr>
              <a:t>Google Ads · LSA · Local SEO/Geo-Pages · Website Fixes</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003A59"/>
                </a:solidFill>
                <a:latin typeface="Poppins"/>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03A59"/>
                </a:solidFill>
                <a:latin typeface="Poppins"/>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Poppins"/>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Poppins"/>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Poppins"/>
              </a:rPr>
              <a:t>Weekly Group Coaching · Masterminds · Quarterly Workshops</a:t>
            </a:r>
          </a:p>
        </p:txBody>
      </p:sp>
      <p:sp>
        <p:nvSpPr>
          <p:cNvPr id="21" name="Rectangle 20"/>
          <p:cNvSpPr/>
          <p:nvPr/>
        </p:nvSpPr>
        <p:spPr>
          <a:xfrm>
            <a:off x="201168" y="3255264"/>
            <a:ext cx="4133087" cy="65836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Poppins"/>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0091C9"/>
                </a:solidFill>
                <a:latin typeface="Poppins"/>
              </a:rPr>
              <a:t>$8,197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Poppins"/>
              </a:rPr>
              <a:t>Save $997/mo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Poppins"/>
              </a:rPr>
              <a:t>+ Recommended ad spend: $5,500–$8,400/mo paid directly to Google/LSA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Poppins"/>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Poppins"/>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Poppins"/>
              </a:rPr>
              <a:t>$7,500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Poppins"/>
              </a:rPr>
              <a:t>Conservative  (4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Poppins"/>
              </a:rPr>
              <a:t>$30,000 revenue · 5.5×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Poppins"/>
              </a:rPr>
              <a:t>Aggressive  (7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Poppins"/>
              </a:rPr>
              <a:t>$52,500 revenue · 6.3×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03A59"/>
                </a:solidFill>
                <a:latin typeface="Poppins"/>
              </a:rPr>
              <a:t>WHAT HAPPENS IN THE FIRST 90 DAYS</a:t>
            </a:r>
          </a:p>
        </p:txBody>
      </p:sp>
      <p:sp>
        <p:nvSpPr>
          <p:cNvPr id="37" name="Rectangle 36"/>
          <p:cNvSpPr/>
          <p:nvPr/>
        </p:nvSpPr>
        <p:spPr>
          <a:xfrm>
            <a:off x="4590288" y="2724912"/>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03A59"/>
                </a:solidFill>
                <a:latin typeface="Poppins"/>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Poppins"/>
              </a:rPr>
              <a:t>Launch Google Ads, begin LSA setup</a:t>
            </a:r>
          </a:p>
        </p:txBody>
      </p:sp>
      <p:sp>
        <p:nvSpPr>
          <p:cNvPr id="40" name="Rectangle 39"/>
          <p:cNvSpPr/>
          <p:nvPr/>
        </p:nvSpPr>
        <p:spPr>
          <a:xfrm>
            <a:off x="4590288" y="3081528"/>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03A59"/>
                </a:solidFill>
                <a:latin typeface="Poppins"/>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Poppins"/>
              </a:rPr>
              <a:t>Fix website contact form &amp; NAP mismatch</a:t>
            </a:r>
          </a:p>
        </p:txBody>
      </p:sp>
      <p:sp>
        <p:nvSpPr>
          <p:cNvPr id="43" name="Rectangle 42"/>
          <p:cNvSpPr/>
          <p:nvPr/>
        </p:nvSpPr>
        <p:spPr>
          <a:xfrm>
            <a:off x="4590288" y="3438144"/>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03A59"/>
                </a:solidFill>
                <a:latin typeface="Poppins"/>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Poppins"/>
              </a:rPr>
              <a:t>Kick off Elite Coach Plus coaching sessions</a:t>
            </a:r>
          </a:p>
        </p:txBody>
      </p:sp>
      <p:sp>
        <p:nvSpPr>
          <p:cNvPr id="46" name="Rectangle 45"/>
          <p:cNvSpPr/>
          <p:nvPr/>
        </p:nvSpPr>
        <p:spPr>
          <a:xfrm>
            <a:off x="4590288" y="3794760"/>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03A59"/>
                </a:solidFill>
                <a:latin typeface="Poppins"/>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Poppins"/>
              </a:rPr>
              <a:t>Publish first neighboring-city geo-page</a:t>
            </a:r>
          </a:p>
        </p:txBody>
      </p:sp>
      <p:sp>
        <p:nvSpPr>
          <p:cNvPr id="49" name="Rectangle 48"/>
          <p:cNvSpPr/>
          <p:nvPr/>
        </p:nvSpPr>
        <p:spPr>
          <a:xfrm>
            <a:off x="4590288" y="4151376"/>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03A59"/>
                </a:solidFill>
                <a:latin typeface="Poppins"/>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Poppins"/>
              </a:rPr>
              <a:t>Baseline profit tracking tied to case goals</a:t>
            </a:r>
          </a:p>
        </p:txBody>
      </p:sp>
      <p:sp>
        <p:nvSpPr>
          <p:cNvPr id="52" name="Rectangle 51"/>
          <p:cNvSpPr/>
          <p:nvPr/>
        </p:nvSpPr>
        <p:spPr>
          <a:xfrm>
            <a:off x="0" y="4425696"/>
            <a:ext cx="9144000" cy="402336"/>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Poppins"/>
              </a:rPr>
              <a:t>"I want a firm that keeps running even on the days I can't be the one in court."</a:t>
            </a:r>
          </a:p>
        </p:txBody>
      </p:sp>
      <p:sp>
        <p:nvSpPr>
          <p:cNvPr id="54" name="Rectangle 53"/>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Nick Holderman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