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69CD2B"/>
                </a:solidFill>
                <a:latin typeface="Poppins"/>
              </a:rPr>
              <a:t>LAW FIRM GROWTH AUDIT  ·  LUCERO PC</a:t>
            </a:r>
          </a:p>
        </p:txBody>
      </p:sp>
      <p:sp>
        <p:nvSpPr>
          <p:cNvPr id="4" name="TextBox 3"/>
          <p:cNvSpPr txBox="1"/>
          <p:nvPr/>
        </p:nvSpPr>
        <p:spPr>
          <a:xfrm>
            <a:off x="292608" y="310896"/>
            <a:ext cx="8595360" cy="548640"/>
          </a:xfrm>
          <a:prstGeom prst="rect">
            <a:avLst/>
          </a:prstGeom>
          <a:noFill/>
        </p:spPr>
        <p:txBody>
          <a:bodyPr wrap="square"/>
          <a:lstStyle/>
          <a:p>
            <a:pPr algn="l"/>
            <a:r>
              <a:rPr sz="2400" b="1" i="0">
                <a:solidFill>
                  <a:srgbClr val="FFFFFF"/>
                </a:solidFill>
                <a:latin typeface="Poppins"/>
              </a:rPr>
              <a:t>Where Lucero PC Stands Today</a:t>
            </a:r>
          </a:p>
        </p:txBody>
      </p:sp>
      <p:sp>
        <p:nvSpPr>
          <p:cNvPr id="5" name="Rectangle 4"/>
          <p:cNvSpPr/>
          <p:nvPr/>
        </p:nvSpPr>
        <p:spPr>
          <a:xfrm>
            <a:off x="0" y="960120"/>
            <a:ext cx="146304" cy="3867912"/>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6032" y="1005840"/>
            <a:ext cx="1298448" cy="841248"/>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1005840"/>
            <a:ext cx="1298448" cy="566928"/>
          </a:xfrm>
          <a:prstGeom prst="rect">
            <a:avLst/>
          </a:prstGeom>
          <a:noFill/>
        </p:spPr>
        <p:txBody>
          <a:bodyPr wrap="square"/>
          <a:lstStyle/>
          <a:p>
            <a:pPr algn="ctr"/>
            <a:r>
              <a:rPr sz="2800" b="1" i="0">
                <a:solidFill>
                  <a:srgbClr val="FFFFFF"/>
                </a:solidFill>
                <a:latin typeface="Poppins"/>
              </a:rPr>
              <a:t>7</a:t>
            </a:r>
          </a:p>
        </p:txBody>
      </p:sp>
      <p:sp>
        <p:nvSpPr>
          <p:cNvPr id="8" name="TextBox 7"/>
          <p:cNvSpPr txBox="1"/>
          <p:nvPr/>
        </p:nvSpPr>
        <p:spPr>
          <a:xfrm>
            <a:off x="256032" y="1572768"/>
            <a:ext cx="1298448" cy="274320"/>
          </a:xfrm>
          <a:prstGeom prst="rect">
            <a:avLst/>
          </a:prstGeom>
          <a:noFill/>
        </p:spPr>
        <p:txBody>
          <a:bodyPr wrap="square"/>
          <a:lstStyle/>
          <a:p>
            <a:pPr algn="ctr"/>
            <a:r>
              <a:rPr sz="600" b="1" i="0">
                <a:solidFill>
                  <a:srgbClr val="FFFFFF"/>
                </a:solidFill>
                <a:latin typeface="Poppins"/>
              </a:rPr>
              <a:t>COMPETITIVE URGENCY</a:t>
            </a:r>
          </a:p>
        </p:txBody>
      </p:sp>
      <p:sp>
        <p:nvSpPr>
          <p:cNvPr id="9" name="Rectangle 8"/>
          <p:cNvSpPr/>
          <p:nvPr/>
        </p:nvSpPr>
        <p:spPr>
          <a:xfrm>
            <a:off x="1682496" y="1005840"/>
            <a:ext cx="804672" cy="164592"/>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82496" y="1170432"/>
            <a:ext cx="804672" cy="676656"/>
          </a:xfrm>
          <a:prstGeom prst="rect">
            <a:avLst/>
          </a:prstGeom>
          <a:solidFill>
            <a:srgbClr val="2658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37360" y="1188720"/>
            <a:ext cx="694944" cy="237744"/>
          </a:xfrm>
          <a:prstGeom prst="rect">
            <a:avLst/>
          </a:prstGeom>
          <a:noFill/>
        </p:spPr>
        <p:txBody>
          <a:bodyPr wrap="square"/>
          <a:lstStyle/>
          <a:p>
            <a:pPr algn="l"/>
            <a:r>
              <a:rPr sz="800" b="1" i="0">
                <a:solidFill>
                  <a:srgbClr val="FFFFFF"/>
                </a:solidFill>
                <a:latin typeface="Poppins"/>
              </a:rPr>
              <a:t>Lead Generation</a:t>
            </a:r>
          </a:p>
        </p:txBody>
      </p:sp>
      <p:sp>
        <p:nvSpPr>
          <p:cNvPr id="12" name="TextBox 11"/>
          <p:cNvSpPr txBox="1"/>
          <p:nvPr/>
        </p:nvSpPr>
        <p:spPr>
          <a:xfrm>
            <a:off x="1737360" y="1417320"/>
            <a:ext cx="694944" cy="182880"/>
          </a:xfrm>
          <a:prstGeom prst="rect">
            <a:avLst/>
          </a:prstGeom>
          <a:noFill/>
        </p:spPr>
        <p:txBody>
          <a:bodyPr wrap="square"/>
          <a:lstStyle/>
          <a:p>
            <a:pPr algn="l"/>
            <a:r>
              <a:rPr sz="700" b="1" i="0">
                <a:solidFill>
                  <a:srgbClr val="C0392B"/>
                </a:solidFill>
                <a:latin typeface="Poppins"/>
              </a:rPr>
              <a:t>RED</a:t>
            </a:r>
          </a:p>
        </p:txBody>
      </p:sp>
      <p:sp>
        <p:nvSpPr>
          <p:cNvPr id="13" name="TextBox 12"/>
          <p:cNvSpPr txBox="1"/>
          <p:nvPr/>
        </p:nvSpPr>
        <p:spPr>
          <a:xfrm>
            <a:off x="1737360" y="1591056"/>
            <a:ext cx="694944" cy="237744"/>
          </a:xfrm>
          <a:prstGeom prst="rect">
            <a:avLst/>
          </a:prstGeom>
          <a:noFill/>
        </p:spPr>
        <p:txBody>
          <a:bodyPr wrap="square"/>
          <a:lstStyle/>
          <a:p>
            <a:pPr algn="l"/>
            <a:r>
              <a:rPr sz="700" b="0" i="0">
                <a:solidFill>
                  <a:srgbClr val="8BADD0"/>
                </a:solidFill>
                <a:latin typeface="Poppins"/>
              </a:rPr>
              <a:t>Unprofitable PPC spend</a:t>
            </a:r>
          </a:p>
        </p:txBody>
      </p:sp>
      <p:sp>
        <p:nvSpPr>
          <p:cNvPr id="14" name="Rectangle 13"/>
          <p:cNvSpPr/>
          <p:nvPr/>
        </p:nvSpPr>
        <p:spPr>
          <a:xfrm>
            <a:off x="2542032" y="1005840"/>
            <a:ext cx="804672" cy="164592"/>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42032" y="1170432"/>
            <a:ext cx="804672" cy="676656"/>
          </a:xfrm>
          <a:prstGeom prst="rect">
            <a:avLst/>
          </a:prstGeom>
          <a:solidFill>
            <a:srgbClr val="2658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1188720"/>
            <a:ext cx="694944" cy="237744"/>
          </a:xfrm>
          <a:prstGeom prst="rect">
            <a:avLst/>
          </a:prstGeom>
          <a:noFill/>
        </p:spPr>
        <p:txBody>
          <a:bodyPr wrap="square"/>
          <a:lstStyle/>
          <a:p>
            <a:pPr algn="l"/>
            <a:r>
              <a:rPr sz="800" b="1" i="0">
                <a:solidFill>
                  <a:srgbClr val="FFFFFF"/>
                </a:solidFill>
                <a:latin typeface="Poppins"/>
              </a:rPr>
              <a:t>Intake</a:t>
            </a:r>
          </a:p>
        </p:txBody>
      </p:sp>
      <p:sp>
        <p:nvSpPr>
          <p:cNvPr id="17" name="TextBox 16"/>
          <p:cNvSpPr txBox="1"/>
          <p:nvPr/>
        </p:nvSpPr>
        <p:spPr>
          <a:xfrm>
            <a:off x="2596896" y="1417320"/>
            <a:ext cx="694944" cy="182880"/>
          </a:xfrm>
          <a:prstGeom prst="rect">
            <a:avLst/>
          </a:prstGeom>
          <a:noFill/>
        </p:spPr>
        <p:txBody>
          <a:bodyPr wrap="square"/>
          <a:lstStyle/>
          <a:p>
            <a:pPr algn="l"/>
            <a:r>
              <a:rPr sz="700" b="1" i="0">
                <a:solidFill>
                  <a:srgbClr val="C0392B"/>
                </a:solidFill>
                <a:latin typeface="Poppins"/>
              </a:rPr>
              <a:t>RED</a:t>
            </a:r>
          </a:p>
        </p:txBody>
      </p:sp>
      <p:sp>
        <p:nvSpPr>
          <p:cNvPr id="18" name="TextBox 17"/>
          <p:cNvSpPr txBox="1"/>
          <p:nvPr/>
        </p:nvSpPr>
        <p:spPr>
          <a:xfrm>
            <a:off x="2596896" y="1591056"/>
            <a:ext cx="694944" cy="237744"/>
          </a:xfrm>
          <a:prstGeom prst="rect">
            <a:avLst/>
          </a:prstGeom>
          <a:noFill/>
        </p:spPr>
        <p:txBody>
          <a:bodyPr wrap="square"/>
          <a:lstStyle/>
          <a:p>
            <a:pPr algn="l"/>
            <a:r>
              <a:rPr sz="700" b="0" i="0">
                <a:solidFill>
                  <a:srgbClr val="8BADD0"/>
                </a:solidFill>
                <a:latin typeface="Poppins"/>
              </a:rPr>
              <a:t>Close rate now ~7%</a:t>
            </a:r>
          </a:p>
        </p:txBody>
      </p:sp>
      <p:sp>
        <p:nvSpPr>
          <p:cNvPr id="19" name="Rectangle 18"/>
          <p:cNvSpPr/>
          <p:nvPr/>
        </p:nvSpPr>
        <p:spPr>
          <a:xfrm>
            <a:off x="3401568"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01568" y="1170432"/>
            <a:ext cx="804672" cy="676656"/>
          </a:xfrm>
          <a:prstGeom prst="rect">
            <a:avLst/>
          </a:prstGeom>
          <a:solidFill>
            <a:srgbClr val="2658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56432" y="1188720"/>
            <a:ext cx="694944" cy="237744"/>
          </a:xfrm>
          <a:prstGeom prst="rect">
            <a:avLst/>
          </a:prstGeom>
          <a:noFill/>
        </p:spPr>
        <p:txBody>
          <a:bodyPr wrap="square"/>
          <a:lstStyle/>
          <a:p>
            <a:pPr algn="l"/>
            <a:r>
              <a:rPr sz="800" b="1" i="0">
                <a:solidFill>
                  <a:srgbClr val="FFFFFF"/>
                </a:solidFill>
                <a:latin typeface="Poppins"/>
              </a:rPr>
              <a:t>Team</a:t>
            </a:r>
          </a:p>
        </p:txBody>
      </p:sp>
      <p:sp>
        <p:nvSpPr>
          <p:cNvPr id="22" name="TextBox 21"/>
          <p:cNvSpPr txBox="1"/>
          <p:nvPr/>
        </p:nvSpPr>
        <p:spPr>
          <a:xfrm>
            <a:off x="3456432" y="1417320"/>
            <a:ext cx="694944" cy="182880"/>
          </a:xfrm>
          <a:prstGeom prst="rect">
            <a:avLst/>
          </a:prstGeom>
          <a:noFill/>
        </p:spPr>
        <p:txBody>
          <a:bodyPr wrap="square"/>
          <a:lstStyle/>
          <a:p>
            <a:pPr algn="l"/>
            <a:r>
              <a:rPr sz="700" b="1" i="0">
                <a:solidFill>
                  <a:srgbClr val="D97706"/>
                </a:solidFill>
                <a:latin typeface="Poppins"/>
              </a:rPr>
              <a:t>AMBER</a:t>
            </a:r>
          </a:p>
        </p:txBody>
      </p:sp>
      <p:sp>
        <p:nvSpPr>
          <p:cNvPr id="23" name="TextBox 22"/>
          <p:cNvSpPr txBox="1"/>
          <p:nvPr/>
        </p:nvSpPr>
        <p:spPr>
          <a:xfrm>
            <a:off x="3456432" y="1591056"/>
            <a:ext cx="694944" cy="237744"/>
          </a:xfrm>
          <a:prstGeom prst="rect">
            <a:avLst/>
          </a:prstGeom>
          <a:noFill/>
        </p:spPr>
        <p:txBody>
          <a:bodyPr wrap="square"/>
          <a:lstStyle/>
          <a:p>
            <a:pPr algn="l"/>
            <a:r>
              <a:rPr sz="700" b="0" i="0">
                <a:solidFill>
                  <a:srgbClr val="8BADD0"/>
                </a:solidFill>
                <a:latin typeface="Poppins"/>
              </a:rPr>
              <a:t>No associate yet</a:t>
            </a:r>
          </a:p>
        </p:txBody>
      </p:sp>
      <p:sp>
        <p:nvSpPr>
          <p:cNvPr id="24" name="Rectangle 23"/>
          <p:cNvSpPr/>
          <p:nvPr/>
        </p:nvSpPr>
        <p:spPr>
          <a:xfrm>
            <a:off x="4261104" y="1005840"/>
            <a:ext cx="804672" cy="164592"/>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61104" y="1170432"/>
            <a:ext cx="804672" cy="676656"/>
          </a:xfrm>
          <a:prstGeom prst="rect">
            <a:avLst/>
          </a:prstGeom>
          <a:solidFill>
            <a:srgbClr val="2658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1188720"/>
            <a:ext cx="694944" cy="237744"/>
          </a:xfrm>
          <a:prstGeom prst="rect">
            <a:avLst/>
          </a:prstGeom>
          <a:noFill/>
        </p:spPr>
        <p:txBody>
          <a:bodyPr wrap="square"/>
          <a:lstStyle/>
          <a:p>
            <a:pPr algn="l"/>
            <a:r>
              <a:rPr sz="800" b="1" i="0">
                <a:solidFill>
                  <a:srgbClr val="FFFFFF"/>
                </a:solidFill>
                <a:latin typeface="Poppins"/>
              </a:rPr>
              <a:t>Profit Plan</a:t>
            </a:r>
          </a:p>
        </p:txBody>
      </p:sp>
      <p:sp>
        <p:nvSpPr>
          <p:cNvPr id="27" name="TextBox 26"/>
          <p:cNvSpPr txBox="1"/>
          <p:nvPr/>
        </p:nvSpPr>
        <p:spPr>
          <a:xfrm>
            <a:off x="4315968" y="1417320"/>
            <a:ext cx="694944" cy="182880"/>
          </a:xfrm>
          <a:prstGeom prst="rect">
            <a:avLst/>
          </a:prstGeom>
          <a:noFill/>
        </p:spPr>
        <p:txBody>
          <a:bodyPr wrap="square"/>
          <a:lstStyle/>
          <a:p>
            <a:pPr algn="l"/>
            <a:r>
              <a:rPr sz="700" b="1" i="0">
                <a:solidFill>
                  <a:srgbClr val="C0392B"/>
                </a:solidFill>
                <a:latin typeface="Poppins"/>
              </a:rPr>
              <a:t>RED</a:t>
            </a:r>
          </a:p>
        </p:txBody>
      </p:sp>
      <p:sp>
        <p:nvSpPr>
          <p:cNvPr id="28" name="TextBox 27"/>
          <p:cNvSpPr txBox="1"/>
          <p:nvPr/>
        </p:nvSpPr>
        <p:spPr>
          <a:xfrm>
            <a:off x="4315968" y="1591056"/>
            <a:ext cx="694944" cy="237744"/>
          </a:xfrm>
          <a:prstGeom prst="rect">
            <a:avLst/>
          </a:prstGeom>
          <a:noFill/>
        </p:spPr>
        <p:txBody>
          <a:bodyPr wrap="square"/>
          <a:lstStyle/>
          <a:p>
            <a:pPr algn="l"/>
            <a:r>
              <a:rPr sz="700" b="0" i="0">
                <a:solidFill>
                  <a:srgbClr val="8BADD0"/>
                </a:solidFill>
                <a:latin typeface="Poppins"/>
              </a:rPr>
              <a:t>No profit visibility</a:t>
            </a:r>
          </a:p>
        </p:txBody>
      </p:sp>
      <p:sp>
        <p:nvSpPr>
          <p:cNvPr id="29" name="TextBox 28"/>
          <p:cNvSpPr txBox="1"/>
          <p:nvPr/>
        </p:nvSpPr>
        <p:spPr>
          <a:xfrm>
            <a:off x="256032" y="1956816"/>
            <a:ext cx="4846320" cy="219456"/>
          </a:xfrm>
          <a:prstGeom prst="rect">
            <a:avLst/>
          </a:prstGeom>
          <a:noFill/>
        </p:spPr>
        <p:txBody>
          <a:bodyPr wrap="square"/>
          <a:lstStyle/>
          <a:p>
            <a:pPr algn="l"/>
            <a:r>
              <a:rPr sz="800" b="1" i="0">
                <a:solidFill>
                  <a:srgbClr val="69CD2B"/>
                </a:solidFill>
                <a:latin typeface="Poppins"/>
              </a:rPr>
              <a:t>KEY FINDINGS</a:t>
            </a:r>
          </a:p>
        </p:txBody>
      </p:sp>
      <p:sp>
        <p:nvSpPr>
          <p:cNvPr id="30" name="Rectangle 29"/>
          <p:cNvSpPr/>
          <p:nvPr/>
        </p:nvSpPr>
        <p:spPr>
          <a:xfrm>
            <a:off x="256032" y="2212848"/>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386584"/>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2368296"/>
            <a:ext cx="219456" cy="237744"/>
          </a:xfrm>
          <a:prstGeom prst="rect">
            <a:avLst/>
          </a:prstGeom>
          <a:noFill/>
        </p:spPr>
        <p:txBody>
          <a:bodyPr wrap="square"/>
          <a:lstStyle/>
          <a:p>
            <a:pPr algn="ctr"/>
            <a:r>
              <a:rPr sz="900" b="1" i="0">
                <a:solidFill>
                  <a:srgbClr val="FFFFFF"/>
                </a:solidFill>
                <a:latin typeface="Poppins"/>
              </a:rPr>
              <a:t>✕</a:t>
            </a:r>
          </a:p>
        </p:txBody>
      </p:sp>
      <p:sp>
        <p:nvSpPr>
          <p:cNvPr id="33" name="TextBox 32"/>
          <p:cNvSpPr txBox="1"/>
          <p:nvPr/>
        </p:nvSpPr>
        <p:spPr>
          <a:xfrm>
            <a:off x="676656" y="2286000"/>
            <a:ext cx="4352544" cy="420624"/>
          </a:xfrm>
          <a:prstGeom prst="rect">
            <a:avLst/>
          </a:prstGeom>
          <a:noFill/>
        </p:spPr>
        <p:txBody>
          <a:bodyPr wrap="square"/>
          <a:lstStyle/>
          <a:p>
            <a:pPr algn="l"/>
            <a:r>
              <a:rPr sz="1000" b="0" i="0">
                <a:solidFill>
                  <a:srgbClr val="F0BABA"/>
                </a:solidFill>
                <a:latin typeface="Poppins"/>
              </a:rPr>
              <a:t>Unprofitable $5,800/mo PPC produces ~1 client a month</a:t>
            </a:r>
          </a:p>
        </p:txBody>
      </p:sp>
      <p:sp>
        <p:nvSpPr>
          <p:cNvPr id="34" name="Rectangle 33"/>
          <p:cNvSpPr/>
          <p:nvPr/>
        </p:nvSpPr>
        <p:spPr>
          <a:xfrm>
            <a:off x="256032" y="2834640"/>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3008376"/>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60" y="2990088"/>
            <a:ext cx="219456" cy="237744"/>
          </a:xfrm>
          <a:prstGeom prst="rect">
            <a:avLst/>
          </a:prstGeom>
          <a:noFill/>
        </p:spPr>
        <p:txBody>
          <a:bodyPr wrap="square"/>
          <a:lstStyle/>
          <a:p>
            <a:pPr algn="ctr"/>
            <a:r>
              <a:rPr sz="900" b="1" i="0">
                <a:solidFill>
                  <a:srgbClr val="FFFFFF"/>
                </a:solidFill>
                <a:latin typeface="Poppins"/>
              </a:rPr>
              <a:t>✕</a:t>
            </a:r>
          </a:p>
        </p:txBody>
      </p:sp>
      <p:sp>
        <p:nvSpPr>
          <p:cNvPr id="37" name="TextBox 36"/>
          <p:cNvSpPr txBox="1"/>
          <p:nvPr/>
        </p:nvSpPr>
        <p:spPr>
          <a:xfrm>
            <a:off x="676656" y="2907792"/>
            <a:ext cx="4352544" cy="420624"/>
          </a:xfrm>
          <a:prstGeom prst="rect">
            <a:avLst/>
          </a:prstGeom>
          <a:noFill/>
        </p:spPr>
        <p:txBody>
          <a:bodyPr wrap="square"/>
          <a:lstStyle/>
          <a:p>
            <a:pPr algn="l"/>
            <a:r>
              <a:rPr sz="1000" b="0" i="0">
                <a:solidFill>
                  <a:srgbClr val="F0BABA"/>
                </a:solidFill>
                <a:latin typeface="Poppins"/>
              </a:rPr>
              <a:t>Close rate collapsed from ~30% in July to ~7% in August</a:t>
            </a:r>
          </a:p>
        </p:txBody>
      </p:sp>
      <p:sp>
        <p:nvSpPr>
          <p:cNvPr id="38" name="Rectangle 37"/>
          <p:cNvSpPr/>
          <p:nvPr/>
        </p:nvSpPr>
        <p:spPr>
          <a:xfrm>
            <a:off x="256032" y="3456432"/>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630168"/>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3611879"/>
            <a:ext cx="219456" cy="237744"/>
          </a:xfrm>
          <a:prstGeom prst="rect">
            <a:avLst/>
          </a:prstGeom>
          <a:noFill/>
        </p:spPr>
        <p:txBody>
          <a:bodyPr wrap="square"/>
          <a:lstStyle/>
          <a:p>
            <a:pPr algn="ctr"/>
            <a:r>
              <a:rPr sz="900" b="1" i="0">
                <a:solidFill>
                  <a:srgbClr val="FFFFFF"/>
                </a:solidFill>
                <a:latin typeface="Poppins"/>
              </a:rPr>
              <a:t>✕</a:t>
            </a:r>
          </a:p>
        </p:txBody>
      </p:sp>
      <p:sp>
        <p:nvSpPr>
          <p:cNvPr id="41" name="TextBox 40"/>
          <p:cNvSpPr txBox="1"/>
          <p:nvPr/>
        </p:nvSpPr>
        <p:spPr>
          <a:xfrm>
            <a:off x="676656" y="3529584"/>
            <a:ext cx="4352544" cy="420624"/>
          </a:xfrm>
          <a:prstGeom prst="rect">
            <a:avLst/>
          </a:prstGeom>
          <a:noFill/>
        </p:spPr>
        <p:txBody>
          <a:bodyPr wrap="square"/>
          <a:lstStyle/>
          <a:p>
            <a:pPr algn="l"/>
            <a:r>
              <a:rPr sz="1000" b="0" i="0">
                <a:solidFill>
                  <a:srgbClr val="F0BABA"/>
                </a:solidFill>
                <a:latin typeface="Poppins"/>
              </a:rPr>
              <a:t>Solo attorney handles every case and court date personally</a:t>
            </a:r>
          </a:p>
        </p:txBody>
      </p:sp>
      <p:sp>
        <p:nvSpPr>
          <p:cNvPr id="42" name="Rectangle 41"/>
          <p:cNvSpPr/>
          <p:nvPr/>
        </p:nvSpPr>
        <p:spPr>
          <a:xfrm>
            <a:off x="256032" y="4078224"/>
            <a:ext cx="4846320" cy="566928"/>
          </a:xfrm>
          <a:prstGeom prst="rect">
            <a:avLst/>
          </a:prstGeom>
          <a:solidFill>
            <a:srgbClr val="0C281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4251960"/>
            <a:ext cx="219456" cy="219456"/>
          </a:xfrm>
          <a:prstGeom prst="rect">
            <a:avLst/>
          </a:prstGeom>
          <a:solidFill>
            <a:srgbClr val="16A3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4233672"/>
            <a:ext cx="219456" cy="237744"/>
          </a:xfrm>
          <a:prstGeom prst="rect">
            <a:avLst/>
          </a:prstGeom>
          <a:noFill/>
        </p:spPr>
        <p:txBody>
          <a:bodyPr wrap="square"/>
          <a:lstStyle/>
          <a:p>
            <a:pPr algn="ctr"/>
            <a:r>
              <a:rPr sz="900" b="1" i="0">
                <a:solidFill>
                  <a:srgbClr val="FFFFFF"/>
                </a:solidFill>
                <a:latin typeface="Poppins"/>
              </a:rPr>
              <a:t>✓</a:t>
            </a:r>
          </a:p>
        </p:txBody>
      </p:sp>
      <p:sp>
        <p:nvSpPr>
          <p:cNvPr id="45" name="TextBox 44"/>
          <p:cNvSpPr txBox="1"/>
          <p:nvPr/>
        </p:nvSpPr>
        <p:spPr>
          <a:xfrm>
            <a:off x="676656" y="4151376"/>
            <a:ext cx="4352544" cy="420624"/>
          </a:xfrm>
          <a:prstGeom prst="rect">
            <a:avLst/>
          </a:prstGeom>
          <a:noFill/>
        </p:spPr>
        <p:txBody>
          <a:bodyPr wrap="square"/>
          <a:lstStyle/>
          <a:p>
            <a:pPr algn="l"/>
            <a:r>
              <a:rPr sz="1000" b="0" i="0">
                <a:solidFill>
                  <a:srgbClr val="86EFAC"/>
                </a:solidFill>
                <a:latin typeface="Poppins"/>
              </a:rPr>
              <a:t>Organic blog already outperforms paid marketing spend</a:t>
            </a:r>
          </a:p>
        </p:txBody>
      </p:sp>
      <p:sp>
        <p:nvSpPr>
          <p:cNvPr id="46" name="Rectangle 45"/>
          <p:cNvSpPr/>
          <p:nvPr/>
        </p:nvSpPr>
        <p:spPr>
          <a:xfrm>
            <a:off x="5257800" y="960120"/>
            <a:ext cx="3886200" cy="386791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257800" y="1024128"/>
            <a:ext cx="3886200" cy="694944"/>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57800" y="1024128"/>
            <a:ext cx="128016" cy="694944"/>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0" y="1042415"/>
            <a:ext cx="3474720" cy="201168"/>
          </a:xfrm>
          <a:prstGeom prst="rect">
            <a:avLst/>
          </a:prstGeom>
          <a:noFill/>
        </p:spPr>
        <p:txBody>
          <a:bodyPr wrap="square"/>
          <a:lstStyle/>
          <a:p>
            <a:pPr algn="l"/>
            <a:r>
              <a:rPr sz="800" b="1" i="0">
                <a:solidFill>
                  <a:srgbClr val="69CD2B"/>
                </a:solidFill>
                <a:latin typeface="Poppins"/>
              </a:rPr>
              <a:t>YOU ARE HERE</a:t>
            </a:r>
          </a:p>
        </p:txBody>
      </p:sp>
      <p:sp>
        <p:nvSpPr>
          <p:cNvPr id="50" name="TextBox 49"/>
          <p:cNvSpPr txBox="1"/>
          <p:nvPr/>
        </p:nvSpPr>
        <p:spPr>
          <a:xfrm>
            <a:off x="5486400" y="1243584"/>
            <a:ext cx="3474720" cy="402336"/>
          </a:xfrm>
          <a:prstGeom prst="rect">
            <a:avLst/>
          </a:prstGeom>
          <a:noFill/>
        </p:spPr>
        <p:txBody>
          <a:bodyPr wrap="square"/>
          <a:lstStyle/>
          <a:p>
            <a:pPr algn="l"/>
            <a:r>
              <a:rPr sz="1000" b="1" i="0">
                <a:solidFill>
                  <a:srgbClr val="FFFFFF"/>
                </a:solidFill>
                <a:latin typeface="Poppins"/>
              </a:rPr>
              <a:t>Stage 3: Solo Practitioner  →  Goal: Stage 6, Law Firm Owner</a:t>
            </a:r>
          </a:p>
        </p:txBody>
      </p:sp>
      <p:sp>
        <p:nvSpPr>
          <p:cNvPr id="51" name="TextBox 50"/>
          <p:cNvSpPr txBox="1"/>
          <p:nvPr/>
        </p:nvSpPr>
        <p:spPr>
          <a:xfrm>
            <a:off x="5394960" y="1920240"/>
            <a:ext cx="3566160" cy="219456"/>
          </a:xfrm>
          <a:prstGeom prst="rect">
            <a:avLst/>
          </a:prstGeom>
          <a:noFill/>
        </p:spPr>
        <p:txBody>
          <a:bodyPr wrap="square"/>
          <a:lstStyle/>
          <a:p>
            <a:pPr algn="l"/>
            <a:r>
              <a:rPr sz="800" b="1" i="0">
                <a:solidFill>
                  <a:srgbClr val="64748B"/>
                </a:solidFill>
                <a:latin typeface="Poppins"/>
              </a:rPr>
              <a:t>COMPETITOR LANDSCAPE</a:t>
            </a:r>
          </a:p>
        </p:txBody>
      </p:sp>
      <p:sp>
        <p:nvSpPr>
          <p:cNvPr id="52" name="Rectangle 51"/>
          <p:cNvSpPr/>
          <p:nvPr/>
        </p:nvSpPr>
        <p:spPr>
          <a:xfrm>
            <a:off x="5257800" y="2176272"/>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13248" y="2221991"/>
            <a:ext cx="1828800" cy="219456"/>
          </a:xfrm>
          <a:prstGeom prst="rect">
            <a:avLst/>
          </a:prstGeom>
          <a:noFill/>
        </p:spPr>
        <p:txBody>
          <a:bodyPr wrap="square"/>
          <a:lstStyle/>
          <a:p>
            <a:pPr algn="l"/>
            <a:r>
              <a:rPr sz="800" b="0" i="0">
                <a:solidFill>
                  <a:srgbClr val="1E293B"/>
                </a:solidFill>
                <a:latin typeface="Poppins"/>
              </a:rPr>
              <a:t>Poseidon Defense APC</a:t>
            </a:r>
          </a:p>
        </p:txBody>
      </p:sp>
      <p:sp>
        <p:nvSpPr>
          <p:cNvPr id="54" name="TextBox 53"/>
          <p:cNvSpPr txBox="1"/>
          <p:nvPr/>
        </p:nvSpPr>
        <p:spPr>
          <a:xfrm>
            <a:off x="7260336" y="2221991"/>
            <a:ext cx="914400" cy="219456"/>
          </a:xfrm>
          <a:prstGeom prst="rect">
            <a:avLst/>
          </a:prstGeom>
          <a:noFill/>
        </p:spPr>
        <p:txBody>
          <a:bodyPr wrap="square"/>
          <a:lstStyle/>
          <a:p>
            <a:pPr algn="l"/>
            <a:r>
              <a:rPr sz="800" b="0" i="0">
                <a:solidFill>
                  <a:srgbClr val="16A34A"/>
                </a:solidFill>
                <a:latin typeface="Poppins"/>
              </a:rPr>
              <a:t>Larger review base</a:t>
            </a:r>
          </a:p>
        </p:txBody>
      </p:sp>
      <p:sp>
        <p:nvSpPr>
          <p:cNvPr id="55" name="TextBox 54"/>
          <p:cNvSpPr txBox="1"/>
          <p:nvPr/>
        </p:nvSpPr>
        <p:spPr>
          <a:xfrm>
            <a:off x="8193024" y="2240279"/>
            <a:ext cx="822960" cy="201168"/>
          </a:xfrm>
          <a:prstGeom prst="rect">
            <a:avLst/>
          </a:prstGeom>
          <a:noFill/>
        </p:spPr>
        <p:txBody>
          <a:bodyPr wrap="square"/>
          <a:lstStyle/>
          <a:p>
            <a:pPr algn="l"/>
            <a:r>
              <a:rPr sz="600" b="0" i="0">
                <a:solidFill>
                  <a:srgbClr val="64748B"/>
                </a:solidFill>
                <a:latin typeface="Poppins"/>
              </a:rPr>
              <a:t>Built La Verne sub-area pages</a:t>
            </a:r>
          </a:p>
        </p:txBody>
      </p:sp>
      <p:sp>
        <p:nvSpPr>
          <p:cNvPr id="56" name="Rectangle 55"/>
          <p:cNvSpPr/>
          <p:nvPr/>
        </p:nvSpPr>
        <p:spPr>
          <a:xfrm>
            <a:off x="5257800" y="2523744"/>
            <a:ext cx="38862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13248" y="2569463"/>
            <a:ext cx="1828800" cy="219456"/>
          </a:xfrm>
          <a:prstGeom prst="rect">
            <a:avLst/>
          </a:prstGeom>
          <a:noFill/>
        </p:spPr>
        <p:txBody>
          <a:bodyPr wrap="square"/>
          <a:lstStyle/>
          <a:p>
            <a:pPr algn="l"/>
            <a:r>
              <a:rPr sz="800" b="0" i="0">
                <a:solidFill>
                  <a:srgbClr val="1E293B"/>
                </a:solidFill>
                <a:latin typeface="Poppins"/>
              </a:rPr>
              <a:t>Confianza Legal</a:t>
            </a:r>
          </a:p>
        </p:txBody>
      </p:sp>
      <p:sp>
        <p:nvSpPr>
          <p:cNvPr id="58" name="TextBox 57"/>
          <p:cNvSpPr txBox="1"/>
          <p:nvPr/>
        </p:nvSpPr>
        <p:spPr>
          <a:xfrm>
            <a:off x="7260336" y="2569463"/>
            <a:ext cx="914400" cy="219456"/>
          </a:xfrm>
          <a:prstGeom prst="rect">
            <a:avLst/>
          </a:prstGeom>
          <a:noFill/>
        </p:spPr>
        <p:txBody>
          <a:bodyPr wrap="square"/>
          <a:lstStyle/>
          <a:p>
            <a:pPr algn="l"/>
            <a:r>
              <a:rPr sz="800" b="0" i="0">
                <a:solidFill>
                  <a:srgbClr val="16A34A"/>
                </a:solidFill>
                <a:latin typeface="Poppins"/>
              </a:rPr>
              <a:t>Larger review base</a:t>
            </a:r>
          </a:p>
        </p:txBody>
      </p:sp>
      <p:sp>
        <p:nvSpPr>
          <p:cNvPr id="59" name="TextBox 58"/>
          <p:cNvSpPr txBox="1"/>
          <p:nvPr/>
        </p:nvSpPr>
        <p:spPr>
          <a:xfrm>
            <a:off x="8193024" y="2587751"/>
            <a:ext cx="822960" cy="201168"/>
          </a:xfrm>
          <a:prstGeom prst="rect">
            <a:avLst/>
          </a:prstGeom>
          <a:noFill/>
        </p:spPr>
        <p:txBody>
          <a:bodyPr wrap="square"/>
          <a:lstStyle/>
          <a:p>
            <a:pPr algn="l"/>
            <a:r>
              <a:rPr sz="600" b="0" i="0">
                <a:solidFill>
                  <a:srgbClr val="64748B"/>
                </a:solidFill>
                <a:latin typeface="Poppins"/>
              </a:rPr>
              <a:t>4 dedicated city landing pages</a:t>
            </a:r>
          </a:p>
        </p:txBody>
      </p:sp>
      <p:sp>
        <p:nvSpPr>
          <p:cNvPr id="60" name="Rectangle 59"/>
          <p:cNvSpPr/>
          <p:nvPr/>
        </p:nvSpPr>
        <p:spPr>
          <a:xfrm>
            <a:off x="5257800" y="2871216"/>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13248" y="2916936"/>
            <a:ext cx="1828800" cy="219456"/>
          </a:xfrm>
          <a:prstGeom prst="rect">
            <a:avLst/>
          </a:prstGeom>
          <a:noFill/>
        </p:spPr>
        <p:txBody>
          <a:bodyPr wrap="square"/>
          <a:lstStyle/>
          <a:p>
            <a:pPr algn="l"/>
            <a:r>
              <a:rPr sz="800" b="0" i="0">
                <a:solidFill>
                  <a:srgbClr val="1E293B"/>
                </a:solidFill>
                <a:latin typeface="Poppins"/>
              </a:rPr>
              <a:t>Law Offices of Ali Komaili</a:t>
            </a:r>
          </a:p>
        </p:txBody>
      </p:sp>
      <p:sp>
        <p:nvSpPr>
          <p:cNvPr id="62" name="TextBox 61"/>
          <p:cNvSpPr txBox="1"/>
          <p:nvPr/>
        </p:nvSpPr>
        <p:spPr>
          <a:xfrm>
            <a:off x="7260336" y="2916936"/>
            <a:ext cx="914400" cy="219456"/>
          </a:xfrm>
          <a:prstGeom prst="rect">
            <a:avLst/>
          </a:prstGeom>
          <a:noFill/>
        </p:spPr>
        <p:txBody>
          <a:bodyPr wrap="square"/>
          <a:lstStyle/>
          <a:p>
            <a:pPr algn="l"/>
            <a:r>
              <a:rPr sz="800" b="0" i="0">
                <a:solidFill>
                  <a:srgbClr val="16A34A"/>
                </a:solidFill>
                <a:latin typeface="Poppins"/>
              </a:rPr>
              <a:t>Spotless 5-star</a:t>
            </a:r>
          </a:p>
        </p:txBody>
      </p:sp>
      <p:sp>
        <p:nvSpPr>
          <p:cNvPr id="63" name="TextBox 62"/>
          <p:cNvSpPr txBox="1"/>
          <p:nvPr/>
        </p:nvSpPr>
        <p:spPr>
          <a:xfrm>
            <a:off x="8193024" y="2935224"/>
            <a:ext cx="822960" cy="201168"/>
          </a:xfrm>
          <a:prstGeom prst="rect">
            <a:avLst/>
          </a:prstGeom>
          <a:noFill/>
        </p:spPr>
        <p:txBody>
          <a:bodyPr wrap="square"/>
          <a:lstStyle/>
          <a:p>
            <a:pPr algn="l"/>
            <a:r>
              <a:rPr sz="600" b="0" i="0">
                <a:solidFill>
                  <a:srgbClr val="64748B"/>
                </a:solidFill>
                <a:latin typeface="Poppins"/>
              </a:rPr>
              <a:t>30 min away, still visible</a:t>
            </a:r>
          </a:p>
        </p:txBody>
      </p:sp>
      <p:sp>
        <p:nvSpPr>
          <p:cNvPr id="64" name="Rectangle 63"/>
          <p:cNvSpPr/>
          <p:nvPr/>
        </p:nvSpPr>
        <p:spPr>
          <a:xfrm>
            <a:off x="5257800" y="3218688"/>
            <a:ext cx="3886200" cy="310896"/>
          </a:xfrm>
          <a:prstGeom prst="rect">
            <a:avLst/>
          </a:prstGeom>
          <a:solidFill>
            <a:srgbClr val="FFF0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257800" y="3218688"/>
            <a:ext cx="91440" cy="31089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13248" y="3264408"/>
            <a:ext cx="1828800" cy="219456"/>
          </a:xfrm>
          <a:prstGeom prst="rect">
            <a:avLst/>
          </a:prstGeom>
          <a:noFill/>
        </p:spPr>
        <p:txBody>
          <a:bodyPr wrap="square"/>
          <a:lstStyle/>
          <a:p>
            <a:pPr algn="l"/>
            <a:r>
              <a:rPr sz="900" b="1" i="0">
                <a:solidFill>
                  <a:srgbClr val="C0392B"/>
                </a:solidFill>
                <a:latin typeface="Poppins"/>
              </a:rPr>
              <a:t>Lucero PC</a:t>
            </a:r>
          </a:p>
        </p:txBody>
      </p:sp>
      <p:sp>
        <p:nvSpPr>
          <p:cNvPr id="67" name="TextBox 66"/>
          <p:cNvSpPr txBox="1"/>
          <p:nvPr/>
        </p:nvSpPr>
        <p:spPr>
          <a:xfrm>
            <a:off x="7260336" y="3264408"/>
            <a:ext cx="914400" cy="219456"/>
          </a:xfrm>
          <a:prstGeom prst="rect">
            <a:avLst/>
          </a:prstGeom>
          <a:noFill/>
        </p:spPr>
        <p:txBody>
          <a:bodyPr wrap="square"/>
          <a:lstStyle/>
          <a:p>
            <a:pPr algn="l"/>
            <a:r>
              <a:rPr sz="800" b="1" i="0">
                <a:solidFill>
                  <a:srgbClr val="C0392B"/>
                </a:solidFill>
                <a:latin typeface="Poppins"/>
              </a:rPr>
              <a:t>Very few reviews</a:t>
            </a:r>
          </a:p>
        </p:txBody>
      </p:sp>
      <p:sp>
        <p:nvSpPr>
          <p:cNvPr id="68" name="TextBox 67"/>
          <p:cNvSpPr txBox="1"/>
          <p:nvPr/>
        </p:nvSpPr>
        <p:spPr>
          <a:xfrm>
            <a:off x="8193024" y="3282696"/>
            <a:ext cx="822960" cy="201168"/>
          </a:xfrm>
          <a:prstGeom prst="rect">
            <a:avLst/>
          </a:prstGeom>
          <a:noFill/>
        </p:spPr>
        <p:txBody>
          <a:bodyPr wrap="square"/>
          <a:lstStyle/>
          <a:p>
            <a:pPr algn="l"/>
            <a:r>
              <a:rPr sz="600" b="0" i="0">
                <a:solidFill>
                  <a:srgbClr val="64748B"/>
                </a:solidFill>
                <a:latin typeface="Poppins"/>
              </a:rPr>
              <a:t>← You are here</a:t>
            </a:r>
          </a:p>
        </p:txBody>
      </p:sp>
      <p:sp>
        <p:nvSpPr>
          <p:cNvPr id="69" name="Rectangle 68"/>
          <p:cNvSpPr/>
          <p:nvPr/>
        </p:nvSpPr>
        <p:spPr>
          <a:xfrm>
            <a:off x="0" y="4828032"/>
            <a:ext cx="9144000" cy="3200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609344" y="4837176"/>
            <a:ext cx="5303520" cy="274320"/>
          </a:xfrm>
          <a:prstGeom prst="rect">
            <a:avLst/>
          </a:prstGeom>
          <a:noFill/>
        </p:spPr>
        <p:txBody>
          <a:bodyPr wrap="square"/>
          <a:lstStyle/>
          <a:p>
            <a:pPr algn="l"/>
            <a:r>
              <a:rPr sz="800" b="0" i="0">
                <a:solidFill>
                  <a:srgbClr val="5A7A9A"/>
                </a:solidFill>
                <a:latin typeface="Poppins"/>
              </a:rPr>
              <a:t>CONFIDENTIAL  ·  Prepared by Nick Holderman | SMB Team</a:t>
            </a:r>
          </a:p>
        </p:txBody>
      </p:sp>
      <p:sp>
        <p:nvSpPr>
          <p:cNvPr id="71" name="TextBox 70"/>
          <p:cNvSpPr txBox="1"/>
          <p:nvPr/>
        </p:nvSpPr>
        <p:spPr>
          <a:xfrm>
            <a:off x="8138160" y="4837176"/>
            <a:ext cx="786384" cy="274320"/>
          </a:xfrm>
          <a:prstGeom prst="rect">
            <a:avLst/>
          </a:prstGeom>
          <a:noFill/>
        </p:spPr>
        <p:txBody>
          <a:bodyPr wrap="square"/>
          <a:lstStyle/>
          <a:p>
            <a:pPr algn="r"/>
            <a:r>
              <a:rPr sz="800" b="0" i="0">
                <a:solidFill>
                  <a:srgbClr val="5A7A9A"/>
                </a:solidFill>
                <a:latin typeface="Poppins"/>
              </a:rPr>
              <a:t>1 /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69CD2B"/>
                </a:solidFill>
                <a:latin typeface="Poppins"/>
              </a:rPr>
              <a:t>LAW FIRM GROWTH AUDIT  ·  LUCERO PC</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Poppins"/>
              </a:rPr>
              <a:t>Your Growth Plan: 3 Priorities to Reach 5-6 Cases a Month</a:t>
            </a:r>
          </a:p>
        </p:txBody>
      </p:sp>
      <p:sp>
        <p:nvSpPr>
          <p:cNvPr id="5" name="Rectangle 4"/>
          <p:cNvSpPr/>
          <p:nvPr/>
        </p:nvSpPr>
        <p:spPr>
          <a:xfrm>
            <a:off x="182880" y="1024128"/>
            <a:ext cx="2487168" cy="363931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1042415"/>
            <a:ext cx="2487168" cy="18288"/>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2608" y="1097280"/>
            <a:ext cx="2267712" cy="201168"/>
          </a:xfrm>
          <a:prstGeom prst="rect">
            <a:avLst/>
          </a:prstGeom>
          <a:noFill/>
        </p:spPr>
        <p:txBody>
          <a:bodyPr wrap="square"/>
          <a:lstStyle/>
          <a:p>
            <a:pPr algn="l"/>
            <a:r>
              <a:rPr sz="800" b="1" i="0">
                <a:solidFill>
                  <a:srgbClr val="69CD2B"/>
                </a:solidFill>
                <a:latin typeface="Poppins"/>
              </a:rPr>
              <a:t>THE SMB TEAM MODEL</a:t>
            </a:r>
          </a:p>
        </p:txBody>
      </p:sp>
      <p:sp>
        <p:nvSpPr>
          <p:cNvPr id="8" name="TextBox 7"/>
          <p:cNvSpPr txBox="1"/>
          <p:nvPr/>
        </p:nvSpPr>
        <p:spPr>
          <a:xfrm>
            <a:off x="292608" y="1335024"/>
            <a:ext cx="2267712" cy="1572768"/>
          </a:xfrm>
          <a:prstGeom prst="rect">
            <a:avLst/>
          </a:prstGeom>
          <a:noFill/>
        </p:spPr>
        <p:txBody>
          <a:bodyPr wrap="square"/>
          <a:lstStyle/>
          <a:p>
            <a:pPr algn="l"/>
            <a:r>
              <a:rPr sz="900" b="0" i="0">
                <a:solidFill>
                  <a:srgbClr val="A8BFDA"/>
                </a:solidFill>
                <a:latin typeface="Poppins"/>
              </a:rPr>
              <a:t>Lead Generation, Intake, Team, and Profit have to work together. When all four do, Christopher can finally step back from being the only person who can show up in court every day.</a:t>
            </a:r>
          </a:p>
        </p:txBody>
      </p:sp>
      <p:sp>
        <p:nvSpPr>
          <p:cNvPr id="9" name="Rectangle 8"/>
          <p:cNvSpPr/>
          <p:nvPr/>
        </p:nvSpPr>
        <p:spPr>
          <a:xfrm>
            <a:off x="182880" y="2999232"/>
            <a:ext cx="2487168" cy="749808"/>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3017520"/>
            <a:ext cx="2286000" cy="274320"/>
          </a:xfrm>
          <a:prstGeom prst="rect">
            <a:avLst/>
          </a:prstGeom>
          <a:noFill/>
        </p:spPr>
        <p:txBody>
          <a:bodyPr wrap="square"/>
          <a:lstStyle/>
          <a:p>
            <a:pPr algn="l"/>
            <a:r>
              <a:rPr sz="1200" b="1" i="0">
                <a:solidFill>
                  <a:srgbClr val="003A59"/>
                </a:solidFill>
                <a:latin typeface="Poppins"/>
              </a:rPr>
              <a:t>2-3 → 5-6 private cases/mo</a:t>
            </a:r>
          </a:p>
        </p:txBody>
      </p:sp>
      <p:sp>
        <p:nvSpPr>
          <p:cNvPr id="11" name="TextBox 10"/>
          <p:cNvSpPr txBox="1"/>
          <p:nvPr/>
        </p:nvSpPr>
        <p:spPr>
          <a:xfrm>
            <a:off x="292608" y="3291840"/>
            <a:ext cx="2286000" cy="402336"/>
          </a:xfrm>
          <a:prstGeom prst="rect">
            <a:avLst/>
          </a:prstGeom>
          <a:noFill/>
        </p:spPr>
        <p:txBody>
          <a:bodyPr wrap="square"/>
          <a:lstStyle/>
          <a:p>
            <a:pPr algn="l"/>
            <a:r>
              <a:rPr sz="900" b="0" i="0">
                <a:solidFill>
                  <a:srgbClr val="003A59"/>
                </a:solidFill>
                <a:latin typeface="Poppins"/>
              </a:rPr>
              <a:t>Christopher isn't the only one who can show up</a:t>
            </a:r>
          </a:p>
        </p:txBody>
      </p:sp>
      <p:sp>
        <p:nvSpPr>
          <p:cNvPr id="12" name="Rectangle 11"/>
          <p:cNvSpPr/>
          <p:nvPr/>
        </p:nvSpPr>
        <p:spPr>
          <a:xfrm>
            <a:off x="2816352" y="1024128"/>
            <a:ext cx="2048256" cy="841248"/>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0" y="1042415"/>
            <a:ext cx="457200" cy="274320"/>
          </a:xfrm>
          <a:prstGeom prst="rect">
            <a:avLst/>
          </a:prstGeom>
          <a:noFill/>
        </p:spPr>
        <p:txBody>
          <a:bodyPr wrap="square"/>
          <a:lstStyle/>
          <a:p>
            <a:pPr algn="l"/>
            <a:r>
              <a:rPr sz="1000" b="1" i="0">
                <a:solidFill>
                  <a:srgbClr val="FFFFFF"/>
                </a:solidFill>
                <a:latin typeface="Poppins"/>
              </a:rPr>
              <a:t>01</a:t>
            </a:r>
          </a:p>
        </p:txBody>
      </p:sp>
      <p:sp>
        <p:nvSpPr>
          <p:cNvPr id="14" name="TextBox 13"/>
          <p:cNvSpPr txBox="1"/>
          <p:nvPr/>
        </p:nvSpPr>
        <p:spPr>
          <a:xfrm>
            <a:off x="2926080" y="1316736"/>
            <a:ext cx="1865376" cy="256032"/>
          </a:xfrm>
          <a:prstGeom prst="rect">
            <a:avLst/>
          </a:prstGeom>
          <a:noFill/>
        </p:spPr>
        <p:txBody>
          <a:bodyPr wrap="square"/>
          <a:lstStyle/>
          <a:p>
            <a:pPr algn="l"/>
            <a:r>
              <a:rPr sz="1200" b="1" i="0">
                <a:solidFill>
                  <a:srgbClr val="FFFFFF"/>
                </a:solidFill>
                <a:latin typeface="Poppins"/>
              </a:rPr>
              <a:t>Build the</a:t>
            </a:r>
          </a:p>
        </p:txBody>
      </p:sp>
      <p:sp>
        <p:nvSpPr>
          <p:cNvPr id="15" name="TextBox 14"/>
          <p:cNvSpPr txBox="1"/>
          <p:nvPr/>
        </p:nvSpPr>
        <p:spPr>
          <a:xfrm>
            <a:off x="2926080" y="1554480"/>
            <a:ext cx="1865376" cy="256032"/>
          </a:xfrm>
          <a:prstGeom prst="rect">
            <a:avLst/>
          </a:prstGeom>
          <a:noFill/>
        </p:spPr>
        <p:txBody>
          <a:bodyPr wrap="square"/>
          <a:lstStyle/>
          <a:p>
            <a:pPr algn="l"/>
            <a:r>
              <a:rPr sz="1200" b="1" i="0">
                <a:solidFill>
                  <a:srgbClr val="FFFFFF"/>
                </a:solidFill>
                <a:latin typeface="Poppins"/>
              </a:rPr>
              <a:t>Marketing Engine</a:t>
            </a:r>
          </a:p>
        </p:txBody>
      </p:sp>
      <p:sp>
        <p:nvSpPr>
          <p:cNvPr id="16" name="Rectangle 15"/>
          <p:cNvSpPr/>
          <p:nvPr/>
        </p:nvSpPr>
        <p:spPr>
          <a:xfrm>
            <a:off x="2816352" y="1865376"/>
            <a:ext cx="2048256" cy="566928"/>
          </a:xfrm>
          <a:prstGeom prst="rect">
            <a:avLst/>
          </a:prstGeom>
          <a:solidFill>
            <a:srgbClr val="E3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07792" y="2084832"/>
            <a:ext cx="91440" cy="91440"/>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54096" y="1920240"/>
            <a:ext cx="1755648" cy="475488"/>
          </a:xfrm>
          <a:prstGeom prst="rect">
            <a:avLst/>
          </a:prstGeom>
          <a:noFill/>
        </p:spPr>
        <p:txBody>
          <a:bodyPr wrap="square"/>
          <a:lstStyle/>
          <a:p>
            <a:pPr algn="l"/>
            <a:r>
              <a:rPr sz="800" b="0" i="0">
                <a:solidFill>
                  <a:srgbClr val="1E293B"/>
                </a:solidFill>
                <a:latin typeface="Poppins"/>
              </a:rPr>
              <a:t>Fix the failing $5,800/mo PPC campaign</a:t>
            </a:r>
          </a:p>
        </p:txBody>
      </p:sp>
      <p:sp>
        <p:nvSpPr>
          <p:cNvPr id="19" name="Rectangle 18"/>
          <p:cNvSpPr/>
          <p:nvPr/>
        </p:nvSpPr>
        <p:spPr>
          <a:xfrm>
            <a:off x="2816352"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07792" y="2688336"/>
            <a:ext cx="91440" cy="91440"/>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4096" y="2523744"/>
            <a:ext cx="1755648" cy="475488"/>
          </a:xfrm>
          <a:prstGeom prst="rect">
            <a:avLst/>
          </a:prstGeom>
          <a:noFill/>
        </p:spPr>
        <p:txBody>
          <a:bodyPr wrap="square"/>
          <a:lstStyle/>
          <a:p>
            <a:pPr algn="l"/>
            <a:r>
              <a:rPr sz="800" b="0" i="0">
                <a:solidFill>
                  <a:srgbClr val="1E293B"/>
                </a:solidFill>
                <a:latin typeface="Poppins"/>
              </a:rPr>
              <a:t>Launch Local Service Ads for qualified leads</a:t>
            </a:r>
          </a:p>
        </p:txBody>
      </p:sp>
      <p:sp>
        <p:nvSpPr>
          <p:cNvPr id="22" name="Rectangle 21"/>
          <p:cNvSpPr/>
          <p:nvPr/>
        </p:nvSpPr>
        <p:spPr>
          <a:xfrm>
            <a:off x="2816352" y="3072384"/>
            <a:ext cx="2048256" cy="566928"/>
          </a:xfrm>
          <a:prstGeom prst="rect">
            <a:avLst/>
          </a:prstGeom>
          <a:solidFill>
            <a:srgbClr val="E3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2" y="3291839"/>
            <a:ext cx="91440" cy="91440"/>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54096" y="3127248"/>
            <a:ext cx="1755648" cy="475488"/>
          </a:xfrm>
          <a:prstGeom prst="rect">
            <a:avLst/>
          </a:prstGeom>
          <a:noFill/>
        </p:spPr>
        <p:txBody>
          <a:bodyPr wrap="square"/>
          <a:lstStyle/>
          <a:p>
            <a:pPr algn="l"/>
            <a:r>
              <a:rPr sz="800" b="0" i="0">
                <a:solidFill>
                  <a:srgbClr val="1E293B"/>
                </a:solidFill>
                <a:latin typeface="Poppins"/>
              </a:rPr>
              <a:t>Build geo-pages for Pomona, Claremont, San Dimas</a:t>
            </a:r>
          </a:p>
        </p:txBody>
      </p:sp>
      <p:sp>
        <p:nvSpPr>
          <p:cNvPr id="25" name="Rectangle 24"/>
          <p:cNvSpPr/>
          <p:nvPr/>
        </p:nvSpPr>
        <p:spPr>
          <a:xfrm>
            <a:off x="2816352"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07792" y="3895344"/>
            <a:ext cx="91440" cy="91440"/>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54096" y="3730751"/>
            <a:ext cx="1755648" cy="475488"/>
          </a:xfrm>
          <a:prstGeom prst="rect">
            <a:avLst/>
          </a:prstGeom>
          <a:noFill/>
        </p:spPr>
        <p:txBody>
          <a:bodyPr wrap="square"/>
          <a:lstStyle/>
          <a:p>
            <a:pPr algn="l"/>
            <a:r>
              <a:rPr sz="800" b="0" i="0">
                <a:solidFill>
                  <a:srgbClr val="1E293B"/>
                </a:solidFill>
                <a:latin typeface="Poppins"/>
              </a:rPr>
              <a:t>Fix the NAP phone number mismatch</a:t>
            </a:r>
          </a:p>
        </p:txBody>
      </p:sp>
      <p:sp>
        <p:nvSpPr>
          <p:cNvPr id="28" name="Rectangle 27"/>
          <p:cNvSpPr/>
          <p:nvPr/>
        </p:nvSpPr>
        <p:spPr>
          <a:xfrm>
            <a:off x="2816352" y="4279392"/>
            <a:ext cx="2048256" cy="566928"/>
          </a:xfrm>
          <a:prstGeom prst="rect">
            <a:avLst/>
          </a:prstGeom>
          <a:solidFill>
            <a:srgbClr val="E3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07792" y="4498848"/>
            <a:ext cx="91440" cy="91440"/>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54096" y="4334255"/>
            <a:ext cx="1755648" cy="475488"/>
          </a:xfrm>
          <a:prstGeom prst="rect">
            <a:avLst/>
          </a:prstGeom>
          <a:noFill/>
        </p:spPr>
        <p:txBody>
          <a:bodyPr wrap="square"/>
          <a:lstStyle/>
          <a:p>
            <a:pPr algn="l"/>
            <a:r>
              <a:rPr sz="800" b="0" i="0">
                <a:solidFill>
                  <a:srgbClr val="1E293B"/>
                </a:solidFill>
                <a:latin typeface="Poppins"/>
              </a:rPr>
              <a:t>Turn ads into a pipeline that runs without you</a:t>
            </a:r>
          </a:p>
        </p:txBody>
      </p:sp>
      <p:sp>
        <p:nvSpPr>
          <p:cNvPr id="31" name="Rectangle 30"/>
          <p:cNvSpPr/>
          <p:nvPr/>
        </p:nvSpPr>
        <p:spPr>
          <a:xfrm>
            <a:off x="4937760" y="1024128"/>
            <a:ext cx="2048256" cy="841248"/>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7488" y="1042415"/>
            <a:ext cx="457200" cy="274320"/>
          </a:xfrm>
          <a:prstGeom prst="rect">
            <a:avLst/>
          </a:prstGeom>
          <a:noFill/>
        </p:spPr>
        <p:txBody>
          <a:bodyPr wrap="square"/>
          <a:lstStyle/>
          <a:p>
            <a:pPr algn="l"/>
            <a:r>
              <a:rPr sz="1000" b="1" i="0">
                <a:solidFill>
                  <a:srgbClr val="003A59"/>
                </a:solidFill>
                <a:latin typeface="Poppins"/>
              </a:rPr>
              <a:t>02</a:t>
            </a:r>
          </a:p>
        </p:txBody>
      </p:sp>
      <p:sp>
        <p:nvSpPr>
          <p:cNvPr id="33" name="TextBox 32"/>
          <p:cNvSpPr txBox="1"/>
          <p:nvPr/>
        </p:nvSpPr>
        <p:spPr>
          <a:xfrm>
            <a:off x="5047488" y="1316736"/>
            <a:ext cx="1865376" cy="256032"/>
          </a:xfrm>
          <a:prstGeom prst="rect">
            <a:avLst/>
          </a:prstGeom>
          <a:noFill/>
        </p:spPr>
        <p:txBody>
          <a:bodyPr wrap="square"/>
          <a:lstStyle/>
          <a:p>
            <a:pPr algn="l"/>
            <a:r>
              <a:rPr sz="1200" b="1" i="0">
                <a:solidFill>
                  <a:srgbClr val="003A59"/>
                </a:solidFill>
                <a:latin typeface="Poppins"/>
              </a:rPr>
              <a:t>Fix Intake &amp;</a:t>
            </a:r>
          </a:p>
        </p:txBody>
      </p:sp>
      <p:sp>
        <p:nvSpPr>
          <p:cNvPr id="34" name="TextBox 33"/>
          <p:cNvSpPr txBox="1"/>
          <p:nvPr/>
        </p:nvSpPr>
        <p:spPr>
          <a:xfrm>
            <a:off x="5047488" y="1554480"/>
            <a:ext cx="1865376" cy="256032"/>
          </a:xfrm>
          <a:prstGeom prst="rect">
            <a:avLst/>
          </a:prstGeom>
          <a:noFill/>
        </p:spPr>
        <p:txBody>
          <a:bodyPr wrap="square"/>
          <a:lstStyle/>
          <a:p>
            <a:pPr algn="l"/>
            <a:r>
              <a:rPr sz="1200" b="1" i="0">
                <a:solidFill>
                  <a:srgbClr val="003A59"/>
                </a:solidFill>
                <a:latin typeface="Poppins"/>
              </a:rPr>
              <a:t>Stop Losing Cases</a:t>
            </a:r>
          </a:p>
        </p:txBody>
      </p:sp>
      <p:sp>
        <p:nvSpPr>
          <p:cNvPr id="35" name="Rectangle 34"/>
          <p:cNvSpPr/>
          <p:nvPr/>
        </p:nvSpPr>
        <p:spPr>
          <a:xfrm>
            <a:off x="4937760" y="1865376"/>
            <a:ext cx="2048256" cy="566928"/>
          </a:xfrm>
          <a:prstGeom prst="rect">
            <a:avLst/>
          </a:prstGeom>
          <a:solidFill>
            <a:srgbClr val="EDF9E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0" y="2084832"/>
            <a:ext cx="91440" cy="91440"/>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75504" y="1920240"/>
            <a:ext cx="1755648" cy="475488"/>
          </a:xfrm>
          <a:prstGeom prst="rect">
            <a:avLst/>
          </a:prstGeom>
          <a:noFill/>
        </p:spPr>
        <p:txBody>
          <a:bodyPr wrap="square"/>
          <a:lstStyle/>
          <a:p>
            <a:pPr algn="l"/>
            <a:r>
              <a:rPr sz="800" b="0" i="0">
                <a:solidFill>
                  <a:srgbClr val="1E293B"/>
                </a:solidFill>
                <a:latin typeface="Poppins"/>
              </a:rPr>
              <a:t>Build a defined intake follow-up process</a:t>
            </a:r>
          </a:p>
        </p:txBody>
      </p:sp>
      <p:sp>
        <p:nvSpPr>
          <p:cNvPr id="38" name="Rectangle 37"/>
          <p:cNvSpPr/>
          <p:nvPr/>
        </p:nvSpPr>
        <p:spPr>
          <a:xfrm>
            <a:off x="4937760"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0" y="2688336"/>
            <a:ext cx="91440" cy="91440"/>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75504" y="2523744"/>
            <a:ext cx="1755648" cy="475488"/>
          </a:xfrm>
          <a:prstGeom prst="rect">
            <a:avLst/>
          </a:prstGeom>
          <a:noFill/>
        </p:spPr>
        <p:txBody>
          <a:bodyPr wrap="square"/>
          <a:lstStyle/>
          <a:p>
            <a:pPr algn="l"/>
            <a:r>
              <a:rPr sz="800" b="0" i="0">
                <a:solidFill>
                  <a:srgbClr val="1E293B"/>
                </a:solidFill>
                <a:latin typeface="Poppins"/>
              </a:rPr>
              <a:t>Recover close rate from ~7% back to benchmark</a:t>
            </a:r>
          </a:p>
        </p:txBody>
      </p:sp>
      <p:sp>
        <p:nvSpPr>
          <p:cNvPr id="41" name="Rectangle 40"/>
          <p:cNvSpPr/>
          <p:nvPr/>
        </p:nvSpPr>
        <p:spPr>
          <a:xfrm>
            <a:off x="4937760" y="3072384"/>
            <a:ext cx="2048256" cy="566928"/>
          </a:xfrm>
          <a:prstGeom prst="rect">
            <a:avLst/>
          </a:prstGeom>
          <a:solidFill>
            <a:srgbClr val="EDF9E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0" y="3291839"/>
            <a:ext cx="91440" cy="91440"/>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75504" y="3127248"/>
            <a:ext cx="1755648" cy="475488"/>
          </a:xfrm>
          <a:prstGeom prst="rect">
            <a:avLst/>
          </a:prstGeom>
          <a:noFill/>
        </p:spPr>
        <p:txBody>
          <a:bodyPr wrap="square"/>
          <a:lstStyle/>
          <a:p>
            <a:pPr algn="l"/>
            <a:r>
              <a:rPr sz="800" b="0" i="0">
                <a:solidFill>
                  <a:srgbClr val="1E293B"/>
                </a:solidFill>
                <a:latin typeface="Poppins"/>
              </a:rPr>
              <a:t>Add a website contact form</a:t>
            </a:r>
          </a:p>
        </p:txBody>
      </p:sp>
      <p:sp>
        <p:nvSpPr>
          <p:cNvPr id="44" name="Rectangle 43"/>
          <p:cNvSpPr/>
          <p:nvPr/>
        </p:nvSpPr>
        <p:spPr>
          <a:xfrm>
            <a:off x="4937760"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0" y="3895344"/>
            <a:ext cx="91440" cy="91440"/>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75504" y="3730751"/>
            <a:ext cx="1755648" cy="475488"/>
          </a:xfrm>
          <a:prstGeom prst="rect">
            <a:avLst/>
          </a:prstGeom>
          <a:noFill/>
        </p:spPr>
        <p:txBody>
          <a:bodyPr wrap="square"/>
          <a:lstStyle/>
          <a:p>
            <a:pPr algn="l"/>
            <a:r>
              <a:rPr sz="800" b="0" i="0">
                <a:solidFill>
                  <a:srgbClr val="1E293B"/>
                </a:solidFill>
                <a:latin typeface="Poppins"/>
              </a:rPr>
              <a:t>Capture leads who won't call first</a:t>
            </a:r>
          </a:p>
        </p:txBody>
      </p:sp>
      <p:sp>
        <p:nvSpPr>
          <p:cNvPr id="47" name="Rectangle 46"/>
          <p:cNvSpPr/>
          <p:nvPr/>
        </p:nvSpPr>
        <p:spPr>
          <a:xfrm>
            <a:off x="4937760" y="4279392"/>
            <a:ext cx="2048256" cy="566928"/>
          </a:xfrm>
          <a:prstGeom prst="rect">
            <a:avLst/>
          </a:prstGeom>
          <a:solidFill>
            <a:srgbClr val="EDF9E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029200" y="4498848"/>
            <a:ext cx="91440" cy="91440"/>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75504" y="4334255"/>
            <a:ext cx="1755648" cy="475488"/>
          </a:xfrm>
          <a:prstGeom prst="rect">
            <a:avLst/>
          </a:prstGeom>
          <a:noFill/>
        </p:spPr>
        <p:txBody>
          <a:bodyPr wrap="square"/>
          <a:lstStyle/>
          <a:p>
            <a:pPr algn="l"/>
            <a:r>
              <a:rPr sz="800" b="0" i="0">
                <a:solidFill>
                  <a:srgbClr val="1E293B"/>
                </a:solidFill>
                <a:latin typeface="Poppins"/>
              </a:rPr>
              <a:t>Convert leads you already paid for — no new spend</a:t>
            </a:r>
          </a:p>
        </p:txBody>
      </p:sp>
      <p:sp>
        <p:nvSpPr>
          <p:cNvPr id="50" name="Rectangle 49"/>
          <p:cNvSpPr/>
          <p:nvPr/>
        </p:nvSpPr>
        <p:spPr>
          <a:xfrm>
            <a:off x="7059168" y="1024128"/>
            <a:ext cx="2048256" cy="841248"/>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168896" y="1042415"/>
            <a:ext cx="457200" cy="274320"/>
          </a:xfrm>
          <a:prstGeom prst="rect">
            <a:avLst/>
          </a:prstGeom>
          <a:noFill/>
        </p:spPr>
        <p:txBody>
          <a:bodyPr wrap="square"/>
          <a:lstStyle/>
          <a:p>
            <a:pPr algn="l"/>
            <a:r>
              <a:rPr sz="1000" b="1" i="0">
                <a:solidFill>
                  <a:srgbClr val="FFFFFF"/>
                </a:solidFill>
                <a:latin typeface="Poppins"/>
              </a:rPr>
              <a:t>03</a:t>
            </a:r>
          </a:p>
        </p:txBody>
      </p:sp>
      <p:sp>
        <p:nvSpPr>
          <p:cNvPr id="52" name="TextBox 51"/>
          <p:cNvSpPr txBox="1"/>
          <p:nvPr/>
        </p:nvSpPr>
        <p:spPr>
          <a:xfrm>
            <a:off x="7168896" y="1316736"/>
            <a:ext cx="1865376" cy="256032"/>
          </a:xfrm>
          <a:prstGeom prst="rect">
            <a:avLst/>
          </a:prstGeom>
          <a:noFill/>
        </p:spPr>
        <p:txBody>
          <a:bodyPr wrap="square"/>
          <a:lstStyle/>
          <a:p>
            <a:pPr algn="l"/>
            <a:r>
              <a:rPr sz="1200" b="1" i="0">
                <a:solidFill>
                  <a:srgbClr val="FFFFFF"/>
                </a:solidFill>
                <a:latin typeface="Poppins"/>
              </a:rPr>
              <a:t>Install Team &amp;</a:t>
            </a:r>
          </a:p>
        </p:txBody>
      </p:sp>
      <p:sp>
        <p:nvSpPr>
          <p:cNvPr id="53" name="TextBox 52"/>
          <p:cNvSpPr txBox="1"/>
          <p:nvPr/>
        </p:nvSpPr>
        <p:spPr>
          <a:xfrm>
            <a:off x="7168896" y="1554480"/>
            <a:ext cx="1865376" cy="256032"/>
          </a:xfrm>
          <a:prstGeom prst="rect">
            <a:avLst/>
          </a:prstGeom>
          <a:noFill/>
        </p:spPr>
        <p:txBody>
          <a:bodyPr wrap="square"/>
          <a:lstStyle/>
          <a:p>
            <a:pPr algn="l"/>
            <a:r>
              <a:rPr sz="1200" b="1" i="0">
                <a:solidFill>
                  <a:srgbClr val="FFFFFF"/>
                </a:solidFill>
                <a:latin typeface="Poppins"/>
              </a:rPr>
              <a:t>Profit Systems</a:t>
            </a:r>
          </a:p>
        </p:txBody>
      </p:sp>
      <p:sp>
        <p:nvSpPr>
          <p:cNvPr id="54" name="Rectangle 53"/>
          <p:cNvSpPr/>
          <p:nvPr/>
        </p:nvSpPr>
        <p:spPr>
          <a:xfrm>
            <a:off x="7059168" y="1865376"/>
            <a:ext cx="2048256" cy="566928"/>
          </a:xfrm>
          <a:prstGeom prst="rect">
            <a:avLst/>
          </a:prstGeom>
          <a:solidFill>
            <a:srgbClr val="E0E7E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150607" y="2084832"/>
            <a:ext cx="91440" cy="914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96912" y="1920240"/>
            <a:ext cx="1755648" cy="475488"/>
          </a:xfrm>
          <a:prstGeom prst="rect">
            <a:avLst/>
          </a:prstGeom>
          <a:noFill/>
        </p:spPr>
        <p:txBody>
          <a:bodyPr wrap="square"/>
          <a:lstStyle/>
          <a:p>
            <a:pPr algn="l"/>
            <a:r>
              <a:rPr sz="800" b="0" i="0">
                <a:solidFill>
                  <a:srgbClr val="1E293B"/>
                </a:solidFill>
                <a:latin typeface="Poppins"/>
              </a:rPr>
              <a:t>Build the associate-hiring plan now</a:t>
            </a:r>
          </a:p>
        </p:txBody>
      </p:sp>
      <p:sp>
        <p:nvSpPr>
          <p:cNvPr id="57" name="Rectangle 56"/>
          <p:cNvSpPr/>
          <p:nvPr/>
        </p:nvSpPr>
        <p:spPr>
          <a:xfrm>
            <a:off x="7059168"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150607" y="2688336"/>
            <a:ext cx="91440" cy="914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296912" y="2523744"/>
            <a:ext cx="1755648" cy="475488"/>
          </a:xfrm>
          <a:prstGeom prst="rect">
            <a:avLst/>
          </a:prstGeom>
          <a:noFill/>
        </p:spPr>
        <p:txBody>
          <a:bodyPr wrap="square"/>
          <a:lstStyle/>
          <a:p>
            <a:pPr algn="l"/>
            <a:r>
              <a:rPr sz="800" b="0" i="0">
                <a:solidFill>
                  <a:srgbClr val="1E293B"/>
                </a:solidFill>
                <a:latin typeface="Poppins"/>
              </a:rPr>
              <a:t>Start coaching to build a delegation structure</a:t>
            </a:r>
          </a:p>
        </p:txBody>
      </p:sp>
      <p:sp>
        <p:nvSpPr>
          <p:cNvPr id="60" name="Rectangle 59"/>
          <p:cNvSpPr/>
          <p:nvPr/>
        </p:nvSpPr>
        <p:spPr>
          <a:xfrm>
            <a:off x="7059168" y="3072384"/>
            <a:ext cx="2048256" cy="566928"/>
          </a:xfrm>
          <a:prstGeom prst="rect">
            <a:avLst/>
          </a:prstGeom>
          <a:solidFill>
            <a:srgbClr val="E0E7E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150607" y="3291839"/>
            <a:ext cx="91440" cy="914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6912" y="3127248"/>
            <a:ext cx="1755648" cy="475488"/>
          </a:xfrm>
          <a:prstGeom prst="rect">
            <a:avLst/>
          </a:prstGeom>
          <a:noFill/>
        </p:spPr>
        <p:txBody>
          <a:bodyPr wrap="square"/>
          <a:lstStyle/>
          <a:p>
            <a:pPr algn="l"/>
            <a:r>
              <a:rPr sz="800" b="0" i="0">
                <a:solidFill>
                  <a:srgbClr val="1E293B"/>
                </a:solidFill>
                <a:latin typeface="Poppins"/>
              </a:rPr>
              <a:t>Establish a real profit plan, not just case counts</a:t>
            </a:r>
          </a:p>
        </p:txBody>
      </p:sp>
      <p:sp>
        <p:nvSpPr>
          <p:cNvPr id="63" name="Rectangle 62"/>
          <p:cNvSpPr/>
          <p:nvPr/>
        </p:nvSpPr>
        <p:spPr>
          <a:xfrm>
            <a:off x="7059168"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150607" y="3895344"/>
            <a:ext cx="91440" cy="914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96912" y="3730751"/>
            <a:ext cx="1755648" cy="475488"/>
          </a:xfrm>
          <a:prstGeom prst="rect">
            <a:avLst/>
          </a:prstGeom>
          <a:noFill/>
        </p:spPr>
        <p:txBody>
          <a:bodyPr wrap="square"/>
          <a:lstStyle/>
          <a:p>
            <a:pPr algn="l"/>
            <a:r>
              <a:rPr sz="800" b="0" i="0">
                <a:solidFill>
                  <a:srgbClr val="1E293B"/>
                </a:solidFill>
                <a:latin typeface="Poppins"/>
              </a:rPr>
              <a:t>Know the margin needed to fund the hire</a:t>
            </a:r>
          </a:p>
        </p:txBody>
      </p:sp>
      <p:sp>
        <p:nvSpPr>
          <p:cNvPr id="66" name="Rectangle 65"/>
          <p:cNvSpPr/>
          <p:nvPr/>
        </p:nvSpPr>
        <p:spPr>
          <a:xfrm>
            <a:off x="7059168" y="4279392"/>
            <a:ext cx="2048256" cy="566928"/>
          </a:xfrm>
          <a:prstGeom prst="rect">
            <a:avLst/>
          </a:prstGeom>
          <a:solidFill>
            <a:srgbClr val="E0E7E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150607" y="4498848"/>
            <a:ext cx="91440" cy="914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96912" y="4334255"/>
            <a:ext cx="1755648" cy="475488"/>
          </a:xfrm>
          <a:prstGeom prst="rect">
            <a:avLst/>
          </a:prstGeom>
          <a:noFill/>
        </p:spPr>
        <p:txBody>
          <a:bodyPr wrap="square"/>
          <a:lstStyle/>
          <a:p>
            <a:pPr algn="l"/>
            <a:r>
              <a:rPr sz="800" b="0" i="0">
                <a:solidFill>
                  <a:srgbClr val="1E293B"/>
                </a:solidFill>
                <a:latin typeface="Poppins"/>
              </a:rPr>
              <a:t>Step back from court, and trust it still runs</a:t>
            </a:r>
          </a:p>
        </p:txBody>
      </p:sp>
      <p:sp>
        <p:nvSpPr>
          <p:cNvPr id="69" name="Rectangle 68"/>
          <p:cNvSpPr/>
          <p:nvPr/>
        </p:nvSpPr>
        <p:spPr>
          <a:xfrm>
            <a:off x="0" y="4828032"/>
            <a:ext cx="9144000" cy="3200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609344" y="4837176"/>
            <a:ext cx="5303520" cy="274320"/>
          </a:xfrm>
          <a:prstGeom prst="rect">
            <a:avLst/>
          </a:prstGeom>
          <a:noFill/>
        </p:spPr>
        <p:txBody>
          <a:bodyPr wrap="square"/>
          <a:lstStyle/>
          <a:p>
            <a:pPr algn="l"/>
            <a:r>
              <a:rPr sz="800" b="0" i="0">
                <a:solidFill>
                  <a:srgbClr val="5A7A9A"/>
                </a:solidFill>
                <a:latin typeface="Poppins"/>
              </a:rPr>
              <a:t>CONFIDENTIAL  ·  Prepared by Nick Holderman | SMB Team</a:t>
            </a:r>
          </a:p>
        </p:txBody>
      </p:sp>
      <p:sp>
        <p:nvSpPr>
          <p:cNvPr id="71" name="TextBox 70"/>
          <p:cNvSpPr txBox="1"/>
          <p:nvPr/>
        </p:nvSpPr>
        <p:spPr>
          <a:xfrm>
            <a:off x="8138160" y="4837176"/>
            <a:ext cx="786384" cy="274320"/>
          </a:xfrm>
          <a:prstGeom prst="rect">
            <a:avLst/>
          </a:prstGeom>
          <a:noFill/>
        </p:spPr>
        <p:txBody>
          <a:bodyPr wrap="square"/>
          <a:lstStyle/>
          <a:p>
            <a:pPr algn="r"/>
            <a:r>
              <a:rPr sz="800" b="0" i="0">
                <a:solidFill>
                  <a:srgbClr val="5A7A9A"/>
                </a:solidFill>
                <a:latin typeface="Poppins"/>
              </a:rPr>
              <a:t>2 /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69CD2B"/>
                </a:solidFill>
                <a:latin typeface="Poppins"/>
              </a:rPr>
              <a:t>LAW FIRM GROWTH AUDIT  ·  LUCERO PC</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Poppins"/>
              </a:rPr>
              <a:t>Your Investment &amp; What Happens Next</a:t>
            </a:r>
          </a:p>
        </p:txBody>
      </p:sp>
      <p:sp>
        <p:nvSpPr>
          <p:cNvPr id="5" name="Rectangle 4"/>
          <p:cNvSpPr/>
          <p:nvPr/>
        </p:nvSpPr>
        <p:spPr>
          <a:xfrm>
            <a:off x="201168" y="1024128"/>
            <a:ext cx="4133087" cy="10241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1168" y="1024128"/>
            <a:ext cx="182880" cy="1024128"/>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1115568"/>
            <a:ext cx="3803904" cy="201168"/>
          </a:xfrm>
          <a:prstGeom prst="rect">
            <a:avLst/>
          </a:prstGeom>
          <a:noFill/>
        </p:spPr>
        <p:txBody>
          <a:bodyPr wrap="square"/>
          <a:lstStyle/>
          <a:p>
            <a:pPr algn="l"/>
            <a:r>
              <a:rPr sz="800" b="1" i="0">
                <a:solidFill>
                  <a:srgbClr val="0091C9"/>
                </a:solidFill>
                <a:latin typeface="Poppins"/>
              </a:rPr>
              <a:t>FULL SERVICE MARKETING — STARTER</a:t>
            </a:r>
          </a:p>
        </p:txBody>
      </p:sp>
      <p:sp>
        <p:nvSpPr>
          <p:cNvPr id="8" name="TextBox 7"/>
          <p:cNvSpPr txBox="1"/>
          <p:nvPr/>
        </p:nvSpPr>
        <p:spPr>
          <a:xfrm>
            <a:off x="475488" y="1298448"/>
            <a:ext cx="1828800" cy="438912"/>
          </a:xfrm>
          <a:prstGeom prst="rect">
            <a:avLst/>
          </a:prstGeom>
          <a:noFill/>
        </p:spPr>
        <p:txBody>
          <a:bodyPr wrap="square"/>
          <a:lstStyle/>
          <a:p>
            <a:pPr algn="l"/>
            <a:r>
              <a:rPr sz="3200" b="1" i="0">
                <a:solidFill>
                  <a:srgbClr val="003A59"/>
                </a:solidFill>
                <a:latin typeface="Poppins"/>
              </a:rPr>
              <a:t>$4,997</a:t>
            </a:r>
          </a:p>
        </p:txBody>
      </p:sp>
      <p:sp>
        <p:nvSpPr>
          <p:cNvPr id="9" name="TextBox 8"/>
          <p:cNvSpPr txBox="1"/>
          <p:nvPr/>
        </p:nvSpPr>
        <p:spPr>
          <a:xfrm>
            <a:off x="1865376" y="1408176"/>
            <a:ext cx="420624" cy="256032"/>
          </a:xfrm>
          <a:prstGeom prst="rect">
            <a:avLst/>
          </a:prstGeom>
          <a:noFill/>
        </p:spPr>
        <p:txBody>
          <a:bodyPr wrap="square"/>
          <a:lstStyle/>
          <a:p>
            <a:pPr algn="l"/>
            <a:r>
              <a:rPr sz="1100" b="0" i="0">
                <a:solidFill>
                  <a:srgbClr val="64748B"/>
                </a:solidFill>
                <a:latin typeface="Poppins"/>
              </a:rPr>
              <a:t>/mo</a:t>
            </a:r>
          </a:p>
        </p:txBody>
      </p:sp>
      <p:sp>
        <p:nvSpPr>
          <p:cNvPr id="10" name="TextBox 9"/>
          <p:cNvSpPr txBox="1"/>
          <p:nvPr/>
        </p:nvSpPr>
        <p:spPr>
          <a:xfrm>
            <a:off x="2322576" y="1426464"/>
            <a:ext cx="914400" cy="237744"/>
          </a:xfrm>
          <a:prstGeom prst="rect">
            <a:avLst/>
          </a:prstGeom>
          <a:noFill/>
        </p:spPr>
        <p:txBody>
          <a:bodyPr wrap="square"/>
          <a:lstStyle/>
          <a:p>
            <a:pPr algn="l"/>
            <a:r>
              <a:rPr sz="1100" b="0" i="0">
                <a:solidFill>
                  <a:srgbClr val="334155"/>
                </a:solidFill>
                <a:latin typeface="Poppins"/>
              </a:rPr>
              <a:t>$5,697/mo</a:t>
            </a:r>
          </a:p>
        </p:txBody>
      </p:sp>
      <p:sp>
        <p:nvSpPr>
          <p:cNvPr id="11" name="Rectangle 10"/>
          <p:cNvSpPr/>
          <p:nvPr/>
        </p:nvSpPr>
        <p:spPr>
          <a:xfrm>
            <a:off x="2322576" y="1527048"/>
            <a:ext cx="804672" cy="9144"/>
          </a:xfrm>
          <a:prstGeom prst="rect">
            <a:avLst/>
          </a:prstGeom>
          <a:solidFill>
            <a:srgbClr val="33415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1792224"/>
            <a:ext cx="3803904" cy="201168"/>
          </a:xfrm>
          <a:prstGeom prst="rect">
            <a:avLst/>
          </a:prstGeom>
          <a:noFill/>
        </p:spPr>
        <p:txBody>
          <a:bodyPr wrap="square"/>
          <a:lstStyle/>
          <a:p>
            <a:pPr algn="l"/>
            <a:r>
              <a:rPr sz="800" b="0" i="0">
                <a:solidFill>
                  <a:srgbClr val="64748B"/>
                </a:solidFill>
                <a:latin typeface="Poppins"/>
              </a:rPr>
              <a:t>Google Ads · LSA · Local SEO/Geo-Pages · Website Fixes</a:t>
            </a:r>
          </a:p>
        </p:txBody>
      </p:sp>
      <p:sp>
        <p:nvSpPr>
          <p:cNvPr id="13" name="Rectangle 12"/>
          <p:cNvSpPr/>
          <p:nvPr/>
        </p:nvSpPr>
        <p:spPr>
          <a:xfrm>
            <a:off x="201168" y="2139696"/>
            <a:ext cx="4133087" cy="10241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1168" y="2139696"/>
            <a:ext cx="182880" cy="1024128"/>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2231136"/>
            <a:ext cx="3803904" cy="201168"/>
          </a:xfrm>
          <a:prstGeom prst="rect">
            <a:avLst/>
          </a:prstGeom>
          <a:noFill/>
        </p:spPr>
        <p:txBody>
          <a:bodyPr wrap="square"/>
          <a:lstStyle/>
          <a:p>
            <a:pPr algn="l"/>
            <a:r>
              <a:rPr sz="800" b="1" i="0">
                <a:solidFill>
                  <a:srgbClr val="003A59"/>
                </a:solidFill>
                <a:latin typeface="Poppins"/>
              </a:rPr>
              <a:t>ELITE COACH PLUS</a:t>
            </a:r>
          </a:p>
        </p:txBody>
      </p:sp>
      <p:sp>
        <p:nvSpPr>
          <p:cNvPr id="16" name="TextBox 15"/>
          <p:cNvSpPr txBox="1"/>
          <p:nvPr/>
        </p:nvSpPr>
        <p:spPr>
          <a:xfrm>
            <a:off x="475488" y="2414015"/>
            <a:ext cx="1828800" cy="438912"/>
          </a:xfrm>
          <a:prstGeom prst="rect">
            <a:avLst/>
          </a:prstGeom>
          <a:noFill/>
        </p:spPr>
        <p:txBody>
          <a:bodyPr wrap="square"/>
          <a:lstStyle/>
          <a:p>
            <a:pPr algn="l"/>
            <a:r>
              <a:rPr sz="3200" b="1" i="0">
                <a:solidFill>
                  <a:srgbClr val="003A59"/>
                </a:solidFill>
                <a:latin typeface="Poppins"/>
              </a:rPr>
              <a:t>$3,200</a:t>
            </a:r>
          </a:p>
        </p:txBody>
      </p:sp>
      <p:sp>
        <p:nvSpPr>
          <p:cNvPr id="17" name="TextBox 16"/>
          <p:cNvSpPr txBox="1"/>
          <p:nvPr/>
        </p:nvSpPr>
        <p:spPr>
          <a:xfrm>
            <a:off x="1865376" y="2523744"/>
            <a:ext cx="420624" cy="256032"/>
          </a:xfrm>
          <a:prstGeom prst="rect">
            <a:avLst/>
          </a:prstGeom>
          <a:noFill/>
        </p:spPr>
        <p:txBody>
          <a:bodyPr wrap="square"/>
          <a:lstStyle/>
          <a:p>
            <a:pPr algn="l"/>
            <a:r>
              <a:rPr sz="1100" b="0" i="0">
                <a:solidFill>
                  <a:srgbClr val="64748B"/>
                </a:solidFill>
                <a:latin typeface="Poppins"/>
              </a:rPr>
              <a:t>/mo</a:t>
            </a:r>
          </a:p>
        </p:txBody>
      </p:sp>
      <p:sp>
        <p:nvSpPr>
          <p:cNvPr id="18" name="TextBox 17"/>
          <p:cNvSpPr txBox="1"/>
          <p:nvPr/>
        </p:nvSpPr>
        <p:spPr>
          <a:xfrm>
            <a:off x="2322576" y="2542032"/>
            <a:ext cx="914400" cy="237744"/>
          </a:xfrm>
          <a:prstGeom prst="rect">
            <a:avLst/>
          </a:prstGeom>
          <a:noFill/>
        </p:spPr>
        <p:txBody>
          <a:bodyPr wrap="square"/>
          <a:lstStyle/>
          <a:p>
            <a:pPr algn="l"/>
            <a:r>
              <a:rPr sz="1100" b="0" i="0">
                <a:solidFill>
                  <a:srgbClr val="334155"/>
                </a:solidFill>
                <a:latin typeface="Poppins"/>
              </a:rPr>
              <a:t>$3,497/mo</a:t>
            </a:r>
          </a:p>
        </p:txBody>
      </p:sp>
      <p:sp>
        <p:nvSpPr>
          <p:cNvPr id="19" name="Rectangle 18"/>
          <p:cNvSpPr/>
          <p:nvPr/>
        </p:nvSpPr>
        <p:spPr>
          <a:xfrm>
            <a:off x="2322576" y="2642615"/>
            <a:ext cx="804672" cy="9144"/>
          </a:xfrm>
          <a:prstGeom prst="rect">
            <a:avLst/>
          </a:prstGeom>
          <a:solidFill>
            <a:srgbClr val="33415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 y="2907791"/>
            <a:ext cx="3803904" cy="201168"/>
          </a:xfrm>
          <a:prstGeom prst="rect">
            <a:avLst/>
          </a:prstGeom>
          <a:noFill/>
        </p:spPr>
        <p:txBody>
          <a:bodyPr wrap="square"/>
          <a:lstStyle/>
          <a:p>
            <a:pPr algn="l"/>
            <a:r>
              <a:rPr sz="800" b="0" i="0">
                <a:solidFill>
                  <a:srgbClr val="64748B"/>
                </a:solidFill>
                <a:latin typeface="Poppins"/>
              </a:rPr>
              <a:t>Weekly Group Coaching · Masterminds · Quarterly Workshops</a:t>
            </a:r>
          </a:p>
        </p:txBody>
      </p:sp>
      <p:sp>
        <p:nvSpPr>
          <p:cNvPr id="21" name="Rectangle 20"/>
          <p:cNvSpPr/>
          <p:nvPr/>
        </p:nvSpPr>
        <p:spPr>
          <a:xfrm>
            <a:off x="201168" y="3255264"/>
            <a:ext cx="4133087" cy="658368"/>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8" y="3291840"/>
            <a:ext cx="1645920" cy="237744"/>
          </a:xfrm>
          <a:prstGeom prst="rect">
            <a:avLst/>
          </a:prstGeom>
          <a:noFill/>
        </p:spPr>
        <p:txBody>
          <a:bodyPr wrap="square"/>
          <a:lstStyle/>
          <a:p>
            <a:pPr algn="l"/>
            <a:r>
              <a:rPr sz="800" b="1" i="0">
                <a:solidFill>
                  <a:srgbClr val="7CA0C0"/>
                </a:solidFill>
                <a:latin typeface="Poppins"/>
              </a:rPr>
              <a:t>BUNDLE TOTAL</a:t>
            </a:r>
          </a:p>
        </p:txBody>
      </p:sp>
      <p:sp>
        <p:nvSpPr>
          <p:cNvPr id="23" name="TextBox 22"/>
          <p:cNvSpPr txBox="1"/>
          <p:nvPr/>
        </p:nvSpPr>
        <p:spPr>
          <a:xfrm>
            <a:off x="384048" y="3493008"/>
            <a:ext cx="2194560" cy="347472"/>
          </a:xfrm>
          <a:prstGeom prst="rect">
            <a:avLst/>
          </a:prstGeom>
          <a:noFill/>
        </p:spPr>
        <p:txBody>
          <a:bodyPr wrap="square"/>
          <a:lstStyle/>
          <a:p>
            <a:pPr algn="l"/>
            <a:r>
              <a:rPr sz="2200" b="1" i="0">
                <a:solidFill>
                  <a:srgbClr val="0091C9"/>
                </a:solidFill>
                <a:latin typeface="Poppins"/>
              </a:rPr>
              <a:t>$8,197 / mo</a:t>
            </a:r>
          </a:p>
        </p:txBody>
      </p:sp>
      <p:sp>
        <p:nvSpPr>
          <p:cNvPr id="24" name="TextBox 23"/>
          <p:cNvSpPr txBox="1"/>
          <p:nvPr/>
        </p:nvSpPr>
        <p:spPr>
          <a:xfrm>
            <a:off x="2670048" y="3493008"/>
            <a:ext cx="1737360" cy="347472"/>
          </a:xfrm>
          <a:prstGeom prst="rect">
            <a:avLst/>
          </a:prstGeom>
          <a:noFill/>
        </p:spPr>
        <p:txBody>
          <a:bodyPr wrap="square"/>
          <a:lstStyle/>
          <a:p>
            <a:pPr algn="l"/>
            <a:r>
              <a:rPr sz="800" b="0" i="0">
                <a:solidFill>
                  <a:srgbClr val="7CA0C0"/>
                </a:solidFill>
                <a:latin typeface="Poppins"/>
              </a:rPr>
              <a:t>Save $997/mo by bundling</a:t>
            </a:r>
          </a:p>
        </p:txBody>
      </p:sp>
      <p:sp>
        <p:nvSpPr>
          <p:cNvPr id="25" name="Rectangle 24"/>
          <p:cNvSpPr/>
          <p:nvPr/>
        </p:nvSpPr>
        <p:spPr>
          <a:xfrm>
            <a:off x="201168" y="3968496"/>
            <a:ext cx="4133087" cy="402336"/>
          </a:xfrm>
          <a:prstGeom prst="rect">
            <a:avLst/>
          </a:prstGeom>
          <a:solidFill>
            <a:srgbClr val="EEF2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184" y="3995928"/>
            <a:ext cx="3931920" cy="347472"/>
          </a:xfrm>
          <a:prstGeom prst="rect">
            <a:avLst/>
          </a:prstGeom>
          <a:noFill/>
        </p:spPr>
        <p:txBody>
          <a:bodyPr wrap="square"/>
          <a:lstStyle/>
          <a:p>
            <a:pPr algn="l"/>
            <a:r>
              <a:rPr sz="800" b="0" i="0">
                <a:solidFill>
                  <a:srgbClr val="64748B"/>
                </a:solidFill>
                <a:latin typeface="Poppins"/>
              </a:rPr>
              <a:t>+ Recommended ad spend: $5,500–$8,400/mo paid directly to Google/LSA</a:t>
            </a:r>
          </a:p>
        </p:txBody>
      </p:sp>
      <p:sp>
        <p:nvSpPr>
          <p:cNvPr id="27" name="Rectangle 26"/>
          <p:cNvSpPr/>
          <p:nvPr/>
        </p:nvSpPr>
        <p:spPr>
          <a:xfrm>
            <a:off x="4535424" y="1024128"/>
            <a:ext cx="4407408" cy="1316736"/>
          </a:xfrm>
          <a:prstGeom prst="rect">
            <a:avLst/>
          </a:prstGeom>
          <a:solidFill>
            <a:srgbClr val="ECFDF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0016" y="1078992"/>
            <a:ext cx="4133087" cy="219456"/>
          </a:xfrm>
          <a:prstGeom prst="rect">
            <a:avLst/>
          </a:prstGeom>
          <a:noFill/>
        </p:spPr>
        <p:txBody>
          <a:bodyPr wrap="square"/>
          <a:lstStyle/>
          <a:p>
            <a:pPr algn="l"/>
            <a:r>
              <a:rPr sz="800" b="1" i="0">
                <a:solidFill>
                  <a:srgbClr val="065F46"/>
                </a:solidFill>
                <a:latin typeface="Poppins"/>
              </a:rPr>
              <a:t>PROJECTED RETURN ON AD SPEND</a:t>
            </a:r>
          </a:p>
        </p:txBody>
      </p:sp>
      <p:sp>
        <p:nvSpPr>
          <p:cNvPr id="29" name="TextBox 28"/>
          <p:cNvSpPr txBox="1"/>
          <p:nvPr/>
        </p:nvSpPr>
        <p:spPr>
          <a:xfrm>
            <a:off x="4700016" y="1335024"/>
            <a:ext cx="1920240" cy="256032"/>
          </a:xfrm>
          <a:prstGeom prst="rect">
            <a:avLst/>
          </a:prstGeom>
          <a:noFill/>
        </p:spPr>
        <p:txBody>
          <a:bodyPr wrap="square"/>
          <a:lstStyle/>
          <a:p>
            <a:pPr algn="l"/>
            <a:r>
              <a:rPr sz="900" b="1" i="0">
                <a:solidFill>
                  <a:srgbClr val="1E293B"/>
                </a:solidFill>
                <a:latin typeface="Poppins"/>
              </a:rPr>
              <a:t>Average case value:</a:t>
            </a:r>
          </a:p>
        </p:txBody>
      </p:sp>
      <p:sp>
        <p:nvSpPr>
          <p:cNvPr id="30" name="TextBox 29"/>
          <p:cNvSpPr txBox="1"/>
          <p:nvPr/>
        </p:nvSpPr>
        <p:spPr>
          <a:xfrm>
            <a:off x="6729984" y="1335024"/>
            <a:ext cx="2103120" cy="256032"/>
          </a:xfrm>
          <a:prstGeom prst="rect">
            <a:avLst/>
          </a:prstGeom>
          <a:noFill/>
        </p:spPr>
        <p:txBody>
          <a:bodyPr wrap="square"/>
          <a:lstStyle/>
          <a:p>
            <a:pPr algn="l"/>
            <a:r>
              <a:rPr sz="900" b="0" i="0">
                <a:solidFill>
                  <a:srgbClr val="065F46"/>
                </a:solidFill>
                <a:latin typeface="Poppins"/>
              </a:rPr>
              <a:t>$7,500</a:t>
            </a:r>
          </a:p>
        </p:txBody>
      </p:sp>
      <p:sp>
        <p:nvSpPr>
          <p:cNvPr id="31" name="Rectangle 30"/>
          <p:cNvSpPr/>
          <p:nvPr/>
        </p:nvSpPr>
        <p:spPr>
          <a:xfrm>
            <a:off x="4645152" y="1609344"/>
            <a:ext cx="4187952" cy="310896"/>
          </a:xfrm>
          <a:prstGeom prst="rect">
            <a:avLst/>
          </a:prstGeom>
          <a:solidFill>
            <a:srgbClr val="D1FAE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00016" y="1645920"/>
            <a:ext cx="1920240" cy="256032"/>
          </a:xfrm>
          <a:prstGeom prst="rect">
            <a:avLst/>
          </a:prstGeom>
          <a:noFill/>
        </p:spPr>
        <p:txBody>
          <a:bodyPr wrap="square"/>
          <a:lstStyle/>
          <a:p>
            <a:pPr algn="l"/>
            <a:r>
              <a:rPr sz="900" b="1" i="0">
                <a:solidFill>
                  <a:srgbClr val="1E293B"/>
                </a:solidFill>
                <a:latin typeface="Poppins"/>
              </a:rPr>
              <a:t>Conservative  (4 cases/mo):</a:t>
            </a:r>
          </a:p>
        </p:txBody>
      </p:sp>
      <p:sp>
        <p:nvSpPr>
          <p:cNvPr id="33" name="TextBox 32"/>
          <p:cNvSpPr txBox="1"/>
          <p:nvPr/>
        </p:nvSpPr>
        <p:spPr>
          <a:xfrm>
            <a:off x="6729984" y="1645920"/>
            <a:ext cx="2103120" cy="256032"/>
          </a:xfrm>
          <a:prstGeom prst="rect">
            <a:avLst/>
          </a:prstGeom>
          <a:noFill/>
        </p:spPr>
        <p:txBody>
          <a:bodyPr wrap="square"/>
          <a:lstStyle/>
          <a:p>
            <a:pPr algn="l"/>
            <a:r>
              <a:rPr sz="900" b="1" i="0">
                <a:solidFill>
                  <a:srgbClr val="065F46"/>
                </a:solidFill>
                <a:latin typeface="Poppins"/>
              </a:rPr>
              <a:t>$30,000 revenue · 5.5× ROAS</a:t>
            </a:r>
          </a:p>
        </p:txBody>
      </p:sp>
      <p:sp>
        <p:nvSpPr>
          <p:cNvPr id="34" name="TextBox 33"/>
          <p:cNvSpPr txBox="1"/>
          <p:nvPr/>
        </p:nvSpPr>
        <p:spPr>
          <a:xfrm>
            <a:off x="4700016" y="1956816"/>
            <a:ext cx="1920240" cy="256032"/>
          </a:xfrm>
          <a:prstGeom prst="rect">
            <a:avLst/>
          </a:prstGeom>
          <a:noFill/>
        </p:spPr>
        <p:txBody>
          <a:bodyPr wrap="square"/>
          <a:lstStyle/>
          <a:p>
            <a:pPr algn="l"/>
            <a:r>
              <a:rPr sz="900" b="1" i="0">
                <a:solidFill>
                  <a:srgbClr val="1E293B"/>
                </a:solidFill>
                <a:latin typeface="Poppins"/>
              </a:rPr>
              <a:t>Aggressive  (7 cases/mo):</a:t>
            </a:r>
          </a:p>
        </p:txBody>
      </p:sp>
      <p:sp>
        <p:nvSpPr>
          <p:cNvPr id="35" name="TextBox 34"/>
          <p:cNvSpPr txBox="1"/>
          <p:nvPr/>
        </p:nvSpPr>
        <p:spPr>
          <a:xfrm>
            <a:off x="6729984" y="1956816"/>
            <a:ext cx="2103120" cy="256032"/>
          </a:xfrm>
          <a:prstGeom prst="rect">
            <a:avLst/>
          </a:prstGeom>
          <a:noFill/>
        </p:spPr>
        <p:txBody>
          <a:bodyPr wrap="square"/>
          <a:lstStyle/>
          <a:p>
            <a:pPr algn="l"/>
            <a:r>
              <a:rPr sz="900" b="1" i="0">
                <a:solidFill>
                  <a:srgbClr val="065F46"/>
                </a:solidFill>
                <a:latin typeface="Poppins"/>
              </a:rPr>
              <a:t>$52,500 revenue · 6.3× ROAS</a:t>
            </a:r>
          </a:p>
        </p:txBody>
      </p:sp>
      <p:sp>
        <p:nvSpPr>
          <p:cNvPr id="36" name="TextBox 35"/>
          <p:cNvSpPr txBox="1"/>
          <p:nvPr/>
        </p:nvSpPr>
        <p:spPr>
          <a:xfrm>
            <a:off x="4535424" y="2468880"/>
            <a:ext cx="4407408" cy="237744"/>
          </a:xfrm>
          <a:prstGeom prst="rect">
            <a:avLst/>
          </a:prstGeom>
          <a:noFill/>
        </p:spPr>
        <p:txBody>
          <a:bodyPr wrap="square"/>
          <a:lstStyle/>
          <a:p>
            <a:pPr algn="l"/>
            <a:r>
              <a:rPr sz="800" b="1" i="0">
                <a:solidFill>
                  <a:srgbClr val="003A59"/>
                </a:solidFill>
                <a:latin typeface="Poppins"/>
              </a:rPr>
              <a:t>WHAT HAPPENS IN THE FIRST 90 DAYS</a:t>
            </a:r>
          </a:p>
        </p:txBody>
      </p:sp>
      <p:sp>
        <p:nvSpPr>
          <p:cNvPr id="37" name="Rectangle 36"/>
          <p:cNvSpPr/>
          <p:nvPr/>
        </p:nvSpPr>
        <p:spPr>
          <a:xfrm>
            <a:off x="4590288" y="2724912"/>
            <a:ext cx="256032" cy="25603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37760" y="2734056"/>
            <a:ext cx="804672" cy="256032"/>
          </a:xfrm>
          <a:prstGeom prst="rect">
            <a:avLst/>
          </a:prstGeom>
          <a:noFill/>
        </p:spPr>
        <p:txBody>
          <a:bodyPr wrap="square"/>
          <a:lstStyle/>
          <a:p>
            <a:pPr algn="l"/>
            <a:r>
              <a:rPr sz="800" b="1" i="0">
                <a:solidFill>
                  <a:srgbClr val="003A59"/>
                </a:solidFill>
                <a:latin typeface="Poppins"/>
              </a:rPr>
              <a:t>Day 1</a:t>
            </a:r>
          </a:p>
        </p:txBody>
      </p:sp>
      <p:sp>
        <p:nvSpPr>
          <p:cNvPr id="39" name="TextBox 38"/>
          <p:cNvSpPr txBox="1"/>
          <p:nvPr/>
        </p:nvSpPr>
        <p:spPr>
          <a:xfrm>
            <a:off x="5815584" y="2734056"/>
            <a:ext cx="3054096" cy="256032"/>
          </a:xfrm>
          <a:prstGeom prst="rect">
            <a:avLst/>
          </a:prstGeom>
          <a:noFill/>
        </p:spPr>
        <p:txBody>
          <a:bodyPr wrap="square"/>
          <a:lstStyle/>
          <a:p>
            <a:pPr algn="l"/>
            <a:r>
              <a:rPr sz="800" b="0" i="0">
                <a:solidFill>
                  <a:srgbClr val="1E293B"/>
                </a:solidFill>
                <a:latin typeface="Poppins"/>
              </a:rPr>
              <a:t>Launch Google Ads, begin LSA setup</a:t>
            </a:r>
          </a:p>
        </p:txBody>
      </p:sp>
      <p:sp>
        <p:nvSpPr>
          <p:cNvPr id="40" name="Rectangle 39"/>
          <p:cNvSpPr/>
          <p:nvPr/>
        </p:nvSpPr>
        <p:spPr>
          <a:xfrm>
            <a:off x="4590288" y="3081528"/>
            <a:ext cx="256032" cy="25603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0" y="3090672"/>
            <a:ext cx="804672" cy="256032"/>
          </a:xfrm>
          <a:prstGeom prst="rect">
            <a:avLst/>
          </a:prstGeom>
          <a:noFill/>
        </p:spPr>
        <p:txBody>
          <a:bodyPr wrap="square"/>
          <a:lstStyle/>
          <a:p>
            <a:pPr algn="l"/>
            <a:r>
              <a:rPr sz="800" b="1" i="0">
                <a:solidFill>
                  <a:srgbClr val="003A59"/>
                </a:solidFill>
                <a:latin typeface="Poppins"/>
              </a:rPr>
              <a:t>Day 14</a:t>
            </a:r>
          </a:p>
        </p:txBody>
      </p:sp>
      <p:sp>
        <p:nvSpPr>
          <p:cNvPr id="42" name="TextBox 41"/>
          <p:cNvSpPr txBox="1"/>
          <p:nvPr/>
        </p:nvSpPr>
        <p:spPr>
          <a:xfrm>
            <a:off x="5815584" y="3090672"/>
            <a:ext cx="3054096" cy="256032"/>
          </a:xfrm>
          <a:prstGeom prst="rect">
            <a:avLst/>
          </a:prstGeom>
          <a:noFill/>
        </p:spPr>
        <p:txBody>
          <a:bodyPr wrap="square"/>
          <a:lstStyle/>
          <a:p>
            <a:pPr algn="l"/>
            <a:r>
              <a:rPr sz="800" b="0" i="0">
                <a:solidFill>
                  <a:srgbClr val="1E293B"/>
                </a:solidFill>
                <a:latin typeface="Poppins"/>
              </a:rPr>
              <a:t>Fix website contact form &amp; NAP mismatch</a:t>
            </a:r>
          </a:p>
        </p:txBody>
      </p:sp>
      <p:sp>
        <p:nvSpPr>
          <p:cNvPr id="43" name="Rectangle 42"/>
          <p:cNvSpPr/>
          <p:nvPr/>
        </p:nvSpPr>
        <p:spPr>
          <a:xfrm>
            <a:off x="4590288" y="3438144"/>
            <a:ext cx="256032" cy="25603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60" y="3447287"/>
            <a:ext cx="804672" cy="256032"/>
          </a:xfrm>
          <a:prstGeom prst="rect">
            <a:avLst/>
          </a:prstGeom>
          <a:noFill/>
        </p:spPr>
        <p:txBody>
          <a:bodyPr wrap="square"/>
          <a:lstStyle/>
          <a:p>
            <a:pPr algn="l"/>
            <a:r>
              <a:rPr sz="800" b="1" i="0">
                <a:solidFill>
                  <a:srgbClr val="003A59"/>
                </a:solidFill>
                <a:latin typeface="Poppins"/>
              </a:rPr>
              <a:t>Week 2</a:t>
            </a:r>
          </a:p>
        </p:txBody>
      </p:sp>
      <p:sp>
        <p:nvSpPr>
          <p:cNvPr id="45" name="TextBox 44"/>
          <p:cNvSpPr txBox="1"/>
          <p:nvPr/>
        </p:nvSpPr>
        <p:spPr>
          <a:xfrm>
            <a:off x="5815584" y="3447287"/>
            <a:ext cx="3054096" cy="256032"/>
          </a:xfrm>
          <a:prstGeom prst="rect">
            <a:avLst/>
          </a:prstGeom>
          <a:noFill/>
        </p:spPr>
        <p:txBody>
          <a:bodyPr wrap="square"/>
          <a:lstStyle/>
          <a:p>
            <a:pPr algn="l"/>
            <a:r>
              <a:rPr sz="800" b="0" i="0">
                <a:solidFill>
                  <a:srgbClr val="1E293B"/>
                </a:solidFill>
                <a:latin typeface="Poppins"/>
              </a:rPr>
              <a:t>Kick off Elite Coach Plus coaching sessions</a:t>
            </a:r>
          </a:p>
        </p:txBody>
      </p:sp>
      <p:sp>
        <p:nvSpPr>
          <p:cNvPr id="46" name="Rectangle 45"/>
          <p:cNvSpPr/>
          <p:nvPr/>
        </p:nvSpPr>
        <p:spPr>
          <a:xfrm>
            <a:off x="4590288" y="3794760"/>
            <a:ext cx="256032" cy="25603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0" y="3803904"/>
            <a:ext cx="804672" cy="256032"/>
          </a:xfrm>
          <a:prstGeom prst="rect">
            <a:avLst/>
          </a:prstGeom>
          <a:noFill/>
        </p:spPr>
        <p:txBody>
          <a:bodyPr wrap="square"/>
          <a:lstStyle/>
          <a:p>
            <a:pPr algn="l"/>
            <a:r>
              <a:rPr sz="800" b="1" i="0">
                <a:solidFill>
                  <a:srgbClr val="003A59"/>
                </a:solidFill>
                <a:latin typeface="Poppins"/>
              </a:rPr>
              <a:t>Week 3</a:t>
            </a:r>
          </a:p>
        </p:txBody>
      </p:sp>
      <p:sp>
        <p:nvSpPr>
          <p:cNvPr id="48" name="TextBox 47"/>
          <p:cNvSpPr txBox="1"/>
          <p:nvPr/>
        </p:nvSpPr>
        <p:spPr>
          <a:xfrm>
            <a:off x="5815584" y="3803904"/>
            <a:ext cx="3054096" cy="256032"/>
          </a:xfrm>
          <a:prstGeom prst="rect">
            <a:avLst/>
          </a:prstGeom>
          <a:noFill/>
        </p:spPr>
        <p:txBody>
          <a:bodyPr wrap="square"/>
          <a:lstStyle/>
          <a:p>
            <a:pPr algn="l"/>
            <a:r>
              <a:rPr sz="800" b="0" i="0">
                <a:solidFill>
                  <a:srgbClr val="1E293B"/>
                </a:solidFill>
                <a:latin typeface="Poppins"/>
              </a:rPr>
              <a:t>Publish first neighboring-city geo-page</a:t>
            </a:r>
          </a:p>
        </p:txBody>
      </p:sp>
      <p:sp>
        <p:nvSpPr>
          <p:cNvPr id="49" name="Rectangle 48"/>
          <p:cNvSpPr/>
          <p:nvPr/>
        </p:nvSpPr>
        <p:spPr>
          <a:xfrm>
            <a:off x="4590288" y="4151376"/>
            <a:ext cx="256032" cy="25603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0" y="4160520"/>
            <a:ext cx="804672" cy="256032"/>
          </a:xfrm>
          <a:prstGeom prst="rect">
            <a:avLst/>
          </a:prstGeom>
          <a:noFill/>
        </p:spPr>
        <p:txBody>
          <a:bodyPr wrap="square"/>
          <a:lstStyle/>
          <a:p>
            <a:pPr algn="l"/>
            <a:r>
              <a:rPr sz="800" b="1" i="0">
                <a:solidFill>
                  <a:srgbClr val="003A59"/>
                </a:solidFill>
                <a:latin typeface="Poppins"/>
              </a:rPr>
              <a:t>Month 3</a:t>
            </a:r>
          </a:p>
        </p:txBody>
      </p:sp>
      <p:sp>
        <p:nvSpPr>
          <p:cNvPr id="51" name="TextBox 50"/>
          <p:cNvSpPr txBox="1"/>
          <p:nvPr/>
        </p:nvSpPr>
        <p:spPr>
          <a:xfrm>
            <a:off x="5815584" y="4160520"/>
            <a:ext cx="3054096" cy="256032"/>
          </a:xfrm>
          <a:prstGeom prst="rect">
            <a:avLst/>
          </a:prstGeom>
          <a:noFill/>
        </p:spPr>
        <p:txBody>
          <a:bodyPr wrap="square"/>
          <a:lstStyle/>
          <a:p>
            <a:pPr algn="l"/>
            <a:r>
              <a:rPr sz="800" b="0" i="0">
                <a:solidFill>
                  <a:srgbClr val="1E293B"/>
                </a:solidFill>
                <a:latin typeface="Poppins"/>
              </a:rPr>
              <a:t>Baseline profit tracking tied to case goals</a:t>
            </a:r>
          </a:p>
        </p:txBody>
      </p:sp>
      <p:sp>
        <p:nvSpPr>
          <p:cNvPr id="52" name="Rectangle 51"/>
          <p:cNvSpPr/>
          <p:nvPr/>
        </p:nvSpPr>
        <p:spPr>
          <a:xfrm>
            <a:off x="0" y="4425696"/>
            <a:ext cx="9144000" cy="402336"/>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4320" y="4425696"/>
            <a:ext cx="8595360" cy="402336"/>
          </a:xfrm>
          <a:prstGeom prst="rect">
            <a:avLst/>
          </a:prstGeom>
          <a:noFill/>
        </p:spPr>
        <p:txBody>
          <a:bodyPr wrap="square"/>
          <a:lstStyle/>
          <a:p>
            <a:pPr algn="ctr"/>
            <a:r>
              <a:rPr sz="900" b="0" i="1">
                <a:solidFill>
                  <a:srgbClr val="8BADD0"/>
                </a:solidFill>
                <a:latin typeface="Poppins"/>
              </a:rPr>
              <a:t>"I want a firm that keeps running even on the days I can't be the one in court."</a:t>
            </a:r>
          </a:p>
        </p:txBody>
      </p:sp>
      <p:sp>
        <p:nvSpPr>
          <p:cNvPr id="54" name="Rectangle 53"/>
          <p:cNvSpPr/>
          <p:nvPr/>
        </p:nvSpPr>
        <p:spPr>
          <a:xfrm>
            <a:off x="0" y="4828032"/>
            <a:ext cx="9144000" cy="3200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609344" y="4837176"/>
            <a:ext cx="5303520" cy="274320"/>
          </a:xfrm>
          <a:prstGeom prst="rect">
            <a:avLst/>
          </a:prstGeom>
          <a:noFill/>
        </p:spPr>
        <p:txBody>
          <a:bodyPr wrap="square"/>
          <a:lstStyle/>
          <a:p>
            <a:pPr algn="l"/>
            <a:r>
              <a:rPr sz="800" b="0" i="0">
                <a:solidFill>
                  <a:srgbClr val="5A7A9A"/>
                </a:solidFill>
                <a:latin typeface="Poppins"/>
              </a:rPr>
              <a:t>CONFIDENTIAL  ·  Prepared by Nick Holderman | SMB Team</a:t>
            </a:r>
          </a:p>
        </p:txBody>
      </p:sp>
      <p:sp>
        <p:nvSpPr>
          <p:cNvPr id="56" name="TextBox 55"/>
          <p:cNvSpPr txBox="1"/>
          <p:nvPr/>
        </p:nvSpPr>
        <p:spPr>
          <a:xfrm>
            <a:off x="8138160" y="4837176"/>
            <a:ext cx="786384" cy="274320"/>
          </a:xfrm>
          <a:prstGeom prst="rect">
            <a:avLst/>
          </a:prstGeom>
          <a:noFill/>
        </p:spPr>
        <p:txBody>
          <a:bodyPr wrap="square"/>
          <a:lstStyle/>
          <a:p>
            <a:pPr algn="r"/>
            <a:r>
              <a:rPr sz="800" b="0" i="0">
                <a:solidFill>
                  <a:srgbClr val="5A7A9A"/>
                </a:solidFill>
                <a:latin typeface="Poppins"/>
              </a:rPr>
              <a:t>3 /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