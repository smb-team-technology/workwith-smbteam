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400" b="1" i="0">
                <a:solidFill>
                  <a:srgbClr val="FFFFFF"/>
                </a:solidFill>
                <a:latin typeface="Poppins"/>
              </a:rPr>
              <a:t>Where Gaydos Law, P.C. Stands Today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60120"/>
            <a:ext cx="146304" cy="3867912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6032" y="1005840"/>
            <a:ext cx="1298448" cy="841248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6032" y="1005840"/>
            <a:ext cx="1298448" cy="566928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2800" b="1" i="0">
                <a:solidFill>
                  <a:srgbClr val="FFFFFF"/>
                </a:solidFill>
                <a:latin typeface="Poppins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6032" y="1572768"/>
            <a:ext cx="1298448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600" b="1" i="0">
                <a:solidFill>
                  <a:srgbClr val="FFFFFF"/>
                </a:solidFill>
                <a:latin typeface="Poppins"/>
              </a:rPr>
              <a:t>COMPETITIVE URGENCY</a:t>
            </a:r>
          </a:p>
        </p:txBody>
      </p:sp>
      <p:sp>
        <p:nvSpPr>
          <p:cNvPr id="9" name="Rectangle 8"/>
          <p:cNvSpPr/>
          <p:nvPr/>
        </p:nvSpPr>
        <p:spPr>
          <a:xfrm>
            <a:off x="1682496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682496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37360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Lead Generation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Waning referrals only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42032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42032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596896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Intake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96896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96896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CRM / lead tracking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01568" y="1005840"/>
            <a:ext cx="804672" cy="164592"/>
          </a:xfrm>
          <a:prstGeom prst="rect">
            <a:avLst/>
          </a:prstGeom>
          <a:solidFill>
            <a:srgbClr val="D9770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401568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56432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Team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56432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D97706"/>
                </a:solidFill>
                <a:latin typeface="Poppins"/>
              </a:rPr>
              <a:t>AMBER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formal leadership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005840"/>
            <a:ext cx="804672" cy="164592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61104" y="1170432"/>
            <a:ext cx="804672" cy="676656"/>
          </a:xfrm>
          <a:prstGeom prst="rect">
            <a:avLst/>
          </a:prstGeom>
          <a:solidFill>
            <a:srgbClr val="265872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15968" y="1188720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FFFFFF"/>
                </a:solidFill>
                <a:latin typeface="Poppins"/>
              </a:rPr>
              <a:t>Profit Plan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15968" y="1417320"/>
            <a:ext cx="694944" cy="18288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1" i="0">
                <a:solidFill>
                  <a:srgbClr val="C0392B"/>
                </a:solidFill>
                <a:latin typeface="Poppins"/>
              </a:rPr>
              <a:t>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15968" y="1591056"/>
            <a:ext cx="694944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700" b="0" i="0">
                <a:solidFill>
                  <a:srgbClr val="8BADD0"/>
                </a:solidFill>
                <a:latin typeface="Poppins"/>
              </a:rPr>
              <a:t>No margin visibility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6032" y="1956816"/>
            <a:ext cx="484632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KEY FINDINGS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" y="2212848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2386584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368296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" y="2286000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A waning referral flywheel is the firm's only real client source, with no scalable system replacing it.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56032" y="2834640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5760" y="3008376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65760" y="2990088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" y="2907792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Near-zero organic visibility outside personal injury is losing estate planning and probate cases to competitors.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6032" y="3456432"/>
            <a:ext cx="4846320" cy="566928"/>
          </a:xfrm>
          <a:prstGeom prst="rect">
            <a:avLst/>
          </a:prstGeom>
          <a:solidFill>
            <a:srgbClr val="2C101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" y="3630168"/>
            <a:ext cx="219456" cy="21945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65760" y="3611879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" y="3529584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F0BABA"/>
                </a:solidFill>
                <a:latin typeface="Poppins"/>
              </a:rPr>
              <a:t>With no CRM or lead tracking, referrals and inquiries can be lost with no way to see it happening.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56032" y="4078224"/>
            <a:ext cx="4846320" cy="566928"/>
          </a:xfrm>
          <a:prstGeom prst="rect">
            <a:avLst/>
          </a:prstGeom>
          <a:solidFill>
            <a:srgbClr val="0C281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65760" y="4251960"/>
            <a:ext cx="219456" cy="219456"/>
          </a:xfrm>
          <a:prstGeom prst="rect">
            <a:avLst/>
          </a:prstGeom>
          <a:solidFill>
            <a:srgbClr val="16A34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233672"/>
            <a:ext cx="219456" cy="237744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" y="4151376"/>
            <a:ext cx="4352544" cy="42062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0" i="0">
                <a:solidFill>
                  <a:srgbClr val="86EFAC"/>
                </a:solidFill>
                <a:latin typeface="Poppins"/>
              </a:rPr>
              <a:t>An 8-person team and a 30-year office manager already provide real, informal delegation to build on.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960120"/>
            <a:ext cx="3886200" cy="3867912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257800" y="1024128"/>
            <a:ext cx="3886200" cy="694944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257800" y="1024128"/>
            <a:ext cx="128016" cy="694944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0" y="1042415"/>
            <a:ext cx="347472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0" y="1243584"/>
            <a:ext cx="347472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Solo Practitioner  →  Goal: Self-Managing, Multi-Generational Firm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394960" y="1920240"/>
            <a:ext cx="356616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4748B"/>
                </a:solidFill>
                <a:latin typeface="Poppins"/>
              </a:rPr>
              <a:t>COMPETITOR LANDSCAPE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2176272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13248" y="2221991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Pribanic &amp; Pribanic, LLC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60336" y="2221991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Est. PI specialist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93024" y="2240279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Same street, White Oak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2523744"/>
            <a:ext cx="3886200" cy="31089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13248" y="2569463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TopDog Law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260336" y="2569463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Regional presence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93024" y="2587751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Pittsburgh-wide reach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257800" y="2871216"/>
            <a:ext cx="3886200" cy="310896"/>
          </a:xfrm>
          <a:prstGeom prst="rect">
            <a:avLst/>
          </a:prstGeom>
          <a:solidFill>
            <a:srgbClr val="F0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13248" y="2916936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Gaydos Law referral base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60336" y="2916936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6A34A"/>
                </a:solidFill>
                <a:latin typeface="Poppins"/>
              </a:rPr>
              <a:t>Waning over time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193024" y="2935224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35+ yr family legacy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257800" y="3218688"/>
            <a:ext cx="3886200" cy="310896"/>
          </a:xfrm>
          <a:prstGeom prst="rect">
            <a:avLst/>
          </a:prstGeom>
          <a:solidFill>
            <a:srgbClr val="FFF0F0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257800" y="3218688"/>
            <a:ext cx="91440" cy="310896"/>
          </a:xfrm>
          <a:prstGeom prst="rect">
            <a:avLst/>
          </a:prstGeom>
          <a:solidFill>
            <a:srgbClr val="C039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13248" y="3264408"/>
            <a:ext cx="18288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C0392B"/>
                </a:solidFill>
                <a:latin typeface="Poppins"/>
              </a:rPr>
              <a:t>Gaydos Law, P.C.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60336" y="3264408"/>
            <a:ext cx="914400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C0392B"/>
                </a:solidFill>
                <a:latin typeface="Poppins"/>
              </a:rPr>
              <a:t>Review data unconfirmed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193024" y="3282696"/>
            <a:ext cx="8229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600" b="0" i="0">
                <a:solidFill>
                  <a:srgbClr val="64748B"/>
                </a:solidFill>
                <a:latin typeface="Poppins"/>
              </a:rPr>
              <a:t>← You are here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Growth Plan: 3 Priorities to Build a Firm That Outlasts You</a:t>
            </a:r>
          </a:p>
        </p:txBody>
      </p:sp>
      <p:sp>
        <p:nvSpPr>
          <p:cNvPr id="5" name="Rectangle 4"/>
          <p:cNvSpPr/>
          <p:nvPr/>
        </p:nvSpPr>
        <p:spPr>
          <a:xfrm>
            <a:off x="182880" y="1024128"/>
            <a:ext cx="2487168" cy="363931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80" y="1042415"/>
            <a:ext cx="2487168" cy="1828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" y="1097280"/>
            <a:ext cx="2267712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" y="1335024"/>
            <a:ext cx="2267712" cy="15727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A8BFDA"/>
                </a:solidFill>
                <a:latin typeface="Poppins"/>
              </a:rPr>
              <a:t>All four pillars — Lead Generation, Intake, Team, and Profit — must work together. Missing any one means growth stalls no matter how strong the others are. When all four work together, Joseph can finally build a firm that runs on its own systems, not on him.</a:t>
            </a:r>
          </a:p>
        </p:txBody>
      </p:sp>
      <p:sp>
        <p:nvSpPr>
          <p:cNvPr id="9" name="Rectangle 8"/>
          <p:cNvSpPr/>
          <p:nvPr/>
        </p:nvSpPr>
        <p:spPr>
          <a:xfrm>
            <a:off x="182880" y="2999232"/>
            <a:ext cx="2487168" cy="7498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" y="3017520"/>
            <a:ext cx="22860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Referral-Only → Multi-Channel Growth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" y="3291840"/>
            <a:ext cx="2286000" cy="40233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03A59"/>
                </a:solidFill>
                <a:latin typeface="Poppins"/>
              </a:rPr>
              <a:t>Build something built to outlast you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16352" y="1024128"/>
            <a:ext cx="2048256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26080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Build the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Marketing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1865376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07792" y="2084832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54096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LSA for Family Law and Probate leads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16352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907792" y="2688336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54096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title tag and H1 SEO issues found on the site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16352" y="3072384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907792" y="3291839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54096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dedicated Family Law and Probate pages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16352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07792" y="3895344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PPC at month 3 to scale to $7,500/mo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16352" y="4279392"/>
            <a:ext cx="2048256" cy="566928"/>
          </a:xfrm>
          <a:prstGeom prst="rect">
            <a:avLst/>
          </a:prstGeom>
          <a:solidFill>
            <a:srgbClr val="E3F4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907792" y="4498848"/>
            <a:ext cx="91440" cy="9144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54096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Turn paid search into a pipeline that runs without you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937760" y="1024128"/>
            <a:ext cx="2048256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47488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003A59"/>
                </a:solidFill>
                <a:latin typeface="Poppins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47488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Fix Intake &amp;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47488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003A59"/>
                </a:solidFill>
                <a:latin typeface="Poppins"/>
              </a:rPr>
              <a:t>Stop Losing Cases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0" y="1865376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029200" y="2084832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75504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Track every referral so none go unseen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937760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029200" y="2688336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175504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Stand up a CRM to capture every inbound lead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937760" y="3072384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29200" y="3291839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75504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after-hours coverage so no call goes unanswered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37760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29200" y="3895344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175504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Protect the referral flow you already depend on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937760" y="4279392"/>
            <a:ext cx="2048256" cy="566928"/>
          </a:xfrm>
          <a:prstGeom prst="rect">
            <a:avLst/>
          </a:prstGeom>
          <a:solidFill>
            <a:srgbClr val="EDF9E6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29200" y="4498848"/>
            <a:ext cx="91440" cy="91440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175504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Match every call to what the Gaydos name promises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059168" y="1024128"/>
            <a:ext cx="2048256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68896" y="1042415"/>
            <a:ext cx="45720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168896" y="1316736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1554480"/>
            <a:ext cx="186537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2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059168" y="1865376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150607" y="2084832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296912" y="1920240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Formalize the leadership your office manager carries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059168" y="2468880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7150607" y="2688336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296912" y="2523744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financial visibility by practice area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059168" y="3072384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150607" y="3291839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7296912" y="3127248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Prove the LSA channel before scaling ad spend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059168" y="3675887"/>
            <a:ext cx="2048256" cy="5669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150607" y="3895344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296912" y="3730751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Create a structure that runs without you in the room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059168" y="4279392"/>
            <a:ext cx="2048256" cy="566928"/>
          </a:xfrm>
          <a:prstGeom prst="rect">
            <a:avLst/>
          </a:prstGeom>
          <a:solidFill>
            <a:srgbClr val="E0E7E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150607" y="4498848"/>
            <a:ext cx="91440" cy="914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7296912" y="4334255"/>
            <a:ext cx="1755648" cy="47548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Build a firm your daughter could one day step into</a:t>
            </a:r>
          </a:p>
        </p:txBody>
      </p:sp>
      <p:sp>
        <p:nvSpPr>
          <p:cNvPr id="69" name="Rectangle 68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91440"/>
            <a:ext cx="8595360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69CD2B"/>
                </a:solidFill>
                <a:latin typeface="Poppins"/>
              </a:rPr>
              <a:t>LAW FIRM GROWTH AUDIT  ·  GAYDOS LAW, P.C.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92608" y="310896"/>
            <a:ext cx="8595360" cy="54864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5" name="Rectangle 4"/>
          <p:cNvSpPr/>
          <p:nvPr/>
        </p:nvSpPr>
        <p:spPr>
          <a:xfrm>
            <a:off x="201168" y="1024128"/>
            <a:ext cx="4133087" cy="1024128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" y="1024128"/>
            <a:ext cx="182880" cy="102412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75488" y="1115568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91C9"/>
                </a:solidFill>
                <a:latin typeface="Poppins"/>
              </a:rPr>
              <a:t>FULL SERVICE MARKETING — ESSENTIALS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" y="1298448"/>
            <a:ext cx="1828800" cy="43891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3200" b="1" i="0">
                <a:solidFill>
                  <a:srgbClr val="003A59"/>
                </a:solidFill>
                <a:latin typeface="Poppins"/>
              </a:rPr>
              <a:t>$3,797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1408176"/>
            <a:ext cx="420624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64748B"/>
                </a:solidFill>
                <a:latin typeface="Poppins"/>
              </a:rPr>
              <a:t>/mo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22576" y="1426464"/>
            <a:ext cx="91440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1100" b="0" i="0">
                <a:solidFill>
                  <a:srgbClr val="334155"/>
                </a:solidFill>
                <a:latin typeface="Poppins"/>
              </a:rPr>
              <a:t>$3,797/mo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22576" y="1527048"/>
            <a:ext cx="804672" cy="9144"/>
          </a:xfrm>
          <a:prstGeom prst="rect">
            <a:avLst/>
          </a:prstGeom>
          <a:solidFill>
            <a:srgbClr val="33415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" y="1792224"/>
            <a:ext cx="3803904" cy="201168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LSA for Family Law &amp; Probate · SEO fixes · Landing pages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" y="3255264"/>
            <a:ext cx="4133087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048" y="3291840"/>
            <a:ext cx="1645920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7CA0C0"/>
                </a:solidFill>
                <a:latin typeface="Poppins"/>
              </a:rPr>
              <a:t>BUNDLE TOTAL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" y="3493008"/>
            <a:ext cx="21945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2200" b="1" i="0">
                <a:solidFill>
                  <a:srgbClr val="0091C9"/>
                </a:solidFill>
                <a:latin typeface="Poppins"/>
              </a:rPr>
              <a:t>$3,797 / mo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3493008"/>
            <a:ext cx="173736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7CA0C0"/>
                </a:solidFill>
                <a:latin typeface="Poppins"/>
              </a:rPr>
              <a:t>Stand-alone — no bundle discount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" y="3968496"/>
            <a:ext cx="4133087" cy="402336"/>
          </a:xfrm>
          <a:prstGeom prst="rect">
            <a:avLst/>
          </a:prstGeom>
          <a:solidFill>
            <a:srgbClr val="EEF2F8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184" y="3995928"/>
            <a:ext cx="3931920" cy="34747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64748B"/>
                </a:solidFill>
                <a:latin typeface="Poppins"/>
              </a:rPr>
              <a:t>+ Recommended ad spend: $3,000–$5,000/mo, ramping to $7,500/mo at month 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424" y="1024128"/>
            <a:ext cx="4407408" cy="1316736"/>
          </a:xfrm>
          <a:prstGeom prst="rect">
            <a:avLst/>
          </a:prstGeom>
          <a:solidFill>
            <a:srgbClr val="ECFD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0016" y="1078992"/>
            <a:ext cx="4133087" cy="219456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65F46"/>
                </a:solidFill>
                <a:latin typeface="Poppins"/>
              </a:rPr>
              <a:t>PROJECTED RETURN ON AD SPEND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0016" y="1335024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Average case value: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29984" y="1335024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0" i="0">
                <a:solidFill>
                  <a:srgbClr val="065F46"/>
                </a:solidFill>
                <a:latin typeface="Poppins"/>
              </a:rPr>
              <a:t>FL $5K · Probate $20K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45152" y="1609344"/>
            <a:ext cx="4187952" cy="310896"/>
          </a:xfrm>
          <a:prstGeom prst="rect">
            <a:avLst/>
          </a:prstGeom>
          <a:solidFill>
            <a:srgbClr val="D1FAE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00016" y="1645920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Phase 1 — LSA  (~7 cases/mo):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29984" y="1645920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~$95,000 value · 23.8× return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0016" y="1956816"/>
            <a:ext cx="192024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1E293B"/>
                </a:solidFill>
                <a:latin typeface="Poppins"/>
              </a:rPr>
              <a:t>Phase 2 — LSA+PPC  (~13 cases/mo):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9984" y="1956816"/>
            <a:ext cx="2103120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900" b="1" i="0">
                <a:solidFill>
                  <a:srgbClr val="065F46"/>
                </a:solidFill>
                <a:latin typeface="Poppins"/>
              </a:rPr>
              <a:t>~$170,000 value · 22.7× return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35424" y="2468880"/>
            <a:ext cx="4407408" cy="237744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WHAT HAPPENS IN THE FIRST 90 DAYS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90288" y="2724912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37760" y="2734056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15584" y="2734056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Launch LSA for Family Law and Probate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90288" y="3081528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937760" y="3090672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Day 14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15584" y="3090672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Fix on-page SEO title tag and H1 issues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90288" y="3438144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37760" y="3447287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2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15584" y="3447287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Begin Family Law and Probate landing pages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90288" y="3794760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37760" y="3803904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Week 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15584" y="3803904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Stand up lead tracking across referrals and ads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90288" y="4151376"/>
            <a:ext cx="256032" cy="256032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937760" y="4160520"/>
            <a:ext cx="804672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1" i="0">
                <a:solidFill>
                  <a:srgbClr val="003A59"/>
                </a:solidFill>
                <a:latin typeface="Poppins"/>
              </a:rPr>
              <a:t>Month 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15584" y="4160520"/>
            <a:ext cx="3054096" cy="256032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1E293B"/>
                </a:solidFill>
                <a:latin typeface="Poppins"/>
              </a:rPr>
              <a:t>Add PPC, scaling total ad spend to $7,500/mo</a:t>
            </a:r>
          </a:p>
        </p:txBody>
      </p:sp>
      <p:sp>
        <p:nvSpPr>
          <p:cNvPr id="44" name="Rectangle 43"/>
          <p:cNvSpPr/>
          <p:nvPr/>
        </p:nvSpPr>
        <p:spPr>
          <a:xfrm>
            <a:off x="0" y="4425696"/>
            <a:ext cx="9144000" cy="40233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4320" y="4425696"/>
            <a:ext cx="8595360" cy="402336"/>
          </a:xfrm>
          <a:prstGeom prst="rect">
            <a:avLst/>
          </a:prstGeom>
          <a:noFill/>
        </p:spPr>
        <p:txBody>
          <a:bodyPr wrap="square"/>
          <a:lstStyle/>
          <a:p>
            <a:pPr algn="ctr"/>
            <a:r>
              <a:rPr sz="900" b="0" i="1">
                <a:solidFill>
                  <a:srgbClr val="8BADD0"/>
                </a:solidFill>
                <a:latin typeface="Poppins"/>
              </a:rPr>
              <a:t>"Your father built a name that has carried this firm for 35 years — now build the system that lets it carry the next generation, too."</a:t>
            </a:r>
          </a:p>
        </p:txBody>
      </p:sp>
      <p:sp>
        <p:nvSpPr>
          <p:cNvPr id="46" name="Rectangle 45"/>
          <p:cNvSpPr/>
          <p:nvPr/>
        </p:nvSpPr>
        <p:spPr>
          <a:xfrm>
            <a:off x="0" y="4828032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7" name="Picture 46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4837176"/>
            <a:ext cx="1170432" cy="237744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1609344" y="4837176"/>
            <a:ext cx="530352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/>
            <a:r>
              <a:rPr sz="800" b="0" i="0">
                <a:solidFill>
                  <a:srgbClr val="5A7A9A"/>
                </a:solidFill>
                <a:latin typeface="Poppins"/>
              </a:rPr>
              <a:t>CONFIDENTIAL  ·  Prepared by Dan Bryant | SMB Team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837176"/>
            <a:ext cx="786384" cy="274320"/>
          </a:xfrm>
          <a:prstGeom prst="rect">
            <a:avLst/>
          </a:prstGeom>
          <a:noFill/>
        </p:spPr>
        <p:txBody>
          <a:bodyPr wrap="square"/>
          <a:lstStyle/>
          <a:p>
            <a:pPr algn="r"/>
            <a:r>
              <a:rPr sz="800" b="0" i="0">
                <a:solidFill>
                  <a:srgbClr val="5A7A9A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