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9CD2B"/>
                </a:solidFill>
                <a:latin typeface="Poppins"/>
              </a:rPr>
              <a:t>LAW FIRM GROWTH AUDIT  ·  GAYDOS LAW, P.C.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Poppins"/>
              </a:rPr>
              <a:t>Where Gaydos Law, P.C. Stands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46304" cy="3867912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1005840"/>
            <a:ext cx="1298448" cy="841248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" y="1005840"/>
            <a:ext cx="1298448" cy="56692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Poppins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1572768"/>
            <a:ext cx="1298448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600" b="1" i="0">
                <a:solidFill>
                  <a:srgbClr val="FFFFFF"/>
                </a:solidFill>
                <a:latin typeface="Poppins"/>
              </a:rPr>
              <a:t>COMPETITIVE URGENCY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2496" y="1005840"/>
            <a:ext cx="804672" cy="164592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2496" y="1170432"/>
            <a:ext cx="804672" cy="676656"/>
          </a:xfrm>
          <a:prstGeom prst="rect">
            <a:avLst/>
          </a:prstGeom>
          <a:solidFill>
            <a:srgbClr val="26587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Poppins"/>
              </a:rPr>
              <a:t>Lead Generation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C0392B"/>
                </a:solidFill>
                <a:latin typeface="Poppins"/>
              </a:rPr>
              <a:t>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Poppins"/>
              </a:rPr>
              <a:t>Waning referrals only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42032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42032" y="1170432"/>
            <a:ext cx="804672" cy="676656"/>
          </a:xfrm>
          <a:prstGeom prst="rect">
            <a:avLst/>
          </a:prstGeom>
          <a:solidFill>
            <a:srgbClr val="26587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96896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Poppins"/>
              </a:rPr>
              <a:t>Intake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96896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Poppins"/>
              </a:rPr>
              <a:t>AMBER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96896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Poppins"/>
              </a:rPr>
              <a:t>No CRM / lead tracking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170432"/>
            <a:ext cx="804672" cy="676656"/>
          </a:xfrm>
          <a:prstGeom prst="rect">
            <a:avLst/>
          </a:prstGeom>
          <a:solidFill>
            <a:srgbClr val="26587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56432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Poppins"/>
              </a:rPr>
              <a:t>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56432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Poppins"/>
              </a:rPr>
              <a:t>AMBER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Poppins"/>
              </a:rPr>
              <a:t>No formal leadership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61104" y="1005840"/>
            <a:ext cx="804672" cy="164592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61104" y="1170432"/>
            <a:ext cx="804672" cy="676656"/>
          </a:xfrm>
          <a:prstGeom prst="rect">
            <a:avLst/>
          </a:prstGeom>
          <a:solidFill>
            <a:srgbClr val="26587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15968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Poppins"/>
              </a:rPr>
              <a:t>Profit Plan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15968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C0392B"/>
                </a:solidFill>
                <a:latin typeface="Poppins"/>
              </a:rPr>
              <a:t>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15968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Poppins"/>
              </a:rPr>
              <a:t>No margin visibility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" y="1956816"/>
            <a:ext cx="484632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9CD2B"/>
                </a:solidFill>
                <a:latin typeface="Poppins"/>
              </a:rPr>
              <a:t>KEY FINDINGS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" y="2212848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386584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2368296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Poppins"/>
              </a:rPr>
              <a:t>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" y="2286000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Poppins"/>
              </a:rPr>
              <a:t>A waning referral flywheel is the firm's only real client source, with no scalable system replacing it.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2834640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3008376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2990088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Poppins"/>
              </a:rPr>
              <a:t>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" y="2907792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Poppins"/>
              </a:rPr>
              <a:t>Near-zero organic visibility outside personal injury is losing estate planning and probate cases to competitors.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6032" y="3456432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3630168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3611879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Poppins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3529584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Poppins"/>
              </a:rPr>
              <a:t>With no CRM or lead tracking, referrals and inquiries can be lost with no way to see it happening.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6032" y="4078224"/>
            <a:ext cx="4846320" cy="566928"/>
          </a:xfrm>
          <a:prstGeom prst="rect">
            <a:avLst/>
          </a:prstGeom>
          <a:solidFill>
            <a:srgbClr val="0C281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4251960"/>
            <a:ext cx="219456" cy="219456"/>
          </a:xfrm>
          <a:prstGeom prst="rect">
            <a:avLst/>
          </a:prstGeom>
          <a:solidFill>
            <a:srgbClr val="16A34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4233672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Poppins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656" y="4151376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86EFAC"/>
                </a:solidFill>
                <a:latin typeface="Poppins"/>
              </a:rPr>
              <a:t>An 8-person team and a 30-year office manager already provide real, informal delegation to build on.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960120"/>
            <a:ext cx="3886200" cy="386791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257800" y="1024128"/>
            <a:ext cx="3886200" cy="694944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257800" y="1024128"/>
            <a:ext cx="128016" cy="694944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0" y="1042415"/>
            <a:ext cx="3474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9CD2B"/>
                </a:solidFill>
                <a:latin typeface="Poppins"/>
              </a:rPr>
              <a:t>YOU ARE HERE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0" y="1243584"/>
            <a:ext cx="347472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Poppins"/>
              </a:rPr>
              <a:t>Solo Practitioner  →  Goal: Self-Managing, Multi-Generational Firm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94960" y="1920240"/>
            <a:ext cx="356616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4748B"/>
                </a:solidFill>
                <a:latin typeface="Poppins"/>
              </a:rPr>
              <a:t>COMPETITOR LANDSCAPE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57800" y="2176272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13248" y="2221991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Pribanic &amp; Pribanic,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60336" y="2221991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Poppins"/>
              </a:rPr>
              <a:t>Est. PI specialist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93024" y="2240279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Poppins"/>
              </a:rPr>
              <a:t>Same street, White Oak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2523744"/>
            <a:ext cx="3886200" cy="31089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13248" y="2569463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TopDog Law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60336" y="2569463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Poppins"/>
              </a:rPr>
              <a:t>Regional presence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93024" y="2587751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Poppins"/>
              </a:rPr>
              <a:t>Pittsburgh-wide reach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57800" y="2871216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13248" y="2916936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Gaydos Law referral base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60336" y="2916936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Poppins"/>
              </a:rPr>
              <a:t>Waning over time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93024" y="2935224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Poppins"/>
              </a:rPr>
              <a:t>35+ yr family legacy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57800" y="3218688"/>
            <a:ext cx="3886200" cy="310896"/>
          </a:xfrm>
          <a:prstGeom prst="rect">
            <a:avLst/>
          </a:prstGeom>
          <a:solidFill>
            <a:srgbClr val="FFF0F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257800" y="3218688"/>
            <a:ext cx="91440" cy="31089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13248" y="3264408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C0392B"/>
                </a:solidFill>
                <a:latin typeface="Poppins"/>
              </a:rPr>
              <a:t>Gaydos Law, P.C.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60336" y="3264408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C0392B"/>
                </a:solidFill>
                <a:latin typeface="Poppins"/>
              </a:rPr>
              <a:t>Review data unconfirmed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93024" y="3282696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Poppins"/>
              </a:rPr>
              <a:t>← You are here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Poppins"/>
              </a:rPr>
              <a:t>CONFIDENTIAL  ·  Prepared by Dan Bryant | SMB Team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Poppins"/>
              </a:rPr>
              <a:t>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9CD2B"/>
                </a:solidFill>
                <a:latin typeface="Poppins"/>
              </a:rPr>
              <a:t>LAW FIRM GROWTH AUDIT  ·  GAYDOS LAW, P.C.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Poppins"/>
              </a:rPr>
              <a:t>Your Growth Plan: 3 Priorities to Build a Firm That Outlasts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024128"/>
            <a:ext cx="2487168" cy="3639312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1042415"/>
            <a:ext cx="2487168" cy="18288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1097280"/>
            <a:ext cx="2267712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9CD2B"/>
                </a:solidFill>
                <a:latin typeface="Poppins"/>
              </a:rPr>
              <a:t>THE SMB TEAM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35024"/>
            <a:ext cx="2267712" cy="15727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A8BFDA"/>
                </a:solidFill>
                <a:latin typeface="Poppins"/>
              </a:rPr>
              <a:t>All four pillars — Lead Generation, Intake, Team, and Profit — must work together. Missing any one means growth stalls no matter how strong the others are. When all four work together, Joseph can finally build a firm that runs on its own systems, not on him.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2999232"/>
            <a:ext cx="2487168" cy="74980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301752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003A59"/>
                </a:solidFill>
                <a:latin typeface="Poppins"/>
              </a:rPr>
              <a:t>Referral-Only → Multi-Channel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3291840"/>
            <a:ext cx="228600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03A59"/>
                </a:solidFill>
                <a:latin typeface="Poppins"/>
              </a:rPr>
              <a:t>Build something built to outlast you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16352" y="1024128"/>
            <a:ext cx="2048256" cy="841248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0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Poppin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Poppins"/>
              </a:rPr>
              <a:t>Build the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Poppins"/>
              </a:rPr>
              <a:t>Marketing Engine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1865376"/>
            <a:ext cx="2048256" cy="566928"/>
          </a:xfrm>
          <a:prstGeom prst="rect">
            <a:avLst/>
          </a:prstGeom>
          <a:solidFill>
            <a:srgbClr val="E3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07792" y="2084832"/>
            <a:ext cx="91440" cy="91440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54096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Relaunch tracked Google Ads for PI and estate cases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16352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07792" y="2688336"/>
            <a:ext cx="91440" cy="91440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54096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Fix title tag and H1 SEO issues found on the site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16352" y="3072384"/>
            <a:ext cx="2048256" cy="566928"/>
          </a:xfrm>
          <a:prstGeom prst="rect">
            <a:avLst/>
          </a:prstGeom>
          <a:solidFill>
            <a:srgbClr val="E3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07792" y="3291839"/>
            <a:ext cx="91440" cy="91440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54096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Build geo pages for all 7 counties served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16352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3895344"/>
            <a:ext cx="91440" cy="91440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54096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Add estate planning and probate landing pages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16352" y="4279392"/>
            <a:ext cx="2048256" cy="566928"/>
          </a:xfrm>
          <a:prstGeom prst="rect">
            <a:avLst/>
          </a:prstGeom>
          <a:solidFill>
            <a:srgbClr val="E3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07792" y="4498848"/>
            <a:ext cx="91440" cy="91440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54096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Turn paid search into a pipeline that runs without you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37760" y="1024128"/>
            <a:ext cx="2048256" cy="84124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47488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003A59"/>
                </a:solidFill>
                <a:latin typeface="Poppins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47488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003A59"/>
                </a:solidFill>
                <a:latin typeface="Poppins"/>
              </a:rPr>
              <a:t>Fix Intake &amp;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7488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003A59"/>
                </a:solidFill>
                <a:latin typeface="Poppins"/>
              </a:rPr>
              <a:t>Stop Losing Cases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60" y="1865376"/>
            <a:ext cx="2048256" cy="566928"/>
          </a:xfrm>
          <a:prstGeom prst="rect">
            <a:avLst/>
          </a:prstGeom>
          <a:solidFill>
            <a:srgbClr val="EDF9E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0" y="2084832"/>
            <a:ext cx="91440" cy="91440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75504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Track every referral so none go unseen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760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0" y="2688336"/>
            <a:ext cx="91440" cy="91440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75504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Stand up a CRM to capture every inbound lead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37760" y="3072384"/>
            <a:ext cx="2048256" cy="566928"/>
          </a:xfrm>
          <a:prstGeom prst="rect">
            <a:avLst/>
          </a:prstGeom>
          <a:solidFill>
            <a:srgbClr val="EDF9E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3291839"/>
            <a:ext cx="91440" cy="91440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75504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Add after-hours coverage so no call goes unanswered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760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0" y="3895344"/>
            <a:ext cx="91440" cy="91440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75504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Protect the referral flow you already depend 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37760" y="4279392"/>
            <a:ext cx="2048256" cy="566928"/>
          </a:xfrm>
          <a:prstGeom prst="rect">
            <a:avLst/>
          </a:prstGeom>
          <a:solidFill>
            <a:srgbClr val="EDF9E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0" y="4498848"/>
            <a:ext cx="91440" cy="91440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75504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Match every call to what the Gaydos name promises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059168" y="1024128"/>
            <a:ext cx="2048256" cy="84124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68896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Poppins"/>
              </a:rPr>
              <a:t>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68896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Poppins"/>
              </a:rPr>
              <a:t>Install Team &amp;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68896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Poppins"/>
              </a:rPr>
              <a:t>Profit Systems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168" y="1865376"/>
            <a:ext cx="2048256" cy="566928"/>
          </a:xfrm>
          <a:prstGeom prst="rect">
            <a:avLst/>
          </a:prstGeom>
          <a:solidFill>
            <a:srgbClr val="E0E7E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150607" y="2084832"/>
            <a:ext cx="91440" cy="914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96912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Formalize the leadership your office manager carries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059168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7" y="2688336"/>
            <a:ext cx="91440" cy="914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296912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Build financial visibility by practice area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168" y="3072384"/>
            <a:ext cx="2048256" cy="566928"/>
          </a:xfrm>
          <a:prstGeom prst="rect">
            <a:avLst/>
          </a:prstGeom>
          <a:solidFill>
            <a:srgbClr val="E0E7E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150607" y="3291839"/>
            <a:ext cx="91440" cy="914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96912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Launch Elite Coach Plus accountability framework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59168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150607" y="3895344"/>
            <a:ext cx="91440" cy="914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96912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Create a structure that runs without you in the room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168" y="4279392"/>
            <a:ext cx="2048256" cy="566928"/>
          </a:xfrm>
          <a:prstGeom prst="rect">
            <a:avLst/>
          </a:prstGeom>
          <a:solidFill>
            <a:srgbClr val="E0E7E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50607" y="4498848"/>
            <a:ext cx="91440" cy="914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296912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Build a firm your daughter could one day step into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Poppins"/>
              </a:rPr>
              <a:t>CONFIDENTIAL  ·  Prepared by Dan Bryant | SMB Team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Poppins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9CD2B"/>
                </a:solidFill>
                <a:latin typeface="Poppins"/>
              </a:rPr>
              <a:t>LAW FIRM GROWTH AUDIT  ·  GAYDOS LAW, P.C.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Poppins"/>
              </a:rPr>
              <a:t>Your Investment &amp; What Happens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" y="1024128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" y="1024128"/>
            <a:ext cx="182880" cy="1024128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091C9"/>
                </a:solidFill>
                <a:latin typeface="Poppins"/>
              </a:rPr>
              <a:t>FULL SERVICE MARKETING — STARTER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298448"/>
            <a:ext cx="1828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003A59"/>
                </a:solidFill>
                <a:latin typeface="Poppins"/>
              </a:rPr>
              <a:t>$4,997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65376" y="1408176"/>
            <a:ext cx="42062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Poppins"/>
              </a:rPr>
              <a:t>/mo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1426464"/>
            <a:ext cx="914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155"/>
                </a:solidFill>
                <a:latin typeface="Poppins"/>
              </a:rPr>
              <a:t>$5,697/mo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22576" y="1527048"/>
            <a:ext cx="804672" cy="9144"/>
          </a:xfrm>
          <a:prstGeom prst="rect">
            <a:avLst/>
          </a:prstGeom>
          <a:solidFill>
            <a:srgbClr val="33415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792224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Poppins"/>
              </a:rPr>
              <a:t>Google Ads · SEO fixes · Geo/practice pages · GBP management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" y="2139696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" y="2139696"/>
            <a:ext cx="182880" cy="102412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2231136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ELITE COACH PLUS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2414015"/>
            <a:ext cx="1828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003A59"/>
                </a:solidFill>
                <a:latin typeface="Poppins"/>
              </a:rPr>
              <a:t>$3,200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65376" y="2523744"/>
            <a:ext cx="42062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Poppins"/>
              </a:rPr>
              <a:t>/mo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22576" y="2542032"/>
            <a:ext cx="914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155"/>
                </a:solidFill>
                <a:latin typeface="Poppins"/>
              </a:rPr>
              <a:t>$3,497/mo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642615"/>
            <a:ext cx="804672" cy="9144"/>
          </a:xfrm>
          <a:prstGeom prst="rect">
            <a:avLst/>
          </a:prstGeom>
          <a:solidFill>
            <a:srgbClr val="33415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2907791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Poppins"/>
              </a:rPr>
              <a:t>1:1 coaching · Group masterminds · Accountability framework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" y="3255264"/>
            <a:ext cx="4133087" cy="65836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3291840"/>
            <a:ext cx="16459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7CA0C0"/>
                </a:solidFill>
                <a:latin typeface="Poppins"/>
              </a:rPr>
              <a:t>BUNDLE TOTAL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3493008"/>
            <a:ext cx="21945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0091C9"/>
                </a:solidFill>
                <a:latin typeface="Poppins"/>
              </a:rPr>
              <a:t>$8,197 / 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70048" y="3493008"/>
            <a:ext cx="17373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7CA0C0"/>
                </a:solidFill>
                <a:latin typeface="Poppins"/>
              </a:rPr>
              <a:t>Save $997/mo by bundling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1168" y="3968496"/>
            <a:ext cx="4133087" cy="402336"/>
          </a:xfrm>
          <a:prstGeom prst="rect">
            <a:avLst/>
          </a:prstGeom>
          <a:solidFill>
            <a:srgbClr val="EEF2F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3995928"/>
            <a:ext cx="3931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Poppins"/>
              </a:rPr>
              <a:t>+ Recommended ad spend: $7,500–$20,000/mo paid directly to Google/Meta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35424" y="1024128"/>
            <a:ext cx="4407408" cy="1316736"/>
          </a:xfrm>
          <a:prstGeom prst="rect">
            <a:avLst/>
          </a:prstGeom>
          <a:solidFill>
            <a:srgbClr val="ECFD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0016" y="1078992"/>
            <a:ext cx="4133087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65F46"/>
                </a:solidFill>
                <a:latin typeface="Poppins"/>
              </a:rPr>
              <a:t>PROJECTED RETURN ON AD SPEND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0016" y="1335024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Poppins"/>
              </a:rPr>
              <a:t>Average case value: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1335024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65F46"/>
                </a:solidFill>
                <a:latin typeface="Poppins"/>
              </a:rPr>
              <a:t>$4,800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1609344"/>
            <a:ext cx="4187952" cy="310896"/>
          </a:xfrm>
          <a:prstGeom prst="rect">
            <a:avLst/>
          </a:prstGeom>
          <a:solidFill>
            <a:srgbClr val="D1FAE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00016" y="1645920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Poppins"/>
              </a:rPr>
              <a:t>Conservative  (~3 cases/mo):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9984" y="1645920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Poppins"/>
              </a:rPr>
              <a:t>~$14,400 revenue · 1.9× return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0016" y="1956816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Poppins"/>
              </a:rPr>
              <a:t>Aggressive  (~9 cases/mo):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9984" y="1956816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Poppins"/>
              </a:rPr>
              <a:t>~$43,200 revenue · 2.2× return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35424" y="2468880"/>
            <a:ext cx="4407408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WHAT HAPPENS IN THE FIRST 90 DAYS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90288" y="2724912"/>
            <a:ext cx="256032" cy="256032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37760" y="2734056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Day 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15584" y="2734056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Launch tracked paid search for PI and estate terms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90288" y="3081528"/>
            <a:ext cx="256032" cy="256032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37760" y="3090672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Day 14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5584" y="3090672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Fix on-page SEO title tag and H1 issues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90288" y="3438144"/>
            <a:ext cx="256032" cy="256032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37760" y="3447287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Week 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15584" y="3447287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Begin geo and practice-area landing pages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90288" y="3794760"/>
            <a:ext cx="256032" cy="256032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37760" y="3803904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Week 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15584" y="3803904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Stand up lead tracking and Elite Coach Plus kickoff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90288" y="4151376"/>
            <a:ext cx="256032" cy="256032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937760" y="4160520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Month 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15584" y="4160520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Baseline financial visibility by practice area live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425696"/>
            <a:ext cx="9144000" cy="402336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4320" y="4425696"/>
            <a:ext cx="8595360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 i="1">
                <a:solidFill>
                  <a:srgbClr val="8BADD0"/>
                </a:solidFill>
                <a:latin typeface="Poppins"/>
              </a:rPr>
              <a:t>"Your father built a name that has carried this firm for 35 years — now build the system that lets it carry the next generation, too."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Poppins"/>
              </a:rPr>
              <a:t>CONFIDENTIAL  ·  Prepared by Dan Bryant | SMB Team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Poppins"/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