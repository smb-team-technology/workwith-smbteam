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embeddedFontLst>
    <p:embeddedFont>
      <p:font typeface="Poppins"/>
      <p:regular r:id="rIdEmbedFont1"/>
      <p:bold r:id="rIdEmbedFont2"/>
      <p:italic r:id="rIdEmbedFont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EmbedFont1" Type="http://schemas.openxmlformats.org/officeDocument/2006/relationships/font" Target="fonts/font1.fntdata"/><Relationship Id="rIdEmbedFont2" Type="http://schemas.openxmlformats.org/officeDocument/2006/relationships/font" Target="fonts/font2.fntdata"/><Relationship Id="rIdEmbedFont3" Type="http://schemas.openxmlformats.org/officeDocument/2006/relationships/font" Target="fonts/font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GAYDOS LAW, P.C.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65760"/>
            <a:ext cx="630936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Where Gaydos Law, P.C. Stands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784848" y="164592"/>
            <a:ext cx="2066543" cy="512064"/>
          </a:xfrm>
          <a:prstGeom prst="rect">
            <a:avLst/>
          </a:prstGeom>
          <a:solidFill>
            <a:srgbClr val="0B4C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31152" y="210312"/>
            <a:ext cx="38404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Poppins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51775" y="274320"/>
            <a:ext cx="141732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69CD2B"/>
                </a:solidFill>
                <a:latin typeface="Poppins"/>
              </a:rPr>
              <a:t>COMPETITIVE URGENCY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1775" y="429768"/>
            <a:ext cx="141732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9CC0D6"/>
                </a:solidFill>
                <a:latin typeface="Poppins"/>
              </a:rPr>
              <a:t>Score out of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005840"/>
            <a:ext cx="2066543" cy="36576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3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Lead Generation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3" y="1426464"/>
            <a:ext cx="585216" cy="173736"/>
          </a:xfrm>
          <a:prstGeom prst="roundRect">
            <a:avLst/>
          </a:prstGeom>
          <a:solidFill>
            <a:srgbClr val="FB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3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32D2D"/>
                </a:solidFill>
                <a:latin typeface="Poppins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3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Waning referrals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0592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Intake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96896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6896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96896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No CRM / lead tracking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6008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2312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Team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82312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No formal leadership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1005840"/>
            <a:ext cx="2066543" cy="36576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58584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Profit Plan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58584" y="1426464"/>
            <a:ext cx="585216" cy="173736"/>
          </a:xfrm>
          <a:prstGeom prst="roundRect">
            <a:avLst/>
          </a:prstGeom>
          <a:solidFill>
            <a:srgbClr val="FB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58584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32D2D"/>
                </a:solidFill>
                <a:latin typeface="Poppins"/>
              </a:rPr>
              <a:t>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8584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No margin visibility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2011680"/>
            <a:ext cx="42976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KEY FINDINGS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267712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2267712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9768" y="2459736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9270" y="2499238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9270" y="2499238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2386584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A waning referral flywheel is the firm's only real client source, with no scalable system replacing it.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889504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4320" y="2889504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9768" y="3081528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69270" y="3121030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69270" y="3121030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3008376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Near-zero organic visibility outside personal injury is losing estate planning and probate cases to competitors.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511296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3511296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29768" y="3703320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69270" y="3742822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69270" y="3742822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85800" y="3630168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With no CRM or lead tracking, referrals and inquiries can be lost with no way to see it happening.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133087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4320" y="4133087"/>
            <a:ext cx="36576" cy="557784"/>
          </a:xfrm>
          <a:prstGeom prst="rect">
            <a:avLst/>
          </a:prstGeom>
          <a:solidFill>
            <a:srgbClr val="3F8F1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29768" y="4325112"/>
            <a:ext cx="164592" cy="164592"/>
          </a:xfrm>
          <a:prstGeom prst="roundRect">
            <a:avLst/>
          </a:prstGeom>
          <a:solidFill>
            <a:srgbClr val="3F8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65978" y="4415637"/>
            <a:ext cx="32918" cy="31273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8896" y="4367905"/>
            <a:ext cx="62545" cy="79005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85800" y="4251959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An 8-person team and a 30-year office manager already provide real, informal delegation to build on.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28032" y="2011680"/>
            <a:ext cx="4041648" cy="67665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828032" y="2011680"/>
            <a:ext cx="36576" cy="67665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10912" y="2130552"/>
            <a:ext cx="3675887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YOU ARE HERE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10912" y="2322576"/>
            <a:ext cx="3675887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Solo Practitioner  →  Goal: Self-Managing, Multi-Generational Firm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28032" y="2871216"/>
            <a:ext cx="4041648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COMPETITOR LANDSCAPE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28032" y="3127248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92624" y="3127248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Pribanic &amp; Pribanic,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38544" y="3127248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Est. PI specialist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3127248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Same street, White Oak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28032" y="3529584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92624" y="3529584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TopDog Law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38544" y="3529584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Regional presence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28431" y="3529584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Pittsburgh-wide reach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28032" y="3931920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92624" y="3931920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Gaydos Law referral base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38544" y="3931920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Waning over time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28431" y="3931920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35+ yr family legacy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28032" y="4334256"/>
            <a:ext cx="4041648" cy="356616"/>
          </a:xfrm>
          <a:prstGeom prst="rect">
            <a:avLst/>
          </a:prstGeom>
          <a:solidFill>
            <a:srgbClr val="FBEE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828032" y="4334256"/>
            <a:ext cx="36576" cy="356616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92624" y="4334256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B32D2D"/>
                </a:solidFill>
                <a:latin typeface="Poppins"/>
              </a:rPr>
              <a:t>Gaydos Law, P.C.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38544" y="4334256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B32D2D"/>
                </a:solidFill>
                <a:latin typeface="Poppins"/>
              </a:rPr>
              <a:t>Review data unconfirmed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28431" y="4334256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← You are here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GAYDOS LAW, P.C.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65760"/>
            <a:ext cx="85039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Growth Plan: 3 Priorities to Build a Firm That Outlasts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2212848" cy="228600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2212848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184708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THE SMB TEAM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26464"/>
            <a:ext cx="1847088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B8CDDD"/>
                </a:solidFill>
                <a:latin typeface="Poppins"/>
              </a:rPr>
              <a:t>All four pillars — Lead Generation, Intake, Team, and Profit — must work together. Missing any one means growth stalls no matter how strong the others are. When all four work together, Joseph can finally build a firm that runs on its own systems, not on him.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56432"/>
            <a:ext cx="2212848" cy="1124712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21024"/>
            <a:ext cx="184708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43306"/>
                </a:solidFill>
                <a:latin typeface="Poppins"/>
              </a:rPr>
              <a:t>Referral-Only → Multi-Channel Growth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33087"/>
            <a:ext cx="1847088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F470C"/>
                </a:solidFill>
                <a:latin typeface="Poppins"/>
              </a:rPr>
              <a:t>Build something built to outlast you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0048" y="1005840"/>
            <a:ext cx="2066543" cy="84124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34640" y="1097280"/>
            <a:ext cx="4572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1316736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Build the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536192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Marketing Engine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048" y="1865376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16352" y="2093976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1965960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Launch LSA for Family Law and Probate leads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0048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16352" y="2651760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252374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Fix title tag and H1 SEO issues found on the site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048" y="2971800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16352" y="3200400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71800" y="307238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Build dedicated Family Law and Probate pages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16352" y="3749039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71800" y="362102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Add PPC at month 3 to scale to $7,500/mo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048" y="4078224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16352" y="4306824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1800" y="4178808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Turn paid search into a pipeline that runs without you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1005840"/>
            <a:ext cx="2066543" cy="84124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10912" y="1097280"/>
            <a:ext cx="4572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43306"/>
                </a:solidFill>
                <a:latin typeface="Poppins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10912" y="1316736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Fix Intake &amp;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0912" y="1536192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Stop Losing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1865376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992624" y="2093976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8072" y="1965960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Track every referral so none go unseen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92624" y="2651760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48072" y="252374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Stand up a CRM to capture every inbound lead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2971800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92624" y="3200400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48072" y="307238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Add after-hours coverage so no call goes unanswered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92624" y="3749039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48072" y="362102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Protect the referral flow you already depend 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46320" y="4078224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992624" y="4306824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8072" y="4178808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Match every call to what the Gaydos name promises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22592" y="1005840"/>
            <a:ext cx="2066543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87183" y="1097280"/>
            <a:ext cx="4572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87183" y="1316736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Install Team &amp;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87183" y="1536192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Profit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22592" y="1865376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168896" y="2093976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1965960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Formalize the leadership your office manager carries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22592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68896" y="2651760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24344" y="252374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Build financial visibility by practice area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22592" y="2971800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168896" y="3200400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24344" y="307238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Kick off Elite Coach to build that leadership structure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22592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68896" y="3749039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24344" y="362102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Create a structure that runs without you in the room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22592" y="4078224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68896" y="4306824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24344" y="4178808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Build a firm your daughter could one day step into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GAYDOS LAW, P.C.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65760"/>
            <a:ext cx="85039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6576" cy="96012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143000"/>
            <a:ext cx="35844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91C9"/>
                </a:solidFill>
                <a:latin typeface="Poppins"/>
              </a:rPr>
              <a:t>FULL SERVICE MARKETING —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335024"/>
            <a:ext cx="1737360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$4,997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536192"/>
            <a:ext cx="365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536192"/>
            <a:ext cx="10058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$5,697/mo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783080"/>
            <a:ext cx="3584448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LSA for Family Law &amp; Probate · SEO fixes · Landing 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5740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57400"/>
            <a:ext cx="36576" cy="96012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194560"/>
            <a:ext cx="35844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ELITE COACH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386584"/>
            <a:ext cx="1737360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$2,600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587752"/>
            <a:ext cx="365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587752"/>
            <a:ext cx="10058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$3,497/mo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2834640"/>
            <a:ext cx="3584448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Weekly group coaching · Masterminds · Quarterly workshops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108960"/>
            <a:ext cx="4041648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108960"/>
            <a:ext cx="36576" cy="65836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246120"/>
            <a:ext cx="1554480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BUNDLE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4290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oppins"/>
              </a:rPr>
              <a:t>$7,597 /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493008"/>
            <a:ext cx="1463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 i="0">
                <a:solidFill>
                  <a:srgbClr val="A9D68C"/>
                </a:solidFill>
                <a:latin typeface="Poppins"/>
              </a:rPr>
              <a:t>Save $1,597/mo by bundling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858768"/>
            <a:ext cx="4041648" cy="384048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858768"/>
            <a:ext cx="3675887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+ Recommended ad spend: $3,000–$5,000/mo, ramping to $7,500/mo at month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005840"/>
            <a:ext cx="4297680" cy="1298448"/>
          </a:xfrm>
          <a:prstGeom prst="rect">
            <a:avLst/>
          </a:prstGeom>
          <a:solidFill>
            <a:srgbClr val="F0FAF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152144"/>
            <a:ext cx="3895344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B6B4A"/>
                </a:solidFill>
                <a:latin typeface="Poppins"/>
              </a:rPr>
              <a:t>PROJECTED RETURN ON AD SPEND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73168" y="144475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1B2A38"/>
                </a:solidFill>
                <a:latin typeface="Poppins"/>
              </a:rPr>
              <a:t>Average case value: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444752"/>
            <a:ext cx="210312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0B6B4A"/>
                </a:solidFill>
                <a:latin typeface="Poppins"/>
              </a:rPr>
              <a:t>FL $5K · Probate $20K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0016" y="1673352"/>
            <a:ext cx="4041648" cy="256032"/>
          </a:xfrm>
          <a:prstGeom prst="rect">
            <a:avLst/>
          </a:prstGeom>
          <a:solidFill>
            <a:srgbClr val="E2F3E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1737360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1B2A38"/>
                </a:solidFill>
                <a:latin typeface="Poppins"/>
              </a:rPr>
              <a:t>Phase 1 — LSA  (~7 cases/mo):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737360"/>
            <a:ext cx="210312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0B6B4A"/>
                </a:solidFill>
                <a:latin typeface="Poppins"/>
              </a:rPr>
              <a:t>~$95,000 value · 23.8× return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73168" y="2020824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1B2A38"/>
                </a:solidFill>
                <a:latin typeface="Poppins"/>
              </a:rPr>
              <a:t>Phase 2 — LSA+PPC  (~13 cases/mo):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020824"/>
            <a:ext cx="210312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0B6B4A"/>
                </a:solidFill>
                <a:latin typeface="Poppins"/>
              </a:rPr>
              <a:t>~$170,000 value · 22.7× return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2487168"/>
            <a:ext cx="42976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WHAT HAPPENS IN THE FIRST 90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2734056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00016" y="2816352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1184" y="2784348"/>
            <a:ext cx="6858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50992" y="2784348"/>
            <a:ext cx="30632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Launch LSA for Family Law and Probate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026664"/>
            <a:ext cx="4297680" cy="26517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00016" y="3108960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01184" y="3076956"/>
            <a:ext cx="6858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50992" y="3076956"/>
            <a:ext cx="30632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Fix on-page SEO title tag and H1 issues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3310128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700016" y="3392424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01184" y="3360420"/>
            <a:ext cx="6858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50992" y="3360420"/>
            <a:ext cx="30632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Begin Family Law and Probate landing pages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0" y="3602736"/>
            <a:ext cx="4297680" cy="26517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00016" y="3685032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01184" y="3653028"/>
            <a:ext cx="6858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50992" y="3653028"/>
            <a:ext cx="30632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Stand up lead tracking across referrals and ads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3886200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00016" y="3968496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01184" y="3936491"/>
            <a:ext cx="6858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Month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50992" y="3936491"/>
            <a:ext cx="30632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Add PPC, scaling total ad spend to $7,500/mo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4261104"/>
            <a:ext cx="9144000" cy="557784"/>
          </a:xfrm>
          <a:prstGeom prst="rect">
            <a:avLst/>
          </a:prstGeom>
          <a:solidFill>
            <a:srgbClr val="002A4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0" y="4261104"/>
            <a:ext cx="9144000" cy="1828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4407408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 i="0">
                <a:solidFill>
                  <a:srgbClr val="C2D8E6"/>
                </a:solidFill>
                <a:latin typeface="Poppins"/>
              </a:rPr>
              <a:t>"Your father built a name that has carried this firm for 35 years — now build the system that lets it carry the next generation, too."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