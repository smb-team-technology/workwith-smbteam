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91440"/>
            <a:ext cx="8595360" cy="201168"/>
          </a:xfrm>
          <a:prstGeom prst="rect">
            <a:avLst/>
          </a:prstGeom>
          <a:noFill/>
        </p:spPr>
        <p:txBody>
          <a:bodyPr wrap="square"/>
          <a:lstStyle/>
          <a:p>
            <a:pPr algn="l"/>
            <a:r>
              <a:rPr sz="800" b="1" i="0">
                <a:solidFill>
                  <a:srgbClr val="F5C400"/>
                </a:solidFill>
                <a:latin typeface="Calibri"/>
              </a:rPr>
              <a:t>LAW FIRM GROWTH AUDIT  ·  LAWRENCE LAW LLC</a:t>
            </a:r>
          </a:p>
        </p:txBody>
      </p:sp>
      <p:sp>
        <p:nvSpPr>
          <p:cNvPr id="4" name="TextBox 3"/>
          <p:cNvSpPr txBox="1"/>
          <p:nvPr/>
        </p:nvSpPr>
        <p:spPr>
          <a:xfrm>
            <a:off x="292608" y="310896"/>
            <a:ext cx="8595360" cy="548640"/>
          </a:xfrm>
          <a:prstGeom prst="rect">
            <a:avLst/>
          </a:prstGeom>
          <a:noFill/>
        </p:spPr>
        <p:txBody>
          <a:bodyPr wrap="square"/>
          <a:lstStyle/>
          <a:p>
            <a:pPr algn="l"/>
            <a:r>
              <a:rPr sz="2400" b="1" i="0">
                <a:solidFill>
                  <a:srgbClr val="FFFFFF"/>
                </a:solidFill>
                <a:latin typeface="Calibri"/>
              </a:rPr>
              <a:t>Where Lawrence Law LLC Stands Today</a:t>
            </a:r>
          </a:p>
        </p:txBody>
      </p:sp>
      <p:sp>
        <p:nvSpPr>
          <p:cNvPr id="5" name="Rectangle 4"/>
          <p:cNvSpPr/>
          <p:nvPr/>
        </p:nvSpPr>
        <p:spPr>
          <a:xfrm>
            <a:off x="0" y="960120"/>
            <a:ext cx="146304" cy="3867912"/>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6032" y="1005840"/>
            <a:ext cx="1298448" cy="841248"/>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6032" y="1005840"/>
            <a:ext cx="1298448" cy="566928"/>
          </a:xfrm>
          <a:prstGeom prst="rect">
            <a:avLst/>
          </a:prstGeom>
          <a:noFill/>
        </p:spPr>
        <p:txBody>
          <a:bodyPr wrap="square"/>
          <a:lstStyle/>
          <a:p>
            <a:pPr algn="ctr"/>
            <a:r>
              <a:rPr sz="2800" b="1" i="0">
                <a:solidFill>
                  <a:srgbClr val="FFFFFF"/>
                </a:solidFill>
                <a:latin typeface="Calibri"/>
              </a:rPr>
              <a:t>6</a:t>
            </a:r>
          </a:p>
        </p:txBody>
      </p:sp>
      <p:sp>
        <p:nvSpPr>
          <p:cNvPr id="8" name="TextBox 7"/>
          <p:cNvSpPr txBox="1"/>
          <p:nvPr/>
        </p:nvSpPr>
        <p:spPr>
          <a:xfrm>
            <a:off x="256032" y="1572768"/>
            <a:ext cx="1298448" cy="274320"/>
          </a:xfrm>
          <a:prstGeom prst="rect">
            <a:avLst/>
          </a:prstGeom>
          <a:noFill/>
        </p:spPr>
        <p:txBody>
          <a:bodyPr wrap="square"/>
          <a:lstStyle/>
          <a:p>
            <a:pPr algn="ctr"/>
            <a:r>
              <a:rPr sz="600" b="1" i="0">
                <a:solidFill>
                  <a:srgbClr val="FFFFFF"/>
                </a:solidFill>
                <a:latin typeface="Calibri"/>
              </a:rPr>
              <a:t>COMPETITIVE URGENCY</a:t>
            </a:r>
          </a:p>
        </p:txBody>
      </p:sp>
      <p:sp>
        <p:nvSpPr>
          <p:cNvPr id="9" name="Rectangle 8"/>
          <p:cNvSpPr/>
          <p:nvPr/>
        </p:nvSpPr>
        <p:spPr>
          <a:xfrm>
            <a:off x="1682496" y="1005840"/>
            <a:ext cx="804672" cy="164592"/>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682496"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737360" y="1188720"/>
            <a:ext cx="694944" cy="237744"/>
          </a:xfrm>
          <a:prstGeom prst="rect">
            <a:avLst/>
          </a:prstGeom>
          <a:noFill/>
        </p:spPr>
        <p:txBody>
          <a:bodyPr wrap="square"/>
          <a:lstStyle/>
          <a:p>
            <a:pPr algn="l"/>
            <a:r>
              <a:rPr sz="800" b="1" i="0">
                <a:solidFill>
                  <a:srgbClr val="FFFFFF"/>
                </a:solidFill>
                <a:latin typeface="Calibri"/>
              </a:rPr>
              <a:t>Lead Generation</a:t>
            </a:r>
          </a:p>
        </p:txBody>
      </p:sp>
      <p:sp>
        <p:nvSpPr>
          <p:cNvPr id="12" name="TextBox 11"/>
          <p:cNvSpPr txBox="1"/>
          <p:nvPr/>
        </p:nvSpPr>
        <p:spPr>
          <a:xfrm>
            <a:off x="1737360" y="1417320"/>
            <a:ext cx="694944" cy="182880"/>
          </a:xfrm>
          <a:prstGeom prst="rect">
            <a:avLst/>
          </a:prstGeom>
          <a:noFill/>
        </p:spPr>
        <p:txBody>
          <a:bodyPr wrap="square"/>
          <a:lstStyle/>
          <a:p>
            <a:pPr algn="l"/>
            <a:r>
              <a:rPr sz="700" b="1" i="0">
                <a:solidFill>
                  <a:srgbClr val="C0392B"/>
                </a:solidFill>
                <a:latin typeface="Calibri"/>
              </a:rPr>
              <a:t>CRITICAL</a:t>
            </a:r>
          </a:p>
        </p:txBody>
      </p:sp>
      <p:sp>
        <p:nvSpPr>
          <p:cNvPr id="13" name="TextBox 12"/>
          <p:cNvSpPr txBox="1"/>
          <p:nvPr/>
        </p:nvSpPr>
        <p:spPr>
          <a:xfrm>
            <a:off x="1737360" y="1591056"/>
            <a:ext cx="694944" cy="237744"/>
          </a:xfrm>
          <a:prstGeom prst="rect">
            <a:avLst/>
          </a:prstGeom>
          <a:noFill/>
        </p:spPr>
        <p:txBody>
          <a:bodyPr wrap="square"/>
          <a:lstStyle/>
          <a:p>
            <a:pPr algn="l"/>
            <a:r>
              <a:rPr sz="700" b="0" i="0">
                <a:solidFill>
                  <a:srgbClr val="8BADD0"/>
                </a:solidFill>
                <a:latin typeface="Calibri"/>
              </a:rPr>
              <a:t>No ads on any channel</a:t>
            </a:r>
          </a:p>
        </p:txBody>
      </p:sp>
      <p:sp>
        <p:nvSpPr>
          <p:cNvPr id="14" name="Rectangle 13"/>
          <p:cNvSpPr/>
          <p:nvPr/>
        </p:nvSpPr>
        <p:spPr>
          <a:xfrm>
            <a:off x="2542032" y="1005840"/>
            <a:ext cx="804672" cy="164592"/>
          </a:xfrm>
          <a:prstGeom prst="rect">
            <a:avLst/>
          </a:prstGeom>
          <a:solidFill>
            <a:srgbClr val="D9770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542032"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96896" y="1188720"/>
            <a:ext cx="694944" cy="237744"/>
          </a:xfrm>
          <a:prstGeom prst="rect">
            <a:avLst/>
          </a:prstGeom>
          <a:noFill/>
        </p:spPr>
        <p:txBody>
          <a:bodyPr wrap="square"/>
          <a:lstStyle/>
          <a:p>
            <a:pPr algn="l"/>
            <a:r>
              <a:rPr sz="800" b="1" i="0">
                <a:solidFill>
                  <a:srgbClr val="FFFFFF"/>
                </a:solidFill>
                <a:latin typeface="Calibri"/>
              </a:rPr>
              <a:t>Intake</a:t>
            </a:r>
          </a:p>
        </p:txBody>
      </p:sp>
      <p:sp>
        <p:nvSpPr>
          <p:cNvPr id="17" name="TextBox 16"/>
          <p:cNvSpPr txBox="1"/>
          <p:nvPr/>
        </p:nvSpPr>
        <p:spPr>
          <a:xfrm>
            <a:off x="2596896" y="1417320"/>
            <a:ext cx="694944" cy="182880"/>
          </a:xfrm>
          <a:prstGeom prst="rect">
            <a:avLst/>
          </a:prstGeom>
          <a:noFill/>
        </p:spPr>
        <p:txBody>
          <a:bodyPr wrap="square"/>
          <a:lstStyle/>
          <a:p>
            <a:pPr algn="l"/>
            <a:r>
              <a:rPr sz="700" b="1" i="0">
                <a:solidFill>
                  <a:srgbClr val="D97706"/>
                </a:solidFill>
                <a:latin typeface="Calibri"/>
              </a:rPr>
              <a:t>AMBER</a:t>
            </a:r>
          </a:p>
        </p:txBody>
      </p:sp>
      <p:sp>
        <p:nvSpPr>
          <p:cNvPr id="18" name="TextBox 17"/>
          <p:cNvSpPr txBox="1"/>
          <p:nvPr/>
        </p:nvSpPr>
        <p:spPr>
          <a:xfrm>
            <a:off x="2596896" y="1591056"/>
            <a:ext cx="694944" cy="237744"/>
          </a:xfrm>
          <a:prstGeom prst="rect">
            <a:avLst/>
          </a:prstGeom>
          <a:noFill/>
        </p:spPr>
        <p:txBody>
          <a:bodyPr wrap="square"/>
          <a:lstStyle/>
          <a:p>
            <a:pPr algn="l"/>
            <a:r>
              <a:rPr sz="700" b="0" i="0">
                <a:solidFill>
                  <a:srgbClr val="8BADD0"/>
                </a:solidFill>
                <a:latin typeface="Calibri"/>
              </a:rPr>
              <a:t>Contact page 404 error</a:t>
            </a:r>
          </a:p>
        </p:txBody>
      </p:sp>
      <p:sp>
        <p:nvSpPr>
          <p:cNvPr id="19" name="Rectangle 18"/>
          <p:cNvSpPr/>
          <p:nvPr/>
        </p:nvSpPr>
        <p:spPr>
          <a:xfrm>
            <a:off x="3401568" y="1005840"/>
            <a:ext cx="804672" cy="164592"/>
          </a:xfrm>
          <a:prstGeom prst="rect">
            <a:avLst/>
          </a:prstGeom>
          <a:solidFill>
            <a:srgbClr val="D9770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401568"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456432" y="1188720"/>
            <a:ext cx="694944" cy="237744"/>
          </a:xfrm>
          <a:prstGeom prst="rect">
            <a:avLst/>
          </a:prstGeom>
          <a:noFill/>
        </p:spPr>
        <p:txBody>
          <a:bodyPr wrap="square"/>
          <a:lstStyle/>
          <a:p>
            <a:pPr algn="l"/>
            <a:r>
              <a:rPr sz="800" b="1" i="0">
                <a:solidFill>
                  <a:srgbClr val="FFFFFF"/>
                </a:solidFill>
                <a:latin typeface="Calibri"/>
              </a:rPr>
              <a:t>Team</a:t>
            </a:r>
          </a:p>
        </p:txBody>
      </p:sp>
      <p:sp>
        <p:nvSpPr>
          <p:cNvPr id="22" name="TextBox 21"/>
          <p:cNvSpPr txBox="1"/>
          <p:nvPr/>
        </p:nvSpPr>
        <p:spPr>
          <a:xfrm>
            <a:off x="3456432" y="1417320"/>
            <a:ext cx="694944" cy="182880"/>
          </a:xfrm>
          <a:prstGeom prst="rect">
            <a:avLst/>
          </a:prstGeom>
          <a:noFill/>
        </p:spPr>
        <p:txBody>
          <a:bodyPr wrap="square"/>
          <a:lstStyle/>
          <a:p>
            <a:pPr algn="l"/>
            <a:r>
              <a:rPr sz="700" b="1" i="0">
                <a:solidFill>
                  <a:srgbClr val="D97706"/>
                </a:solidFill>
                <a:latin typeface="Calibri"/>
              </a:rPr>
              <a:t>AMBER</a:t>
            </a:r>
          </a:p>
        </p:txBody>
      </p:sp>
      <p:sp>
        <p:nvSpPr>
          <p:cNvPr id="23" name="TextBox 22"/>
          <p:cNvSpPr txBox="1"/>
          <p:nvPr/>
        </p:nvSpPr>
        <p:spPr>
          <a:xfrm>
            <a:off x="3456432" y="1591056"/>
            <a:ext cx="694944" cy="237744"/>
          </a:xfrm>
          <a:prstGeom prst="rect">
            <a:avLst/>
          </a:prstGeom>
          <a:noFill/>
        </p:spPr>
        <p:txBody>
          <a:bodyPr wrap="square"/>
          <a:lstStyle/>
          <a:p>
            <a:pPr algn="l"/>
            <a:r>
              <a:rPr sz="700" b="0" i="0">
                <a:solidFill>
                  <a:srgbClr val="8BADD0"/>
                </a:solidFill>
                <a:latin typeface="Calibri"/>
              </a:rPr>
              <a:t>Kate is sole rainmaker</a:t>
            </a:r>
          </a:p>
        </p:txBody>
      </p:sp>
      <p:sp>
        <p:nvSpPr>
          <p:cNvPr id="24" name="Rectangle 23"/>
          <p:cNvSpPr/>
          <p:nvPr/>
        </p:nvSpPr>
        <p:spPr>
          <a:xfrm>
            <a:off x="4261104" y="1005840"/>
            <a:ext cx="804672" cy="164592"/>
          </a:xfrm>
          <a:prstGeom prst="rect">
            <a:avLst/>
          </a:prstGeom>
          <a:solidFill>
            <a:srgbClr val="D9770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261104"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15968" y="1188720"/>
            <a:ext cx="694944" cy="237744"/>
          </a:xfrm>
          <a:prstGeom prst="rect">
            <a:avLst/>
          </a:prstGeom>
          <a:noFill/>
        </p:spPr>
        <p:txBody>
          <a:bodyPr wrap="square"/>
          <a:lstStyle/>
          <a:p>
            <a:pPr algn="l"/>
            <a:r>
              <a:rPr sz="800" b="1" i="0">
                <a:solidFill>
                  <a:srgbClr val="FFFFFF"/>
                </a:solidFill>
                <a:latin typeface="Calibri"/>
              </a:rPr>
              <a:t>Profit Plan</a:t>
            </a:r>
          </a:p>
        </p:txBody>
      </p:sp>
      <p:sp>
        <p:nvSpPr>
          <p:cNvPr id="27" name="TextBox 26"/>
          <p:cNvSpPr txBox="1"/>
          <p:nvPr/>
        </p:nvSpPr>
        <p:spPr>
          <a:xfrm>
            <a:off x="4315968" y="1417320"/>
            <a:ext cx="694944" cy="182880"/>
          </a:xfrm>
          <a:prstGeom prst="rect">
            <a:avLst/>
          </a:prstGeom>
          <a:noFill/>
        </p:spPr>
        <p:txBody>
          <a:bodyPr wrap="square"/>
          <a:lstStyle/>
          <a:p>
            <a:pPr algn="l"/>
            <a:r>
              <a:rPr sz="700" b="1" i="0">
                <a:solidFill>
                  <a:srgbClr val="D97706"/>
                </a:solidFill>
                <a:latin typeface="Calibri"/>
              </a:rPr>
              <a:t>AMBER</a:t>
            </a:r>
          </a:p>
        </p:txBody>
      </p:sp>
      <p:sp>
        <p:nvSpPr>
          <p:cNvPr id="28" name="TextBox 27"/>
          <p:cNvSpPr txBox="1"/>
          <p:nvPr/>
        </p:nvSpPr>
        <p:spPr>
          <a:xfrm>
            <a:off x="4315968" y="1591056"/>
            <a:ext cx="694944" cy="237744"/>
          </a:xfrm>
          <a:prstGeom prst="rect">
            <a:avLst/>
          </a:prstGeom>
          <a:noFill/>
        </p:spPr>
        <p:txBody>
          <a:bodyPr wrap="square"/>
          <a:lstStyle/>
          <a:p>
            <a:pPr algn="l"/>
            <a:r>
              <a:rPr sz="700" b="0" i="0">
                <a:solidFill>
                  <a:srgbClr val="8BADD0"/>
                </a:solidFill>
                <a:latin typeface="Calibri"/>
              </a:rPr>
              <a:t>No margin visibility</a:t>
            </a:r>
          </a:p>
        </p:txBody>
      </p:sp>
      <p:sp>
        <p:nvSpPr>
          <p:cNvPr id="29" name="TextBox 28"/>
          <p:cNvSpPr txBox="1"/>
          <p:nvPr/>
        </p:nvSpPr>
        <p:spPr>
          <a:xfrm>
            <a:off x="256032" y="1956816"/>
            <a:ext cx="4846320" cy="219456"/>
          </a:xfrm>
          <a:prstGeom prst="rect">
            <a:avLst/>
          </a:prstGeom>
          <a:noFill/>
        </p:spPr>
        <p:txBody>
          <a:bodyPr wrap="square"/>
          <a:lstStyle/>
          <a:p>
            <a:pPr algn="l"/>
            <a:r>
              <a:rPr sz="800" b="1" i="0">
                <a:solidFill>
                  <a:srgbClr val="F5C400"/>
                </a:solidFill>
                <a:latin typeface="Calibri"/>
              </a:rPr>
              <a:t>KEY FINDINGS</a:t>
            </a:r>
          </a:p>
        </p:txBody>
      </p:sp>
      <p:sp>
        <p:nvSpPr>
          <p:cNvPr id="30" name="Rectangle 29"/>
          <p:cNvSpPr/>
          <p:nvPr/>
        </p:nvSpPr>
        <p:spPr>
          <a:xfrm>
            <a:off x="256032" y="2212848"/>
            <a:ext cx="4846320" cy="566928"/>
          </a:xfrm>
          <a:prstGeom prst="rect">
            <a:avLst/>
          </a:prstGeom>
          <a:solidFill>
            <a:srgbClr val="2C101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65760" y="2386584"/>
            <a:ext cx="219456" cy="21945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65760" y="2368296"/>
            <a:ext cx="219456" cy="237744"/>
          </a:xfrm>
          <a:prstGeom prst="rect">
            <a:avLst/>
          </a:prstGeom>
          <a:noFill/>
        </p:spPr>
        <p:txBody>
          <a:bodyPr wrap="square"/>
          <a:lstStyle/>
          <a:p>
            <a:pPr algn="ctr"/>
            <a:r>
              <a:rPr sz="900" b="1" i="0">
                <a:solidFill>
                  <a:srgbClr val="FFFFFF"/>
                </a:solidFill>
                <a:latin typeface="Calibri"/>
              </a:rPr>
              <a:t>✕</a:t>
            </a:r>
          </a:p>
        </p:txBody>
      </p:sp>
      <p:sp>
        <p:nvSpPr>
          <p:cNvPr id="33" name="TextBox 32"/>
          <p:cNvSpPr txBox="1"/>
          <p:nvPr/>
        </p:nvSpPr>
        <p:spPr>
          <a:xfrm>
            <a:off x="676656" y="2286000"/>
            <a:ext cx="4352544" cy="420624"/>
          </a:xfrm>
          <a:prstGeom prst="rect">
            <a:avLst/>
          </a:prstGeom>
          <a:noFill/>
        </p:spPr>
        <p:txBody>
          <a:bodyPr wrap="square"/>
          <a:lstStyle/>
          <a:p>
            <a:pPr algn="l"/>
            <a:r>
              <a:rPr sz="1000" b="0" i="0">
                <a:solidFill>
                  <a:srgbClr val="F0BABA"/>
                </a:solidFill>
                <a:latin typeface="Calibri"/>
              </a:rPr>
              <a:t>Website contact page returns 404 — no inbound lead can reach the firm online</a:t>
            </a:r>
          </a:p>
        </p:txBody>
      </p:sp>
      <p:sp>
        <p:nvSpPr>
          <p:cNvPr id="34" name="Rectangle 33"/>
          <p:cNvSpPr/>
          <p:nvPr/>
        </p:nvSpPr>
        <p:spPr>
          <a:xfrm>
            <a:off x="256032" y="2834640"/>
            <a:ext cx="4846320" cy="566928"/>
          </a:xfrm>
          <a:prstGeom prst="rect">
            <a:avLst/>
          </a:prstGeom>
          <a:solidFill>
            <a:srgbClr val="2C101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65760" y="3008376"/>
            <a:ext cx="219456" cy="21945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65760" y="2990088"/>
            <a:ext cx="219456" cy="237744"/>
          </a:xfrm>
          <a:prstGeom prst="rect">
            <a:avLst/>
          </a:prstGeom>
          <a:noFill/>
        </p:spPr>
        <p:txBody>
          <a:bodyPr wrap="square"/>
          <a:lstStyle/>
          <a:p>
            <a:pPr algn="ctr"/>
            <a:r>
              <a:rPr sz="900" b="1" i="0">
                <a:solidFill>
                  <a:srgbClr val="FFFFFF"/>
                </a:solidFill>
                <a:latin typeface="Calibri"/>
              </a:rPr>
              <a:t>✕</a:t>
            </a:r>
          </a:p>
        </p:txBody>
      </p:sp>
      <p:sp>
        <p:nvSpPr>
          <p:cNvPr id="37" name="TextBox 36"/>
          <p:cNvSpPr txBox="1"/>
          <p:nvPr/>
        </p:nvSpPr>
        <p:spPr>
          <a:xfrm>
            <a:off x="676656" y="2907792"/>
            <a:ext cx="4352544" cy="420624"/>
          </a:xfrm>
          <a:prstGeom prst="rect">
            <a:avLst/>
          </a:prstGeom>
          <a:noFill/>
        </p:spPr>
        <p:txBody>
          <a:bodyPr wrap="square"/>
          <a:lstStyle/>
          <a:p>
            <a:pPr algn="l"/>
            <a:r>
              <a:rPr sz="1000" b="0" i="0">
                <a:solidFill>
                  <a:srgbClr val="F0BABA"/>
                </a:solidFill>
                <a:latin typeface="Calibri"/>
              </a:rPr>
              <a:t>No paid search, LSA, or Meta ads — invisible for every relevant Baltimore search</a:t>
            </a:r>
          </a:p>
        </p:txBody>
      </p:sp>
      <p:sp>
        <p:nvSpPr>
          <p:cNvPr id="38" name="Rectangle 37"/>
          <p:cNvSpPr/>
          <p:nvPr/>
        </p:nvSpPr>
        <p:spPr>
          <a:xfrm>
            <a:off x="256032" y="3456432"/>
            <a:ext cx="4846320" cy="566928"/>
          </a:xfrm>
          <a:prstGeom prst="rect">
            <a:avLst/>
          </a:prstGeom>
          <a:solidFill>
            <a:srgbClr val="2C101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365760" y="3630168"/>
            <a:ext cx="219456" cy="21945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5760" y="3611879"/>
            <a:ext cx="219456" cy="237744"/>
          </a:xfrm>
          <a:prstGeom prst="rect">
            <a:avLst/>
          </a:prstGeom>
          <a:noFill/>
        </p:spPr>
        <p:txBody>
          <a:bodyPr wrap="square"/>
          <a:lstStyle/>
          <a:p>
            <a:pPr algn="ctr"/>
            <a:r>
              <a:rPr sz="900" b="1" i="0">
                <a:solidFill>
                  <a:srgbClr val="FFFFFF"/>
                </a:solidFill>
                <a:latin typeface="Calibri"/>
              </a:rPr>
              <a:t>✕</a:t>
            </a:r>
          </a:p>
        </p:txBody>
      </p:sp>
      <p:sp>
        <p:nvSpPr>
          <p:cNvPr id="41" name="TextBox 40"/>
          <p:cNvSpPr txBox="1"/>
          <p:nvPr/>
        </p:nvSpPr>
        <p:spPr>
          <a:xfrm>
            <a:off x="676656" y="3529584"/>
            <a:ext cx="4352544" cy="420624"/>
          </a:xfrm>
          <a:prstGeom prst="rect">
            <a:avLst/>
          </a:prstGeom>
          <a:noFill/>
        </p:spPr>
        <p:txBody>
          <a:bodyPr wrap="square"/>
          <a:lstStyle/>
          <a:p>
            <a:pPr algn="l"/>
            <a:r>
              <a:rPr sz="1000" b="0" i="0">
                <a:solidFill>
                  <a:srgbClr val="F0BABA"/>
                </a:solidFill>
                <a:latin typeface="Calibri"/>
              </a:rPr>
              <a:t>No verified Google reviews — B2B litigation local pack is entirely unclaimed</a:t>
            </a:r>
          </a:p>
        </p:txBody>
      </p:sp>
      <p:sp>
        <p:nvSpPr>
          <p:cNvPr id="42" name="Rectangle 41"/>
          <p:cNvSpPr/>
          <p:nvPr/>
        </p:nvSpPr>
        <p:spPr>
          <a:xfrm>
            <a:off x="256032" y="4078224"/>
            <a:ext cx="4846320" cy="566928"/>
          </a:xfrm>
          <a:prstGeom prst="rect">
            <a:avLst/>
          </a:prstGeom>
          <a:solidFill>
            <a:srgbClr val="0C281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65760" y="4251960"/>
            <a:ext cx="219456" cy="219456"/>
          </a:xfrm>
          <a:prstGeom prst="rect">
            <a:avLst/>
          </a:prstGeom>
          <a:solidFill>
            <a:srgbClr val="16A34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65760" y="4233672"/>
            <a:ext cx="219456" cy="237744"/>
          </a:xfrm>
          <a:prstGeom prst="rect">
            <a:avLst/>
          </a:prstGeom>
          <a:noFill/>
        </p:spPr>
        <p:txBody>
          <a:bodyPr wrap="square"/>
          <a:lstStyle/>
          <a:p>
            <a:pPr algn="ctr"/>
            <a:r>
              <a:rPr sz="900" b="1" i="0">
                <a:solidFill>
                  <a:srgbClr val="FFFFFF"/>
                </a:solidFill>
                <a:latin typeface="Calibri"/>
              </a:rPr>
              <a:t>✓</a:t>
            </a:r>
          </a:p>
        </p:txBody>
      </p:sp>
      <p:sp>
        <p:nvSpPr>
          <p:cNvPr id="45" name="TextBox 44"/>
          <p:cNvSpPr txBox="1"/>
          <p:nvPr/>
        </p:nvSpPr>
        <p:spPr>
          <a:xfrm>
            <a:off x="676656" y="4151376"/>
            <a:ext cx="4352544" cy="420624"/>
          </a:xfrm>
          <a:prstGeom prst="rect">
            <a:avLst/>
          </a:prstGeom>
          <a:noFill/>
        </p:spPr>
        <p:txBody>
          <a:bodyPr wrap="square"/>
          <a:lstStyle/>
          <a:p>
            <a:pPr algn="l"/>
            <a:r>
              <a:rPr sz="1000" b="0" i="0">
                <a:solidFill>
                  <a:srgbClr val="86EFAC"/>
                </a:solidFill>
                <a:latin typeface="Calibri"/>
              </a:rPr>
              <a:t>NAMWOLF &amp; WBENC certifications open diversity channels competitors cannot access</a:t>
            </a:r>
          </a:p>
        </p:txBody>
      </p:sp>
      <p:sp>
        <p:nvSpPr>
          <p:cNvPr id="46" name="Rectangle 45"/>
          <p:cNvSpPr/>
          <p:nvPr/>
        </p:nvSpPr>
        <p:spPr>
          <a:xfrm>
            <a:off x="5257800" y="960120"/>
            <a:ext cx="3886200" cy="386791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5257800" y="1024128"/>
            <a:ext cx="3886200" cy="694944"/>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257800" y="1024128"/>
            <a:ext cx="128016" cy="694944"/>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486400" y="1042415"/>
            <a:ext cx="3474720" cy="201168"/>
          </a:xfrm>
          <a:prstGeom prst="rect">
            <a:avLst/>
          </a:prstGeom>
          <a:noFill/>
        </p:spPr>
        <p:txBody>
          <a:bodyPr wrap="square"/>
          <a:lstStyle/>
          <a:p>
            <a:pPr algn="l"/>
            <a:r>
              <a:rPr sz="800" b="1" i="0">
                <a:solidFill>
                  <a:srgbClr val="F5C400"/>
                </a:solidFill>
                <a:latin typeface="Calibri"/>
              </a:rPr>
              <a:t>YOU ARE HERE</a:t>
            </a:r>
          </a:p>
        </p:txBody>
      </p:sp>
      <p:sp>
        <p:nvSpPr>
          <p:cNvPr id="50" name="TextBox 49"/>
          <p:cNvSpPr txBox="1"/>
          <p:nvPr/>
        </p:nvSpPr>
        <p:spPr>
          <a:xfrm>
            <a:off x="5486400" y="1243584"/>
            <a:ext cx="3474720" cy="402336"/>
          </a:xfrm>
          <a:prstGeom prst="rect">
            <a:avLst/>
          </a:prstGeom>
          <a:noFill/>
        </p:spPr>
        <p:txBody>
          <a:bodyPr wrap="square"/>
          <a:lstStyle/>
          <a:p>
            <a:pPr algn="l"/>
            <a:r>
              <a:rPr sz="1000" b="1" i="0">
                <a:solidFill>
                  <a:srgbClr val="FFFFFF"/>
                </a:solidFill>
                <a:latin typeface="Calibri"/>
              </a:rPr>
              <a:t>Stage 4: Small Business Manager  →  Goal: Stage 6, Law Firm Owner</a:t>
            </a:r>
          </a:p>
        </p:txBody>
      </p:sp>
      <p:sp>
        <p:nvSpPr>
          <p:cNvPr id="51" name="TextBox 50"/>
          <p:cNvSpPr txBox="1"/>
          <p:nvPr/>
        </p:nvSpPr>
        <p:spPr>
          <a:xfrm>
            <a:off x="5394960" y="1920240"/>
            <a:ext cx="3566160" cy="219456"/>
          </a:xfrm>
          <a:prstGeom prst="rect">
            <a:avLst/>
          </a:prstGeom>
          <a:noFill/>
        </p:spPr>
        <p:txBody>
          <a:bodyPr wrap="square"/>
          <a:lstStyle/>
          <a:p>
            <a:pPr algn="l"/>
            <a:r>
              <a:rPr sz="800" b="1" i="0">
                <a:solidFill>
                  <a:srgbClr val="64748B"/>
                </a:solidFill>
                <a:latin typeface="Calibri"/>
              </a:rPr>
              <a:t>COMPETITOR LANDSCAPE</a:t>
            </a:r>
          </a:p>
        </p:txBody>
      </p:sp>
      <p:sp>
        <p:nvSpPr>
          <p:cNvPr id="52" name="Rectangle 51"/>
          <p:cNvSpPr/>
          <p:nvPr/>
        </p:nvSpPr>
        <p:spPr>
          <a:xfrm>
            <a:off x="5257800" y="2176272"/>
            <a:ext cx="3886200" cy="310896"/>
          </a:xfrm>
          <a:prstGeom prst="rect">
            <a:avLst/>
          </a:prstGeom>
          <a:solidFill>
            <a:srgbClr val="F0F4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413248" y="2221991"/>
            <a:ext cx="1828800" cy="219456"/>
          </a:xfrm>
          <a:prstGeom prst="rect">
            <a:avLst/>
          </a:prstGeom>
          <a:noFill/>
        </p:spPr>
        <p:txBody>
          <a:bodyPr wrap="square"/>
          <a:lstStyle/>
          <a:p>
            <a:pPr algn="l"/>
            <a:r>
              <a:rPr sz="800" b="0" i="0">
                <a:solidFill>
                  <a:srgbClr val="1E293B"/>
                </a:solidFill>
                <a:latin typeface="Calibri"/>
              </a:rPr>
              <a:t>Silverman Thompson</a:t>
            </a:r>
          </a:p>
        </p:txBody>
      </p:sp>
      <p:sp>
        <p:nvSpPr>
          <p:cNvPr id="54" name="TextBox 53"/>
          <p:cNvSpPr txBox="1"/>
          <p:nvPr/>
        </p:nvSpPr>
        <p:spPr>
          <a:xfrm>
            <a:off x="7260336" y="2221991"/>
            <a:ext cx="914400" cy="219456"/>
          </a:xfrm>
          <a:prstGeom prst="rect">
            <a:avLst/>
          </a:prstGeom>
          <a:noFill/>
        </p:spPr>
        <p:txBody>
          <a:bodyPr wrap="square"/>
          <a:lstStyle/>
          <a:p>
            <a:pPr algn="l"/>
            <a:r>
              <a:rPr sz="800" b="0" i="0">
                <a:solidFill>
                  <a:srgbClr val="16A34A"/>
                </a:solidFill>
                <a:latin typeface="Calibri"/>
              </a:rPr>
              <a:t>113 reviews</a:t>
            </a:r>
          </a:p>
        </p:txBody>
      </p:sp>
      <p:sp>
        <p:nvSpPr>
          <p:cNvPr id="55" name="TextBox 54"/>
          <p:cNvSpPr txBox="1"/>
          <p:nvPr/>
        </p:nvSpPr>
        <p:spPr>
          <a:xfrm>
            <a:off x="8193024" y="2240279"/>
            <a:ext cx="822960" cy="201168"/>
          </a:xfrm>
          <a:prstGeom prst="rect">
            <a:avLst/>
          </a:prstGeom>
          <a:noFill/>
        </p:spPr>
        <p:txBody>
          <a:bodyPr wrap="square"/>
          <a:lstStyle/>
          <a:p>
            <a:pPr algn="l"/>
            <a:r>
              <a:rPr sz="600" b="0" i="0">
                <a:solidFill>
                  <a:srgbClr val="64748B"/>
                </a:solidFill>
                <a:latin typeface="Calibri"/>
              </a:rPr>
              <a:t>4.8★ · PI/family law</a:t>
            </a:r>
          </a:p>
        </p:txBody>
      </p:sp>
      <p:sp>
        <p:nvSpPr>
          <p:cNvPr id="56" name="Rectangle 55"/>
          <p:cNvSpPr/>
          <p:nvPr/>
        </p:nvSpPr>
        <p:spPr>
          <a:xfrm>
            <a:off x="5257800" y="2523744"/>
            <a:ext cx="3886200" cy="310896"/>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413248" y="2569463"/>
            <a:ext cx="1828800" cy="219456"/>
          </a:xfrm>
          <a:prstGeom prst="rect">
            <a:avLst/>
          </a:prstGeom>
          <a:noFill/>
        </p:spPr>
        <p:txBody>
          <a:bodyPr wrap="square"/>
          <a:lstStyle/>
          <a:p>
            <a:pPr algn="l"/>
            <a:r>
              <a:rPr sz="800" b="0" i="0">
                <a:solidFill>
                  <a:srgbClr val="1E293B"/>
                </a:solidFill>
                <a:latin typeface="Calibri"/>
              </a:rPr>
              <a:t>Whiteford Taylor &amp; Preston</a:t>
            </a:r>
          </a:p>
        </p:txBody>
      </p:sp>
      <p:sp>
        <p:nvSpPr>
          <p:cNvPr id="58" name="TextBox 57"/>
          <p:cNvSpPr txBox="1"/>
          <p:nvPr/>
        </p:nvSpPr>
        <p:spPr>
          <a:xfrm>
            <a:off x="7260336" y="2569463"/>
            <a:ext cx="914400" cy="219456"/>
          </a:xfrm>
          <a:prstGeom prst="rect">
            <a:avLst/>
          </a:prstGeom>
          <a:noFill/>
        </p:spPr>
        <p:txBody>
          <a:bodyPr wrap="square"/>
          <a:lstStyle/>
          <a:p>
            <a:pPr algn="l"/>
            <a:r>
              <a:rPr sz="800" b="0" i="0">
                <a:solidFill>
                  <a:srgbClr val="16A34A"/>
                </a:solidFill>
                <a:latin typeface="Calibri"/>
              </a:rPr>
              <a:t>7 reviews</a:t>
            </a:r>
          </a:p>
        </p:txBody>
      </p:sp>
      <p:sp>
        <p:nvSpPr>
          <p:cNvPr id="59" name="TextBox 58"/>
          <p:cNvSpPr txBox="1"/>
          <p:nvPr/>
        </p:nvSpPr>
        <p:spPr>
          <a:xfrm>
            <a:off x="8193024" y="2587751"/>
            <a:ext cx="822960" cy="201168"/>
          </a:xfrm>
          <a:prstGeom prst="rect">
            <a:avLst/>
          </a:prstGeom>
          <a:noFill/>
        </p:spPr>
        <p:txBody>
          <a:bodyPr wrap="square"/>
          <a:lstStyle/>
          <a:p>
            <a:pPr algn="l"/>
            <a:r>
              <a:rPr sz="600" b="0" i="0">
                <a:solidFill>
                  <a:srgbClr val="64748B"/>
                </a:solidFill>
                <a:latin typeface="Calibri"/>
              </a:rPr>
              <a:t>4.4★ · Tier 1 constr. law</a:t>
            </a:r>
          </a:p>
        </p:txBody>
      </p:sp>
      <p:sp>
        <p:nvSpPr>
          <p:cNvPr id="60" name="Rectangle 59"/>
          <p:cNvSpPr/>
          <p:nvPr/>
        </p:nvSpPr>
        <p:spPr>
          <a:xfrm>
            <a:off x="5257800" y="2871216"/>
            <a:ext cx="3886200" cy="310896"/>
          </a:xfrm>
          <a:prstGeom prst="rect">
            <a:avLst/>
          </a:prstGeom>
          <a:solidFill>
            <a:srgbClr val="F0F4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413248" y="2916936"/>
            <a:ext cx="1828800" cy="219456"/>
          </a:xfrm>
          <a:prstGeom prst="rect">
            <a:avLst/>
          </a:prstGeom>
          <a:noFill/>
        </p:spPr>
        <p:txBody>
          <a:bodyPr wrap="square"/>
          <a:lstStyle/>
          <a:p>
            <a:pPr algn="l"/>
            <a:r>
              <a:rPr sz="800" b="0" i="0">
                <a:solidFill>
                  <a:srgbClr val="1E293B"/>
                </a:solidFill>
                <a:latin typeface="Calibri"/>
              </a:rPr>
              <a:t>Kramon &amp; Graham</a:t>
            </a:r>
          </a:p>
        </p:txBody>
      </p:sp>
      <p:sp>
        <p:nvSpPr>
          <p:cNvPr id="62" name="TextBox 61"/>
          <p:cNvSpPr txBox="1"/>
          <p:nvPr/>
        </p:nvSpPr>
        <p:spPr>
          <a:xfrm>
            <a:off x="7260336" y="2916936"/>
            <a:ext cx="914400" cy="219456"/>
          </a:xfrm>
          <a:prstGeom prst="rect">
            <a:avLst/>
          </a:prstGeom>
          <a:noFill/>
        </p:spPr>
        <p:txBody>
          <a:bodyPr wrap="square"/>
          <a:lstStyle/>
          <a:p>
            <a:pPr algn="l"/>
            <a:r>
              <a:rPr sz="800" b="0" i="0">
                <a:solidFill>
                  <a:srgbClr val="16A34A"/>
                </a:solidFill>
                <a:latin typeface="Calibri"/>
              </a:rPr>
              <a:t>7 reviews</a:t>
            </a:r>
          </a:p>
        </p:txBody>
      </p:sp>
      <p:sp>
        <p:nvSpPr>
          <p:cNvPr id="63" name="TextBox 62"/>
          <p:cNvSpPr txBox="1"/>
          <p:nvPr/>
        </p:nvSpPr>
        <p:spPr>
          <a:xfrm>
            <a:off x="8193024" y="2935224"/>
            <a:ext cx="822960" cy="201168"/>
          </a:xfrm>
          <a:prstGeom prst="rect">
            <a:avLst/>
          </a:prstGeom>
          <a:noFill/>
        </p:spPr>
        <p:txBody>
          <a:bodyPr wrap="square"/>
          <a:lstStyle/>
          <a:p>
            <a:pPr algn="l"/>
            <a:r>
              <a:rPr sz="600" b="0" i="0">
                <a:solidFill>
                  <a:srgbClr val="64748B"/>
                </a:solidFill>
                <a:latin typeface="Calibri"/>
              </a:rPr>
              <a:t>4.4★ · Chambers litigation</a:t>
            </a:r>
          </a:p>
        </p:txBody>
      </p:sp>
      <p:sp>
        <p:nvSpPr>
          <p:cNvPr id="64" name="Rectangle 63"/>
          <p:cNvSpPr/>
          <p:nvPr/>
        </p:nvSpPr>
        <p:spPr>
          <a:xfrm>
            <a:off x="5257800" y="3218688"/>
            <a:ext cx="3886200" cy="310896"/>
          </a:xfrm>
          <a:prstGeom prst="rect">
            <a:avLst/>
          </a:prstGeom>
          <a:solidFill>
            <a:srgbClr val="FFF0F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5257800" y="3218688"/>
            <a:ext cx="91440" cy="31089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5413248" y="3264408"/>
            <a:ext cx="1828800" cy="219456"/>
          </a:xfrm>
          <a:prstGeom prst="rect">
            <a:avLst/>
          </a:prstGeom>
          <a:noFill/>
        </p:spPr>
        <p:txBody>
          <a:bodyPr wrap="square"/>
          <a:lstStyle/>
          <a:p>
            <a:pPr algn="l"/>
            <a:r>
              <a:rPr sz="900" b="1" i="0">
                <a:solidFill>
                  <a:srgbClr val="C0392B"/>
                </a:solidFill>
                <a:latin typeface="Calibri"/>
              </a:rPr>
              <a:t>Lawrence Law LLC</a:t>
            </a:r>
          </a:p>
        </p:txBody>
      </p:sp>
      <p:sp>
        <p:nvSpPr>
          <p:cNvPr id="67" name="TextBox 66"/>
          <p:cNvSpPr txBox="1"/>
          <p:nvPr/>
        </p:nvSpPr>
        <p:spPr>
          <a:xfrm>
            <a:off x="7260336" y="3264408"/>
            <a:ext cx="914400" cy="219456"/>
          </a:xfrm>
          <a:prstGeom prst="rect">
            <a:avLst/>
          </a:prstGeom>
          <a:noFill/>
        </p:spPr>
        <p:txBody>
          <a:bodyPr wrap="square"/>
          <a:lstStyle/>
          <a:p>
            <a:pPr algn="l"/>
            <a:r>
              <a:rPr sz="800" b="1" i="0">
                <a:solidFill>
                  <a:srgbClr val="C0392B"/>
                </a:solidFill>
                <a:latin typeface="Calibri"/>
              </a:rPr>
              <a:t>Not verified</a:t>
            </a:r>
          </a:p>
        </p:txBody>
      </p:sp>
      <p:sp>
        <p:nvSpPr>
          <p:cNvPr id="68" name="TextBox 67"/>
          <p:cNvSpPr txBox="1"/>
          <p:nvPr/>
        </p:nvSpPr>
        <p:spPr>
          <a:xfrm>
            <a:off x="8193024" y="3282696"/>
            <a:ext cx="822960" cy="201168"/>
          </a:xfrm>
          <a:prstGeom prst="rect">
            <a:avLst/>
          </a:prstGeom>
          <a:noFill/>
        </p:spPr>
        <p:txBody>
          <a:bodyPr wrap="square"/>
          <a:lstStyle/>
          <a:p>
            <a:pPr algn="l"/>
            <a:r>
              <a:rPr sz="600" b="0" i="0">
                <a:solidFill>
                  <a:srgbClr val="64748B"/>
                </a:solidFill>
                <a:latin typeface="Calibri"/>
              </a:rPr>
              <a:t>← GBP unconfirmed</a:t>
            </a:r>
          </a:p>
        </p:txBody>
      </p:sp>
      <p:sp>
        <p:nvSpPr>
          <p:cNvPr id="69" name="Rectangle 68"/>
          <p:cNvSpPr/>
          <p:nvPr/>
        </p:nvSpPr>
        <p:spPr>
          <a:xfrm>
            <a:off x="0" y="4828032"/>
            <a:ext cx="9144000" cy="32004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609344" y="4837176"/>
            <a:ext cx="5303520" cy="274320"/>
          </a:xfrm>
          <a:prstGeom prst="rect">
            <a:avLst/>
          </a:prstGeom>
          <a:noFill/>
        </p:spPr>
        <p:txBody>
          <a:bodyPr wrap="square"/>
          <a:lstStyle/>
          <a:p>
            <a:pPr algn="l"/>
            <a:r>
              <a:rPr sz="800" b="0" i="0">
                <a:solidFill>
                  <a:srgbClr val="5A7A9A"/>
                </a:solidFill>
                <a:latin typeface="Calibri"/>
              </a:rPr>
              <a:t>CONFIDENTIAL  ·  Prepared by Dan Bryant | SMB Team</a:t>
            </a:r>
          </a:p>
        </p:txBody>
      </p:sp>
      <p:sp>
        <p:nvSpPr>
          <p:cNvPr id="71" name="TextBox 70"/>
          <p:cNvSpPr txBox="1"/>
          <p:nvPr/>
        </p:nvSpPr>
        <p:spPr>
          <a:xfrm>
            <a:off x="8138160" y="4837176"/>
            <a:ext cx="786384" cy="274320"/>
          </a:xfrm>
          <a:prstGeom prst="rect">
            <a:avLst/>
          </a:prstGeom>
          <a:noFill/>
        </p:spPr>
        <p:txBody>
          <a:bodyPr wrap="square"/>
          <a:lstStyle/>
          <a:p>
            <a:pPr algn="r"/>
            <a:r>
              <a:rPr sz="800" b="0" i="0">
                <a:solidFill>
                  <a:srgbClr val="5A7A9A"/>
                </a:solidFill>
                <a:latin typeface="Calibri"/>
              </a:rPr>
              <a:t>1 / 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91440"/>
            <a:ext cx="8595360" cy="201168"/>
          </a:xfrm>
          <a:prstGeom prst="rect">
            <a:avLst/>
          </a:prstGeom>
          <a:noFill/>
        </p:spPr>
        <p:txBody>
          <a:bodyPr wrap="square"/>
          <a:lstStyle/>
          <a:p>
            <a:pPr algn="l"/>
            <a:r>
              <a:rPr sz="800" b="1" i="0">
                <a:solidFill>
                  <a:srgbClr val="F5C400"/>
                </a:solidFill>
                <a:latin typeface="Calibri"/>
              </a:rPr>
              <a:t>LAW FIRM GROWTH AUDIT  ·  LAWRENCE LAW LLC</a:t>
            </a:r>
          </a:p>
        </p:txBody>
      </p:sp>
      <p:sp>
        <p:nvSpPr>
          <p:cNvPr id="4" name="TextBox 3"/>
          <p:cNvSpPr txBox="1"/>
          <p:nvPr/>
        </p:nvSpPr>
        <p:spPr>
          <a:xfrm>
            <a:off x="292608" y="310896"/>
            <a:ext cx="8595360" cy="548640"/>
          </a:xfrm>
          <a:prstGeom prst="rect">
            <a:avLst/>
          </a:prstGeom>
          <a:noFill/>
        </p:spPr>
        <p:txBody>
          <a:bodyPr wrap="square"/>
          <a:lstStyle/>
          <a:p>
            <a:pPr algn="l"/>
            <a:r>
              <a:rPr sz="2200" b="1" i="0">
                <a:solidFill>
                  <a:srgbClr val="FFFFFF"/>
                </a:solidFill>
                <a:latin typeface="Calibri"/>
              </a:rPr>
              <a:t>Your Growth Plan: 3 Priorities to Reach $500K/Month</a:t>
            </a:r>
          </a:p>
        </p:txBody>
      </p:sp>
      <p:sp>
        <p:nvSpPr>
          <p:cNvPr id="5" name="Rectangle 4"/>
          <p:cNvSpPr/>
          <p:nvPr/>
        </p:nvSpPr>
        <p:spPr>
          <a:xfrm>
            <a:off x="182880" y="1024128"/>
            <a:ext cx="2487168" cy="363931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82880" y="1042415"/>
            <a:ext cx="2487168" cy="18288"/>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92608" y="1097280"/>
            <a:ext cx="2267712" cy="201168"/>
          </a:xfrm>
          <a:prstGeom prst="rect">
            <a:avLst/>
          </a:prstGeom>
          <a:noFill/>
        </p:spPr>
        <p:txBody>
          <a:bodyPr wrap="square"/>
          <a:lstStyle/>
          <a:p>
            <a:pPr algn="l"/>
            <a:r>
              <a:rPr sz="800" b="1" i="0">
                <a:solidFill>
                  <a:srgbClr val="F5C400"/>
                </a:solidFill>
                <a:latin typeface="Calibri"/>
              </a:rPr>
              <a:t>THE SMB TEAM MODEL</a:t>
            </a:r>
          </a:p>
        </p:txBody>
      </p:sp>
      <p:sp>
        <p:nvSpPr>
          <p:cNvPr id="8" name="TextBox 7"/>
          <p:cNvSpPr txBox="1"/>
          <p:nvPr/>
        </p:nvSpPr>
        <p:spPr>
          <a:xfrm>
            <a:off x="292608" y="1335024"/>
            <a:ext cx="2267712" cy="1572768"/>
          </a:xfrm>
          <a:prstGeom prst="rect">
            <a:avLst/>
          </a:prstGeom>
          <a:noFill/>
        </p:spPr>
        <p:txBody>
          <a:bodyPr wrap="square"/>
          <a:lstStyle/>
          <a:p>
            <a:pPr algn="l"/>
            <a:r>
              <a:rPr sz="900" b="0" i="0">
                <a:solidFill>
                  <a:srgbClr val="A8BFDA"/>
                </a:solidFill>
                <a:latin typeface="Calibri"/>
              </a:rPr>
              <a:t>Lead Generation, Intake, Team, and Profit must all work together. Missing any one stalls growth regardless of effort. When all four work for Lawrence Law, Kate can step back from chasing every new client relationship — and let the system do it.</a:t>
            </a:r>
          </a:p>
        </p:txBody>
      </p:sp>
      <p:sp>
        <p:nvSpPr>
          <p:cNvPr id="9" name="Rectangle 8"/>
          <p:cNvSpPr/>
          <p:nvPr/>
        </p:nvSpPr>
        <p:spPr>
          <a:xfrm>
            <a:off x="182880" y="2999232"/>
            <a:ext cx="2487168" cy="749808"/>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608" y="3017520"/>
            <a:ext cx="2286000" cy="274320"/>
          </a:xfrm>
          <a:prstGeom prst="rect">
            <a:avLst/>
          </a:prstGeom>
          <a:noFill/>
        </p:spPr>
        <p:txBody>
          <a:bodyPr wrap="square"/>
          <a:lstStyle/>
          <a:p>
            <a:pPr algn="l"/>
            <a:r>
              <a:rPr sz="1200" b="1" i="0">
                <a:solidFill>
                  <a:srgbClr val="0D1F3C"/>
                </a:solidFill>
                <a:latin typeface="Calibri"/>
              </a:rPr>
              <a:t>$3M → $6M revenue</a:t>
            </a:r>
          </a:p>
        </p:txBody>
      </p:sp>
      <p:sp>
        <p:nvSpPr>
          <p:cNvPr id="11" name="TextBox 10"/>
          <p:cNvSpPr txBox="1"/>
          <p:nvPr/>
        </p:nvSpPr>
        <p:spPr>
          <a:xfrm>
            <a:off x="292608" y="3291840"/>
            <a:ext cx="2286000" cy="402336"/>
          </a:xfrm>
          <a:prstGeom prst="rect">
            <a:avLst/>
          </a:prstGeom>
          <a:noFill/>
        </p:spPr>
        <p:txBody>
          <a:bodyPr wrap="square"/>
          <a:lstStyle/>
          <a:p>
            <a:pPr algn="l"/>
            <a:r>
              <a:rPr sz="900" b="0" i="0">
                <a:solidFill>
                  <a:srgbClr val="0D1F3C"/>
                </a:solidFill>
                <a:latin typeface="Calibri"/>
              </a:rPr>
              <a:t>A firm that grows — without you opening every door</a:t>
            </a:r>
          </a:p>
        </p:txBody>
      </p:sp>
      <p:sp>
        <p:nvSpPr>
          <p:cNvPr id="12" name="Rectangle 11"/>
          <p:cNvSpPr/>
          <p:nvPr/>
        </p:nvSpPr>
        <p:spPr>
          <a:xfrm>
            <a:off x="2816352" y="1024128"/>
            <a:ext cx="2048256" cy="841248"/>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26080" y="1042415"/>
            <a:ext cx="457200" cy="274320"/>
          </a:xfrm>
          <a:prstGeom prst="rect">
            <a:avLst/>
          </a:prstGeom>
          <a:noFill/>
        </p:spPr>
        <p:txBody>
          <a:bodyPr wrap="square"/>
          <a:lstStyle/>
          <a:p>
            <a:pPr algn="l"/>
            <a:r>
              <a:rPr sz="1000" b="1" i="0">
                <a:solidFill>
                  <a:srgbClr val="FFFFFF"/>
                </a:solidFill>
                <a:latin typeface="Calibri"/>
              </a:rPr>
              <a:t>01</a:t>
            </a:r>
          </a:p>
        </p:txBody>
      </p:sp>
      <p:sp>
        <p:nvSpPr>
          <p:cNvPr id="14" name="TextBox 13"/>
          <p:cNvSpPr txBox="1"/>
          <p:nvPr/>
        </p:nvSpPr>
        <p:spPr>
          <a:xfrm>
            <a:off x="2926080" y="1316736"/>
            <a:ext cx="1865376" cy="256032"/>
          </a:xfrm>
          <a:prstGeom prst="rect">
            <a:avLst/>
          </a:prstGeom>
          <a:noFill/>
        </p:spPr>
        <p:txBody>
          <a:bodyPr wrap="square"/>
          <a:lstStyle/>
          <a:p>
            <a:pPr algn="l"/>
            <a:r>
              <a:rPr sz="1200" b="1" i="0">
                <a:solidFill>
                  <a:srgbClr val="FFFFFF"/>
                </a:solidFill>
                <a:latin typeface="Calibri"/>
              </a:rPr>
              <a:t>Build the</a:t>
            </a:r>
          </a:p>
        </p:txBody>
      </p:sp>
      <p:sp>
        <p:nvSpPr>
          <p:cNvPr id="15" name="TextBox 14"/>
          <p:cNvSpPr txBox="1"/>
          <p:nvPr/>
        </p:nvSpPr>
        <p:spPr>
          <a:xfrm>
            <a:off x="2926080" y="1554480"/>
            <a:ext cx="1865376" cy="256032"/>
          </a:xfrm>
          <a:prstGeom prst="rect">
            <a:avLst/>
          </a:prstGeom>
          <a:noFill/>
        </p:spPr>
        <p:txBody>
          <a:bodyPr wrap="square"/>
          <a:lstStyle/>
          <a:p>
            <a:pPr algn="l"/>
            <a:r>
              <a:rPr sz="1200" b="1" i="0">
                <a:solidFill>
                  <a:srgbClr val="FFFFFF"/>
                </a:solidFill>
                <a:latin typeface="Calibri"/>
              </a:rPr>
              <a:t>Marketing Engine</a:t>
            </a:r>
          </a:p>
        </p:txBody>
      </p:sp>
      <p:sp>
        <p:nvSpPr>
          <p:cNvPr id="16" name="Rectangle 15"/>
          <p:cNvSpPr/>
          <p:nvPr/>
        </p:nvSpPr>
        <p:spPr>
          <a:xfrm>
            <a:off x="2816352" y="1865376"/>
            <a:ext cx="2048256" cy="566928"/>
          </a:xfrm>
          <a:prstGeom prst="rect">
            <a:avLst/>
          </a:prstGeom>
          <a:solidFill>
            <a:srgbClr val="EFF6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07792" y="2084832"/>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054096" y="1920240"/>
            <a:ext cx="1755648" cy="475488"/>
          </a:xfrm>
          <a:prstGeom prst="rect">
            <a:avLst/>
          </a:prstGeom>
          <a:noFill/>
        </p:spPr>
        <p:txBody>
          <a:bodyPr wrap="square"/>
          <a:lstStyle/>
          <a:p>
            <a:pPr algn="l"/>
            <a:r>
              <a:rPr sz="800" b="0" i="0">
                <a:solidFill>
                  <a:srgbClr val="1E293B"/>
                </a:solidFill>
                <a:latin typeface="Calibri"/>
              </a:rPr>
              <a:t>Fix the 404 contact page — every lead can reach you</a:t>
            </a:r>
          </a:p>
        </p:txBody>
      </p:sp>
      <p:sp>
        <p:nvSpPr>
          <p:cNvPr id="19" name="Rectangle 18"/>
          <p:cNvSpPr/>
          <p:nvPr/>
        </p:nvSpPr>
        <p:spPr>
          <a:xfrm>
            <a:off x="2816352" y="2468880"/>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907792" y="2688336"/>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054096" y="2523744"/>
            <a:ext cx="1755648" cy="475488"/>
          </a:xfrm>
          <a:prstGeom prst="rect">
            <a:avLst/>
          </a:prstGeom>
          <a:noFill/>
        </p:spPr>
        <p:txBody>
          <a:bodyPr wrap="square"/>
          <a:lstStyle/>
          <a:p>
            <a:pPr algn="l"/>
            <a:r>
              <a:rPr sz="800" b="0" i="0">
                <a:solidFill>
                  <a:srgbClr val="1E293B"/>
                </a:solidFill>
                <a:latin typeface="Calibri"/>
              </a:rPr>
              <a:t>Launch Google Ads for construction + employment law</a:t>
            </a:r>
          </a:p>
        </p:txBody>
      </p:sp>
      <p:sp>
        <p:nvSpPr>
          <p:cNvPr id="22" name="Rectangle 21"/>
          <p:cNvSpPr/>
          <p:nvPr/>
        </p:nvSpPr>
        <p:spPr>
          <a:xfrm>
            <a:off x="2816352" y="3072384"/>
            <a:ext cx="2048256" cy="566928"/>
          </a:xfrm>
          <a:prstGeom prst="rect">
            <a:avLst/>
          </a:prstGeom>
          <a:solidFill>
            <a:srgbClr val="EFF6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907792" y="3291839"/>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054096" y="3127248"/>
            <a:ext cx="1755648" cy="475488"/>
          </a:xfrm>
          <a:prstGeom prst="rect">
            <a:avLst/>
          </a:prstGeom>
          <a:noFill/>
        </p:spPr>
        <p:txBody>
          <a:bodyPr wrap="square"/>
          <a:lstStyle/>
          <a:p>
            <a:pPr algn="l"/>
            <a:r>
              <a:rPr sz="800" b="0" i="0">
                <a:solidFill>
                  <a:srgbClr val="1E293B"/>
                </a:solidFill>
                <a:latin typeface="Calibri"/>
              </a:rPr>
              <a:t>Claim LSA top spot — pay per call, not per click</a:t>
            </a:r>
          </a:p>
        </p:txBody>
      </p:sp>
      <p:sp>
        <p:nvSpPr>
          <p:cNvPr id="25" name="Rectangle 24"/>
          <p:cNvSpPr/>
          <p:nvPr/>
        </p:nvSpPr>
        <p:spPr>
          <a:xfrm>
            <a:off x="2816352" y="3675887"/>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907792" y="3895344"/>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054096" y="3730751"/>
            <a:ext cx="1755648" cy="475488"/>
          </a:xfrm>
          <a:prstGeom prst="rect">
            <a:avLst/>
          </a:prstGeom>
          <a:noFill/>
        </p:spPr>
        <p:txBody>
          <a:bodyPr wrap="square"/>
          <a:lstStyle/>
          <a:p>
            <a:pPr algn="l"/>
            <a:r>
              <a:rPr sz="800" b="0" i="0">
                <a:solidFill>
                  <a:srgbClr val="1E293B"/>
                </a:solidFill>
                <a:latin typeface="Calibri"/>
              </a:rPr>
              <a:t>Build 30+ GBP reviews — own the Baltimore map pack</a:t>
            </a:r>
          </a:p>
        </p:txBody>
      </p:sp>
      <p:sp>
        <p:nvSpPr>
          <p:cNvPr id="28" name="Rectangle 27"/>
          <p:cNvSpPr/>
          <p:nvPr/>
        </p:nvSpPr>
        <p:spPr>
          <a:xfrm>
            <a:off x="2816352" y="4279392"/>
            <a:ext cx="2048256" cy="566928"/>
          </a:xfrm>
          <a:prstGeom prst="rect">
            <a:avLst/>
          </a:prstGeom>
          <a:solidFill>
            <a:srgbClr val="EFF6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907792" y="4498848"/>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054096" y="4334255"/>
            <a:ext cx="1755648" cy="475488"/>
          </a:xfrm>
          <a:prstGeom prst="rect">
            <a:avLst/>
          </a:prstGeom>
          <a:noFill/>
        </p:spPr>
        <p:txBody>
          <a:bodyPr wrap="square"/>
          <a:lstStyle/>
          <a:p>
            <a:pPr algn="l"/>
            <a:r>
              <a:rPr sz="800" b="0" i="0">
                <a:solidFill>
                  <a:srgbClr val="1E293B"/>
                </a:solidFill>
                <a:latin typeface="Calibri"/>
              </a:rPr>
              <a:t>Turn NAMWOLF certs into a unique paid search channel</a:t>
            </a:r>
          </a:p>
        </p:txBody>
      </p:sp>
      <p:sp>
        <p:nvSpPr>
          <p:cNvPr id="31" name="Rectangle 30"/>
          <p:cNvSpPr/>
          <p:nvPr/>
        </p:nvSpPr>
        <p:spPr>
          <a:xfrm>
            <a:off x="4937760" y="1024128"/>
            <a:ext cx="2048256" cy="841248"/>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47488" y="1042415"/>
            <a:ext cx="457200" cy="274320"/>
          </a:xfrm>
          <a:prstGeom prst="rect">
            <a:avLst/>
          </a:prstGeom>
          <a:noFill/>
        </p:spPr>
        <p:txBody>
          <a:bodyPr wrap="square"/>
          <a:lstStyle/>
          <a:p>
            <a:pPr algn="l"/>
            <a:r>
              <a:rPr sz="1000" b="1" i="0">
                <a:solidFill>
                  <a:srgbClr val="FFFFFF"/>
                </a:solidFill>
                <a:latin typeface="Calibri"/>
              </a:rPr>
              <a:t>02</a:t>
            </a:r>
          </a:p>
        </p:txBody>
      </p:sp>
      <p:sp>
        <p:nvSpPr>
          <p:cNvPr id="33" name="TextBox 32"/>
          <p:cNvSpPr txBox="1"/>
          <p:nvPr/>
        </p:nvSpPr>
        <p:spPr>
          <a:xfrm>
            <a:off x="5047488" y="1316736"/>
            <a:ext cx="1865376" cy="256032"/>
          </a:xfrm>
          <a:prstGeom prst="rect">
            <a:avLst/>
          </a:prstGeom>
          <a:noFill/>
        </p:spPr>
        <p:txBody>
          <a:bodyPr wrap="square"/>
          <a:lstStyle/>
          <a:p>
            <a:pPr algn="l"/>
            <a:r>
              <a:rPr sz="1200" b="1" i="0">
                <a:solidFill>
                  <a:srgbClr val="FFFFFF"/>
                </a:solidFill>
                <a:latin typeface="Calibri"/>
              </a:rPr>
              <a:t>Fix Intake &amp;</a:t>
            </a:r>
          </a:p>
        </p:txBody>
      </p:sp>
      <p:sp>
        <p:nvSpPr>
          <p:cNvPr id="34" name="TextBox 33"/>
          <p:cNvSpPr txBox="1"/>
          <p:nvPr/>
        </p:nvSpPr>
        <p:spPr>
          <a:xfrm>
            <a:off x="5047488" y="1554480"/>
            <a:ext cx="1865376" cy="256032"/>
          </a:xfrm>
          <a:prstGeom prst="rect">
            <a:avLst/>
          </a:prstGeom>
          <a:noFill/>
        </p:spPr>
        <p:txBody>
          <a:bodyPr wrap="square"/>
          <a:lstStyle/>
          <a:p>
            <a:pPr algn="l"/>
            <a:r>
              <a:rPr sz="1200" b="1" i="0">
                <a:solidFill>
                  <a:srgbClr val="FFFFFF"/>
                </a:solidFill>
                <a:latin typeface="Calibri"/>
              </a:rPr>
              <a:t>Stop Losing Cases</a:t>
            </a:r>
          </a:p>
        </p:txBody>
      </p:sp>
      <p:sp>
        <p:nvSpPr>
          <p:cNvPr id="35" name="Rectangle 34"/>
          <p:cNvSpPr/>
          <p:nvPr/>
        </p:nvSpPr>
        <p:spPr>
          <a:xfrm>
            <a:off x="4937760" y="1865376"/>
            <a:ext cx="2048256" cy="566928"/>
          </a:xfrm>
          <a:prstGeom prst="rect">
            <a:avLst/>
          </a:prstGeom>
          <a:solidFill>
            <a:srgbClr val="F0FD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029200" y="2084832"/>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175504" y="1920240"/>
            <a:ext cx="1755648" cy="475488"/>
          </a:xfrm>
          <a:prstGeom prst="rect">
            <a:avLst/>
          </a:prstGeom>
          <a:noFill/>
        </p:spPr>
        <p:txBody>
          <a:bodyPr wrap="square"/>
          <a:lstStyle/>
          <a:p>
            <a:pPr algn="l"/>
            <a:r>
              <a:rPr sz="800" b="0" i="0">
                <a:solidFill>
                  <a:srgbClr val="1E293B"/>
                </a:solidFill>
                <a:latin typeface="Calibri"/>
              </a:rPr>
              <a:t>Add above-fold contact form to homepage</a:t>
            </a:r>
          </a:p>
        </p:txBody>
      </p:sp>
      <p:sp>
        <p:nvSpPr>
          <p:cNvPr id="38" name="Rectangle 37"/>
          <p:cNvSpPr/>
          <p:nvPr/>
        </p:nvSpPr>
        <p:spPr>
          <a:xfrm>
            <a:off x="4937760" y="2468880"/>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029200" y="2688336"/>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175504" y="2523744"/>
            <a:ext cx="1755648" cy="475488"/>
          </a:xfrm>
          <a:prstGeom prst="rect">
            <a:avLst/>
          </a:prstGeom>
          <a:noFill/>
        </p:spPr>
        <p:txBody>
          <a:bodyPr wrap="square"/>
          <a:lstStyle/>
          <a:p>
            <a:pPr algn="l"/>
            <a:r>
              <a:rPr sz="800" b="0" i="0">
                <a:solidFill>
                  <a:srgbClr val="1E293B"/>
                </a:solidFill>
                <a:latin typeface="Calibri"/>
              </a:rPr>
              <a:t>Respond to every inquiry within 24 hours</a:t>
            </a:r>
          </a:p>
        </p:txBody>
      </p:sp>
      <p:sp>
        <p:nvSpPr>
          <p:cNvPr id="41" name="Rectangle 40"/>
          <p:cNvSpPr/>
          <p:nvPr/>
        </p:nvSpPr>
        <p:spPr>
          <a:xfrm>
            <a:off x="4937760" y="3072384"/>
            <a:ext cx="2048256" cy="566928"/>
          </a:xfrm>
          <a:prstGeom prst="rect">
            <a:avLst/>
          </a:prstGeom>
          <a:solidFill>
            <a:srgbClr val="F0FD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029200" y="3291839"/>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175504" y="3127248"/>
            <a:ext cx="1755648" cy="475488"/>
          </a:xfrm>
          <a:prstGeom prst="rect">
            <a:avLst/>
          </a:prstGeom>
          <a:noFill/>
        </p:spPr>
        <p:txBody>
          <a:bodyPr wrap="square"/>
          <a:lstStyle/>
          <a:p>
            <a:pPr algn="l"/>
            <a:r>
              <a:rPr sz="800" b="0" i="0">
                <a:solidFill>
                  <a:srgbClr val="1E293B"/>
                </a:solidFill>
                <a:latin typeface="Calibri"/>
              </a:rPr>
              <a:t>Cover after-hours web leads before rivals get the call</a:t>
            </a:r>
          </a:p>
        </p:txBody>
      </p:sp>
      <p:sp>
        <p:nvSpPr>
          <p:cNvPr id="44" name="Rectangle 43"/>
          <p:cNvSpPr/>
          <p:nvPr/>
        </p:nvSpPr>
        <p:spPr>
          <a:xfrm>
            <a:off x="4937760" y="3675887"/>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029200" y="3895344"/>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175504" y="3730751"/>
            <a:ext cx="1755648" cy="475488"/>
          </a:xfrm>
          <a:prstGeom prst="rect">
            <a:avLst/>
          </a:prstGeom>
          <a:noFill/>
        </p:spPr>
        <p:txBody>
          <a:bodyPr wrap="square"/>
          <a:lstStyle/>
          <a:p>
            <a:pPr algn="l"/>
            <a:r>
              <a:rPr sz="800" b="0" i="0">
                <a:solidFill>
                  <a:srgbClr val="1E293B"/>
                </a:solidFill>
                <a:latin typeface="Calibri"/>
              </a:rPr>
              <a:t>Track every inbound lead from first touch to retainer</a:t>
            </a:r>
          </a:p>
        </p:txBody>
      </p:sp>
      <p:sp>
        <p:nvSpPr>
          <p:cNvPr id="47" name="Rectangle 46"/>
          <p:cNvSpPr/>
          <p:nvPr/>
        </p:nvSpPr>
        <p:spPr>
          <a:xfrm>
            <a:off x="4937760" y="4279392"/>
            <a:ext cx="2048256" cy="566928"/>
          </a:xfrm>
          <a:prstGeom prst="rect">
            <a:avLst/>
          </a:prstGeom>
          <a:solidFill>
            <a:srgbClr val="F0FD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029200" y="4498848"/>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175504" y="4334255"/>
            <a:ext cx="1755648" cy="475488"/>
          </a:xfrm>
          <a:prstGeom prst="rect">
            <a:avLst/>
          </a:prstGeom>
          <a:noFill/>
        </p:spPr>
        <p:txBody>
          <a:bodyPr wrap="square"/>
          <a:lstStyle/>
          <a:p>
            <a:pPr algn="l"/>
            <a:r>
              <a:rPr sz="800" b="0" i="0">
                <a:solidFill>
                  <a:srgbClr val="1E293B"/>
                </a:solidFill>
                <a:latin typeface="Calibri"/>
              </a:rPr>
              <a:t>Convert warm website traffic before they go elsewhere</a:t>
            </a:r>
          </a:p>
        </p:txBody>
      </p:sp>
      <p:sp>
        <p:nvSpPr>
          <p:cNvPr id="50" name="Rectangle 49"/>
          <p:cNvSpPr/>
          <p:nvPr/>
        </p:nvSpPr>
        <p:spPr>
          <a:xfrm>
            <a:off x="7059168" y="1024128"/>
            <a:ext cx="2048256" cy="841248"/>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168896" y="1042415"/>
            <a:ext cx="457200" cy="274320"/>
          </a:xfrm>
          <a:prstGeom prst="rect">
            <a:avLst/>
          </a:prstGeom>
          <a:noFill/>
        </p:spPr>
        <p:txBody>
          <a:bodyPr wrap="square"/>
          <a:lstStyle/>
          <a:p>
            <a:pPr algn="l"/>
            <a:r>
              <a:rPr sz="1000" b="1" i="0">
                <a:solidFill>
                  <a:srgbClr val="FFFFFF"/>
                </a:solidFill>
                <a:latin typeface="Calibri"/>
              </a:rPr>
              <a:t>03</a:t>
            </a:r>
          </a:p>
        </p:txBody>
      </p:sp>
      <p:sp>
        <p:nvSpPr>
          <p:cNvPr id="52" name="TextBox 51"/>
          <p:cNvSpPr txBox="1"/>
          <p:nvPr/>
        </p:nvSpPr>
        <p:spPr>
          <a:xfrm>
            <a:off x="7168896" y="1316736"/>
            <a:ext cx="1865376" cy="256032"/>
          </a:xfrm>
          <a:prstGeom prst="rect">
            <a:avLst/>
          </a:prstGeom>
          <a:noFill/>
        </p:spPr>
        <p:txBody>
          <a:bodyPr wrap="square"/>
          <a:lstStyle/>
          <a:p>
            <a:pPr algn="l"/>
            <a:r>
              <a:rPr sz="1200" b="1" i="0">
                <a:solidFill>
                  <a:srgbClr val="FFFFFF"/>
                </a:solidFill>
                <a:latin typeface="Calibri"/>
              </a:rPr>
              <a:t>Install Team &amp;</a:t>
            </a:r>
          </a:p>
        </p:txBody>
      </p:sp>
      <p:sp>
        <p:nvSpPr>
          <p:cNvPr id="53" name="TextBox 52"/>
          <p:cNvSpPr txBox="1"/>
          <p:nvPr/>
        </p:nvSpPr>
        <p:spPr>
          <a:xfrm>
            <a:off x="7168896" y="1554480"/>
            <a:ext cx="1865376" cy="256032"/>
          </a:xfrm>
          <a:prstGeom prst="rect">
            <a:avLst/>
          </a:prstGeom>
          <a:noFill/>
        </p:spPr>
        <p:txBody>
          <a:bodyPr wrap="square"/>
          <a:lstStyle/>
          <a:p>
            <a:pPr algn="l"/>
            <a:r>
              <a:rPr sz="1200" b="1" i="0">
                <a:solidFill>
                  <a:srgbClr val="FFFFFF"/>
                </a:solidFill>
                <a:latin typeface="Calibri"/>
              </a:rPr>
              <a:t>Profit Systems</a:t>
            </a:r>
          </a:p>
        </p:txBody>
      </p:sp>
      <p:sp>
        <p:nvSpPr>
          <p:cNvPr id="54" name="Rectangle 53"/>
          <p:cNvSpPr/>
          <p:nvPr/>
        </p:nvSpPr>
        <p:spPr>
          <a:xfrm>
            <a:off x="7059168" y="1865376"/>
            <a:ext cx="2048256" cy="566928"/>
          </a:xfrm>
          <a:prstGeom prst="rect">
            <a:avLst/>
          </a:prstGeom>
          <a:solidFill>
            <a:srgbClr val="F5F3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7150607" y="2084832"/>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296912" y="1920240"/>
            <a:ext cx="1755648" cy="475488"/>
          </a:xfrm>
          <a:prstGeom prst="rect">
            <a:avLst/>
          </a:prstGeom>
          <a:noFill/>
        </p:spPr>
        <p:txBody>
          <a:bodyPr wrap="square"/>
          <a:lstStyle/>
          <a:p>
            <a:pPr algn="l"/>
            <a:r>
              <a:rPr sz="800" b="0" i="0">
                <a:solidFill>
                  <a:srgbClr val="1E293B"/>
                </a:solidFill>
                <a:latin typeface="Calibri"/>
              </a:rPr>
              <a:t>Build BD system that runs without Kate's network</a:t>
            </a:r>
          </a:p>
        </p:txBody>
      </p:sp>
      <p:sp>
        <p:nvSpPr>
          <p:cNvPr id="57" name="Rectangle 56"/>
          <p:cNvSpPr/>
          <p:nvPr/>
        </p:nvSpPr>
        <p:spPr>
          <a:xfrm>
            <a:off x="7059168" y="2468880"/>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7150607" y="2688336"/>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296912" y="2523744"/>
            <a:ext cx="1755648" cy="475488"/>
          </a:xfrm>
          <a:prstGeom prst="rect">
            <a:avLst/>
          </a:prstGeom>
          <a:noFill/>
        </p:spPr>
        <p:txBody>
          <a:bodyPr wrap="square"/>
          <a:lstStyle/>
          <a:p>
            <a:pPr algn="l"/>
            <a:r>
              <a:rPr sz="800" b="0" i="0">
                <a:solidFill>
                  <a:srgbClr val="1E293B"/>
                </a:solidFill>
                <a:latin typeface="Calibri"/>
              </a:rPr>
              <a:t>Document NAMWOLF outreach as a repeatable process</a:t>
            </a:r>
          </a:p>
        </p:txBody>
      </p:sp>
      <p:sp>
        <p:nvSpPr>
          <p:cNvPr id="60" name="Rectangle 59"/>
          <p:cNvSpPr/>
          <p:nvPr/>
        </p:nvSpPr>
        <p:spPr>
          <a:xfrm>
            <a:off x="7059168" y="3072384"/>
            <a:ext cx="2048256" cy="566928"/>
          </a:xfrm>
          <a:prstGeom prst="rect">
            <a:avLst/>
          </a:prstGeom>
          <a:solidFill>
            <a:srgbClr val="F5F3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7150607" y="3291839"/>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296912" y="3127248"/>
            <a:ext cx="1755648" cy="475488"/>
          </a:xfrm>
          <a:prstGeom prst="rect">
            <a:avLst/>
          </a:prstGeom>
          <a:noFill/>
        </p:spPr>
        <p:txBody>
          <a:bodyPr wrap="square"/>
          <a:lstStyle/>
          <a:p>
            <a:pPr algn="l"/>
            <a:r>
              <a:rPr sz="800" b="0" i="0">
                <a:solidFill>
                  <a:srgbClr val="1E293B"/>
                </a:solidFill>
                <a:latin typeface="Calibri"/>
              </a:rPr>
              <a:t>Track profit by practice area — know what earns most</a:t>
            </a:r>
          </a:p>
        </p:txBody>
      </p:sp>
      <p:sp>
        <p:nvSpPr>
          <p:cNvPr id="63" name="Rectangle 62"/>
          <p:cNvSpPr/>
          <p:nvPr/>
        </p:nvSpPr>
        <p:spPr>
          <a:xfrm>
            <a:off x="7059168" y="3675887"/>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7150607" y="3895344"/>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296912" y="3730751"/>
            <a:ext cx="1755648" cy="475488"/>
          </a:xfrm>
          <a:prstGeom prst="rect">
            <a:avLst/>
          </a:prstGeom>
          <a:noFill/>
        </p:spPr>
        <p:txBody>
          <a:bodyPr wrap="square"/>
          <a:lstStyle/>
          <a:p>
            <a:pPr algn="l"/>
            <a:r>
              <a:rPr sz="800" b="0" i="0">
                <a:solidFill>
                  <a:srgbClr val="1E293B"/>
                </a:solidFill>
                <a:latin typeface="Calibri"/>
              </a:rPr>
              <a:t>Set partner KPIs so all three partners own growth</a:t>
            </a:r>
          </a:p>
        </p:txBody>
      </p:sp>
      <p:sp>
        <p:nvSpPr>
          <p:cNvPr id="66" name="Rectangle 65"/>
          <p:cNvSpPr/>
          <p:nvPr/>
        </p:nvSpPr>
        <p:spPr>
          <a:xfrm>
            <a:off x="7059168" y="4279392"/>
            <a:ext cx="2048256" cy="566928"/>
          </a:xfrm>
          <a:prstGeom prst="rect">
            <a:avLst/>
          </a:prstGeom>
          <a:solidFill>
            <a:srgbClr val="F5F3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7150607" y="4498848"/>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7296912" y="4334255"/>
            <a:ext cx="1755648" cy="475488"/>
          </a:xfrm>
          <a:prstGeom prst="rect">
            <a:avLst/>
          </a:prstGeom>
          <a:noFill/>
        </p:spPr>
        <p:txBody>
          <a:bodyPr wrap="square"/>
          <a:lstStyle/>
          <a:p>
            <a:pPr algn="l"/>
            <a:r>
              <a:rPr sz="800" b="0" i="0">
                <a:solidFill>
                  <a:srgbClr val="1E293B"/>
                </a:solidFill>
                <a:latin typeface="Calibri"/>
              </a:rPr>
              <a:t>Coaching cadence that outlasts any partner's bandwidth</a:t>
            </a:r>
          </a:p>
        </p:txBody>
      </p:sp>
      <p:sp>
        <p:nvSpPr>
          <p:cNvPr id="69" name="Rectangle 68"/>
          <p:cNvSpPr/>
          <p:nvPr/>
        </p:nvSpPr>
        <p:spPr>
          <a:xfrm>
            <a:off x="0" y="4828032"/>
            <a:ext cx="9144000" cy="32004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609344" y="4837176"/>
            <a:ext cx="5303520" cy="274320"/>
          </a:xfrm>
          <a:prstGeom prst="rect">
            <a:avLst/>
          </a:prstGeom>
          <a:noFill/>
        </p:spPr>
        <p:txBody>
          <a:bodyPr wrap="square"/>
          <a:lstStyle/>
          <a:p>
            <a:pPr algn="l"/>
            <a:r>
              <a:rPr sz="800" b="0" i="0">
                <a:solidFill>
                  <a:srgbClr val="5A7A9A"/>
                </a:solidFill>
                <a:latin typeface="Calibri"/>
              </a:rPr>
              <a:t>CONFIDENTIAL  ·  Prepared by Dan Bryant | SMB Team</a:t>
            </a:r>
          </a:p>
        </p:txBody>
      </p:sp>
      <p:sp>
        <p:nvSpPr>
          <p:cNvPr id="71" name="TextBox 70"/>
          <p:cNvSpPr txBox="1"/>
          <p:nvPr/>
        </p:nvSpPr>
        <p:spPr>
          <a:xfrm>
            <a:off x="8138160" y="4837176"/>
            <a:ext cx="786384" cy="274320"/>
          </a:xfrm>
          <a:prstGeom prst="rect">
            <a:avLst/>
          </a:prstGeom>
          <a:noFill/>
        </p:spPr>
        <p:txBody>
          <a:bodyPr wrap="square"/>
          <a:lstStyle/>
          <a:p>
            <a:pPr algn="r"/>
            <a:r>
              <a:rPr sz="800" b="0" i="0">
                <a:solidFill>
                  <a:srgbClr val="5A7A9A"/>
                </a:solidFill>
                <a:latin typeface="Calibri"/>
              </a:rPr>
              <a:t>2 / 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91440"/>
            <a:ext cx="8595360" cy="201168"/>
          </a:xfrm>
          <a:prstGeom prst="rect">
            <a:avLst/>
          </a:prstGeom>
          <a:noFill/>
        </p:spPr>
        <p:txBody>
          <a:bodyPr wrap="square"/>
          <a:lstStyle/>
          <a:p>
            <a:pPr algn="l"/>
            <a:r>
              <a:rPr sz="800" b="1" i="0">
                <a:solidFill>
                  <a:srgbClr val="F5C400"/>
                </a:solidFill>
                <a:latin typeface="Calibri"/>
              </a:rPr>
              <a:t>LAW FIRM GROWTH AUDIT  ·  LAWRENCE LAW LLC</a:t>
            </a:r>
          </a:p>
        </p:txBody>
      </p:sp>
      <p:sp>
        <p:nvSpPr>
          <p:cNvPr id="4" name="TextBox 3"/>
          <p:cNvSpPr txBox="1"/>
          <p:nvPr/>
        </p:nvSpPr>
        <p:spPr>
          <a:xfrm>
            <a:off x="292608" y="310896"/>
            <a:ext cx="8595360" cy="548640"/>
          </a:xfrm>
          <a:prstGeom prst="rect">
            <a:avLst/>
          </a:prstGeom>
          <a:noFill/>
        </p:spPr>
        <p:txBody>
          <a:bodyPr wrap="square"/>
          <a:lstStyle/>
          <a:p>
            <a:pPr algn="l"/>
            <a:r>
              <a:rPr sz="2200" b="1" i="0">
                <a:solidFill>
                  <a:srgbClr val="FFFFFF"/>
                </a:solidFill>
                <a:latin typeface="Calibri"/>
              </a:rPr>
              <a:t>Your Investment &amp; What Happens Next</a:t>
            </a:r>
          </a:p>
        </p:txBody>
      </p:sp>
      <p:sp>
        <p:nvSpPr>
          <p:cNvPr id="5" name="Rectangle 4"/>
          <p:cNvSpPr/>
          <p:nvPr/>
        </p:nvSpPr>
        <p:spPr>
          <a:xfrm>
            <a:off x="201168" y="1024128"/>
            <a:ext cx="4133087" cy="10241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01168" y="1024128"/>
            <a:ext cx="182880" cy="1024128"/>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5488" y="1115568"/>
            <a:ext cx="3803904" cy="201168"/>
          </a:xfrm>
          <a:prstGeom prst="rect">
            <a:avLst/>
          </a:prstGeom>
          <a:noFill/>
        </p:spPr>
        <p:txBody>
          <a:bodyPr wrap="square"/>
          <a:lstStyle/>
          <a:p>
            <a:pPr algn="l"/>
            <a:r>
              <a:rPr sz="800" b="1" i="0">
                <a:solidFill>
                  <a:srgbClr val="1D4ED8"/>
                </a:solidFill>
                <a:latin typeface="Calibri"/>
              </a:rPr>
              <a:t>FULL SERVICE MARKETING — DOMINATE</a:t>
            </a:r>
          </a:p>
        </p:txBody>
      </p:sp>
      <p:sp>
        <p:nvSpPr>
          <p:cNvPr id="8" name="TextBox 7"/>
          <p:cNvSpPr txBox="1"/>
          <p:nvPr/>
        </p:nvSpPr>
        <p:spPr>
          <a:xfrm>
            <a:off x="475488" y="1298448"/>
            <a:ext cx="1828800" cy="438912"/>
          </a:xfrm>
          <a:prstGeom prst="rect">
            <a:avLst/>
          </a:prstGeom>
          <a:noFill/>
        </p:spPr>
        <p:txBody>
          <a:bodyPr wrap="square"/>
          <a:lstStyle/>
          <a:p>
            <a:pPr algn="l"/>
            <a:r>
              <a:rPr sz="3200" b="1" i="0">
                <a:solidFill>
                  <a:srgbClr val="0D1F3C"/>
                </a:solidFill>
                <a:latin typeface="Calibri"/>
              </a:rPr>
              <a:t>$10,497</a:t>
            </a:r>
          </a:p>
        </p:txBody>
      </p:sp>
      <p:sp>
        <p:nvSpPr>
          <p:cNvPr id="9" name="TextBox 8"/>
          <p:cNvSpPr txBox="1"/>
          <p:nvPr/>
        </p:nvSpPr>
        <p:spPr>
          <a:xfrm>
            <a:off x="1865376" y="1408176"/>
            <a:ext cx="420624" cy="256032"/>
          </a:xfrm>
          <a:prstGeom prst="rect">
            <a:avLst/>
          </a:prstGeom>
          <a:noFill/>
        </p:spPr>
        <p:txBody>
          <a:bodyPr wrap="square"/>
          <a:lstStyle/>
          <a:p>
            <a:pPr algn="l"/>
            <a:r>
              <a:rPr sz="1100" b="0" i="0">
                <a:solidFill>
                  <a:srgbClr val="64748B"/>
                </a:solidFill>
                <a:latin typeface="Calibri"/>
              </a:rPr>
              <a:t>/mo</a:t>
            </a:r>
          </a:p>
        </p:txBody>
      </p:sp>
      <p:sp>
        <p:nvSpPr>
          <p:cNvPr id="10" name="TextBox 9"/>
          <p:cNvSpPr txBox="1"/>
          <p:nvPr/>
        </p:nvSpPr>
        <p:spPr>
          <a:xfrm>
            <a:off x="2322576" y="1426464"/>
            <a:ext cx="914400" cy="237744"/>
          </a:xfrm>
          <a:prstGeom prst="rect">
            <a:avLst/>
          </a:prstGeom>
          <a:noFill/>
        </p:spPr>
        <p:txBody>
          <a:bodyPr wrap="square"/>
          <a:lstStyle/>
          <a:p>
            <a:pPr algn="l"/>
            <a:r>
              <a:rPr sz="1100" b="0" i="0">
                <a:solidFill>
                  <a:srgbClr val="334155"/>
                </a:solidFill>
                <a:latin typeface="Calibri"/>
              </a:rPr>
              <a:t>$12,497/mo</a:t>
            </a:r>
          </a:p>
        </p:txBody>
      </p:sp>
      <p:sp>
        <p:nvSpPr>
          <p:cNvPr id="11" name="Rectangle 10"/>
          <p:cNvSpPr/>
          <p:nvPr/>
        </p:nvSpPr>
        <p:spPr>
          <a:xfrm>
            <a:off x="2322576" y="1527048"/>
            <a:ext cx="804672" cy="9144"/>
          </a:xfrm>
          <a:prstGeom prst="rect">
            <a:avLst/>
          </a:prstGeom>
          <a:solidFill>
            <a:srgbClr val="33415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1792224"/>
            <a:ext cx="3803904" cy="201168"/>
          </a:xfrm>
          <a:prstGeom prst="rect">
            <a:avLst/>
          </a:prstGeom>
          <a:noFill/>
        </p:spPr>
        <p:txBody>
          <a:bodyPr wrap="square"/>
          <a:lstStyle/>
          <a:p>
            <a:pPr algn="l"/>
            <a:r>
              <a:rPr sz="800" b="0" i="0">
                <a:solidFill>
                  <a:srgbClr val="64748B"/>
                </a:solidFill>
                <a:latin typeface="Calibri"/>
              </a:rPr>
              <a:t>Website rebuild · Google Ads · LSA · Meta · SEO · GBP</a:t>
            </a:r>
          </a:p>
        </p:txBody>
      </p:sp>
      <p:sp>
        <p:nvSpPr>
          <p:cNvPr id="13" name="Rectangle 12"/>
          <p:cNvSpPr/>
          <p:nvPr/>
        </p:nvSpPr>
        <p:spPr>
          <a:xfrm>
            <a:off x="201168" y="2139696"/>
            <a:ext cx="4133087" cy="10241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01168" y="2139696"/>
            <a:ext cx="182880" cy="1024128"/>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5488" y="2231136"/>
            <a:ext cx="3803904" cy="201168"/>
          </a:xfrm>
          <a:prstGeom prst="rect">
            <a:avLst/>
          </a:prstGeom>
          <a:noFill/>
        </p:spPr>
        <p:txBody>
          <a:bodyPr wrap="square"/>
          <a:lstStyle/>
          <a:p>
            <a:pPr algn="l"/>
            <a:r>
              <a:rPr sz="800" b="1" i="0">
                <a:solidFill>
                  <a:srgbClr val="6D28D9"/>
                </a:solidFill>
                <a:latin typeface="Calibri"/>
              </a:rPr>
              <a:t>MASTER'S CIRCLE</a:t>
            </a:r>
          </a:p>
        </p:txBody>
      </p:sp>
      <p:sp>
        <p:nvSpPr>
          <p:cNvPr id="16" name="TextBox 15"/>
          <p:cNvSpPr txBox="1"/>
          <p:nvPr/>
        </p:nvSpPr>
        <p:spPr>
          <a:xfrm>
            <a:off x="475488" y="2414015"/>
            <a:ext cx="1828800" cy="438912"/>
          </a:xfrm>
          <a:prstGeom prst="rect">
            <a:avLst/>
          </a:prstGeom>
          <a:noFill/>
        </p:spPr>
        <p:txBody>
          <a:bodyPr wrap="square"/>
          <a:lstStyle/>
          <a:p>
            <a:pPr algn="l"/>
            <a:r>
              <a:rPr sz="3200" b="1" i="0">
                <a:solidFill>
                  <a:srgbClr val="0D1F3C"/>
                </a:solidFill>
                <a:latin typeface="Calibri"/>
              </a:rPr>
              <a:t>$4,600</a:t>
            </a:r>
          </a:p>
        </p:txBody>
      </p:sp>
      <p:sp>
        <p:nvSpPr>
          <p:cNvPr id="17" name="TextBox 16"/>
          <p:cNvSpPr txBox="1"/>
          <p:nvPr/>
        </p:nvSpPr>
        <p:spPr>
          <a:xfrm>
            <a:off x="1865376" y="2523744"/>
            <a:ext cx="420624" cy="256032"/>
          </a:xfrm>
          <a:prstGeom prst="rect">
            <a:avLst/>
          </a:prstGeom>
          <a:noFill/>
        </p:spPr>
        <p:txBody>
          <a:bodyPr wrap="square"/>
          <a:lstStyle/>
          <a:p>
            <a:pPr algn="l"/>
            <a:r>
              <a:rPr sz="1100" b="0" i="0">
                <a:solidFill>
                  <a:srgbClr val="64748B"/>
                </a:solidFill>
                <a:latin typeface="Calibri"/>
              </a:rPr>
              <a:t>/mo</a:t>
            </a:r>
          </a:p>
        </p:txBody>
      </p:sp>
      <p:sp>
        <p:nvSpPr>
          <p:cNvPr id="18" name="TextBox 17"/>
          <p:cNvSpPr txBox="1"/>
          <p:nvPr/>
        </p:nvSpPr>
        <p:spPr>
          <a:xfrm>
            <a:off x="2322576" y="2542032"/>
            <a:ext cx="914400" cy="237744"/>
          </a:xfrm>
          <a:prstGeom prst="rect">
            <a:avLst/>
          </a:prstGeom>
          <a:noFill/>
        </p:spPr>
        <p:txBody>
          <a:bodyPr wrap="square"/>
          <a:lstStyle/>
          <a:p>
            <a:pPr algn="l"/>
            <a:r>
              <a:rPr sz="1100" b="0" i="0">
                <a:solidFill>
                  <a:srgbClr val="334155"/>
                </a:solidFill>
                <a:latin typeface="Calibri"/>
              </a:rPr>
              <a:t>$4,997/mo</a:t>
            </a:r>
          </a:p>
        </p:txBody>
      </p:sp>
      <p:sp>
        <p:nvSpPr>
          <p:cNvPr id="19" name="Rectangle 18"/>
          <p:cNvSpPr/>
          <p:nvPr/>
        </p:nvSpPr>
        <p:spPr>
          <a:xfrm>
            <a:off x="2322576" y="2642615"/>
            <a:ext cx="804672" cy="9144"/>
          </a:xfrm>
          <a:prstGeom prst="rect">
            <a:avLst/>
          </a:prstGeom>
          <a:solidFill>
            <a:srgbClr val="33415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5488" y="2907791"/>
            <a:ext cx="3803904" cy="201168"/>
          </a:xfrm>
          <a:prstGeom prst="rect">
            <a:avLst/>
          </a:prstGeom>
          <a:noFill/>
        </p:spPr>
        <p:txBody>
          <a:bodyPr wrap="square"/>
          <a:lstStyle/>
          <a:p>
            <a:pPr algn="l"/>
            <a:r>
              <a:rPr sz="800" b="0" i="0">
                <a:solidFill>
                  <a:srgbClr val="64748B"/>
                </a:solidFill>
                <a:latin typeface="Calibri"/>
              </a:rPr>
              <a:t>Weekly coaching · Masterminds · Workshops · Partner KPIs</a:t>
            </a:r>
          </a:p>
        </p:txBody>
      </p:sp>
      <p:sp>
        <p:nvSpPr>
          <p:cNvPr id="21" name="Rectangle 20"/>
          <p:cNvSpPr/>
          <p:nvPr/>
        </p:nvSpPr>
        <p:spPr>
          <a:xfrm>
            <a:off x="201168" y="3255264"/>
            <a:ext cx="4133087" cy="658368"/>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84048" y="3291840"/>
            <a:ext cx="1645920" cy="237744"/>
          </a:xfrm>
          <a:prstGeom prst="rect">
            <a:avLst/>
          </a:prstGeom>
          <a:noFill/>
        </p:spPr>
        <p:txBody>
          <a:bodyPr wrap="square"/>
          <a:lstStyle/>
          <a:p>
            <a:pPr algn="l"/>
            <a:r>
              <a:rPr sz="800" b="1" i="0">
                <a:solidFill>
                  <a:srgbClr val="7CA0C0"/>
                </a:solidFill>
                <a:latin typeface="Calibri"/>
              </a:rPr>
              <a:t>BUNDLE TOTAL</a:t>
            </a:r>
          </a:p>
        </p:txBody>
      </p:sp>
      <p:sp>
        <p:nvSpPr>
          <p:cNvPr id="23" name="TextBox 22"/>
          <p:cNvSpPr txBox="1"/>
          <p:nvPr/>
        </p:nvSpPr>
        <p:spPr>
          <a:xfrm>
            <a:off x="384048" y="3493008"/>
            <a:ext cx="2194560" cy="347472"/>
          </a:xfrm>
          <a:prstGeom prst="rect">
            <a:avLst/>
          </a:prstGeom>
          <a:noFill/>
        </p:spPr>
        <p:txBody>
          <a:bodyPr wrap="square"/>
          <a:lstStyle/>
          <a:p>
            <a:pPr algn="l"/>
            <a:r>
              <a:rPr sz="2200" b="1" i="0">
                <a:solidFill>
                  <a:srgbClr val="F5C400"/>
                </a:solidFill>
                <a:latin typeface="Calibri"/>
              </a:rPr>
              <a:t>$15,097 / mo</a:t>
            </a:r>
          </a:p>
        </p:txBody>
      </p:sp>
      <p:sp>
        <p:nvSpPr>
          <p:cNvPr id="24" name="TextBox 23"/>
          <p:cNvSpPr txBox="1"/>
          <p:nvPr/>
        </p:nvSpPr>
        <p:spPr>
          <a:xfrm>
            <a:off x="2670048" y="3493008"/>
            <a:ext cx="1737360" cy="347472"/>
          </a:xfrm>
          <a:prstGeom prst="rect">
            <a:avLst/>
          </a:prstGeom>
          <a:noFill/>
        </p:spPr>
        <p:txBody>
          <a:bodyPr wrap="square"/>
          <a:lstStyle/>
          <a:p>
            <a:pPr algn="l"/>
            <a:r>
              <a:rPr sz="800" b="0" i="0">
                <a:solidFill>
                  <a:srgbClr val="7CA0C0"/>
                </a:solidFill>
                <a:latin typeface="Calibri"/>
              </a:rPr>
              <a:t>Save $2,397/mo by bundling</a:t>
            </a:r>
          </a:p>
        </p:txBody>
      </p:sp>
      <p:sp>
        <p:nvSpPr>
          <p:cNvPr id="25" name="Rectangle 24"/>
          <p:cNvSpPr/>
          <p:nvPr/>
        </p:nvSpPr>
        <p:spPr>
          <a:xfrm>
            <a:off x="201168" y="3968496"/>
            <a:ext cx="4133087" cy="402336"/>
          </a:xfrm>
          <a:prstGeom prst="rect">
            <a:avLst/>
          </a:prstGeom>
          <a:solidFill>
            <a:srgbClr val="EEF2F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29184" y="3995928"/>
            <a:ext cx="3931920" cy="347472"/>
          </a:xfrm>
          <a:prstGeom prst="rect">
            <a:avLst/>
          </a:prstGeom>
          <a:noFill/>
        </p:spPr>
        <p:txBody>
          <a:bodyPr wrap="square"/>
          <a:lstStyle/>
          <a:p>
            <a:pPr algn="l"/>
            <a:r>
              <a:rPr sz="800" b="0" i="0">
                <a:solidFill>
                  <a:srgbClr val="64748B"/>
                </a:solidFill>
                <a:latin typeface="Calibri"/>
              </a:rPr>
              <a:t>+ Recommended ad spend: $10,200–$50,000/mo paid directly to Google/Meta</a:t>
            </a:r>
          </a:p>
        </p:txBody>
      </p:sp>
      <p:sp>
        <p:nvSpPr>
          <p:cNvPr id="27" name="Rectangle 26"/>
          <p:cNvSpPr/>
          <p:nvPr/>
        </p:nvSpPr>
        <p:spPr>
          <a:xfrm>
            <a:off x="4535424" y="1024128"/>
            <a:ext cx="4407408" cy="1316736"/>
          </a:xfrm>
          <a:prstGeom prst="rect">
            <a:avLst/>
          </a:prstGeom>
          <a:solidFill>
            <a:srgbClr val="ECFDF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700016" y="1078992"/>
            <a:ext cx="4133087" cy="219456"/>
          </a:xfrm>
          <a:prstGeom prst="rect">
            <a:avLst/>
          </a:prstGeom>
          <a:noFill/>
        </p:spPr>
        <p:txBody>
          <a:bodyPr wrap="square"/>
          <a:lstStyle/>
          <a:p>
            <a:pPr algn="l"/>
            <a:r>
              <a:rPr sz="800" b="1" i="0">
                <a:solidFill>
                  <a:srgbClr val="065F46"/>
                </a:solidFill>
                <a:latin typeface="Calibri"/>
              </a:rPr>
              <a:t>PROJECTED RETURN ON AD SPEND</a:t>
            </a:r>
          </a:p>
        </p:txBody>
      </p:sp>
      <p:sp>
        <p:nvSpPr>
          <p:cNvPr id="29" name="TextBox 28"/>
          <p:cNvSpPr txBox="1"/>
          <p:nvPr/>
        </p:nvSpPr>
        <p:spPr>
          <a:xfrm>
            <a:off x="4700016" y="1335024"/>
            <a:ext cx="1920240" cy="256032"/>
          </a:xfrm>
          <a:prstGeom prst="rect">
            <a:avLst/>
          </a:prstGeom>
          <a:noFill/>
        </p:spPr>
        <p:txBody>
          <a:bodyPr wrap="square"/>
          <a:lstStyle/>
          <a:p>
            <a:pPr algn="l"/>
            <a:r>
              <a:rPr sz="900" b="1" i="0">
                <a:solidFill>
                  <a:srgbClr val="1E293B"/>
                </a:solidFill>
                <a:latin typeface="Calibri"/>
              </a:rPr>
              <a:t>Average case value:</a:t>
            </a:r>
          </a:p>
        </p:txBody>
      </p:sp>
      <p:sp>
        <p:nvSpPr>
          <p:cNvPr id="30" name="TextBox 29"/>
          <p:cNvSpPr txBox="1"/>
          <p:nvPr/>
        </p:nvSpPr>
        <p:spPr>
          <a:xfrm>
            <a:off x="6729984" y="1335024"/>
            <a:ext cx="2103120" cy="256032"/>
          </a:xfrm>
          <a:prstGeom prst="rect">
            <a:avLst/>
          </a:prstGeom>
          <a:noFill/>
        </p:spPr>
        <p:txBody>
          <a:bodyPr wrap="square"/>
          <a:lstStyle/>
          <a:p>
            <a:pPr algn="l"/>
            <a:r>
              <a:rPr sz="900" b="0" i="0">
                <a:solidFill>
                  <a:srgbClr val="065F46"/>
                </a:solidFill>
                <a:latin typeface="Calibri"/>
              </a:rPr>
              <a:t>$5,000+ (confirm on call)</a:t>
            </a:r>
          </a:p>
        </p:txBody>
      </p:sp>
      <p:sp>
        <p:nvSpPr>
          <p:cNvPr id="31" name="Rectangle 30"/>
          <p:cNvSpPr/>
          <p:nvPr/>
        </p:nvSpPr>
        <p:spPr>
          <a:xfrm>
            <a:off x="4645152" y="1609344"/>
            <a:ext cx="4187952" cy="310896"/>
          </a:xfrm>
          <a:prstGeom prst="rect">
            <a:avLst/>
          </a:prstGeom>
          <a:solidFill>
            <a:srgbClr val="D1FAE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700016" y="1645920"/>
            <a:ext cx="1920240" cy="256032"/>
          </a:xfrm>
          <a:prstGeom prst="rect">
            <a:avLst/>
          </a:prstGeom>
          <a:noFill/>
        </p:spPr>
        <p:txBody>
          <a:bodyPr wrap="square"/>
          <a:lstStyle/>
          <a:p>
            <a:pPr algn="l"/>
            <a:r>
              <a:rPr sz="900" b="1" i="0">
                <a:solidFill>
                  <a:srgbClr val="1E293B"/>
                </a:solidFill>
                <a:latin typeface="Calibri"/>
              </a:rPr>
              <a:t>Conservative  (~13 cases/mo):</a:t>
            </a:r>
          </a:p>
        </p:txBody>
      </p:sp>
      <p:sp>
        <p:nvSpPr>
          <p:cNvPr id="33" name="TextBox 32"/>
          <p:cNvSpPr txBox="1"/>
          <p:nvPr/>
        </p:nvSpPr>
        <p:spPr>
          <a:xfrm>
            <a:off x="6729984" y="1645920"/>
            <a:ext cx="2103120" cy="256032"/>
          </a:xfrm>
          <a:prstGeom prst="rect">
            <a:avLst/>
          </a:prstGeom>
          <a:noFill/>
        </p:spPr>
        <p:txBody>
          <a:bodyPr wrap="square"/>
          <a:lstStyle/>
          <a:p>
            <a:pPr algn="l"/>
            <a:r>
              <a:rPr sz="900" b="1" i="0">
                <a:solidFill>
                  <a:srgbClr val="065F46"/>
                </a:solidFill>
                <a:latin typeface="Calibri"/>
              </a:rPr>
              <a:t>~$65,000 revenue · ~6.4× ROAS</a:t>
            </a:r>
          </a:p>
        </p:txBody>
      </p:sp>
      <p:sp>
        <p:nvSpPr>
          <p:cNvPr id="34" name="TextBox 33"/>
          <p:cNvSpPr txBox="1"/>
          <p:nvPr/>
        </p:nvSpPr>
        <p:spPr>
          <a:xfrm>
            <a:off x="4700016" y="1956816"/>
            <a:ext cx="1920240" cy="256032"/>
          </a:xfrm>
          <a:prstGeom prst="rect">
            <a:avLst/>
          </a:prstGeom>
          <a:noFill/>
        </p:spPr>
        <p:txBody>
          <a:bodyPr wrap="square"/>
          <a:lstStyle/>
          <a:p>
            <a:pPr algn="l"/>
            <a:r>
              <a:rPr sz="900" b="1" i="0">
                <a:solidFill>
                  <a:srgbClr val="1E293B"/>
                </a:solidFill>
                <a:latin typeface="Calibri"/>
              </a:rPr>
              <a:t>Aggressive  (~76 cases/mo):</a:t>
            </a:r>
          </a:p>
        </p:txBody>
      </p:sp>
      <p:sp>
        <p:nvSpPr>
          <p:cNvPr id="35" name="TextBox 34"/>
          <p:cNvSpPr txBox="1"/>
          <p:nvPr/>
        </p:nvSpPr>
        <p:spPr>
          <a:xfrm>
            <a:off x="6729984" y="1956816"/>
            <a:ext cx="2103120" cy="256032"/>
          </a:xfrm>
          <a:prstGeom prst="rect">
            <a:avLst/>
          </a:prstGeom>
          <a:noFill/>
        </p:spPr>
        <p:txBody>
          <a:bodyPr wrap="square"/>
          <a:lstStyle/>
          <a:p>
            <a:pPr algn="l"/>
            <a:r>
              <a:rPr sz="900" b="1" i="0">
                <a:solidFill>
                  <a:srgbClr val="065F46"/>
                </a:solidFill>
                <a:latin typeface="Calibri"/>
              </a:rPr>
              <a:t>~$380,000 revenue · ~7.6× ROAS</a:t>
            </a:r>
          </a:p>
        </p:txBody>
      </p:sp>
      <p:sp>
        <p:nvSpPr>
          <p:cNvPr id="36" name="TextBox 35"/>
          <p:cNvSpPr txBox="1"/>
          <p:nvPr/>
        </p:nvSpPr>
        <p:spPr>
          <a:xfrm>
            <a:off x="4535424" y="2468880"/>
            <a:ext cx="4407408" cy="237744"/>
          </a:xfrm>
          <a:prstGeom prst="rect">
            <a:avLst/>
          </a:prstGeom>
          <a:noFill/>
        </p:spPr>
        <p:txBody>
          <a:bodyPr wrap="square"/>
          <a:lstStyle/>
          <a:p>
            <a:pPr algn="l"/>
            <a:r>
              <a:rPr sz="800" b="1" i="0">
                <a:solidFill>
                  <a:srgbClr val="0D1F3C"/>
                </a:solidFill>
                <a:latin typeface="Calibri"/>
              </a:rPr>
              <a:t>WHAT HAPPENS IN THE FIRST 90 DAYS</a:t>
            </a:r>
          </a:p>
        </p:txBody>
      </p:sp>
      <p:sp>
        <p:nvSpPr>
          <p:cNvPr id="37" name="Rectangle 36"/>
          <p:cNvSpPr/>
          <p:nvPr/>
        </p:nvSpPr>
        <p:spPr>
          <a:xfrm>
            <a:off x="4590288" y="2724912"/>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937760" y="2734056"/>
            <a:ext cx="804672" cy="256032"/>
          </a:xfrm>
          <a:prstGeom prst="rect">
            <a:avLst/>
          </a:prstGeom>
          <a:noFill/>
        </p:spPr>
        <p:txBody>
          <a:bodyPr wrap="square"/>
          <a:lstStyle/>
          <a:p>
            <a:pPr algn="l"/>
            <a:r>
              <a:rPr sz="800" b="1" i="0">
                <a:solidFill>
                  <a:srgbClr val="0D1F3C"/>
                </a:solidFill>
                <a:latin typeface="Calibri"/>
              </a:rPr>
              <a:t>Day 1</a:t>
            </a:r>
          </a:p>
        </p:txBody>
      </p:sp>
      <p:sp>
        <p:nvSpPr>
          <p:cNvPr id="39" name="TextBox 38"/>
          <p:cNvSpPr txBox="1"/>
          <p:nvPr/>
        </p:nvSpPr>
        <p:spPr>
          <a:xfrm>
            <a:off x="5815584" y="2734056"/>
            <a:ext cx="3054096" cy="256032"/>
          </a:xfrm>
          <a:prstGeom prst="rect">
            <a:avLst/>
          </a:prstGeom>
          <a:noFill/>
        </p:spPr>
        <p:txBody>
          <a:bodyPr wrap="square"/>
          <a:lstStyle/>
          <a:p>
            <a:pPr algn="l"/>
            <a:r>
              <a:rPr sz="800" b="0" i="0">
                <a:solidFill>
                  <a:srgbClr val="1E293B"/>
                </a:solidFill>
                <a:latin typeface="Calibri"/>
              </a:rPr>
              <a:t>Google Ads live — construction + employment law</a:t>
            </a:r>
          </a:p>
        </p:txBody>
      </p:sp>
      <p:sp>
        <p:nvSpPr>
          <p:cNvPr id="40" name="Rectangle 39"/>
          <p:cNvSpPr/>
          <p:nvPr/>
        </p:nvSpPr>
        <p:spPr>
          <a:xfrm>
            <a:off x="4590288" y="3081528"/>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937760" y="3090672"/>
            <a:ext cx="804672" cy="256032"/>
          </a:xfrm>
          <a:prstGeom prst="rect">
            <a:avLst/>
          </a:prstGeom>
          <a:noFill/>
        </p:spPr>
        <p:txBody>
          <a:bodyPr wrap="square"/>
          <a:lstStyle/>
          <a:p>
            <a:pPr algn="l"/>
            <a:r>
              <a:rPr sz="800" b="1" i="0">
                <a:solidFill>
                  <a:srgbClr val="0D1F3C"/>
                </a:solidFill>
                <a:latin typeface="Calibri"/>
              </a:rPr>
              <a:t>Day 14</a:t>
            </a:r>
          </a:p>
        </p:txBody>
      </p:sp>
      <p:sp>
        <p:nvSpPr>
          <p:cNvPr id="42" name="TextBox 41"/>
          <p:cNvSpPr txBox="1"/>
          <p:nvPr/>
        </p:nvSpPr>
        <p:spPr>
          <a:xfrm>
            <a:off x="5815584" y="3090672"/>
            <a:ext cx="3054096" cy="256032"/>
          </a:xfrm>
          <a:prstGeom prst="rect">
            <a:avLst/>
          </a:prstGeom>
          <a:noFill/>
        </p:spPr>
        <p:txBody>
          <a:bodyPr wrap="square"/>
          <a:lstStyle/>
          <a:p>
            <a:pPr algn="l"/>
            <a:r>
              <a:rPr sz="800" b="0" i="0">
                <a:solidFill>
                  <a:srgbClr val="1E293B"/>
                </a:solidFill>
                <a:latin typeface="Calibri"/>
              </a:rPr>
              <a:t>Contact page fixed + above-fold form live</a:t>
            </a:r>
          </a:p>
        </p:txBody>
      </p:sp>
      <p:sp>
        <p:nvSpPr>
          <p:cNvPr id="43" name="Rectangle 42"/>
          <p:cNvSpPr/>
          <p:nvPr/>
        </p:nvSpPr>
        <p:spPr>
          <a:xfrm>
            <a:off x="4590288" y="3438144"/>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937760" y="3447287"/>
            <a:ext cx="804672" cy="256032"/>
          </a:xfrm>
          <a:prstGeom prst="rect">
            <a:avLst/>
          </a:prstGeom>
          <a:noFill/>
        </p:spPr>
        <p:txBody>
          <a:bodyPr wrap="square"/>
          <a:lstStyle/>
          <a:p>
            <a:pPr algn="l"/>
            <a:r>
              <a:rPr sz="800" b="1" i="0">
                <a:solidFill>
                  <a:srgbClr val="0D1F3C"/>
                </a:solidFill>
                <a:latin typeface="Calibri"/>
              </a:rPr>
              <a:t>Week 2</a:t>
            </a:r>
          </a:p>
        </p:txBody>
      </p:sp>
      <p:sp>
        <p:nvSpPr>
          <p:cNvPr id="45" name="TextBox 44"/>
          <p:cNvSpPr txBox="1"/>
          <p:nvPr/>
        </p:nvSpPr>
        <p:spPr>
          <a:xfrm>
            <a:off x="5815584" y="3447287"/>
            <a:ext cx="3054096" cy="256032"/>
          </a:xfrm>
          <a:prstGeom prst="rect">
            <a:avLst/>
          </a:prstGeom>
          <a:noFill/>
        </p:spPr>
        <p:txBody>
          <a:bodyPr wrap="square"/>
          <a:lstStyle/>
          <a:p>
            <a:pPr algn="l"/>
            <a:r>
              <a:rPr sz="800" b="0" i="0">
                <a:solidFill>
                  <a:srgbClr val="1E293B"/>
                </a:solidFill>
                <a:latin typeface="Calibri"/>
              </a:rPr>
              <a:t>GBP optimized + review acquisition campaign starts</a:t>
            </a:r>
          </a:p>
        </p:txBody>
      </p:sp>
      <p:sp>
        <p:nvSpPr>
          <p:cNvPr id="46" name="Rectangle 45"/>
          <p:cNvSpPr/>
          <p:nvPr/>
        </p:nvSpPr>
        <p:spPr>
          <a:xfrm>
            <a:off x="4590288" y="3794760"/>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937760" y="3803904"/>
            <a:ext cx="804672" cy="256032"/>
          </a:xfrm>
          <a:prstGeom prst="rect">
            <a:avLst/>
          </a:prstGeom>
          <a:noFill/>
        </p:spPr>
        <p:txBody>
          <a:bodyPr wrap="square"/>
          <a:lstStyle/>
          <a:p>
            <a:pPr algn="l"/>
            <a:r>
              <a:rPr sz="800" b="1" i="0">
                <a:solidFill>
                  <a:srgbClr val="0D1F3C"/>
                </a:solidFill>
                <a:latin typeface="Calibri"/>
              </a:rPr>
              <a:t>Week 3</a:t>
            </a:r>
          </a:p>
        </p:txBody>
      </p:sp>
      <p:sp>
        <p:nvSpPr>
          <p:cNvPr id="48" name="TextBox 47"/>
          <p:cNvSpPr txBox="1"/>
          <p:nvPr/>
        </p:nvSpPr>
        <p:spPr>
          <a:xfrm>
            <a:off x="5815584" y="3803904"/>
            <a:ext cx="3054096" cy="256032"/>
          </a:xfrm>
          <a:prstGeom prst="rect">
            <a:avLst/>
          </a:prstGeom>
          <a:noFill/>
        </p:spPr>
        <p:txBody>
          <a:bodyPr wrap="square"/>
          <a:lstStyle/>
          <a:p>
            <a:pPr algn="l"/>
            <a:r>
              <a:rPr sz="800" b="0" i="0">
                <a:solidFill>
                  <a:srgbClr val="1E293B"/>
                </a:solidFill>
                <a:latin typeface="Calibri"/>
              </a:rPr>
              <a:t>LSA application + Google Screened submitted</a:t>
            </a:r>
          </a:p>
        </p:txBody>
      </p:sp>
      <p:sp>
        <p:nvSpPr>
          <p:cNvPr id="49" name="Rectangle 48"/>
          <p:cNvSpPr/>
          <p:nvPr/>
        </p:nvSpPr>
        <p:spPr>
          <a:xfrm>
            <a:off x="4590288" y="4151376"/>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937760" y="4160520"/>
            <a:ext cx="804672" cy="256032"/>
          </a:xfrm>
          <a:prstGeom prst="rect">
            <a:avLst/>
          </a:prstGeom>
          <a:noFill/>
        </p:spPr>
        <p:txBody>
          <a:bodyPr wrap="square"/>
          <a:lstStyle/>
          <a:p>
            <a:pPr algn="l"/>
            <a:r>
              <a:rPr sz="800" b="1" i="0">
                <a:solidFill>
                  <a:srgbClr val="0D1F3C"/>
                </a:solidFill>
                <a:latin typeface="Calibri"/>
              </a:rPr>
              <a:t>Month 3</a:t>
            </a:r>
          </a:p>
        </p:txBody>
      </p:sp>
      <p:sp>
        <p:nvSpPr>
          <p:cNvPr id="51" name="TextBox 50"/>
          <p:cNvSpPr txBox="1"/>
          <p:nvPr/>
        </p:nvSpPr>
        <p:spPr>
          <a:xfrm>
            <a:off x="5815584" y="4160520"/>
            <a:ext cx="3054096" cy="256032"/>
          </a:xfrm>
          <a:prstGeom prst="rect">
            <a:avLst/>
          </a:prstGeom>
          <a:noFill/>
        </p:spPr>
        <p:txBody>
          <a:bodyPr wrap="square"/>
          <a:lstStyle/>
          <a:p>
            <a:pPr algn="l"/>
            <a:r>
              <a:rPr sz="800" b="0" i="0">
                <a:solidFill>
                  <a:srgbClr val="1E293B"/>
                </a:solidFill>
                <a:latin typeface="Calibri"/>
              </a:rPr>
              <a:t>20+ GBP reviews + first pipeline report delivered</a:t>
            </a:r>
          </a:p>
        </p:txBody>
      </p:sp>
      <p:sp>
        <p:nvSpPr>
          <p:cNvPr id="52" name="Rectangle 51"/>
          <p:cNvSpPr/>
          <p:nvPr/>
        </p:nvSpPr>
        <p:spPr>
          <a:xfrm>
            <a:off x="0" y="4425696"/>
            <a:ext cx="9144000" cy="402336"/>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74320" y="4425696"/>
            <a:ext cx="8595360" cy="402336"/>
          </a:xfrm>
          <a:prstGeom prst="rect">
            <a:avLst/>
          </a:prstGeom>
          <a:noFill/>
        </p:spPr>
        <p:txBody>
          <a:bodyPr wrap="square"/>
          <a:lstStyle/>
          <a:p>
            <a:pPr algn="ctr"/>
            <a:r>
              <a:rPr sz="900" b="0" i="1">
                <a:solidFill>
                  <a:srgbClr val="8BADD0"/>
                </a:solidFill>
                <a:latin typeface="Calibri"/>
              </a:rPr>
              <a:t>“The credentials are built. The systems are what’s missing — and when we fix that, Lawrence Law grows without you chasing it.”</a:t>
            </a:r>
          </a:p>
        </p:txBody>
      </p:sp>
      <p:sp>
        <p:nvSpPr>
          <p:cNvPr id="54" name="Rectangle 53"/>
          <p:cNvSpPr/>
          <p:nvPr/>
        </p:nvSpPr>
        <p:spPr>
          <a:xfrm>
            <a:off x="0" y="4828032"/>
            <a:ext cx="9144000" cy="32004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609344" y="4837176"/>
            <a:ext cx="5303520" cy="274320"/>
          </a:xfrm>
          <a:prstGeom prst="rect">
            <a:avLst/>
          </a:prstGeom>
          <a:noFill/>
        </p:spPr>
        <p:txBody>
          <a:bodyPr wrap="square"/>
          <a:lstStyle/>
          <a:p>
            <a:pPr algn="l"/>
            <a:r>
              <a:rPr sz="800" b="0" i="0">
                <a:solidFill>
                  <a:srgbClr val="5A7A9A"/>
                </a:solidFill>
                <a:latin typeface="Calibri"/>
              </a:rPr>
              <a:t>CONFIDENTIAL  ·  Prepared by Dan Bryant | SMB Team</a:t>
            </a:r>
          </a:p>
        </p:txBody>
      </p:sp>
      <p:sp>
        <p:nvSpPr>
          <p:cNvPr id="56" name="TextBox 55"/>
          <p:cNvSpPr txBox="1"/>
          <p:nvPr/>
        </p:nvSpPr>
        <p:spPr>
          <a:xfrm>
            <a:off x="8138160" y="4837176"/>
            <a:ext cx="786384" cy="274320"/>
          </a:xfrm>
          <a:prstGeom prst="rect">
            <a:avLst/>
          </a:prstGeom>
          <a:noFill/>
        </p:spPr>
        <p:txBody>
          <a:bodyPr wrap="square"/>
          <a:lstStyle/>
          <a:p>
            <a:pPr algn="r"/>
            <a:r>
              <a:rPr sz="800" b="0" i="0">
                <a:solidFill>
                  <a:srgbClr val="5A7A9A"/>
                </a:solidFill>
                <a:latin typeface="Calibri"/>
              </a:rPr>
              <a:t>3 / 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