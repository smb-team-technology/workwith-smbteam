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KAHANE &amp; ASSOCIATES, P.A.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Where Kahane &amp; Associates, P.A. Stands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87552"/>
            <a:ext cx="4572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WHAT YOU TOLD US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4572000" cy="18836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45720" cy="188366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4297680" cy="17556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650" b="1" i="0">
                <a:solidFill>
                  <a:srgbClr val="3F8F1A"/>
                </a:solidFill>
                <a:latin typeface="Poppins"/>
              </a:rPr>
              <a:t>ADRIAN SAID:</a:t>
            </a:r>
          </a:p>
          <a:p>
            <a:pPr>
              <a:spcBef>
                <a:spcPts val="86"/>
              </a:spcBef>
            </a:pPr>
            <a:r>
              <a:rPr sz="950" b="0" i="1">
                <a:solidFill>
                  <a:srgbClr val="003A59"/>
                </a:solidFill>
                <a:latin typeface="Poppins"/>
              </a:rPr>
              <a:t>“Right now, it's not scaling. So, for example, the Notice Mailbox, being that we have a human traffic controller…”</a:t>
            </a:r>
          </a:p>
          <a:p>
            <a:pPr>
              <a:spcBef>
                <a:spcPts val="777"/>
              </a:spcBef>
            </a:pPr>
            <a:r>
              <a:rPr sz="650" b="1" i="0">
                <a:solidFill>
                  <a:srgbClr val="3F8F1A"/>
                </a:solidFill>
                <a:latin typeface="Poppins"/>
              </a:rPr>
              <a:t>ALFREDO SAID:</a:t>
            </a:r>
          </a:p>
          <a:p>
            <a:pPr>
              <a:spcBef>
                <a:spcPts val="86"/>
              </a:spcBef>
            </a:pPr>
            <a:r>
              <a:rPr sz="950" b="0" i="1">
                <a:solidFill>
                  <a:srgbClr val="003A59"/>
                </a:solidFill>
                <a:latin typeface="Poppins"/>
              </a:rPr>
              <a:t>“Fees and costs is something that you have maybe one user do almost full-time…”</a:t>
            </a:r>
          </a:p>
          <a:p>
            <a:pPr>
              <a:spcBef>
                <a:spcPts val="777"/>
              </a:spcBef>
            </a:pPr>
            <a:r>
              <a:rPr sz="650" b="1" i="0">
                <a:solidFill>
                  <a:srgbClr val="3F8F1A"/>
                </a:solidFill>
                <a:latin typeface="Poppins"/>
              </a:rPr>
              <a:t>ADRIAN SAID:</a:t>
            </a:r>
          </a:p>
          <a:p>
            <a:pPr>
              <a:spcBef>
                <a:spcPts val="86"/>
              </a:spcBef>
            </a:pPr>
            <a:r>
              <a:rPr sz="950" b="0" i="1">
                <a:solidFill>
                  <a:srgbClr val="003A59"/>
                </a:solidFill>
                <a:latin typeface="Poppins"/>
              </a:rPr>
              <a:t>“It's kind of fallen on IT to now find AI opportunities, which is probably not the way it should be.”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987552"/>
            <a:ext cx="38404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WHERE YOU ARE TODAY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207008"/>
            <a:ext cx="3840480" cy="188366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TODAY  ·  STAGE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Small Business 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50" b="1" i="0">
                <a:solidFill>
                  <a:srgbClr val="69CD2B"/>
                </a:solidFill>
                <a:latin typeface="Poppins"/>
              </a:rPr>
              <a:t>GOAL  ·  STAGE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Poppins"/>
              </a:rPr>
              <a:t>Law Firm 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754172"/>
            <a:ext cx="651052" cy="190195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17996" y="2563977"/>
            <a:ext cx="651052" cy="380390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7996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3913" y="2373782"/>
            <a:ext cx="651052" cy="570585"/>
          </a:xfrm>
          <a:prstGeom prst="rect">
            <a:avLst/>
          </a:prstGeom>
          <a:solidFill>
            <a:srgbClr val="69C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3913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143306"/>
                </a:solidFill>
                <a:latin typeface="Poppi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29830" y="2183587"/>
            <a:ext cx="651052" cy="760780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983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5747" y="1993392"/>
            <a:ext cx="651052" cy="950975"/>
          </a:xfrm>
          <a:prstGeom prst="rect">
            <a:avLst/>
          </a:prstGeom>
          <a:solidFill>
            <a:srgbClr val="003A59"/>
          </a:solidFill>
          <a:ln w="19050">
            <a:solidFill>
              <a:srgbClr val="69C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35747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69CD2B"/>
                </a:solidFill>
                <a:latin typeface="Poppin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200400"/>
            <a:ext cx="36576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YOUR KEY GAPS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19856"/>
            <a:ext cx="8595360" cy="12435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377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INTAKE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Court notices are routed by hand, so every added assignment means more headcount.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3944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358895" y="3602736"/>
            <a:ext cx="256032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0403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TEAM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0403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The AI push has landed on IT with no roadmap, so progress stalls and expectations drift.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0456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22401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69151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PROFIT PLAN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69151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Fees-and-costs reporting rests on one person, so one absence stalls billing inputs.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RANDY GOLD | SMB TEAM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KAHANE &amp; ASSOCIATES, P.A.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Poppins"/>
              </a:rPr>
              <a:t>Your Growth Plan: 3 Priorities to Scale Without Adding Headcount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Lead the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Rollout With a Plan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Map where AI pays off first in a Readiness Assessment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Weekly sessions give IT a partner, not a side project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One roadmap leadership can see, trust and measure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Set the PII boundary before anything is built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Expectations aligned across partners and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9544" y="1005840"/>
            <a:ext cx="2724912" cy="87782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2424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43306"/>
                </a:solidFill>
                <a:latin typeface="Poppins"/>
              </a:rPr>
              <a:t>PRIORITY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4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Automate Notices &amp;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Document Handling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9544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Route court notices without a human traffic controller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Dispatch client emails and status reports automatically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Turn Word reports into importable data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Automate steps on sites that have no API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Take on more assignments without more hires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Free Your Team &amp;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Fix Billing Systems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3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Fees-and-costs reports that survive a day off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Final-billing check on unbilled time and tasks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Let your accounting team beta test the first report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Put AI in five users' hands with weekly support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Clearer billing data to plan profit, not discover 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RANDY GOLD | SMB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KAHANE &amp; ASSOCIATES, P.A.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36576" cy="96012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11556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91C9"/>
                </a:solidFill>
                <a:latin typeface="Poppins"/>
              </a:rPr>
              <a:t>FRACTIONAL CTO LEVEL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25272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$8,997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037" y="151942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8324" y="1519428"/>
            <a:ext cx="1886204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$9,997/mo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73736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Weekly fCTO · 3 automations/mo · Foundation Sprint included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05740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057400"/>
            <a:ext cx="36576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16712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AI WORKFORCE PRO (5 USERS)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230428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$1,597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741" y="257098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8027" y="2570988"/>
            <a:ext cx="1976501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" y="278892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5 users · Weekly implementation session · 20M credits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108960"/>
            <a:ext cx="4041648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108960"/>
            <a:ext cx="36576" cy="65836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" y="3200400"/>
            <a:ext cx="15544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" y="3346704"/>
            <a:ext cx="21945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$10,594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95703" y="3460051"/>
            <a:ext cx="21288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50" b="0" i="0">
                <a:solidFill>
                  <a:srgbClr val="A9D68C"/>
                </a:solidFill>
                <a:latin typeface="Poppins"/>
              </a:rPr>
              <a:t>Save $1,000/mo by bundling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1005840"/>
            <a:ext cx="42976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HOW THIS PLAN ADDRESSES 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133502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00016" y="1417320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133502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Notice routing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133502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750" b="0" i="0">
                <a:solidFill>
                  <a:srgbClr val="4A5C6B"/>
                </a:solidFill>
                <a:latin typeface="Poppins"/>
              </a:rPr>
              <a:t>Custom automations built around your Notice Mailbox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1883664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00016" y="196596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188366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Fees &amp; costs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188366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Automations and reports not tied to one person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243230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00016" y="251460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0" y="243230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Minimal AI use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243230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750" b="0" i="0">
                <a:solidFill>
                  <a:srgbClr val="4A5C6B"/>
                </a:solidFill>
                <a:latin typeface="Poppins"/>
              </a:rPr>
              <a:t>AI Workforce Pro plus a weekly implementation session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4261104"/>
            <a:ext cx="9144000" cy="557784"/>
          </a:xfrm>
          <a:prstGeom prst="rect">
            <a:avLst/>
          </a:prstGeom>
          <a:solidFill>
            <a:srgbClr val="00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4261104"/>
            <a:ext cx="9144000" cy="1828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297680"/>
            <a:ext cx="7863840" cy="4937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50" b="0" i="0">
                <a:solidFill>
                  <a:srgbClr val="C2D8E6"/>
                </a:solidFill>
                <a:latin typeface="Poppins"/>
              </a:rPr>
              <a:t>"The firm's volume can grow without its headcount having to follow, but only once manual routing, reporting and billing stop being the limit."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RANDY GOLD | SMB TEAM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