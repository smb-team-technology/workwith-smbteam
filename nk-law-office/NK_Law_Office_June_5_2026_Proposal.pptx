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NK LAW OFFICE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Where NK Law Office Stands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46304" cy="3867912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1005840"/>
            <a:ext cx="1298448" cy="841248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6032" y="1005840"/>
            <a:ext cx="1298448" cy="56692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1572768"/>
            <a:ext cx="1298448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600" b="1" i="0">
                <a:solidFill>
                  <a:srgbClr val="FFFFFF"/>
                </a:solidFill>
                <a:latin typeface="Calibri"/>
              </a:rPr>
              <a:t>COMPETITIVE URGENCY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2496" y="1005840"/>
            <a:ext cx="804672" cy="164592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82496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0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Lead Generation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C0392B"/>
                </a:solidFill>
                <a:latin typeface="Calibri"/>
              </a:rPr>
              <a:t>CRITICAL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Not indexed by Google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42032" y="1005840"/>
            <a:ext cx="804672" cy="164592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42032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96896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Intake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96896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C0392B"/>
                </a:solidFill>
                <a:latin typeface="Calibri"/>
              </a:rPr>
              <a:t>CRITICAL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96896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Solo intake, no process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005840"/>
            <a:ext cx="804672" cy="164592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56432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Team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56432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C0392B"/>
                </a:solidFill>
                <a:latin typeface="Calibri"/>
              </a:rPr>
              <a:t>CRITICAL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432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Solo — no team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61104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61104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15968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Profit Plan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15968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Calibri"/>
              </a:rPr>
              <a:t>AMBER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15968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No revenue tracking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6032" y="1956816"/>
            <a:ext cx="484632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KEY FINDINGS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6032" y="2212848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2386584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2368296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" y="2286000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Website not indexed by Google — invisible to all client searches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6032" y="2834640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" y="3008376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2990088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" y="2907792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Solo intake: every lead waits for the attorney personally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6032" y="3456432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3630168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3611879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" y="3529584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Competitor in same building has 543 reviews, outranks at this address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6032" y="4078224"/>
            <a:ext cx="4846320" cy="566928"/>
          </a:xfrm>
          <a:prstGeom prst="rect">
            <a:avLst/>
          </a:prstGeom>
          <a:solidFill>
            <a:srgbClr val="0C281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4251960"/>
            <a:ext cx="219456" cy="219456"/>
          </a:xfrm>
          <a:prstGeom prst="rect">
            <a:avLst/>
          </a:prstGeom>
          <a:solidFill>
            <a:srgbClr val="16A34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4233672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6656" y="4151376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86EFAC"/>
                </a:solidFill>
                <a:latin typeface="Calibri"/>
              </a:rPr>
              <a:t>Professional site with LL.M credentials — strong trust signals ready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57800" y="960120"/>
            <a:ext cx="3886200" cy="386791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257800" y="1024128"/>
            <a:ext cx="3886200" cy="694944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257800" y="1024128"/>
            <a:ext cx="128016" cy="694944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86400" y="1042415"/>
            <a:ext cx="34747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YOU ARE HERE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0" y="1243584"/>
            <a:ext cx="347472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Stage 3: Solo Practitioner  →  Goal: Stage 6, Law Firm Owner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94960" y="1920240"/>
            <a:ext cx="356616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4748B"/>
                </a:solidFill>
                <a:latin typeface="Calibri"/>
              </a:rPr>
              <a:t>COMPETITOR LANDSCAPE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57800" y="2176272"/>
            <a:ext cx="3886200" cy="310896"/>
          </a:xfrm>
          <a:prstGeom prst="rect">
            <a:avLst/>
          </a:prstGeom>
          <a:solidFill>
            <a:srgbClr val="F0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13248" y="2221991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Strategic Criminal Defence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60336" y="2221991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700+ reviews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93024" y="2240279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Ads · LSA · Facebook · all channels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57800" y="2523744"/>
            <a:ext cx="3886200" cy="31089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13248" y="2569463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Shory Law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60336" y="2569463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260 reviews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93024" y="2587751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Immigration + criminal + family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257800" y="2871216"/>
            <a:ext cx="3886200" cy="310896"/>
          </a:xfrm>
          <a:prstGeom prst="rect">
            <a:avLst/>
          </a:prstGeom>
          <a:solidFill>
            <a:srgbClr val="F0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13248" y="2916936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Cameron Horne Law Office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60336" y="2916936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543 reviews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93024" y="2935224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Same building · real estate dominant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257800" y="3218688"/>
            <a:ext cx="3886200" cy="310896"/>
          </a:xfrm>
          <a:prstGeom prst="rect">
            <a:avLst/>
          </a:prstGeom>
          <a:solidFill>
            <a:srgbClr val="FFF0F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257800" y="3218688"/>
            <a:ext cx="91440" cy="31089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13248" y="3264408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C0392B"/>
                </a:solidFill>
                <a:latin typeface="Calibri"/>
              </a:rPr>
              <a:t>NK Law Office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60336" y="3264408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C0392B"/>
                </a:solidFill>
                <a:latin typeface="Calibri"/>
              </a:rPr>
              <a:t>~0 reviews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93024" y="3282696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← You are here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4837176"/>
            <a:ext cx="1170432" cy="237744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Jacob Meissner | SMB Team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1 /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NK LAW OFFICE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Your Growth Plan: 3 Priorities to Build NK Law Office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1024128"/>
            <a:ext cx="2487168" cy="363931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1042415"/>
            <a:ext cx="2487168" cy="18288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1097280"/>
            <a:ext cx="2267712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THE SMB TEAM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335024"/>
            <a:ext cx="2267712" cy="15727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A8BFDA"/>
                </a:solidFill>
                <a:latin typeface="Calibri"/>
              </a:rPr>
              <a:t>All four pillars must work together: Lead Generation, Intake, Team, and Profit. Missing any one means growth stalls regardless of how much is invested. When all four are running, Nkiru can focus on the law — and let the firm grow on its own terms.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2999232"/>
            <a:ext cx="2487168" cy="749808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301752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0D1F3C"/>
                </a:solidFill>
                <a:latin typeface="Calibri"/>
              </a:rPr>
              <a:t>Stage 3 → Stage 6 Law Firm Owner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3291840"/>
            <a:ext cx="228600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0D1F3C"/>
                </a:solidFill>
                <a:latin typeface="Calibri"/>
              </a:rPr>
              <a:t>A firm that grows — so you can focus on the law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16352" y="1024128"/>
            <a:ext cx="2048256" cy="841248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0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Build the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Marketing Engine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1865376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07792" y="2084832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54096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Get NK Law Office indexed and visible on Google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16352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07792" y="2688336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54096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Launch Google Ads: criminal defense + immigration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16352" y="3072384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07792" y="3291839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54096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Build GBP reviews toward LSA top-of-page placement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16352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07792" y="3895344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54096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List in Avvo, FindLaw, Yelp, Justia — citation base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16352" y="4279392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907792" y="4498848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54096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Turn Google into a client pipeline that runs itself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37760" y="1024128"/>
            <a:ext cx="2048256" cy="841248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47488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47488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Fix Intake &amp;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47488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Stop Losing Cases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37760" y="1865376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0" y="2084832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75504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Install after-hours inquiry capture system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760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0" y="2688336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75504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Add above-fold contact form to homepage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937760" y="3072384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0" y="3291839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75504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Build follow-up process for unconverted leads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760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0" y="3895344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175504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Create intake script so calls qualify without you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37760" y="4279392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0" y="4498848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175504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Convert more of the traffic you're already getting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059168" y="1024128"/>
            <a:ext cx="2048256" cy="841248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68896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68896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Install Team &amp;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68896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Profit Systems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168" y="1865376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150607" y="2084832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296912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Plan and hire your first intake coordinator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059168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150607" y="2688336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296912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Track revenue and time invested by practice area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168" y="3072384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150607" y="3291839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96912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Set monthly profit targets — plan it, don't discover it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059168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150607" y="3895344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296912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Weekly coaching for firm-building strategy and clarity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168" y="4279392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50607" y="4498848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296912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Build systems that let you step back without worry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4837176"/>
            <a:ext cx="1170432" cy="237744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Jacob Meissner | SMB Team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2 /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NK LAW OFFICE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Your Investment &amp; What Happens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" y="1024128"/>
            <a:ext cx="4133087" cy="10241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" y="1024128"/>
            <a:ext cx="182880" cy="1024128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15568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1D4ED8"/>
                </a:solidFill>
                <a:latin typeface="Calibri"/>
              </a:rPr>
              <a:t>FULL SERVICE MARKETING — STARTER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298448"/>
            <a:ext cx="182880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 i="0">
                <a:solidFill>
                  <a:srgbClr val="0D1F3C"/>
                </a:solidFill>
                <a:latin typeface="Calibri"/>
              </a:rPr>
              <a:t>$4,847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65376" y="1408176"/>
            <a:ext cx="420624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/mo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22576" y="1426464"/>
            <a:ext cx="9144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$5,697/mo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22576" y="1527048"/>
            <a:ext cx="804672" cy="9144"/>
          </a:xfrm>
          <a:prstGeom prst="rect">
            <a:avLst/>
          </a:prstGeom>
          <a:solidFill>
            <a:srgbClr val="33415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1792224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Website · Google Ads · LSA · Meta Ads · SEO · GBP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" y="2139696"/>
            <a:ext cx="4133087" cy="10241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1168" y="2139696"/>
            <a:ext cx="182880" cy="1024128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2231136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D28D9"/>
                </a:solidFill>
                <a:latin typeface="Calibri"/>
              </a:rPr>
              <a:t>ELITE COACH PLUS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" y="2414015"/>
            <a:ext cx="182880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 i="0">
                <a:solidFill>
                  <a:srgbClr val="0D1F3C"/>
                </a:solidFill>
                <a:latin typeface="Calibri"/>
              </a:rPr>
              <a:t>$3,200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65376" y="2523744"/>
            <a:ext cx="420624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/mo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22576" y="2542032"/>
            <a:ext cx="9144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$3,497/mo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2576" y="2642615"/>
            <a:ext cx="804672" cy="9144"/>
          </a:xfrm>
          <a:prstGeom prst="rect">
            <a:avLst/>
          </a:prstGeom>
          <a:solidFill>
            <a:srgbClr val="33415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2907791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Weekly coaching · masterminds · 1:1 strategy sessions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" y="3255264"/>
            <a:ext cx="4133087" cy="658368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048" y="3291840"/>
            <a:ext cx="16459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7CA0C0"/>
                </a:solidFill>
                <a:latin typeface="Calibri"/>
              </a:rPr>
              <a:t>BUNDLE TOTAL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" y="3493008"/>
            <a:ext cx="21945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5C400"/>
                </a:solidFill>
                <a:latin typeface="Calibri"/>
              </a:rPr>
              <a:t>$8,047 / mo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70048" y="3493008"/>
            <a:ext cx="17373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7CA0C0"/>
                </a:solidFill>
                <a:latin typeface="Calibri"/>
              </a:rPr>
              <a:t>Save $1,147/mo by bundling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1168" y="3968496"/>
            <a:ext cx="4133087" cy="402336"/>
          </a:xfrm>
          <a:prstGeom prst="rect">
            <a:avLst/>
          </a:prstGeom>
          <a:solidFill>
            <a:srgbClr val="EEF2F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" y="3995928"/>
            <a:ext cx="39319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+ Recommended ad spend: $7,500–$25,000/mo paid directly to Google/Meta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35424" y="1024128"/>
            <a:ext cx="4407408" cy="1316736"/>
          </a:xfrm>
          <a:prstGeom prst="rect">
            <a:avLst/>
          </a:prstGeom>
          <a:solidFill>
            <a:srgbClr val="ECFD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0016" y="1078992"/>
            <a:ext cx="4133087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65F46"/>
                </a:solidFill>
                <a:latin typeface="Calibri"/>
              </a:rPr>
              <a:t>PROJECTED RETURN ON AD SPEND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0016" y="1335024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Average case value: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9984" y="1335024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065F46"/>
                </a:solidFill>
                <a:latin typeface="Calibri"/>
              </a:rPr>
              <a:t>$4,000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45152" y="1609344"/>
            <a:ext cx="4187952" cy="310896"/>
          </a:xfrm>
          <a:prstGeom prst="rect">
            <a:avLst/>
          </a:prstGeom>
          <a:solidFill>
            <a:srgbClr val="D1FAE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00016" y="1645920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Conservative  (~10 cases/mo):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29984" y="1645920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065F46"/>
                </a:solidFill>
                <a:latin typeface="Calibri"/>
              </a:rPr>
              <a:t>~$40,000 revenue · 5.3× ROAS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00016" y="1956816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Aggressive  (~41 cases/mo):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29984" y="1956816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065F46"/>
                </a:solidFill>
                <a:latin typeface="Calibri"/>
              </a:rPr>
              <a:t>~$164,000 revenue · 6.6× ROAS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35424" y="2468880"/>
            <a:ext cx="4407408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WHAT HAPPENS IN THE FIRST 90 DAYS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90288" y="2724912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37760" y="2734056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Day 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15584" y="2734056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Launch Google Ads — criminal defense + immigration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90288" y="3081528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37760" y="3090672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Day 14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15584" y="3090672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Website rebuild with above-fold CTAs + practice pages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90288" y="3438144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937760" y="3447287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Week 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15584" y="3447287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Complete GBP setup and legal directory listings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90288" y="3794760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37760" y="3803904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Week 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15584" y="3803904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Begin active Google review generation strategy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90288" y="4151376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937760" y="4160520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Month 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15584" y="4160520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Coaching kickoff — intake system + first hire plan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4425696"/>
            <a:ext cx="9144000" cy="402336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4320" y="4425696"/>
            <a:ext cx="8595360" cy="40233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 i="1">
                <a:solidFill>
                  <a:srgbClr val="8BADD0"/>
                </a:solidFill>
                <a:latin typeface="Calibri"/>
              </a:rPr>
              <a:t>"The clients are already searching. The expertise is already there. This is the system that makes sure they find each other."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4837176"/>
            <a:ext cx="1170432" cy="237744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Jacob Meissner | SMB Team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3 /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