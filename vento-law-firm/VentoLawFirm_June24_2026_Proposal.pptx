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960120"/>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92608" y="91440"/>
            <a:ext cx="8595360" cy="201168"/>
          </a:xfrm>
          <a:prstGeom prst="rect">
            <a:avLst/>
          </a:prstGeom>
          <a:noFill/>
        </p:spPr>
        <p:txBody>
          <a:bodyPr wrap="square"/>
          <a:lstStyle/>
          <a:p>
            <a:pPr algn="l"/>
            <a:r>
              <a:rPr sz="800" b="1" i="0">
                <a:solidFill>
                  <a:srgbClr val="F5C400"/>
                </a:solidFill>
                <a:latin typeface="Calibri"/>
              </a:rPr>
              <a:t>LAW FIRM GROWTH AUDIT  ·  VENTO LAW FIRM</a:t>
            </a:r>
          </a:p>
        </p:txBody>
      </p:sp>
      <p:sp>
        <p:nvSpPr>
          <p:cNvPr id="4" name="TextBox 3"/>
          <p:cNvSpPr txBox="1"/>
          <p:nvPr/>
        </p:nvSpPr>
        <p:spPr>
          <a:xfrm>
            <a:off x="292608" y="310896"/>
            <a:ext cx="8595360" cy="548640"/>
          </a:xfrm>
          <a:prstGeom prst="rect">
            <a:avLst/>
          </a:prstGeom>
          <a:noFill/>
        </p:spPr>
        <p:txBody>
          <a:bodyPr wrap="square"/>
          <a:lstStyle/>
          <a:p>
            <a:pPr algn="l"/>
            <a:r>
              <a:rPr sz="2400" b="1" i="0">
                <a:solidFill>
                  <a:srgbClr val="FFFFFF"/>
                </a:solidFill>
                <a:latin typeface="Calibri"/>
              </a:rPr>
              <a:t>Where Vento Law Firm Stands Today</a:t>
            </a:r>
          </a:p>
        </p:txBody>
      </p:sp>
      <p:sp>
        <p:nvSpPr>
          <p:cNvPr id="5" name="Rectangle 4"/>
          <p:cNvSpPr/>
          <p:nvPr/>
        </p:nvSpPr>
        <p:spPr>
          <a:xfrm>
            <a:off x="0" y="960120"/>
            <a:ext cx="146304" cy="3867912"/>
          </a:xfrm>
          <a:prstGeom prst="rect">
            <a:avLst/>
          </a:prstGeom>
          <a:solidFill>
            <a:srgbClr val="F5C40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6032" y="1005840"/>
            <a:ext cx="1298448" cy="841248"/>
          </a:xfrm>
          <a:prstGeom prst="rect">
            <a:avLst/>
          </a:prstGeom>
          <a:solidFill>
            <a:srgbClr val="C0392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56032" y="1005840"/>
            <a:ext cx="1298448" cy="566928"/>
          </a:xfrm>
          <a:prstGeom prst="rect">
            <a:avLst/>
          </a:prstGeom>
          <a:noFill/>
        </p:spPr>
        <p:txBody>
          <a:bodyPr wrap="square"/>
          <a:lstStyle/>
          <a:p>
            <a:pPr algn="ctr"/>
            <a:r>
              <a:rPr sz="2800" b="1" i="0">
                <a:solidFill>
                  <a:srgbClr val="FFFFFF"/>
                </a:solidFill>
                <a:latin typeface="Calibri"/>
              </a:rPr>
              <a:t>8</a:t>
            </a:r>
          </a:p>
        </p:txBody>
      </p:sp>
      <p:sp>
        <p:nvSpPr>
          <p:cNvPr id="8" name="TextBox 7"/>
          <p:cNvSpPr txBox="1"/>
          <p:nvPr/>
        </p:nvSpPr>
        <p:spPr>
          <a:xfrm>
            <a:off x="256032" y="1572768"/>
            <a:ext cx="1298448" cy="274320"/>
          </a:xfrm>
          <a:prstGeom prst="rect">
            <a:avLst/>
          </a:prstGeom>
          <a:noFill/>
        </p:spPr>
        <p:txBody>
          <a:bodyPr wrap="square"/>
          <a:lstStyle/>
          <a:p>
            <a:pPr algn="ctr"/>
            <a:r>
              <a:rPr sz="600" b="1" i="0">
                <a:solidFill>
                  <a:srgbClr val="FFFFFF"/>
                </a:solidFill>
                <a:latin typeface="Calibri"/>
              </a:rPr>
              <a:t>COMPETITIVE URGENCY</a:t>
            </a:r>
          </a:p>
        </p:txBody>
      </p:sp>
      <p:sp>
        <p:nvSpPr>
          <p:cNvPr id="9" name="Rectangle 8"/>
          <p:cNvSpPr/>
          <p:nvPr/>
        </p:nvSpPr>
        <p:spPr>
          <a:xfrm>
            <a:off x="1682496" y="1005840"/>
            <a:ext cx="804672" cy="164592"/>
          </a:xfrm>
          <a:prstGeom prst="rect">
            <a:avLst/>
          </a:prstGeom>
          <a:solidFill>
            <a:srgbClr val="C0392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682496" y="1170432"/>
            <a:ext cx="804672" cy="676656"/>
          </a:xfrm>
          <a:prstGeom prst="rect">
            <a:avLst/>
          </a:prstGeom>
          <a:solidFill>
            <a:srgbClr val="162947"/>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737360" y="1188720"/>
            <a:ext cx="694944" cy="237744"/>
          </a:xfrm>
          <a:prstGeom prst="rect">
            <a:avLst/>
          </a:prstGeom>
          <a:noFill/>
        </p:spPr>
        <p:txBody>
          <a:bodyPr wrap="square"/>
          <a:lstStyle/>
          <a:p>
            <a:pPr algn="l"/>
            <a:r>
              <a:rPr sz="800" b="1" i="0">
                <a:solidFill>
                  <a:srgbClr val="FFFFFF"/>
                </a:solidFill>
                <a:latin typeface="Calibri"/>
              </a:rPr>
              <a:t>Lead Generation</a:t>
            </a:r>
          </a:p>
        </p:txBody>
      </p:sp>
      <p:sp>
        <p:nvSpPr>
          <p:cNvPr id="12" name="TextBox 11"/>
          <p:cNvSpPr txBox="1"/>
          <p:nvPr/>
        </p:nvSpPr>
        <p:spPr>
          <a:xfrm>
            <a:off x="1737360" y="1417320"/>
            <a:ext cx="694944" cy="182880"/>
          </a:xfrm>
          <a:prstGeom prst="rect">
            <a:avLst/>
          </a:prstGeom>
          <a:noFill/>
        </p:spPr>
        <p:txBody>
          <a:bodyPr wrap="square"/>
          <a:lstStyle/>
          <a:p>
            <a:pPr algn="l"/>
            <a:r>
              <a:rPr sz="700" b="1" i="0">
                <a:solidFill>
                  <a:srgbClr val="C0392B"/>
                </a:solidFill>
                <a:latin typeface="Calibri"/>
              </a:rPr>
              <a:t>CRITICAL</a:t>
            </a:r>
          </a:p>
        </p:txBody>
      </p:sp>
      <p:sp>
        <p:nvSpPr>
          <p:cNvPr id="13" name="TextBox 12"/>
          <p:cNvSpPr txBox="1"/>
          <p:nvPr/>
        </p:nvSpPr>
        <p:spPr>
          <a:xfrm>
            <a:off x="1737360" y="1591056"/>
            <a:ext cx="694944" cy="237744"/>
          </a:xfrm>
          <a:prstGeom prst="rect">
            <a:avLst/>
          </a:prstGeom>
          <a:noFill/>
        </p:spPr>
        <p:txBody>
          <a:bodyPr wrap="square"/>
          <a:lstStyle/>
          <a:p>
            <a:pPr algn="l"/>
            <a:r>
              <a:rPr sz="700" b="0" i="0">
                <a:solidFill>
                  <a:srgbClr val="8BADD0"/>
                </a:solidFill>
                <a:latin typeface="Calibri"/>
              </a:rPr>
              <a:t>No paid ads ever run</a:t>
            </a:r>
          </a:p>
        </p:txBody>
      </p:sp>
      <p:sp>
        <p:nvSpPr>
          <p:cNvPr id="14" name="Rectangle 13"/>
          <p:cNvSpPr/>
          <p:nvPr/>
        </p:nvSpPr>
        <p:spPr>
          <a:xfrm>
            <a:off x="2542032" y="1005840"/>
            <a:ext cx="804672" cy="164592"/>
          </a:xfrm>
          <a:prstGeom prst="rect">
            <a:avLst/>
          </a:prstGeom>
          <a:solidFill>
            <a:srgbClr val="C0392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542032" y="1170432"/>
            <a:ext cx="804672" cy="676656"/>
          </a:xfrm>
          <a:prstGeom prst="rect">
            <a:avLst/>
          </a:prstGeom>
          <a:solidFill>
            <a:srgbClr val="162947"/>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596896" y="1188720"/>
            <a:ext cx="694944" cy="237744"/>
          </a:xfrm>
          <a:prstGeom prst="rect">
            <a:avLst/>
          </a:prstGeom>
          <a:noFill/>
        </p:spPr>
        <p:txBody>
          <a:bodyPr wrap="square"/>
          <a:lstStyle/>
          <a:p>
            <a:pPr algn="l"/>
            <a:r>
              <a:rPr sz="800" b="1" i="0">
                <a:solidFill>
                  <a:srgbClr val="FFFFFF"/>
                </a:solidFill>
                <a:latin typeface="Calibri"/>
              </a:rPr>
              <a:t>Intake</a:t>
            </a:r>
          </a:p>
        </p:txBody>
      </p:sp>
      <p:sp>
        <p:nvSpPr>
          <p:cNvPr id="17" name="TextBox 16"/>
          <p:cNvSpPr txBox="1"/>
          <p:nvPr/>
        </p:nvSpPr>
        <p:spPr>
          <a:xfrm>
            <a:off x="2596896" y="1417320"/>
            <a:ext cx="694944" cy="182880"/>
          </a:xfrm>
          <a:prstGeom prst="rect">
            <a:avLst/>
          </a:prstGeom>
          <a:noFill/>
        </p:spPr>
        <p:txBody>
          <a:bodyPr wrap="square"/>
          <a:lstStyle/>
          <a:p>
            <a:pPr algn="l"/>
            <a:r>
              <a:rPr sz="700" b="1" i="0">
                <a:solidFill>
                  <a:srgbClr val="C0392B"/>
                </a:solidFill>
                <a:latin typeface="Calibri"/>
              </a:rPr>
              <a:t>CRITICAL</a:t>
            </a:r>
          </a:p>
        </p:txBody>
      </p:sp>
      <p:sp>
        <p:nvSpPr>
          <p:cNvPr id="18" name="TextBox 17"/>
          <p:cNvSpPr txBox="1"/>
          <p:nvPr/>
        </p:nvSpPr>
        <p:spPr>
          <a:xfrm>
            <a:off x="2596896" y="1591056"/>
            <a:ext cx="694944" cy="237744"/>
          </a:xfrm>
          <a:prstGeom prst="rect">
            <a:avLst/>
          </a:prstGeom>
          <a:noFill/>
        </p:spPr>
        <p:txBody>
          <a:bodyPr wrap="square"/>
          <a:lstStyle/>
          <a:p>
            <a:pPr algn="l"/>
            <a:r>
              <a:rPr sz="700" b="0" i="0">
                <a:solidFill>
                  <a:srgbClr val="8BADD0"/>
                </a:solidFill>
                <a:latin typeface="Calibri"/>
              </a:rPr>
              <a:t>No after-hours coverage</a:t>
            </a:r>
          </a:p>
        </p:txBody>
      </p:sp>
      <p:sp>
        <p:nvSpPr>
          <p:cNvPr id="19" name="Rectangle 18"/>
          <p:cNvSpPr/>
          <p:nvPr/>
        </p:nvSpPr>
        <p:spPr>
          <a:xfrm>
            <a:off x="3401568" y="1005840"/>
            <a:ext cx="804672" cy="164592"/>
          </a:xfrm>
          <a:prstGeom prst="rect">
            <a:avLst/>
          </a:prstGeom>
          <a:solidFill>
            <a:srgbClr val="C0392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3401568" y="1170432"/>
            <a:ext cx="804672" cy="676656"/>
          </a:xfrm>
          <a:prstGeom prst="rect">
            <a:avLst/>
          </a:prstGeom>
          <a:solidFill>
            <a:srgbClr val="162947"/>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456432" y="1188720"/>
            <a:ext cx="694944" cy="237744"/>
          </a:xfrm>
          <a:prstGeom prst="rect">
            <a:avLst/>
          </a:prstGeom>
          <a:noFill/>
        </p:spPr>
        <p:txBody>
          <a:bodyPr wrap="square"/>
          <a:lstStyle/>
          <a:p>
            <a:pPr algn="l"/>
            <a:r>
              <a:rPr sz="800" b="1" i="0">
                <a:solidFill>
                  <a:srgbClr val="FFFFFF"/>
                </a:solidFill>
                <a:latin typeface="Calibri"/>
              </a:rPr>
              <a:t>Team</a:t>
            </a:r>
          </a:p>
        </p:txBody>
      </p:sp>
      <p:sp>
        <p:nvSpPr>
          <p:cNvPr id="22" name="TextBox 21"/>
          <p:cNvSpPr txBox="1"/>
          <p:nvPr/>
        </p:nvSpPr>
        <p:spPr>
          <a:xfrm>
            <a:off x="3456432" y="1417320"/>
            <a:ext cx="694944" cy="182880"/>
          </a:xfrm>
          <a:prstGeom prst="rect">
            <a:avLst/>
          </a:prstGeom>
          <a:noFill/>
        </p:spPr>
        <p:txBody>
          <a:bodyPr wrap="square"/>
          <a:lstStyle/>
          <a:p>
            <a:pPr algn="l"/>
            <a:r>
              <a:rPr sz="700" b="1" i="0">
                <a:solidFill>
                  <a:srgbClr val="C0392B"/>
                </a:solidFill>
                <a:latin typeface="Calibri"/>
              </a:rPr>
              <a:t>CRITICAL</a:t>
            </a:r>
          </a:p>
        </p:txBody>
      </p:sp>
      <p:sp>
        <p:nvSpPr>
          <p:cNvPr id="23" name="TextBox 22"/>
          <p:cNvSpPr txBox="1"/>
          <p:nvPr/>
        </p:nvSpPr>
        <p:spPr>
          <a:xfrm>
            <a:off x="3456432" y="1591056"/>
            <a:ext cx="694944" cy="237744"/>
          </a:xfrm>
          <a:prstGeom prst="rect">
            <a:avLst/>
          </a:prstGeom>
          <a:noFill/>
        </p:spPr>
        <p:txBody>
          <a:bodyPr wrap="square"/>
          <a:lstStyle/>
          <a:p>
            <a:pPr algn="l"/>
            <a:r>
              <a:rPr sz="700" b="0" i="0">
                <a:solidFill>
                  <a:srgbClr val="8BADD0"/>
                </a:solidFill>
                <a:latin typeface="Calibri"/>
              </a:rPr>
              <a:t>Solo, zero staff</a:t>
            </a:r>
          </a:p>
        </p:txBody>
      </p:sp>
      <p:sp>
        <p:nvSpPr>
          <p:cNvPr id="24" name="Rectangle 23"/>
          <p:cNvSpPr/>
          <p:nvPr/>
        </p:nvSpPr>
        <p:spPr>
          <a:xfrm>
            <a:off x="4261104" y="1005840"/>
            <a:ext cx="804672" cy="164592"/>
          </a:xfrm>
          <a:prstGeom prst="rect">
            <a:avLst/>
          </a:prstGeom>
          <a:solidFill>
            <a:srgbClr val="C0392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261104" y="1170432"/>
            <a:ext cx="804672" cy="676656"/>
          </a:xfrm>
          <a:prstGeom prst="rect">
            <a:avLst/>
          </a:prstGeom>
          <a:solidFill>
            <a:srgbClr val="162947"/>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315968" y="1188720"/>
            <a:ext cx="694944" cy="237744"/>
          </a:xfrm>
          <a:prstGeom prst="rect">
            <a:avLst/>
          </a:prstGeom>
          <a:noFill/>
        </p:spPr>
        <p:txBody>
          <a:bodyPr wrap="square"/>
          <a:lstStyle/>
          <a:p>
            <a:pPr algn="l"/>
            <a:r>
              <a:rPr sz="800" b="1" i="0">
                <a:solidFill>
                  <a:srgbClr val="FFFFFF"/>
                </a:solidFill>
                <a:latin typeface="Calibri"/>
              </a:rPr>
              <a:t>Profit Plan</a:t>
            </a:r>
          </a:p>
        </p:txBody>
      </p:sp>
      <p:sp>
        <p:nvSpPr>
          <p:cNvPr id="27" name="TextBox 26"/>
          <p:cNvSpPr txBox="1"/>
          <p:nvPr/>
        </p:nvSpPr>
        <p:spPr>
          <a:xfrm>
            <a:off x="4315968" y="1417320"/>
            <a:ext cx="694944" cy="182880"/>
          </a:xfrm>
          <a:prstGeom prst="rect">
            <a:avLst/>
          </a:prstGeom>
          <a:noFill/>
        </p:spPr>
        <p:txBody>
          <a:bodyPr wrap="square"/>
          <a:lstStyle/>
          <a:p>
            <a:pPr algn="l"/>
            <a:r>
              <a:rPr sz="700" b="1" i="0">
                <a:solidFill>
                  <a:srgbClr val="C0392B"/>
                </a:solidFill>
                <a:latin typeface="Calibri"/>
              </a:rPr>
              <a:t>CRITICAL</a:t>
            </a:r>
          </a:p>
        </p:txBody>
      </p:sp>
      <p:sp>
        <p:nvSpPr>
          <p:cNvPr id="28" name="TextBox 27"/>
          <p:cNvSpPr txBox="1"/>
          <p:nvPr/>
        </p:nvSpPr>
        <p:spPr>
          <a:xfrm>
            <a:off x="4315968" y="1591056"/>
            <a:ext cx="694944" cy="237744"/>
          </a:xfrm>
          <a:prstGeom prst="rect">
            <a:avLst/>
          </a:prstGeom>
          <a:noFill/>
        </p:spPr>
        <p:txBody>
          <a:bodyPr wrap="square"/>
          <a:lstStyle/>
          <a:p>
            <a:pPr algn="l"/>
            <a:r>
              <a:rPr sz="700" b="0" i="0">
                <a:solidFill>
                  <a:srgbClr val="8BADD0"/>
                </a:solidFill>
                <a:latin typeface="Calibri"/>
              </a:rPr>
              <a:t>Revenue contracting</a:t>
            </a:r>
          </a:p>
        </p:txBody>
      </p:sp>
      <p:sp>
        <p:nvSpPr>
          <p:cNvPr id="29" name="TextBox 28"/>
          <p:cNvSpPr txBox="1"/>
          <p:nvPr/>
        </p:nvSpPr>
        <p:spPr>
          <a:xfrm>
            <a:off x="256032" y="1956816"/>
            <a:ext cx="4846320" cy="219456"/>
          </a:xfrm>
          <a:prstGeom prst="rect">
            <a:avLst/>
          </a:prstGeom>
          <a:noFill/>
        </p:spPr>
        <p:txBody>
          <a:bodyPr wrap="square"/>
          <a:lstStyle/>
          <a:p>
            <a:pPr algn="l"/>
            <a:r>
              <a:rPr sz="800" b="1" i="0">
                <a:solidFill>
                  <a:srgbClr val="F5C400"/>
                </a:solidFill>
                <a:latin typeface="Calibri"/>
              </a:rPr>
              <a:t>KEY FINDINGS</a:t>
            </a:r>
          </a:p>
        </p:txBody>
      </p:sp>
      <p:sp>
        <p:nvSpPr>
          <p:cNvPr id="30" name="Rectangle 29"/>
          <p:cNvSpPr/>
          <p:nvPr/>
        </p:nvSpPr>
        <p:spPr>
          <a:xfrm>
            <a:off x="256032" y="2212848"/>
            <a:ext cx="4846320" cy="566928"/>
          </a:xfrm>
          <a:prstGeom prst="rect">
            <a:avLst/>
          </a:prstGeom>
          <a:solidFill>
            <a:srgbClr val="2C101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365760" y="2386584"/>
            <a:ext cx="219456" cy="219456"/>
          </a:xfrm>
          <a:prstGeom prst="rect">
            <a:avLst/>
          </a:prstGeom>
          <a:solidFill>
            <a:srgbClr val="C0392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65760" y="2368296"/>
            <a:ext cx="219456" cy="237744"/>
          </a:xfrm>
          <a:prstGeom prst="rect">
            <a:avLst/>
          </a:prstGeom>
          <a:noFill/>
        </p:spPr>
        <p:txBody>
          <a:bodyPr wrap="square"/>
          <a:lstStyle/>
          <a:p>
            <a:pPr algn="ctr"/>
            <a:r>
              <a:rPr sz="900" b="1" i="0">
                <a:solidFill>
                  <a:srgbClr val="FFFFFF"/>
                </a:solidFill>
                <a:latin typeface="Calibri"/>
              </a:rPr>
              <a:t>✕</a:t>
            </a:r>
          </a:p>
        </p:txBody>
      </p:sp>
      <p:sp>
        <p:nvSpPr>
          <p:cNvPr id="33" name="TextBox 32"/>
          <p:cNvSpPr txBox="1"/>
          <p:nvPr/>
        </p:nvSpPr>
        <p:spPr>
          <a:xfrm>
            <a:off x="676656" y="2286000"/>
            <a:ext cx="4352544" cy="420624"/>
          </a:xfrm>
          <a:prstGeom prst="rect">
            <a:avLst/>
          </a:prstGeom>
          <a:noFill/>
        </p:spPr>
        <p:txBody>
          <a:bodyPr wrap="square"/>
          <a:lstStyle/>
          <a:p>
            <a:pPr algn="l"/>
            <a:r>
              <a:rPr sz="1000" b="0" i="0">
                <a:solidFill>
                  <a:srgbClr val="F0BABA"/>
                </a:solidFill>
                <a:latin typeface="Calibri"/>
              </a:rPr>
              <a:t>Case volume fell from 25 to 10 active matters — revenue crisis in progress</a:t>
            </a:r>
          </a:p>
        </p:txBody>
      </p:sp>
      <p:sp>
        <p:nvSpPr>
          <p:cNvPr id="34" name="Rectangle 33"/>
          <p:cNvSpPr/>
          <p:nvPr/>
        </p:nvSpPr>
        <p:spPr>
          <a:xfrm>
            <a:off x="256032" y="2834640"/>
            <a:ext cx="4846320" cy="566928"/>
          </a:xfrm>
          <a:prstGeom prst="rect">
            <a:avLst/>
          </a:prstGeom>
          <a:solidFill>
            <a:srgbClr val="2C101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365760" y="3008376"/>
            <a:ext cx="219456" cy="219456"/>
          </a:xfrm>
          <a:prstGeom prst="rect">
            <a:avLst/>
          </a:prstGeom>
          <a:solidFill>
            <a:srgbClr val="C0392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365760" y="2990088"/>
            <a:ext cx="219456" cy="237744"/>
          </a:xfrm>
          <a:prstGeom prst="rect">
            <a:avLst/>
          </a:prstGeom>
          <a:noFill/>
        </p:spPr>
        <p:txBody>
          <a:bodyPr wrap="square"/>
          <a:lstStyle/>
          <a:p>
            <a:pPr algn="ctr"/>
            <a:r>
              <a:rPr sz="900" b="1" i="0">
                <a:solidFill>
                  <a:srgbClr val="FFFFFF"/>
                </a:solidFill>
                <a:latin typeface="Calibri"/>
              </a:rPr>
              <a:t>✕</a:t>
            </a:r>
          </a:p>
        </p:txBody>
      </p:sp>
      <p:sp>
        <p:nvSpPr>
          <p:cNvPr id="37" name="TextBox 36"/>
          <p:cNvSpPr txBox="1"/>
          <p:nvPr/>
        </p:nvSpPr>
        <p:spPr>
          <a:xfrm>
            <a:off x="676656" y="2907792"/>
            <a:ext cx="4352544" cy="420624"/>
          </a:xfrm>
          <a:prstGeom prst="rect">
            <a:avLst/>
          </a:prstGeom>
          <a:noFill/>
        </p:spPr>
        <p:txBody>
          <a:bodyPr wrap="square"/>
          <a:lstStyle/>
          <a:p>
            <a:pPr algn="l"/>
            <a:r>
              <a:rPr sz="1000" b="0" i="0">
                <a:solidFill>
                  <a:srgbClr val="F0BABA"/>
                </a:solidFill>
                <a:latin typeface="Calibri"/>
              </a:rPr>
              <a:t>No paid ads ever run; invisible in local search for every tested Tampa keyword</a:t>
            </a:r>
          </a:p>
        </p:txBody>
      </p:sp>
      <p:sp>
        <p:nvSpPr>
          <p:cNvPr id="38" name="Rectangle 37"/>
          <p:cNvSpPr/>
          <p:nvPr/>
        </p:nvSpPr>
        <p:spPr>
          <a:xfrm>
            <a:off x="256032" y="3456432"/>
            <a:ext cx="4846320" cy="566928"/>
          </a:xfrm>
          <a:prstGeom prst="rect">
            <a:avLst/>
          </a:prstGeom>
          <a:solidFill>
            <a:srgbClr val="2C101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365760" y="3630168"/>
            <a:ext cx="219456" cy="219456"/>
          </a:xfrm>
          <a:prstGeom prst="rect">
            <a:avLst/>
          </a:prstGeom>
          <a:solidFill>
            <a:srgbClr val="C0392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65760" y="3611879"/>
            <a:ext cx="219456" cy="237744"/>
          </a:xfrm>
          <a:prstGeom prst="rect">
            <a:avLst/>
          </a:prstGeom>
          <a:noFill/>
        </p:spPr>
        <p:txBody>
          <a:bodyPr wrap="square"/>
          <a:lstStyle/>
          <a:p>
            <a:pPr algn="ctr"/>
            <a:r>
              <a:rPr sz="900" b="1" i="0">
                <a:solidFill>
                  <a:srgbClr val="FFFFFF"/>
                </a:solidFill>
                <a:latin typeface="Calibri"/>
              </a:rPr>
              <a:t>✕</a:t>
            </a:r>
          </a:p>
        </p:txBody>
      </p:sp>
      <p:sp>
        <p:nvSpPr>
          <p:cNvPr id="41" name="TextBox 40"/>
          <p:cNvSpPr txBox="1"/>
          <p:nvPr/>
        </p:nvSpPr>
        <p:spPr>
          <a:xfrm>
            <a:off x="676656" y="3529584"/>
            <a:ext cx="4352544" cy="420624"/>
          </a:xfrm>
          <a:prstGeom prst="rect">
            <a:avLst/>
          </a:prstGeom>
          <a:noFill/>
        </p:spPr>
        <p:txBody>
          <a:bodyPr wrap="square"/>
          <a:lstStyle/>
          <a:p>
            <a:pPr algn="l"/>
            <a:r>
              <a:rPr sz="1000" b="0" i="0">
                <a:solidFill>
                  <a:srgbClr val="F0BABA"/>
                </a:solidFill>
                <a:latin typeface="Calibri"/>
              </a:rPr>
              <a:t>32 reviews — below every competitor with local pack or LSA visibility</a:t>
            </a:r>
          </a:p>
        </p:txBody>
      </p:sp>
      <p:sp>
        <p:nvSpPr>
          <p:cNvPr id="42" name="Rectangle 41"/>
          <p:cNvSpPr/>
          <p:nvPr/>
        </p:nvSpPr>
        <p:spPr>
          <a:xfrm>
            <a:off x="256032" y="4078224"/>
            <a:ext cx="4846320" cy="566928"/>
          </a:xfrm>
          <a:prstGeom prst="rect">
            <a:avLst/>
          </a:prstGeom>
          <a:solidFill>
            <a:srgbClr val="0C281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365760" y="4251960"/>
            <a:ext cx="219456" cy="219456"/>
          </a:xfrm>
          <a:prstGeom prst="rect">
            <a:avLst/>
          </a:prstGeom>
          <a:solidFill>
            <a:srgbClr val="16A34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365760" y="4233672"/>
            <a:ext cx="219456" cy="237744"/>
          </a:xfrm>
          <a:prstGeom prst="rect">
            <a:avLst/>
          </a:prstGeom>
          <a:noFill/>
        </p:spPr>
        <p:txBody>
          <a:bodyPr wrap="square"/>
          <a:lstStyle/>
          <a:p>
            <a:pPr algn="ctr"/>
            <a:r>
              <a:rPr sz="900" b="1" i="0">
                <a:solidFill>
                  <a:srgbClr val="FFFFFF"/>
                </a:solidFill>
                <a:latin typeface="Calibri"/>
              </a:rPr>
              <a:t>✓</a:t>
            </a:r>
          </a:p>
        </p:txBody>
      </p:sp>
      <p:sp>
        <p:nvSpPr>
          <p:cNvPr id="45" name="TextBox 44"/>
          <p:cNvSpPr txBox="1"/>
          <p:nvPr/>
        </p:nvSpPr>
        <p:spPr>
          <a:xfrm>
            <a:off x="676656" y="4151376"/>
            <a:ext cx="4352544" cy="420624"/>
          </a:xfrm>
          <a:prstGeom prst="rect">
            <a:avLst/>
          </a:prstGeom>
          <a:noFill/>
        </p:spPr>
        <p:txBody>
          <a:bodyPr wrap="square"/>
          <a:lstStyle/>
          <a:p>
            <a:pPr algn="l"/>
            <a:r>
              <a:rPr sz="1000" b="0" i="0">
                <a:solidFill>
                  <a:srgbClr val="86EFAC"/>
                </a:solidFill>
                <a:latin typeface="Calibri"/>
              </a:rPr>
              <a:t>5.0 rating, bilingual English/Spanish, Rising Stars 2026 — ready to scale</a:t>
            </a:r>
          </a:p>
        </p:txBody>
      </p:sp>
      <p:sp>
        <p:nvSpPr>
          <p:cNvPr id="46" name="Rectangle 45"/>
          <p:cNvSpPr/>
          <p:nvPr/>
        </p:nvSpPr>
        <p:spPr>
          <a:xfrm>
            <a:off x="5257800" y="960120"/>
            <a:ext cx="3886200" cy="3867912"/>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5257800" y="1024128"/>
            <a:ext cx="3886200" cy="694944"/>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5257800" y="1024128"/>
            <a:ext cx="128016" cy="694944"/>
          </a:xfrm>
          <a:prstGeom prst="rect">
            <a:avLst/>
          </a:prstGeom>
          <a:solidFill>
            <a:srgbClr val="F5C40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5486400" y="1042415"/>
            <a:ext cx="3474720" cy="201168"/>
          </a:xfrm>
          <a:prstGeom prst="rect">
            <a:avLst/>
          </a:prstGeom>
          <a:noFill/>
        </p:spPr>
        <p:txBody>
          <a:bodyPr wrap="square"/>
          <a:lstStyle/>
          <a:p>
            <a:pPr algn="l"/>
            <a:r>
              <a:rPr sz="800" b="1" i="0">
                <a:solidFill>
                  <a:srgbClr val="F5C400"/>
                </a:solidFill>
                <a:latin typeface="Calibri"/>
              </a:rPr>
              <a:t>YOU ARE HERE</a:t>
            </a:r>
          </a:p>
        </p:txBody>
      </p:sp>
      <p:sp>
        <p:nvSpPr>
          <p:cNvPr id="50" name="TextBox 49"/>
          <p:cNvSpPr txBox="1"/>
          <p:nvPr/>
        </p:nvSpPr>
        <p:spPr>
          <a:xfrm>
            <a:off x="5486400" y="1243584"/>
            <a:ext cx="3474720" cy="402336"/>
          </a:xfrm>
          <a:prstGeom prst="rect">
            <a:avLst/>
          </a:prstGeom>
          <a:noFill/>
        </p:spPr>
        <p:txBody>
          <a:bodyPr wrap="square"/>
          <a:lstStyle/>
          <a:p>
            <a:pPr algn="l"/>
            <a:r>
              <a:rPr sz="1000" b="1" i="0">
                <a:solidFill>
                  <a:srgbClr val="FFFFFF"/>
                </a:solidFill>
                <a:latin typeface="Calibri"/>
              </a:rPr>
              <a:t>Stage 3: Solo Practitioner  →  Stage 6: Law Firm Owner</a:t>
            </a:r>
          </a:p>
        </p:txBody>
      </p:sp>
      <p:sp>
        <p:nvSpPr>
          <p:cNvPr id="51" name="TextBox 50"/>
          <p:cNvSpPr txBox="1"/>
          <p:nvPr/>
        </p:nvSpPr>
        <p:spPr>
          <a:xfrm>
            <a:off x="5394960" y="1920240"/>
            <a:ext cx="3566160" cy="219456"/>
          </a:xfrm>
          <a:prstGeom prst="rect">
            <a:avLst/>
          </a:prstGeom>
          <a:noFill/>
        </p:spPr>
        <p:txBody>
          <a:bodyPr wrap="square"/>
          <a:lstStyle/>
          <a:p>
            <a:pPr algn="l"/>
            <a:r>
              <a:rPr sz="800" b="1" i="0">
                <a:solidFill>
                  <a:srgbClr val="64748B"/>
                </a:solidFill>
                <a:latin typeface="Calibri"/>
              </a:rPr>
              <a:t>COMPETITOR LANDSCAPE</a:t>
            </a:r>
          </a:p>
        </p:txBody>
      </p:sp>
      <p:sp>
        <p:nvSpPr>
          <p:cNvPr id="52" name="Rectangle 51"/>
          <p:cNvSpPr/>
          <p:nvPr/>
        </p:nvSpPr>
        <p:spPr>
          <a:xfrm>
            <a:off x="5257800" y="2176272"/>
            <a:ext cx="3886200" cy="310896"/>
          </a:xfrm>
          <a:prstGeom prst="rect">
            <a:avLst/>
          </a:prstGeom>
          <a:solidFill>
            <a:srgbClr val="F0F4F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5413248" y="2221991"/>
            <a:ext cx="1828800" cy="219456"/>
          </a:xfrm>
          <a:prstGeom prst="rect">
            <a:avLst/>
          </a:prstGeom>
          <a:noFill/>
        </p:spPr>
        <p:txBody>
          <a:bodyPr wrap="square"/>
          <a:lstStyle/>
          <a:p>
            <a:pPr algn="l"/>
            <a:r>
              <a:rPr sz="800" b="0" i="0">
                <a:solidFill>
                  <a:srgbClr val="1E293B"/>
                </a:solidFill>
                <a:latin typeface="Calibri"/>
              </a:rPr>
              <a:t>Daniel J. Fernandez, P.A.</a:t>
            </a:r>
          </a:p>
        </p:txBody>
      </p:sp>
      <p:sp>
        <p:nvSpPr>
          <p:cNvPr id="54" name="TextBox 53"/>
          <p:cNvSpPr txBox="1"/>
          <p:nvPr/>
        </p:nvSpPr>
        <p:spPr>
          <a:xfrm>
            <a:off x="7260336" y="2221991"/>
            <a:ext cx="914400" cy="219456"/>
          </a:xfrm>
          <a:prstGeom prst="rect">
            <a:avLst/>
          </a:prstGeom>
          <a:noFill/>
        </p:spPr>
        <p:txBody>
          <a:bodyPr wrap="square"/>
          <a:lstStyle/>
          <a:p>
            <a:pPr algn="l"/>
            <a:r>
              <a:rPr sz="800" b="0" i="0">
                <a:solidFill>
                  <a:srgbClr val="16A34A"/>
                </a:solidFill>
                <a:latin typeface="Calibri"/>
              </a:rPr>
              <a:t>570 reviews</a:t>
            </a:r>
          </a:p>
        </p:txBody>
      </p:sp>
      <p:sp>
        <p:nvSpPr>
          <p:cNvPr id="55" name="TextBox 54"/>
          <p:cNvSpPr txBox="1"/>
          <p:nvPr/>
        </p:nvSpPr>
        <p:spPr>
          <a:xfrm>
            <a:off x="8193024" y="2240279"/>
            <a:ext cx="822960" cy="201168"/>
          </a:xfrm>
          <a:prstGeom prst="rect">
            <a:avLst/>
          </a:prstGeom>
          <a:noFill/>
        </p:spPr>
        <p:txBody>
          <a:bodyPr wrap="square"/>
          <a:lstStyle/>
          <a:p>
            <a:pPr algn="l"/>
            <a:r>
              <a:rPr sz="600" b="0" i="0">
                <a:solidFill>
                  <a:srgbClr val="64748B"/>
                </a:solidFill>
                <a:latin typeface="Calibri"/>
              </a:rPr>
              <a:t>Paid ads · 43 yrs · courthouse</a:t>
            </a:r>
          </a:p>
        </p:txBody>
      </p:sp>
      <p:sp>
        <p:nvSpPr>
          <p:cNvPr id="56" name="Rectangle 55"/>
          <p:cNvSpPr/>
          <p:nvPr/>
        </p:nvSpPr>
        <p:spPr>
          <a:xfrm>
            <a:off x="5257800" y="2523744"/>
            <a:ext cx="3886200" cy="310896"/>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5413248" y="2569463"/>
            <a:ext cx="1828800" cy="219456"/>
          </a:xfrm>
          <a:prstGeom prst="rect">
            <a:avLst/>
          </a:prstGeom>
          <a:noFill/>
        </p:spPr>
        <p:txBody>
          <a:bodyPr wrap="square"/>
          <a:lstStyle/>
          <a:p>
            <a:pPr algn="l"/>
            <a:r>
              <a:rPr sz="800" b="0" i="0">
                <a:solidFill>
                  <a:srgbClr val="1E293B"/>
                </a:solidFill>
                <a:latin typeface="Calibri"/>
              </a:rPr>
              <a:t>Sammis Law Firm</a:t>
            </a:r>
          </a:p>
        </p:txBody>
      </p:sp>
      <p:sp>
        <p:nvSpPr>
          <p:cNvPr id="58" name="TextBox 57"/>
          <p:cNvSpPr txBox="1"/>
          <p:nvPr/>
        </p:nvSpPr>
        <p:spPr>
          <a:xfrm>
            <a:off x="7260336" y="2569463"/>
            <a:ext cx="914400" cy="219456"/>
          </a:xfrm>
          <a:prstGeom prst="rect">
            <a:avLst/>
          </a:prstGeom>
          <a:noFill/>
        </p:spPr>
        <p:txBody>
          <a:bodyPr wrap="square"/>
          <a:lstStyle/>
          <a:p>
            <a:pPr algn="l"/>
            <a:r>
              <a:rPr sz="800" b="0" i="0">
                <a:solidFill>
                  <a:srgbClr val="16A34A"/>
                </a:solidFill>
                <a:latin typeface="Calibri"/>
              </a:rPr>
              <a:t>161 reviews</a:t>
            </a:r>
          </a:p>
        </p:txBody>
      </p:sp>
      <p:sp>
        <p:nvSpPr>
          <p:cNvPr id="59" name="TextBox 58"/>
          <p:cNvSpPr txBox="1"/>
          <p:nvPr/>
        </p:nvSpPr>
        <p:spPr>
          <a:xfrm>
            <a:off x="8193024" y="2587751"/>
            <a:ext cx="822960" cy="201168"/>
          </a:xfrm>
          <a:prstGeom prst="rect">
            <a:avLst/>
          </a:prstGeom>
          <a:noFill/>
        </p:spPr>
        <p:txBody>
          <a:bodyPr wrap="square"/>
          <a:lstStyle/>
          <a:p>
            <a:pPr algn="l"/>
            <a:r>
              <a:rPr sz="600" b="0" i="0">
                <a:solidFill>
                  <a:srgbClr val="64748B"/>
                </a:solidFill>
                <a:latin typeface="Calibri"/>
              </a:rPr>
              <a:t>6 attys · 3 offices · LSA</a:t>
            </a:r>
          </a:p>
        </p:txBody>
      </p:sp>
      <p:sp>
        <p:nvSpPr>
          <p:cNvPr id="60" name="Rectangle 59"/>
          <p:cNvSpPr/>
          <p:nvPr/>
        </p:nvSpPr>
        <p:spPr>
          <a:xfrm>
            <a:off x="5257800" y="2871216"/>
            <a:ext cx="3886200" cy="310896"/>
          </a:xfrm>
          <a:prstGeom prst="rect">
            <a:avLst/>
          </a:prstGeom>
          <a:solidFill>
            <a:srgbClr val="F0F4F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5413248" y="2916936"/>
            <a:ext cx="1828800" cy="219456"/>
          </a:xfrm>
          <a:prstGeom prst="rect">
            <a:avLst/>
          </a:prstGeom>
          <a:noFill/>
        </p:spPr>
        <p:txBody>
          <a:bodyPr wrap="square"/>
          <a:lstStyle/>
          <a:p>
            <a:pPr algn="l"/>
            <a:r>
              <a:rPr sz="800" b="0" i="0">
                <a:solidFill>
                  <a:srgbClr val="1E293B"/>
                </a:solidFill>
                <a:latin typeface="Calibri"/>
              </a:rPr>
              <a:t>Hersem Law</a:t>
            </a:r>
          </a:p>
        </p:txBody>
      </p:sp>
      <p:sp>
        <p:nvSpPr>
          <p:cNvPr id="62" name="TextBox 61"/>
          <p:cNvSpPr txBox="1"/>
          <p:nvPr/>
        </p:nvSpPr>
        <p:spPr>
          <a:xfrm>
            <a:off x="7260336" y="2916936"/>
            <a:ext cx="914400" cy="219456"/>
          </a:xfrm>
          <a:prstGeom prst="rect">
            <a:avLst/>
          </a:prstGeom>
          <a:noFill/>
        </p:spPr>
        <p:txBody>
          <a:bodyPr wrap="square"/>
          <a:lstStyle/>
          <a:p>
            <a:pPr algn="l"/>
            <a:r>
              <a:rPr sz="800" b="0" i="0">
                <a:solidFill>
                  <a:srgbClr val="16A34A"/>
                </a:solidFill>
                <a:latin typeface="Calibri"/>
              </a:rPr>
              <a:t>98 reviews</a:t>
            </a:r>
          </a:p>
        </p:txBody>
      </p:sp>
      <p:sp>
        <p:nvSpPr>
          <p:cNvPr id="63" name="TextBox 62"/>
          <p:cNvSpPr txBox="1"/>
          <p:nvPr/>
        </p:nvSpPr>
        <p:spPr>
          <a:xfrm>
            <a:off x="8193024" y="2935224"/>
            <a:ext cx="822960" cy="201168"/>
          </a:xfrm>
          <a:prstGeom prst="rect">
            <a:avLst/>
          </a:prstGeom>
          <a:noFill/>
        </p:spPr>
        <p:txBody>
          <a:bodyPr wrap="square"/>
          <a:lstStyle/>
          <a:p>
            <a:pPr algn="l"/>
            <a:r>
              <a:rPr sz="600" b="0" i="0">
                <a:solidFill>
                  <a:srgbClr val="64748B"/>
                </a:solidFill>
                <a:latin typeface="Calibri"/>
              </a:rPr>
              <a:t>Best DUI Tampa · 5 yrs</a:t>
            </a:r>
          </a:p>
        </p:txBody>
      </p:sp>
      <p:sp>
        <p:nvSpPr>
          <p:cNvPr id="64" name="Rectangle 63"/>
          <p:cNvSpPr/>
          <p:nvPr/>
        </p:nvSpPr>
        <p:spPr>
          <a:xfrm>
            <a:off x="5257800" y="3218688"/>
            <a:ext cx="3886200" cy="310896"/>
          </a:xfrm>
          <a:prstGeom prst="rect">
            <a:avLst/>
          </a:prstGeom>
          <a:solidFill>
            <a:srgbClr val="FFF0F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ectangle 64"/>
          <p:cNvSpPr/>
          <p:nvPr/>
        </p:nvSpPr>
        <p:spPr>
          <a:xfrm>
            <a:off x="5257800" y="3218688"/>
            <a:ext cx="91440" cy="310896"/>
          </a:xfrm>
          <a:prstGeom prst="rect">
            <a:avLst/>
          </a:prstGeom>
          <a:solidFill>
            <a:srgbClr val="C0392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5413248" y="3264408"/>
            <a:ext cx="1828800" cy="219456"/>
          </a:xfrm>
          <a:prstGeom prst="rect">
            <a:avLst/>
          </a:prstGeom>
          <a:noFill/>
        </p:spPr>
        <p:txBody>
          <a:bodyPr wrap="square"/>
          <a:lstStyle/>
          <a:p>
            <a:pPr algn="l"/>
            <a:r>
              <a:rPr sz="900" b="1" i="0">
                <a:solidFill>
                  <a:srgbClr val="C0392B"/>
                </a:solidFill>
                <a:latin typeface="Calibri"/>
              </a:rPr>
              <a:t>Vento Law Firm</a:t>
            </a:r>
          </a:p>
        </p:txBody>
      </p:sp>
      <p:sp>
        <p:nvSpPr>
          <p:cNvPr id="67" name="TextBox 66"/>
          <p:cNvSpPr txBox="1"/>
          <p:nvPr/>
        </p:nvSpPr>
        <p:spPr>
          <a:xfrm>
            <a:off x="7260336" y="3264408"/>
            <a:ext cx="914400" cy="219456"/>
          </a:xfrm>
          <a:prstGeom prst="rect">
            <a:avLst/>
          </a:prstGeom>
          <a:noFill/>
        </p:spPr>
        <p:txBody>
          <a:bodyPr wrap="square"/>
          <a:lstStyle/>
          <a:p>
            <a:pPr algn="l"/>
            <a:r>
              <a:rPr sz="800" b="1" i="0">
                <a:solidFill>
                  <a:srgbClr val="C0392B"/>
                </a:solidFill>
                <a:latin typeface="Calibri"/>
              </a:rPr>
              <a:t>32 reviews</a:t>
            </a:r>
          </a:p>
        </p:txBody>
      </p:sp>
      <p:sp>
        <p:nvSpPr>
          <p:cNvPr id="68" name="TextBox 67"/>
          <p:cNvSpPr txBox="1"/>
          <p:nvPr/>
        </p:nvSpPr>
        <p:spPr>
          <a:xfrm>
            <a:off x="8193024" y="3282696"/>
            <a:ext cx="822960" cy="201168"/>
          </a:xfrm>
          <a:prstGeom prst="rect">
            <a:avLst/>
          </a:prstGeom>
          <a:noFill/>
        </p:spPr>
        <p:txBody>
          <a:bodyPr wrap="square"/>
          <a:lstStyle/>
          <a:p>
            <a:pPr algn="l"/>
            <a:r>
              <a:rPr sz="600" b="0" i="0">
                <a:solidFill>
                  <a:srgbClr val="64748B"/>
                </a:solidFill>
                <a:latin typeface="Calibri"/>
              </a:rPr>
              <a:t>← You are here</a:t>
            </a:r>
          </a:p>
        </p:txBody>
      </p:sp>
      <p:sp>
        <p:nvSpPr>
          <p:cNvPr id="69" name="Rectangle 68"/>
          <p:cNvSpPr/>
          <p:nvPr/>
        </p:nvSpPr>
        <p:spPr>
          <a:xfrm>
            <a:off x="0" y="4828032"/>
            <a:ext cx="9144000" cy="320040"/>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0" name="Picture 69" descr="smb_team_logo.png"/>
          <p:cNvPicPr>
            <a:picLocks noChangeAspect="1"/>
          </p:cNvPicPr>
          <p:nvPr/>
        </p:nvPicPr>
        <p:blipFill>
          <a:blip r:embed="rId2"/>
          <a:stretch>
            <a:fillRect/>
          </a:stretch>
        </p:blipFill>
        <p:spPr>
          <a:xfrm>
            <a:off x="201168" y="4837176"/>
            <a:ext cx="1170432" cy="237744"/>
          </a:xfrm>
          <a:prstGeom prst="rect">
            <a:avLst/>
          </a:prstGeom>
        </p:spPr>
      </p:pic>
      <p:sp>
        <p:nvSpPr>
          <p:cNvPr id="71" name="TextBox 70"/>
          <p:cNvSpPr txBox="1"/>
          <p:nvPr/>
        </p:nvSpPr>
        <p:spPr>
          <a:xfrm>
            <a:off x="1609344" y="4837176"/>
            <a:ext cx="5303520" cy="274320"/>
          </a:xfrm>
          <a:prstGeom prst="rect">
            <a:avLst/>
          </a:prstGeom>
          <a:noFill/>
        </p:spPr>
        <p:txBody>
          <a:bodyPr wrap="square"/>
          <a:lstStyle/>
          <a:p>
            <a:pPr algn="l"/>
            <a:r>
              <a:rPr sz="800" b="0" i="0">
                <a:solidFill>
                  <a:srgbClr val="5A7A9A"/>
                </a:solidFill>
                <a:latin typeface="Calibri"/>
              </a:rPr>
              <a:t>CONFIDENTIAL  ·  Prepared by Nick Holderman | SMB Team</a:t>
            </a:r>
          </a:p>
        </p:txBody>
      </p:sp>
      <p:sp>
        <p:nvSpPr>
          <p:cNvPr id="72" name="TextBox 71"/>
          <p:cNvSpPr txBox="1"/>
          <p:nvPr/>
        </p:nvSpPr>
        <p:spPr>
          <a:xfrm>
            <a:off x="8138160" y="4837176"/>
            <a:ext cx="786384" cy="274320"/>
          </a:xfrm>
          <a:prstGeom prst="rect">
            <a:avLst/>
          </a:prstGeom>
          <a:noFill/>
        </p:spPr>
        <p:txBody>
          <a:bodyPr wrap="square"/>
          <a:lstStyle/>
          <a:p>
            <a:pPr algn="r"/>
            <a:r>
              <a:rPr sz="800" b="0" i="0">
                <a:solidFill>
                  <a:srgbClr val="5A7A9A"/>
                </a:solidFill>
                <a:latin typeface="Calibri"/>
              </a:rPr>
              <a:t>1 / 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960120"/>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92608" y="91440"/>
            <a:ext cx="8595360" cy="201168"/>
          </a:xfrm>
          <a:prstGeom prst="rect">
            <a:avLst/>
          </a:prstGeom>
          <a:noFill/>
        </p:spPr>
        <p:txBody>
          <a:bodyPr wrap="square"/>
          <a:lstStyle/>
          <a:p>
            <a:pPr algn="l"/>
            <a:r>
              <a:rPr sz="800" b="1" i="0">
                <a:solidFill>
                  <a:srgbClr val="F5C400"/>
                </a:solidFill>
                <a:latin typeface="Calibri"/>
              </a:rPr>
              <a:t>LAW FIRM GROWTH AUDIT  ·  VENTO LAW FIRM</a:t>
            </a:r>
          </a:p>
        </p:txBody>
      </p:sp>
      <p:sp>
        <p:nvSpPr>
          <p:cNvPr id="4" name="TextBox 3"/>
          <p:cNvSpPr txBox="1"/>
          <p:nvPr/>
        </p:nvSpPr>
        <p:spPr>
          <a:xfrm>
            <a:off x="292608" y="310896"/>
            <a:ext cx="8595360" cy="548640"/>
          </a:xfrm>
          <a:prstGeom prst="rect">
            <a:avLst/>
          </a:prstGeom>
          <a:noFill/>
        </p:spPr>
        <p:txBody>
          <a:bodyPr wrap="square"/>
          <a:lstStyle/>
          <a:p>
            <a:pPr algn="l"/>
            <a:r>
              <a:rPr sz="2200" b="1" i="0">
                <a:solidFill>
                  <a:srgbClr val="FFFFFF"/>
                </a:solidFill>
                <a:latin typeface="Calibri"/>
              </a:rPr>
              <a:t>Your Growth Plan: 3 Priorities to Reach 20+ Cases/Month</a:t>
            </a:r>
          </a:p>
        </p:txBody>
      </p:sp>
      <p:sp>
        <p:nvSpPr>
          <p:cNvPr id="5" name="Rectangle 4"/>
          <p:cNvSpPr/>
          <p:nvPr/>
        </p:nvSpPr>
        <p:spPr>
          <a:xfrm>
            <a:off x="182880" y="1024128"/>
            <a:ext cx="2487168" cy="3639312"/>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82880" y="1042415"/>
            <a:ext cx="2487168" cy="18288"/>
          </a:xfrm>
          <a:prstGeom prst="rect">
            <a:avLst/>
          </a:prstGeom>
          <a:solidFill>
            <a:srgbClr val="F5C40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92608" y="1097280"/>
            <a:ext cx="2267712" cy="201168"/>
          </a:xfrm>
          <a:prstGeom prst="rect">
            <a:avLst/>
          </a:prstGeom>
          <a:noFill/>
        </p:spPr>
        <p:txBody>
          <a:bodyPr wrap="square"/>
          <a:lstStyle/>
          <a:p>
            <a:pPr algn="l"/>
            <a:r>
              <a:rPr sz="800" b="1" i="0">
                <a:solidFill>
                  <a:srgbClr val="F5C400"/>
                </a:solidFill>
                <a:latin typeface="Calibri"/>
              </a:rPr>
              <a:t>THE SMB TEAM MODEL</a:t>
            </a:r>
          </a:p>
        </p:txBody>
      </p:sp>
      <p:sp>
        <p:nvSpPr>
          <p:cNvPr id="8" name="TextBox 7"/>
          <p:cNvSpPr txBox="1"/>
          <p:nvPr/>
        </p:nvSpPr>
        <p:spPr>
          <a:xfrm>
            <a:off x="292608" y="1335024"/>
            <a:ext cx="2267712" cy="1572768"/>
          </a:xfrm>
          <a:prstGeom prst="rect">
            <a:avLst/>
          </a:prstGeom>
          <a:noFill/>
        </p:spPr>
        <p:txBody>
          <a:bodyPr wrap="square"/>
          <a:lstStyle/>
          <a:p>
            <a:pPr algn="l"/>
            <a:r>
              <a:rPr sz="900" b="0" i="0">
                <a:solidFill>
                  <a:srgbClr val="A8BFDA"/>
                </a:solidFill>
                <a:latin typeface="Calibri"/>
              </a:rPr>
              <a:t>Lead Generation, Intake, Team, and Profit must all work together. When any one is missing, growth stalls regardless of effort invested. When all four run, Idalis builds the firm that generates cases — and runs without her at the center of every decision.</a:t>
            </a:r>
          </a:p>
        </p:txBody>
      </p:sp>
      <p:sp>
        <p:nvSpPr>
          <p:cNvPr id="9" name="Rectangle 8"/>
          <p:cNvSpPr/>
          <p:nvPr/>
        </p:nvSpPr>
        <p:spPr>
          <a:xfrm>
            <a:off x="182880" y="2999232"/>
            <a:ext cx="2487168" cy="749808"/>
          </a:xfrm>
          <a:prstGeom prst="rect">
            <a:avLst/>
          </a:prstGeom>
          <a:solidFill>
            <a:srgbClr val="F5C40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92608" y="3017520"/>
            <a:ext cx="2286000" cy="274320"/>
          </a:xfrm>
          <a:prstGeom prst="rect">
            <a:avLst/>
          </a:prstGeom>
          <a:noFill/>
        </p:spPr>
        <p:txBody>
          <a:bodyPr wrap="square"/>
          <a:lstStyle/>
          <a:p>
            <a:pPr algn="l"/>
            <a:r>
              <a:rPr sz="1200" b="1" i="0">
                <a:solidFill>
                  <a:srgbClr val="0D1F3C"/>
                </a:solidFill>
                <a:latin typeface="Calibri"/>
              </a:rPr>
              <a:t>$180K → $360K+ Revenue</a:t>
            </a:r>
          </a:p>
        </p:txBody>
      </p:sp>
      <p:sp>
        <p:nvSpPr>
          <p:cNvPr id="11" name="TextBox 10"/>
          <p:cNvSpPr txBox="1"/>
          <p:nvPr/>
        </p:nvSpPr>
        <p:spPr>
          <a:xfrm>
            <a:off x="292608" y="3291840"/>
            <a:ext cx="2286000" cy="402336"/>
          </a:xfrm>
          <a:prstGeom prst="rect">
            <a:avLst/>
          </a:prstGeom>
          <a:noFill/>
        </p:spPr>
        <p:txBody>
          <a:bodyPr wrap="square"/>
          <a:lstStyle/>
          <a:p>
            <a:pPr algn="l"/>
            <a:r>
              <a:rPr sz="900" b="0" i="0">
                <a:solidFill>
                  <a:srgbClr val="0D1F3C"/>
                </a:solidFill>
                <a:latin typeface="Calibri"/>
              </a:rPr>
              <a:t>Choose every case — stop taking them out of fear</a:t>
            </a:r>
          </a:p>
        </p:txBody>
      </p:sp>
      <p:sp>
        <p:nvSpPr>
          <p:cNvPr id="12" name="Rectangle 11"/>
          <p:cNvSpPr/>
          <p:nvPr/>
        </p:nvSpPr>
        <p:spPr>
          <a:xfrm>
            <a:off x="2816352" y="1024128"/>
            <a:ext cx="2048256" cy="841248"/>
          </a:xfrm>
          <a:prstGeom prst="rect">
            <a:avLst/>
          </a:prstGeom>
          <a:solidFill>
            <a:srgbClr val="1D4ED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926080" y="1042415"/>
            <a:ext cx="457200" cy="274320"/>
          </a:xfrm>
          <a:prstGeom prst="rect">
            <a:avLst/>
          </a:prstGeom>
          <a:noFill/>
        </p:spPr>
        <p:txBody>
          <a:bodyPr wrap="square"/>
          <a:lstStyle/>
          <a:p>
            <a:pPr algn="l"/>
            <a:r>
              <a:rPr sz="1000" b="1" i="0">
                <a:solidFill>
                  <a:srgbClr val="FFFFFF"/>
                </a:solidFill>
                <a:latin typeface="Calibri"/>
              </a:rPr>
              <a:t>01</a:t>
            </a:r>
          </a:p>
        </p:txBody>
      </p:sp>
      <p:sp>
        <p:nvSpPr>
          <p:cNvPr id="14" name="TextBox 13"/>
          <p:cNvSpPr txBox="1"/>
          <p:nvPr/>
        </p:nvSpPr>
        <p:spPr>
          <a:xfrm>
            <a:off x="2926080" y="1316736"/>
            <a:ext cx="1865376" cy="256032"/>
          </a:xfrm>
          <a:prstGeom prst="rect">
            <a:avLst/>
          </a:prstGeom>
          <a:noFill/>
        </p:spPr>
        <p:txBody>
          <a:bodyPr wrap="square"/>
          <a:lstStyle/>
          <a:p>
            <a:pPr algn="l"/>
            <a:r>
              <a:rPr sz="1200" b="1" i="0">
                <a:solidFill>
                  <a:srgbClr val="FFFFFF"/>
                </a:solidFill>
                <a:latin typeface="Calibri"/>
              </a:rPr>
              <a:t>Build the</a:t>
            </a:r>
          </a:p>
        </p:txBody>
      </p:sp>
      <p:sp>
        <p:nvSpPr>
          <p:cNvPr id="15" name="TextBox 14"/>
          <p:cNvSpPr txBox="1"/>
          <p:nvPr/>
        </p:nvSpPr>
        <p:spPr>
          <a:xfrm>
            <a:off x="2926080" y="1554480"/>
            <a:ext cx="1865376" cy="256032"/>
          </a:xfrm>
          <a:prstGeom prst="rect">
            <a:avLst/>
          </a:prstGeom>
          <a:noFill/>
        </p:spPr>
        <p:txBody>
          <a:bodyPr wrap="square"/>
          <a:lstStyle/>
          <a:p>
            <a:pPr algn="l"/>
            <a:r>
              <a:rPr sz="1200" b="1" i="0">
                <a:solidFill>
                  <a:srgbClr val="FFFFFF"/>
                </a:solidFill>
                <a:latin typeface="Calibri"/>
              </a:rPr>
              <a:t>Marketing Engine</a:t>
            </a:r>
          </a:p>
        </p:txBody>
      </p:sp>
      <p:sp>
        <p:nvSpPr>
          <p:cNvPr id="16" name="Rectangle 15"/>
          <p:cNvSpPr/>
          <p:nvPr/>
        </p:nvSpPr>
        <p:spPr>
          <a:xfrm>
            <a:off x="2816352" y="1865376"/>
            <a:ext cx="2048256" cy="566928"/>
          </a:xfrm>
          <a:prstGeom prst="rect">
            <a:avLst/>
          </a:prstGeom>
          <a:solidFill>
            <a:srgbClr val="EFF6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907792" y="2084832"/>
            <a:ext cx="91440" cy="91440"/>
          </a:xfrm>
          <a:prstGeom prst="rect">
            <a:avLst/>
          </a:prstGeom>
          <a:solidFill>
            <a:srgbClr val="1D4ED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054096" y="1920240"/>
            <a:ext cx="1755648" cy="475488"/>
          </a:xfrm>
          <a:prstGeom prst="rect">
            <a:avLst/>
          </a:prstGeom>
          <a:noFill/>
        </p:spPr>
        <p:txBody>
          <a:bodyPr wrap="square"/>
          <a:lstStyle/>
          <a:p>
            <a:pPr algn="l"/>
            <a:r>
              <a:rPr sz="800" b="0" i="0">
                <a:solidFill>
                  <a:srgbClr val="1E293B"/>
                </a:solidFill>
                <a:latin typeface="Calibri"/>
              </a:rPr>
              <a:t>Turn Google into a client pipeline — week one</a:t>
            </a:r>
          </a:p>
        </p:txBody>
      </p:sp>
      <p:sp>
        <p:nvSpPr>
          <p:cNvPr id="19" name="Rectangle 18"/>
          <p:cNvSpPr/>
          <p:nvPr/>
        </p:nvSpPr>
        <p:spPr>
          <a:xfrm>
            <a:off x="2816352" y="2468880"/>
            <a:ext cx="2048256" cy="566928"/>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2907792" y="2688336"/>
            <a:ext cx="91440" cy="91440"/>
          </a:xfrm>
          <a:prstGeom prst="rect">
            <a:avLst/>
          </a:prstGeom>
          <a:solidFill>
            <a:srgbClr val="1D4ED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054096" y="2523744"/>
            <a:ext cx="1755648" cy="475488"/>
          </a:xfrm>
          <a:prstGeom prst="rect">
            <a:avLst/>
          </a:prstGeom>
          <a:noFill/>
        </p:spPr>
        <p:txBody>
          <a:bodyPr wrap="square"/>
          <a:lstStyle/>
          <a:p>
            <a:pPr algn="l"/>
            <a:r>
              <a:rPr sz="800" b="0" i="0">
                <a:solidFill>
                  <a:srgbClr val="1E293B"/>
                </a:solidFill>
                <a:latin typeface="Calibri"/>
              </a:rPr>
              <a:t>Launch LSAs to own the top of every local search</a:t>
            </a:r>
          </a:p>
        </p:txBody>
      </p:sp>
      <p:sp>
        <p:nvSpPr>
          <p:cNvPr id="22" name="Rectangle 21"/>
          <p:cNvSpPr/>
          <p:nvPr/>
        </p:nvSpPr>
        <p:spPr>
          <a:xfrm>
            <a:off x="2816352" y="3072384"/>
            <a:ext cx="2048256" cy="566928"/>
          </a:xfrm>
          <a:prstGeom prst="rect">
            <a:avLst/>
          </a:prstGeom>
          <a:solidFill>
            <a:srgbClr val="EFF6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2907792" y="3291839"/>
            <a:ext cx="91440" cy="91440"/>
          </a:xfrm>
          <a:prstGeom prst="rect">
            <a:avLst/>
          </a:prstGeom>
          <a:solidFill>
            <a:srgbClr val="1D4ED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054096" y="3127248"/>
            <a:ext cx="1755648" cy="475488"/>
          </a:xfrm>
          <a:prstGeom prst="rect">
            <a:avLst/>
          </a:prstGeom>
          <a:noFill/>
        </p:spPr>
        <p:txBody>
          <a:bodyPr wrap="square"/>
          <a:lstStyle/>
          <a:p>
            <a:pPr algn="l"/>
            <a:r>
              <a:rPr sz="800" b="0" i="0">
                <a:solidFill>
                  <a:srgbClr val="1E293B"/>
                </a:solidFill>
                <a:latin typeface="Calibri"/>
              </a:rPr>
              <a:t>Spanish-language ads — a market no one is claiming</a:t>
            </a:r>
          </a:p>
        </p:txBody>
      </p:sp>
      <p:sp>
        <p:nvSpPr>
          <p:cNvPr id="25" name="Rectangle 24"/>
          <p:cNvSpPr/>
          <p:nvPr/>
        </p:nvSpPr>
        <p:spPr>
          <a:xfrm>
            <a:off x="2816352" y="3675887"/>
            <a:ext cx="2048256" cy="566928"/>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907792" y="3895344"/>
            <a:ext cx="91440" cy="91440"/>
          </a:xfrm>
          <a:prstGeom prst="rect">
            <a:avLst/>
          </a:prstGeom>
          <a:solidFill>
            <a:srgbClr val="1D4ED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054096" y="3730751"/>
            <a:ext cx="1755648" cy="475488"/>
          </a:xfrm>
          <a:prstGeom prst="rect">
            <a:avLst/>
          </a:prstGeom>
          <a:noFill/>
        </p:spPr>
        <p:txBody>
          <a:bodyPr wrap="square"/>
          <a:lstStyle/>
          <a:p>
            <a:pPr algn="l"/>
            <a:r>
              <a:rPr sz="800" b="0" i="0">
                <a:solidFill>
                  <a:srgbClr val="1E293B"/>
                </a:solidFill>
                <a:latin typeface="Calibri"/>
              </a:rPr>
              <a:t>Review campaign: 75+ reviews, full LSA power</a:t>
            </a:r>
          </a:p>
        </p:txBody>
      </p:sp>
      <p:sp>
        <p:nvSpPr>
          <p:cNvPr id="28" name="Rectangle 27"/>
          <p:cNvSpPr/>
          <p:nvPr/>
        </p:nvSpPr>
        <p:spPr>
          <a:xfrm>
            <a:off x="2816352" y="4279392"/>
            <a:ext cx="2048256" cy="566928"/>
          </a:xfrm>
          <a:prstGeom prst="rect">
            <a:avLst/>
          </a:prstGeom>
          <a:solidFill>
            <a:srgbClr val="EFF6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907792" y="4498848"/>
            <a:ext cx="91440" cy="91440"/>
          </a:xfrm>
          <a:prstGeom prst="rect">
            <a:avLst/>
          </a:prstGeom>
          <a:solidFill>
            <a:srgbClr val="1D4ED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054096" y="4334255"/>
            <a:ext cx="1755648" cy="475488"/>
          </a:xfrm>
          <a:prstGeom prst="rect">
            <a:avLst/>
          </a:prstGeom>
          <a:noFill/>
        </p:spPr>
        <p:txBody>
          <a:bodyPr wrap="square"/>
          <a:lstStyle/>
          <a:p>
            <a:pPr algn="l"/>
            <a:r>
              <a:rPr sz="800" b="0" i="0">
                <a:solidFill>
                  <a:srgbClr val="1E293B"/>
                </a:solidFill>
                <a:latin typeface="Calibri"/>
              </a:rPr>
              <a:t>Website rebuilt to convert the crisis-moment call</a:t>
            </a:r>
          </a:p>
        </p:txBody>
      </p:sp>
      <p:sp>
        <p:nvSpPr>
          <p:cNvPr id="31" name="Rectangle 30"/>
          <p:cNvSpPr/>
          <p:nvPr/>
        </p:nvSpPr>
        <p:spPr>
          <a:xfrm>
            <a:off x="4937760" y="1024128"/>
            <a:ext cx="2048256" cy="841248"/>
          </a:xfrm>
          <a:prstGeom prst="rect">
            <a:avLst/>
          </a:prstGeom>
          <a:solidFill>
            <a:srgbClr val="0F766E"/>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047488" y="1042415"/>
            <a:ext cx="457200" cy="274320"/>
          </a:xfrm>
          <a:prstGeom prst="rect">
            <a:avLst/>
          </a:prstGeom>
          <a:noFill/>
        </p:spPr>
        <p:txBody>
          <a:bodyPr wrap="square"/>
          <a:lstStyle/>
          <a:p>
            <a:pPr algn="l"/>
            <a:r>
              <a:rPr sz="1000" b="1" i="0">
                <a:solidFill>
                  <a:srgbClr val="FFFFFF"/>
                </a:solidFill>
                <a:latin typeface="Calibri"/>
              </a:rPr>
              <a:t>02</a:t>
            </a:r>
          </a:p>
        </p:txBody>
      </p:sp>
      <p:sp>
        <p:nvSpPr>
          <p:cNvPr id="33" name="TextBox 32"/>
          <p:cNvSpPr txBox="1"/>
          <p:nvPr/>
        </p:nvSpPr>
        <p:spPr>
          <a:xfrm>
            <a:off x="5047488" y="1316736"/>
            <a:ext cx="1865376" cy="256032"/>
          </a:xfrm>
          <a:prstGeom prst="rect">
            <a:avLst/>
          </a:prstGeom>
          <a:noFill/>
        </p:spPr>
        <p:txBody>
          <a:bodyPr wrap="square"/>
          <a:lstStyle/>
          <a:p>
            <a:pPr algn="l"/>
            <a:r>
              <a:rPr sz="1200" b="1" i="0">
                <a:solidFill>
                  <a:srgbClr val="FFFFFF"/>
                </a:solidFill>
                <a:latin typeface="Calibri"/>
              </a:rPr>
              <a:t>Fix Intake &amp;</a:t>
            </a:r>
          </a:p>
        </p:txBody>
      </p:sp>
      <p:sp>
        <p:nvSpPr>
          <p:cNvPr id="34" name="TextBox 33"/>
          <p:cNvSpPr txBox="1"/>
          <p:nvPr/>
        </p:nvSpPr>
        <p:spPr>
          <a:xfrm>
            <a:off x="5047488" y="1554480"/>
            <a:ext cx="1865376" cy="256032"/>
          </a:xfrm>
          <a:prstGeom prst="rect">
            <a:avLst/>
          </a:prstGeom>
          <a:noFill/>
        </p:spPr>
        <p:txBody>
          <a:bodyPr wrap="square"/>
          <a:lstStyle/>
          <a:p>
            <a:pPr algn="l"/>
            <a:r>
              <a:rPr sz="1200" b="1" i="0">
                <a:solidFill>
                  <a:srgbClr val="FFFFFF"/>
                </a:solidFill>
                <a:latin typeface="Calibri"/>
              </a:rPr>
              <a:t>Stop Losing Cases</a:t>
            </a:r>
          </a:p>
        </p:txBody>
      </p:sp>
      <p:sp>
        <p:nvSpPr>
          <p:cNvPr id="35" name="Rectangle 34"/>
          <p:cNvSpPr/>
          <p:nvPr/>
        </p:nvSpPr>
        <p:spPr>
          <a:xfrm>
            <a:off x="4937760" y="1865376"/>
            <a:ext cx="2048256" cy="566928"/>
          </a:xfrm>
          <a:prstGeom prst="rect">
            <a:avLst/>
          </a:prstGeom>
          <a:solidFill>
            <a:srgbClr val="F0FDF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5029200" y="2084832"/>
            <a:ext cx="91440" cy="91440"/>
          </a:xfrm>
          <a:prstGeom prst="rect">
            <a:avLst/>
          </a:prstGeom>
          <a:solidFill>
            <a:srgbClr val="0F766E"/>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175504" y="1920240"/>
            <a:ext cx="1755648" cy="475488"/>
          </a:xfrm>
          <a:prstGeom prst="rect">
            <a:avLst/>
          </a:prstGeom>
          <a:noFill/>
        </p:spPr>
        <p:txBody>
          <a:bodyPr wrap="square"/>
          <a:lstStyle/>
          <a:p>
            <a:pPr algn="l"/>
            <a:r>
              <a:rPr sz="800" b="0" i="0">
                <a:solidFill>
                  <a:srgbClr val="1E293B"/>
                </a:solidFill>
                <a:latin typeface="Calibri"/>
              </a:rPr>
              <a:t>Contact form above fold — capture after-hours call</a:t>
            </a:r>
          </a:p>
        </p:txBody>
      </p:sp>
      <p:sp>
        <p:nvSpPr>
          <p:cNvPr id="38" name="Rectangle 37"/>
          <p:cNvSpPr/>
          <p:nvPr/>
        </p:nvSpPr>
        <p:spPr>
          <a:xfrm>
            <a:off x="4937760" y="2468880"/>
            <a:ext cx="2048256" cy="566928"/>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5029200" y="2688336"/>
            <a:ext cx="91440" cy="91440"/>
          </a:xfrm>
          <a:prstGeom prst="rect">
            <a:avLst/>
          </a:prstGeom>
          <a:solidFill>
            <a:srgbClr val="0F766E"/>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5175504" y="2523744"/>
            <a:ext cx="1755648" cy="475488"/>
          </a:xfrm>
          <a:prstGeom prst="rect">
            <a:avLst/>
          </a:prstGeom>
          <a:noFill/>
        </p:spPr>
        <p:txBody>
          <a:bodyPr wrap="square"/>
          <a:lstStyle/>
          <a:p>
            <a:pPr algn="l"/>
            <a:r>
              <a:rPr sz="800" b="0" i="0">
                <a:solidFill>
                  <a:srgbClr val="1E293B"/>
                </a:solidFill>
                <a:latin typeface="Calibri"/>
              </a:rPr>
              <a:t>Urgency language for the arrested-tonight visitor</a:t>
            </a:r>
          </a:p>
        </p:txBody>
      </p:sp>
      <p:sp>
        <p:nvSpPr>
          <p:cNvPr id="41" name="Rectangle 40"/>
          <p:cNvSpPr/>
          <p:nvPr/>
        </p:nvSpPr>
        <p:spPr>
          <a:xfrm>
            <a:off x="4937760" y="3072384"/>
            <a:ext cx="2048256" cy="566928"/>
          </a:xfrm>
          <a:prstGeom prst="rect">
            <a:avLst/>
          </a:prstGeom>
          <a:solidFill>
            <a:srgbClr val="F0FDF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5029200" y="3291839"/>
            <a:ext cx="91440" cy="91440"/>
          </a:xfrm>
          <a:prstGeom prst="rect">
            <a:avLst/>
          </a:prstGeom>
          <a:solidFill>
            <a:srgbClr val="0F766E"/>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5175504" y="3127248"/>
            <a:ext cx="1755648" cy="475488"/>
          </a:xfrm>
          <a:prstGeom prst="rect">
            <a:avLst/>
          </a:prstGeom>
          <a:noFill/>
        </p:spPr>
        <p:txBody>
          <a:bodyPr wrap="square"/>
          <a:lstStyle/>
          <a:p>
            <a:pPr algn="l"/>
            <a:r>
              <a:rPr sz="800" b="0" i="0">
                <a:solidFill>
                  <a:srgbClr val="1E293B"/>
                </a:solidFill>
                <a:latin typeface="Calibri"/>
              </a:rPr>
              <a:t>After-hours coverage: no call goes unanswered</a:t>
            </a:r>
          </a:p>
        </p:txBody>
      </p:sp>
      <p:sp>
        <p:nvSpPr>
          <p:cNvPr id="44" name="Rectangle 43"/>
          <p:cNvSpPr/>
          <p:nvPr/>
        </p:nvSpPr>
        <p:spPr>
          <a:xfrm>
            <a:off x="4937760" y="3675887"/>
            <a:ext cx="2048256" cy="566928"/>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5029200" y="3895344"/>
            <a:ext cx="91440" cy="91440"/>
          </a:xfrm>
          <a:prstGeom prst="rect">
            <a:avLst/>
          </a:prstGeom>
          <a:solidFill>
            <a:srgbClr val="0F766E"/>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5175504" y="3730751"/>
            <a:ext cx="1755648" cy="475488"/>
          </a:xfrm>
          <a:prstGeom prst="rect">
            <a:avLst/>
          </a:prstGeom>
          <a:noFill/>
        </p:spPr>
        <p:txBody>
          <a:bodyPr wrap="square"/>
          <a:lstStyle/>
          <a:p>
            <a:pPr algn="l"/>
            <a:r>
              <a:rPr sz="800" b="0" i="0">
                <a:solidFill>
                  <a:srgbClr val="1E293B"/>
                </a:solidFill>
                <a:latin typeface="Calibri"/>
              </a:rPr>
              <a:t>Intake scripts that qualify leads and book consults</a:t>
            </a:r>
          </a:p>
        </p:txBody>
      </p:sp>
      <p:sp>
        <p:nvSpPr>
          <p:cNvPr id="47" name="Rectangle 46"/>
          <p:cNvSpPr/>
          <p:nvPr/>
        </p:nvSpPr>
        <p:spPr>
          <a:xfrm>
            <a:off x="4937760" y="4279392"/>
            <a:ext cx="2048256" cy="566928"/>
          </a:xfrm>
          <a:prstGeom prst="rect">
            <a:avLst/>
          </a:prstGeom>
          <a:solidFill>
            <a:srgbClr val="F0FDF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5029200" y="4498848"/>
            <a:ext cx="91440" cy="91440"/>
          </a:xfrm>
          <a:prstGeom prst="rect">
            <a:avLst/>
          </a:prstGeom>
          <a:solidFill>
            <a:srgbClr val="0F766E"/>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5175504" y="4334255"/>
            <a:ext cx="1755648" cy="475488"/>
          </a:xfrm>
          <a:prstGeom prst="rect">
            <a:avLst/>
          </a:prstGeom>
          <a:noFill/>
        </p:spPr>
        <p:txBody>
          <a:bodyPr wrap="square"/>
          <a:lstStyle/>
          <a:p>
            <a:pPr algn="l"/>
            <a:r>
              <a:rPr sz="800" b="0" i="0">
                <a:solidFill>
                  <a:srgbClr val="1E293B"/>
                </a:solidFill>
                <a:latin typeface="Calibri"/>
              </a:rPr>
              <a:t>Track which leads become clients — know your ROI</a:t>
            </a:r>
          </a:p>
        </p:txBody>
      </p:sp>
      <p:sp>
        <p:nvSpPr>
          <p:cNvPr id="50" name="Rectangle 49"/>
          <p:cNvSpPr/>
          <p:nvPr/>
        </p:nvSpPr>
        <p:spPr>
          <a:xfrm>
            <a:off x="7059168" y="1024128"/>
            <a:ext cx="2048256" cy="841248"/>
          </a:xfrm>
          <a:prstGeom prst="rect">
            <a:avLst/>
          </a:prstGeom>
          <a:solidFill>
            <a:srgbClr val="6D28D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7168896" y="1042415"/>
            <a:ext cx="457200" cy="274320"/>
          </a:xfrm>
          <a:prstGeom prst="rect">
            <a:avLst/>
          </a:prstGeom>
          <a:noFill/>
        </p:spPr>
        <p:txBody>
          <a:bodyPr wrap="square"/>
          <a:lstStyle/>
          <a:p>
            <a:pPr algn="l"/>
            <a:r>
              <a:rPr sz="1000" b="1" i="0">
                <a:solidFill>
                  <a:srgbClr val="FFFFFF"/>
                </a:solidFill>
                <a:latin typeface="Calibri"/>
              </a:rPr>
              <a:t>03</a:t>
            </a:r>
          </a:p>
        </p:txBody>
      </p:sp>
      <p:sp>
        <p:nvSpPr>
          <p:cNvPr id="52" name="TextBox 51"/>
          <p:cNvSpPr txBox="1"/>
          <p:nvPr/>
        </p:nvSpPr>
        <p:spPr>
          <a:xfrm>
            <a:off x="7168896" y="1316736"/>
            <a:ext cx="1865376" cy="256032"/>
          </a:xfrm>
          <a:prstGeom prst="rect">
            <a:avLst/>
          </a:prstGeom>
          <a:noFill/>
        </p:spPr>
        <p:txBody>
          <a:bodyPr wrap="square"/>
          <a:lstStyle/>
          <a:p>
            <a:pPr algn="l"/>
            <a:r>
              <a:rPr sz="1200" b="1" i="0">
                <a:solidFill>
                  <a:srgbClr val="FFFFFF"/>
                </a:solidFill>
                <a:latin typeface="Calibri"/>
              </a:rPr>
              <a:t>Install Team &amp;</a:t>
            </a:r>
          </a:p>
        </p:txBody>
      </p:sp>
      <p:sp>
        <p:nvSpPr>
          <p:cNvPr id="53" name="TextBox 52"/>
          <p:cNvSpPr txBox="1"/>
          <p:nvPr/>
        </p:nvSpPr>
        <p:spPr>
          <a:xfrm>
            <a:off x="7168896" y="1554480"/>
            <a:ext cx="1865376" cy="256032"/>
          </a:xfrm>
          <a:prstGeom prst="rect">
            <a:avLst/>
          </a:prstGeom>
          <a:noFill/>
        </p:spPr>
        <p:txBody>
          <a:bodyPr wrap="square"/>
          <a:lstStyle/>
          <a:p>
            <a:pPr algn="l"/>
            <a:r>
              <a:rPr sz="1200" b="1" i="0">
                <a:solidFill>
                  <a:srgbClr val="FFFFFF"/>
                </a:solidFill>
                <a:latin typeface="Calibri"/>
              </a:rPr>
              <a:t>Profit Systems</a:t>
            </a:r>
          </a:p>
        </p:txBody>
      </p:sp>
      <p:sp>
        <p:nvSpPr>
          <p:cNvPr id="54" name="Rectangle 53"/>
          <p:cNvSpPr/>
          <p:nvPr/>
        </p:nvSpPr>
        <p:spPr>
          <a:xfrm>
            <a:off x="7059168" y="1865376"/>
            <a:ext cx="2048256" cy="566928"/>
          </a:xfrm>
          <a:prstGeom prst="rect">
            <a:avLst/>
          </a:prstGeom>
          <a:solidFill>
            <a:srgbClr val="F5F3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7150607" y="2084832"/>
            <a:ext cx="91440" cy="91440"/>
          </a:xfrm>
          <a:prstGeom prst="rect">
            <a:avLst/>
          </a:prstGeom>
          <a:solidFill>
            <a:srgbClr val="6D28D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7296912" y="1920240"/>
            <a:ext cx="1755648" cy="475488"/>
          </a:xfrm>
          <a:prstGeom prst="rect">
            <a:avLst/>
          </a:prstGeom>
          <a:noFill/>
        </p:spPr>
        <p:txBody>
          <a:bodyPr wrap="square"/>
          <a:lstStyle/>
          <a:p>
            <a:pPr algn="l"/>
            <a:r>
              <a:rPr sz="800" b="0" i="0">
                <a:solidFill>
                  <a:srgbClr val="1E293B"/>
                </a:solidFill>
                <a:latin typeface="Calibri"/>
              </a:rPr>
              <a:t>Coaching kickoff: goals, plan, 90-day milestones</a:t>
            </a:r>
          </a:p>
        </p:txBody>
      </p:sp>
      <p:sp>
        <p:nvSpPr>
          <p:cNvPr id="57" name="Rectangle 56"/>
          <p:cNvSpPr/>
          <p:nvPr/>
        </p:nvSpPr>
        <p:spPr>
          <a:xfrm>
            <a:off x="7059168" y="2468880"/>
            <a:ext cx="2048256" cy="566928"/>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7150607" y="2688336"/>
            <a:ext cx="91440" cy="91440"/>
          </a:xfrm>
          <a:prstGeom prst="rect">
            <a:avLst/>
          </a:prstGeom>
          <a:solidFill>
            <a:srgbClr val="6D28D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7296912" y="2523744"/>
            <a:ext cx="1755648" cy="475488"/>
          </a:xfrm>
          <a:prstGeom prst="rect">
            <a:avLst/>
          </a:prstGeom>
          <a:noFill/>
        </p:spPr>
        <p:txBody>
          <a:bodyPr wrap="square"/>
          <a:lstStyle/>
          <a:p>
            <a:pPr algn="l"/>
            <a:r>
              <a:rPr sz="800" b="0" i="0">
                <a:solidFill>
                  <a:srgbClr val="1E293B"/>
                </a:solidFill>
                <a:latin typeface="Calibri"/>
              </a:rPr>
              <a:t>Hire intake coordinator as first team member</a:t>
            </a:r>
          </a:p>
        </p:txBody>
      </p:sp>
      <p:sp>
        <p:nvSpPr>
          <p:cNvPr id="60" name="Rectangle 59"/>
          <p:cNvSpPr/>
          <p:nvPr/>
        </p:nvSpPr>
        <p:spPr>
          <a:xfrm>
            <a:off x="7059168" y="3072384"/>
            <a:ext cx="2048256" cy="566928"/>
          </a:xfrm>
          <a:prstGeom prst="rect">
            <a:avLst/>
          </a:prstGeom>
          <a:solidFill>
            <a:srgbClr val="F5F3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7150607" y="3291839"/>
            <a:ext cx="91440" cy="91440"/>
          </a:xfrm>
          <a:prstGeom prst="rect">
            <a:avLst/>
          </a:prstGeom>
          <a:solidFill>
            <a:srgbClr val="6D28D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7296912" y="3127248"/>
            <a:ext cx="1755648" cy="475488"/>
          </a:xfrm>
          <a:prstGeom prst="rect">
            <a:avLst/>
          </a:prstGeom>
          <a:noFill/>
        </p:spPr>
        <p:txBody>
          <a:bodyPr wrap="square"/>
          <a:lstStyle/>
          <a:p>
            <a:pPr algn="l"/>
            <a:r>
              <a:rPr sz="800" b="0" i="0">
                <a:solidFill>
                  <a:srgbClr val="1E293B"/>
                </a:solidFill>
                <a:latin typeface="Calibri"/>
              </a:rPr>
              <a:t>Track profit by case type — optimize what you take</a:t>
            </a:r>
          </a:p>
        </p:txBody>
      </p:sp>
      <p:sp>
        <p:nvSpPr>
          <p:cNvPr id="63" name="Rectangle 62"/>
          <p:cNvSpPr/>
          <p:nvPr/>
        </p:nvSpPr>
        <p:spPr>
          <a:xfrm>
            <a:off x="7059168" y="3675887"/>
            <a:ext cx="2048256" cy="566928"/>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ectangle 63"/>
          <p:cNvSpPr/>
          <p:nvPr/>
        </p:nvSpPr>
        <p:spPr>
          <a:xfrm>
            <a:off x="7150607" y="3895344"/>
            <a:ext cx="91440" cy="91440"/>
          </a:xfrm>
          <a:prstGeom prst="rect">
            <a:avLst/>
          </a:prstGeom>
          <a:solidFill>
            <a:srgbClr val="6D28D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7296912" y="3730751"/>
            <a:ext cx="1755648" cy="475488"/>
          </a:xfrm>
          <a:prstGeom prst="rect">
            <a:avLst/>
          </a:prstGeom>
          <a:noFill/>
        </p:spPr>
        <p:txBody>
          <a:bodyPr wrap="square"/>
          <a:lstStyle/>
          <a:p>
            <a:pPr algn="l"/>
            <a:r>
              <a:rPr sz="800" b="0" i="0">
                <a:solidFill>
                  <a:srgbClr val="1E293B"/>
                </a:solidFill>
                <a:latin typeface="Calibri"/>
              </a:rPr>
              <a:t>Build financial clarity toward the building goal</a:t>
            </a:r>
          </a:p>
        </p:txBody>
      </p:sp>
      <p:sp>
        <p:nvSpPr>
          <p:cNvPr id="66" name="Rectangle 65"/>
          <p:cNvSpPr/>
          <p:nvPr/>
        </p:nvSpPr>
        <p:spPr>
          <a:xfrm>
            <a:off x="7059168" y="4279392"/>
            <a:ext cx="2048256" cy="566928"/>
          </a:xfrm>
          <a:prstGeom prst="rect">
            <a:avLst/>
          </a:prstGeom>
          <a:solidFill>
            <a:srgbClr val="F5F3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ectangle 66"/>
          <p:cNvSpPr/>
          <p:nvPr/>
        </p:nvSpPr>
        <p:spPr>
          <a:xfrm>
            <a:off x="7150607" y="4498848"/>
            <a:ext cx="91440" cy="91440"/>
          </a:xfrm>
          <a:prstGeom prst="rect">
            <a:avLst/>
          </a:prstGeom>
          <a:solidFill>
            <a:srgbClr val="6D28D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7296912" y="4334255"/>
            <a:ext cx="1755648" cy="475488"/>
          </a:xfrm>
          <a:prstGeom prst="rect">
            <a:avLst/>
          </a:prstGeom>
          <a:noFill/>
        </p:spPr>
        <p:txBody>
          <a:bodyPr wrap="square"/>
          <a:lstStyle/>
          <a:p>
            <a:pPr algn="l"/>
            <a:r>
              <a:rPr sz="800" b="0" i="0">
                <a:solidFill>
                  <a:srgbClr val="1E293B"/>
                </a:solidFill>
                <a:latin typeface="Calibri"/>
              </a:rPr>
              <a:t>Roadmap to the firm that runs without you</a:t>
            </a:r>
          </a:p>
        </p:txBody>
      </p:sp>
      <p:sp>
        <p:nvSpPr>
          <p:cNvPr id="69" name="Rectangle 68"/>
          <p:cNvSpPr/>
          <p:nvPr/>
        </p:nvSpPr>
        <p:spPr>
          <a:xfrm>
            <a:off x="0" y="4828032"/>
            <a:ext cx="9144000" cy="320040"/>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0" name="Picture 69" descr="smb_team_logo.png"/>
          <p:cNvPicPr>
            <a:picLocks noChangeAspect="1"/>
          </p:cNvPicPr>
          <p:nvPr/>
        </p:nvPicPr>
        <p:blipFill>
          <a:blip r:embed="rId2"/>
          <a:stretch>
            <a:fillRect/>
          </a:stretch>
        </p:blipFill>
        <p:spPr>
          <a:xfrm>
            <a:off x="201168" y="4837176"/>
            <a:ext cx="1170432" cy="237744"/>
          </a:xfrm>
          <a:prstGeom prst="rect">
            <a:avLst/>
          </a:prstGeom>
        </p:spPr>
      </p:pic>
      <p:sp>
        <p:nvSpPr>
          <p:cNvPr id="71" name="TextBox 70"/>
          <p:cNvSpPr txBox="1"/>
          <p:nvPr/>
        </p:nvSpPr>
        <p:spPr>
          <a:xfrm>
            <a:off x="1609344" y="4837176"/>
            <a:ext cx="5303520" cy="274320"/>
          </a:xfrm>
          <a:prstGeom prst="rect">
            <a:avLst/>
          </a:prstGeom>
          <a:noFill/>
        </p:spPr>
        <p:txBody>
          <a:bodyPr wrap="square"/>
          <a:lstStyle/>
          <a:p>
            <a:pPr algn="l"/>
            <a:r>
              <a:rPr sz="800" b="0" i="0">
                <a:solidFill>
                  <a:srgbClr val="5A7A9A"/>
                </a:solidFill>
                <a:latin typeface="Calibri"/>
              </a:rPr>
              <a:t>CONFIDENTIAL  ·  Prepared by Nick Holderman | SMB Team</a:t>
            </a:r>
          </a:p>
        </p:txBody>
      </p:sp>
      <p:sp>
        <p:nvSpPr>
          <p:cNvPr id="72" name="TextBox 71"/>
          <p:cNvSpPr txBox="1"/>
          <p:nvPr/>
        </p:nvSpPr>
        <p:spPr>
          <a:xfrm>
            <a:off x="8138160" y="4837176"/>
            <a:ext cx="786384" cy="274320"/>
          </a:xfrm>
          <a:prstGeom prst="rect">
            <a:avLst/>
          </a:prstGeom>
          <a:noFill/>
        </p:spPr>
        <p:txBody>
          <a:bodyPr wrap="square"/>
          <a:lstStyle/>
          <a:p>
            <a:pPr algn="r"/>
            <a:r>
              <a:rPr sz="800" b="0" i="0">
                <a:solidFill>
                  <a:srgbClr val="5A7A9A"/>
                </a:solidFill>
                <a:latin typeface="Calibri"/>
              </a:rPr>
              <a:t>2 / 3</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960120"/>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92608" y="91440"/>
            <a:ext cx="8595360" cy="201168"/>
          </a:xfrm>
          <a:prstGeom prst="rect">
            <a:avLst/>
          </a:prstGeom>
          <a:noFill/>
        </p:spPr>
        <p:txBody>
          <a:bodyPr wrap="square"/>
          <a:lstStyle/>
          <a:p>
            <a:pPr algn="l"/>
            <a:r>
              <a:rPr sz="800" b="1" i="0">
                <a:solidFill>
                  <a:srgbClr val="F5C400"/>
                </a:solidFill>
                <a:latin typeface="Calibri"/>
              </a:rPr>
              <a:t>LAW FIRM GROWTH AUDIT  ·  VENTO LAW FIRM</a:t>
            </a:r>
          </a:p>
        </p:txBody>
      </p:sp>
      <p:sp>
        <p:nvSpPr>
          <p:cNvPr id="4" name="TextBox 3"/>
          <p:cNvSpPr txBox="1"/>
          <p:nvPr/>
        </p:nvSpPr>
        <p:spPr>
          <a:xfrm>
            <a:off x="292608" y="310896"/>
            <a:ext cx="8595360" cy="548640"/>
          </a:xfrm>
          <a:prstGeom prst="rect">
            <a:avLst/>
          </a:prstGeom>
          <a:noFill/>
        </p:spPr>
        <p:txBody>
          <a:bodyPr wrap="square"/>
          <a:lstStyle/>
          <a:p>
            <a:pPr algn="l"/>
            <a:r>
              <a:rPr sz="2200" b="1" i="0">
                <a:solidFill>
                  <a:srgbClr val="FFFFFF"/>
                </a:solidFill>
                <a:latin typeface="Calibri"/>
              </a:rPr>
              <a:t>Your Investment &amp; What Happens Next</a:t>
            </a:r>
          </a:p>
        </p:txBody>
      </p:sp>
      <p:sp>
        <p:nvSpPr>
          <p:cNvPr id="5" name="Rectangle 4"/>
          <p:cNvSpPr/>
          <p:nvPr/>
        </p:nvSpPr>
        <p:spPr>
          <a:xfrm>
            <a:off x="201168" y="1024128"/>
            <a:ext cx="4133087" cy="1024128"/>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01168" y="1024128"/>
            <a:ext cx="182880" cy="1024128"/>
          </a:xfrm>
          <a:prstGeom prst="rect">
            <a:avLst/>
          </a:prstGeom>
          <a:solidFill>
            <a:srgbClr val="1D4ED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75488" y="1115568"/>
            <a:ext cx="3803904" cy="201168"/>
          </a:xfrm>
          <a:prstGeom prst="rect">
            <a:avLst/>
          </a:prstGeom>
          <a:noFill/>
        </p:spPr>
        <p:txBody>
          <a:bodyPr wrap="square"/>
          <a:lstStyle/>
          <a:p>
            <a:pPr algn="l"/>
            <a:r>
              <a:rPr sz="800" b="1" i="0">
                <a:solidFill>
                  <a:srgbClr val="1D4ED8"/>
                </a:solidFill>
                <a:latin typeface="Calibri"/>
              </a:rPr>
              <a:t>FULL SERVICE MARKETING — ESSENTIALS</a:t>
            </a:r>
          </a:p>
        </p:txBody>
      </p:sp>
      <p:sp>
        <p:nvSpPr>
          <p:cNvPr id="8" name="TextBox 7"/>
          <p:cNvSpPr txBox="1"/>
          <p:nvPr/>
        </p:nvSpPr>
        <p:spPr>
          <a:xfrm>
            <a:off x="475488" y="1298448"/>
            <a:ext cx="1828800" cy="438912"/>
          </a:xfrm>
          <a:prstGeom prst="rect">
            <a:avLst/>
          </a:prstGeom>
          <a:noFill/>
        </p:spPr>
        <p:txBody>
          <a:bodyPr wrap="square"/>
          <a:lstStyle/>
          <a:p>
            <a:pPr algn="l"/>
            <a:r>
              <a:rPr sz="3200" b="1" i="0">
                <a:solidFill>
                  <a:srgbClr val="0D1F3C"/>
                </a:solidFill>
                <a:latin typeface="Calibri"/>
              </a:rPr>
              <a:t>$3,397</a:t>
            </a:r>
          </a:p>
        </p:txBody>
      </p:sp>
      <p:sp>
        <p:nvSpPr>
          <p:cNvPr id="9" name="TextBox 8"/>
          <p:cNvSpPr txBox="1"/>
          <p:nvPr/>
        </p:nvSpPr>
        <p:spPr>
          <a:xfrm>
            <a:off x="1865376" y="1408176"/>
            <a:ext cx="420624" cy="256032"/>
          </a:xfrm>
          <a:prstGeom prst="rect">
            <a:avLst/>
          </a:prstGeom>
          <a:noFill/>
        </p:spPr>
        <p:txBody>
          <a:bodyPr wrap="square"/>
          <a:lstStyle/>
          <a:p>
            <a:pPr algn="l"/>
            <a:r>
              <a:rPr sz="1100" b="0" i="0">
                <a:solidFill>
                  <a:srgbClr val="64748B"/>
                </a:solidFill>
                <a:latin typeface="Calibri"/>
              </a:rPr>
              <a:t>/mo</a:t>
            </a:r>
          </a:p>
        </p:txBody>
      </p:sp>
      <p:sp>
        <p:nvSpPr>
          <p:cNvPr id="10" name="TextBox 9"/>
          <p:cNvSpPr txBox="1"/>
          <p:nvPr/>
        </p:nvSpPr>
        <p:spPr>
          <a:xfrm>
            <a:off x="2322576" y="1426464"/>
            <a:ext cx="914400" cy="237744"/>
          </a:xfrm>
          <a:prstGeom prst="rect">
            <a:avLst/>
          </a:prstGeom>
          <a:noFill/>
        </p:spPr>
        <p:txBody>
          <a:bodyPr wrap="square"/>
          <a:lstStyle/>
          <a:p>
            <a:pPr algn="l"/>
            <a:r>
              <a:rPr sz="1100" b="0" i="0">
                <a:solidFill>
                  <a:srgbClr val="334155"/>
                </a:solidFill>
                <a:latin typeface="Calibri"/>
              </a:rPr>
              <a:t/>
            </a:r>
          </a:p>
        </p:txBody>
      </p:sp>
      <p:sp>
        <p:nvSpPr>
          <p:cNvPr id="11" name="Rectangle 10"/>
          <p:cNvSpPr/>
          <p:nvPr/>
        </p:nvSpPr>
        <p:spPr>
          <a:xfrm>
            <a:off x="2322576" y="1527048"/>
            <a:ext cx="804672" cy="9144"/>
          </a:xfrm>
          <a:prstGeom prst="rect">
            <a:avLst/>
          </a:prstGeom>
          <a:solidFill>
            <a:srgbClr val="334155"/>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5488" y="1792224"/>
            <a:ext cx="3803904" cy="201168"/>
          </a:xfrm>
          <a:prstGeom prst="rect">
            <a:avLst/>
          </a:prstGeom>
          <a:noFill/>
        </p:spPr>
        <p:txBody>
          <a:bodyPr wrap="square"/>
          <a:lstStyle/>
          <a:p>
            <a:pPr algn="l"/>
            <a:r>
              <a:rPr sz="800" b="0" i="0">
                <a:solidFill>
                  <a:srgbClr val="64748B"/>
                </a:solidFill>
                <a:latin typeface="Calibri"/>
              </a:rPr>
              <a:t>Website · Google Ads · LSA · SEO/AEO · GBP · Reviews</a:t>
            </a:r>
          </a:p>
        </p:txBody>
      </p:sp>
      <p:sp>
        <p:nvSpPr>
          <p:cNvPr id="13" name="Rectangle 12"/>
          <p:cNvSpPr/>
          <p:nvPr/>
        </p:nvSpPr>
        <p:spPr>
          <a:xfrm>
            <a:off x="201168" y="2139696"/>
            <a:ext cx="4133087" cy="1024128"/>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01168" y="2139696"/>
            <a:ext cx="182880" cy="1024128"/>
          </a:xfrm>
          <a:prstGeom prst="rect">
            <a:avLst/>
          </a:prstGeom>
          <a:solidFill>
            <a:srgbClr val="6D28D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5488" y="2231136"/>
            <a:ext cx="3803904" cy="201168"/>
          </a:xfrm>
          <a:prstGeom prst="rect">
            <a:avLst/>
          </a:prstGeom>
          <a:noFill/>
        </p:spPr>
        <p:txBody>
          <a:bodyPr wrap="square"/>
          <a:lstStyle/>
          <a:p>
            <a:pPr algn="l"/>
            <a:r>
              <a:rPr sz="800" b="1" i="0">
                <a:solidFill>
                  <a:srgbClr val="6D28D9"/>
                </a:solidFill>
                <a:latin typeface="Calibri"/>
              </a:rPr>
              <a:t>ELITE COACH</a:t>
            </a:r>
          </a:p>
        </p:txBody>
      </p:sp>
      <p:sp>
        <p:nvSpPr>
          <p:cNvPr id="16" name="TextBox 15"/>
          <p:cNvSpPr txBox="1"/>
          <p:nvPr/>
        </p:nvSpPr>
        <p:spPr>
          <a:xfrm>
            <a:off x="475488" y="2414015"/>
            <a:ext cx="1828800" cy="438912"/>
          </a:xfrm>
          <a:prstGeom prst="rect">
            <a:avLst/>
          </a:prstGeom>
          <a:noFill/>
        </p:spPr>
        <p:txBody>
          <a:bodyPr wrap="square"/>
          <a:lstStyle/>
          <a:p>
            <a:pPr algn="l"/>
            <a:r>
              <a:rPr sz="3200" b="1" i="0">
                <a:solidFill>
                  <a:srgbClr val="0D1F3C"/>
                </a:solidFill>
                <a:latin typeface="Calibri"/>
              </a:rPr>
              <a:t>$2,600</a:t>
            </a:r>
          </a:p>
        </p:txBody>
      </p:sp>
      <p:sp>
        <p:nvSpPr>
          <p:cNvPr id="17" name="TextBox 16"/>
          <p:cNvSpPr txBox="1"/>
          <p:nvPr/>
        </p:nvSpPr>
        <p:spPr>
          <a:xfrm>
            <a:off x="1865376" y="2523744"/>
            <a:ext cx="420624" cy="256032"/>
          </a:xfrm>
          <a:prstGeom prst="rect">
            <a:avLst/>
          </a:prstGeom>
          <a:noFill/>
        </p:spPr>
        <p:txBody>
          <a:bodyPr wrap="square"/>
          <a:lstStyle/>
          <a:p>
            <a:pPr algn="l"/>
            <a:r>
              <a:rPr sz="1100" b="0" i="0">
                <a:solidFill>
                  <a:srgbClr val="64748B"/>
                </a:solidFill>
                <a:latin typeface="Calibri"/>
              </a:rPr>
              <a:t>/mo</a:t>
            </a:r>
          </a:p>
        </p:txBody>
      </p:sp>
      <p:sp>
        <p:nvSpPr>
          <p:cNvPr id="18" name="TextBox 17"/>
          <p:cNvSpPr txBox="1"/>
          <p:nvPr/>
        </p:nvSpPr>
        <p:spPr>
          <a:xfrm>
            <a:off x="2322576" y="2542032"/>
            <a:ext cx="914400" cy="237744"/>
          </a:xfrm>
          <a:prstGeom prst="rect">
            <a:avLst/>
          </a:prstGeom>
          <a:noFill/>
        </p:spPr>
        <p:txBody>
          <a:bodyPr wrap="square"/>
          <a:lstStyle/>
          <a:p>
            <a:pPr algn="l"/>
            <a:r>
              <a:rPr sz="1100" b="0" i="0">
                <a:solidFill>
                  <a:srgbClr val="334155"/>
                </a:solidFill>
                <a:latin typeface="Calibri"/>
              </a:rPr>
              <a:t>$3,497/mo</a:t>
            </a:r>
          </a:p>
        </p:txBody>
      </p:sp>
      <p:sp>
        <p:nvSpPr>
          <p:cNvPr id="19" name="Rectangle 18"/>
          <p:cNvSpPr/>
          <p:nvPr/>
        </p:nvSpPr>
        <p:spPr>
          <a:xfrm>
            <a:off x="2322576" y="2642615"/>
            <a:ext cx="804672" cy="9144"/>
          </a:xfrm>
          <a:prstGeom prst="rect">
            <a:avLst/>
          </a:prstGeom>
          <a:solidFill>
            <a:srgbClr val="334155"/>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75488" y="2907791"/>
            <a:ext cx="3803904" cy="201168"/>
          </a:xfrm>
          <a:prstGeom prst="rect">
            <a:avLst/>
          </a:prstGeom>
          <a:noFill/>
        </p:spPr>
        <p:txBody>
          <a:bodyPr wrap="square"/>
          <a:lstStyle/>
          <a:p>
            <a:pPr algn="l"/>
            <a:r>
              <a:rPr sz="800" b="0" i="0">
                <a:solidFill>
                  <a:srgbClr val="64748B"/>
                </a:solidFill>
                <a:latin typeface="Calibri"/>
              </a:rPr>
              <a:t>Weekly coaching · Intake framework · Hiring roadmap</a:t>
            </a:r>
          </a:p>
        </p:txBody>
      </p:sp>
      <p:sp>
        <p:nvSpPr>
          <p:cNvPr id="21" name="Rectangle 20"/>
          <p:cNvSpPr/>
          <p:nvPr/>
        </p:nvSpPr>
        <p:spPr>
          <a:xfrm>
            <a:off x="201168" y="3255264"/>
            <a:ext cx="4133087" cy="658368"/>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84048" y="3291840"/>
            <a:ext cx="1645920" cy="237744"/>
          </a:xfrm>
          <a:prstGeom prst="rect">
            <a:avLst/>
          </a:prstGeom>
          <a:noFill/>
        </p:spPr>
        <p:txBody>
          <a:bodyPr wrap="square"/>
          <a:lstStyle/>
          <a:p>
            <a:pPr algn="l"/>
            <a:r>
              <a:rPr sz="800" b="1" i="0">
                <a:solidFill>
                  <a:srgbClr val="7CA0C0"/>
                </a:solidFill>
                <a:latin typeface="Calibri"/>
              </a:rPr>
              <a:t>BUNDLE TOTAL</a:t>
            </a:r>
          </a:p>
        </p:txBody>
      </p:sp>
      <p:sp>
        <p:nvSpPr>
          <p:cNvPr id="23" name="TextBox 22"/>
          <p:cNvSpPr txBox="1"/>
          <p:nvPr/>
        </p:nvSpPr>
        <p:spPr>
          <a:xfrm>
            <a:off x="384048" y="3493008"/>
            <a:ext cx="2194560" cy="347472"/>
          </a:xfrm>
          <a:prstGeom prst="rect">
            <a:avLst/>
          </a:prstGeom>
          <a:noFill/>
        </p:spPr>
        <p:txBody>
          <a:bodyPr wrap="square"/>
          <a:lstStyle/>
          <a:p>
            <a:pPr algn="l"/>
            <a:r>
              <a:rPr sz="2200" b="1" i="0">
                <a:solidFill>
                  <a:srgbClr val="F5C400"/>
                </a:solidFill>
                <a:latin typeface="Calibri"/>
              </a:rPr>
              <a:t>$5,997 / mo</a:t>
            </a:r>
          </a:p>
        </p:txBody>
      </p:sp>
      <p:sp>
        <p:nvSpPr>
          <p:cNvPr id="24" name="TextBox 23"/>
          <p:cNvSpPr txBox="1"/>
          <p:nvPr/>
        </p:nvSpPr>
        <p:spPr>
          <a:xfrm>
            <a:off x="2670048" y="3493008"/>
            <a:ext cx="1737360" cy="347472"/>
          </a:xfrm>
          <a:prstGeom prst="rect">
            <a:avLst/>
          </a:prstGeom>
          <a:noFill/>
        </p:spPr>
        <p:txBody>
          <a:bodyPr wrap="square"/>
          <a:lstStyle/>
          <a:p>
            <a:pPr algn="l"/>
            <a:r>
              <a:rPr sz="800" b="0" i="0">
                <a:solidFill>
                  <a:srgbClr val="7CA0C0"/>
                </a:solidFill>
                <a:latin typeface="Calibri"/>
              </a:rPr>
              <a:t>Save $897/mo by bundling</a:t>
            </a:r>
          </a:p>
        </p:txBody>
      </p:sp>
      <p:sp>
        <p:nvSpPr>
          <p:cNvPr id="25" name="Rectangle 24"/>
          <p:cNvSpPr/>
          <p:nvPr/>
        </p:nvSpPr>
        <p:spPr>
          <a:xfrm>
            <a:off x="201168" y="3968496"/>
            <a:ext cx="4133087" cy="402336"/>
          </a:xfrm>
          <a:prstGeom prst="rect">
            <a:avLst/>
          </a:prstGeom>
          <a:solidFill>
            <a:srgbClr val="EEF2F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29184" y="3995928"/>
            <a:ext cx="3931920" cy="347472"/>
          </a:xfrm>
          <a:prstGeom prst="rect">
            <a:avLst/>
          </a:prstGeom>
          <a:noFill/>
        </p:spPr>
        <p:txBody>
          <a:bodyPr wrap="square"/>
          <a:lstStyle/>
          <a:p>
            <a:pPr algn="l"/>
            <a:r>
              <a:rPr sz="800" b="0" i="0">
                <a:solidFill>
                  <a:srgbClr val="64748B"/>
                </a:solidFill>
                <a:latin typeface="Calibri"/>
              </a:rPr>
              <a:t>+ Recommended ad spend: $5,500–$7,500/mo paid to Google/Meta</a:t>
            </a:r>
          </a:p>
        </p:txBody>
      </p:sp>
      <p:sp>
        <p:nvSpPr>
          <p:cNvPr id="27" name="Rectangle 26"/>
          <p:cNvSpPr/>
          <p:nvPr/>
        </p:nvSpPr>
        <p:spPr>
          <a:xfrm>
            <a:off x="4535424" y="1024128"/>
            <a:ext cx="4407408" cy="1316736"/>
          </a:xfrm>
          <a:prstGeom prst="rect">
            <a:avLst/>
          </a:prstGeom>
          <a:solidFill>
            <a:srgbClr val="ECFDF5"/>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700016" y="1078992"/>
            <a:ext cx="4133087" cy="219456"/>
          </a:xfrm>
          <a:prstGeom prst="rect">
            <a:avLst/>
          </a:prstGeom>
          <a:noFill/>
        </p:spPr>
        <p:txBody>
          <a:bodyPr wrap="square"/>
          <a:lstStyle/>
          <a:p>
            <a:pPr algn="l"/>
            <a:r>
              <a:rPr sz="800" b="1" i="0">
                <a:solidFill>
                  <a:srgbClr val="065F46"/>
                </a:solidFill>
                <a:latin typeface="Calibri"/>
              </a:rPr>
              <a:t>PROJECTED RETURN ON AD SPEND</a:t>
            </a:r>
          </a:p>
        </p:txBody>
      </p:sp>
      <p:sp>
        <p:nvSpPr>
          <p:cNvPr id="29" name="TextBox 28"/>
          <p:cNvSpPr txBox="1"/>
          <p:nvPr/>
        </p:nvSpPr>
        <p:spPr>
          <a:xfrm>
            <a:off x="4700016" y="1335024"/>
            <a:ext cx="1920240" cy="256032"/>
          </a:xfrm>
          <a:prstGeom prst="rect">
            <a:avLst/>
          </a:prstGeom>
          <a:noFill/>
        </p:spPr>
        <p:txBody>
          <a:bodyPr wrap="square"/>
          <a:lstStyle/>
          <a:p>
            <a:pPr algn="l"/>
            <a:r>
              <a:rPr sz="900" b="1" i="0">
                <a:solidFill>
                  <a:srgbClr val="1E293B"/>
                </a:solidFill>
                <a:latin typeface="Calibri"/>
              </a:rPr>
              <a:t>Average case value:</a:t>
            </a:r>
          </a:p>
        </p:txBody>
      </p:sp>
      <p:sp>
        <p:nvSpPr>
          <p:cNvPr id="30" name="TextBox 29"/>
          <p:cNvSpPr txBox="1"/>
          <p:nvPr/>
        </p:nvSpPr>
        <p:spPr>
          <a:xfrm>
            <a:off x="6729984" y="1335024"/>
            <a:ext cx="2103120" cy="256032"/>
          </a:xfrm>
          <a:prstGeom prst="rect">
            <a:avLst/>
          </a:prstGeom>
          <a:noFill/>
        </p:spPr>
        <p:txBody>
          <a:bodyPr wrap="square"/>
          <a:lstStyle/>
          <a:p>
            <a:pPr algn="l"/>
            <a:r>
              <a:rPr sz="900" b="0" i="0">
                <a:solidFill>
                  <a:srgbClr val="065F46"/>
                </a:solidFill>
                <a:latin typeface="Calibri"/>
              </a:rPr>
              <a:t>$4,000 (est.)</a:t>
            </a:r>
          </a:p>
        </p:txBody>
      </p:sp>
      <p:sp>
        <p:nvSpPr>
          <p:cNvPr id="31" name="Rectangle 30"/>
          <p:cNvSpPr/>
          <p:nvPr/>
        </p:nvSpPr>
        <p:spPr>
          <a:xfrm>
            <a:off x="4645152" y="1609344"/>
            <a:ext cx="4187952" cy="310896"/>
          </a:xfrm>
          <a:prstGeom prst="rect">
            <a:avLst/>
          </a:prstGeom>
          <a:solidFill>
            <a:srgbClr val="D1FAE5"/>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700016" y="1645920"/>
            <a:ext cx="1920240" cy="256032"/>
          </a:xfrm>
          <a:prstGeom prst="rect">
            <a:avLst/>
          </a:prstGeom>
          <a:noFill/>
        </p:spPr>
        <p:txBody>
          <a:bodyPr wrap="square"/>
          <a:lstStyle/>
          <a:p>
            <a:pPr algn="l"/>
            <a:r>
              <a:rPr sz="900" b="1" i="0">
                <a:solidFill>
                  <a:srgbClr val="1E293B"/>
                </a:solidFill>
                <a:latin typeface="Calibri"/>
              </a:rPr>
              <a:t>Conservative  (3–4 cases/mo):</a:t>
            </a:r>
          </a:p>
        </p:txBody>
      </p:sp>
      <p:sp>
        <p:nvSpPr>
          <p:cNvPr id="33" name="TextBox 32"/>
          <p:cNvSpPr txBox="1"/>
          <p:nvPr/>
        </p:nvSpPr>
        <p:spPr>
          <a:xfrm>
            <a:off x="6729984" y="1645920"/>
            <a:ext cx="2103120" cy="256032"/>
          </a:xfrm>
          <a:prstGeom prst="rect">
            <a:avLst/>
          </a:prstGeom>
          <a:noFill/>
        </p:spPr>
        <p:txBody>
          <a:bodyPr wrap="square"/>
          <a:lstStyle/>
          <a:p>
            <a:pPr algn="l"/>
            <a:r>
              <a:rPr sz="900" b="1" i="0">
                <a:solidFill>
                  <a:srgbClr val="065F46"/>
                </a:solidFill>
                <a:latin typeface="Calibri"/>
              </a:rPr>
              <a:t>~$14,000 revenue · 2.5× ROAS</a:t>
            </a:r>
          </a:p>
        </p:txBody>
      </p:sp>
      <p:sp>
        <p:nvSpPr>
          <p:cNvPr id="34" name="TextBox 33"/>
          <p:cNvSpPr txBox="1"/>
          <p:nvPr/>
        </p:nvSpPr>
        <p:spPr>
          <a:xfrm>
            <a:off x="4700016" y="1956816"/>
            <a:ext cx="1920240" cy="256032"/>
          </a:xfrm>
          <a:prstGeom prst="rect">
            <a:avLst/>
          </a:prstGeom>
          <a:noFill/>
        </p:spPr>
        <p:txBody>
          <a:bodyPr wrap="square"/>
          <a:lstStyle/>
          <a:p>
            <a:pPr algn="l"/>
            <a:r>
              <a:rPr sz="900" b="1" i="0">
                <a:solidFill>
                  <a:srgbClr val="1E293B"/>
                </a:solidFill>
                <a:latin typeface="Calibri"/>
              </a:rPr>
              <a:t>Aggressive  (5–6 cases/mo):</a:t>
            </a:r>
          </a:p>
        </p:txBody>
      </p:sp>
      <p:sp>
        <p:nvSpPr>
          <p:cNvPr id="35" name="TextBox 34"/>
          <p:cNvSpPr txBox="1"/>
          <p:nvPr/>
        </p:nvSpPr>
        <p:spPr>
          <a:xfrm>
            <a:off x="6729984" y="1956816"/>
            <a:ext cx="2103120" cy="256032"/>
          </a:xfrm>
          <a:prstGeom prst="rect">
            <a:avLst/>
          </a:prstGeom>
          <a:noFill/>
        </p:spPr>
        <p:txBody>
          <a:bodyPr wrap="square"/>
          <a:lstStyle/>
          <a:p>
            <a:pPr algn="l"/>
            <a:r>
              <a:rPr sz="900" b="1" i="0">
                <a:solidFill>
                  <a:srgbClr val="065F46"/>
                </a:solidFill>
                <a:latin typeface="Calibri"/>
              </a:rPr>
              <a:t>~$24,000 revenue · 3.1× ROAS</a:t>
            </a:r>
          </a:p>
        </p:txBody>
      </p:sp>
      <p:sp>
        <p:nvSpPr>
          <p:cNvPr id="36" name="TextBox 35"/>
          <p:cNvSpPr txBox="1"/>
          <p:nvPr/>
        </p:nvSpPr>
        <p:spPr>
          <a:xfrm>
            <a:off x="4535424" y="2468880"/>
            <a:ext cx="4407408" cy="237744"/>
          </a:xfrm>
          <a:prstGeom prst="rect">
            <a:avLst/>
          </a:prstGeom>
          <a:noFill/>
        </p:spPr>
        <p:txBody>
          <a:bodyPr wrap="square"/>
          <a:lstStyle/>
          <a:p>
            <a:pPr algn="l"/>
            <a:r>
              <a:rPr sz="800" b="1" i="0">
                <a:solidFill>
                  <a:srgbClr val="0D1F3C"/>
                </a:solidFill>
                <a:latin typeface="Calibri"/>
              </a:rPr>
              <a:t>WHAT HAPPENS IN THE FIRST 90 DAYS</a:t>
            </a:r>
          </a:p>
        </p:txBody>
      </p:sp>
      <p:sp>
        <p:nvSpPr>
          <p:cNvPr id="37" name="Rectangle 36"/>
          <p:cNvSpPr/>
          <p:nvPr/>
        </p:nvSpPr>
        <p:spPr>
          <a:xfrm>
            <a:off x="4590288" y="2724912"/>
            <a:ext cx="256032" cy="256032"/>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937760" y="2734056"/>
            <a:ext cx="804672" cy="256032"/>
          </a:xfrm>
          <a:prstGeom prst="rect">
            <a:avLst/>
          </a:prstGeom>
          <a:noFill/>
        </p:spPr>
        <p:txBody>
          <a:bodyPr wrap="square"/>
          <a:lstStyle/>
          <a:p>
            <a:pPr algn="l"/>
            <a:r>
              <a:rPr sz="800" b="1" i="0">
                <a:solidFill>
                  <a:srgbClr val="0D1F3C"/>
                </a:solidFill>
                <a:latin typeface="Calibri"/>
              </a:rPr>
              <a:t>Day 1</a:t>
            </a:r>
          </a:p>
        </p:txBody>
      </p:sp>
      <p:sp>
        <p:nvSpPr>
          <p:cNvPr id="39" name="TextBox 38"/>
          <p:cNvSpPr txBox="1"/>
          <p:nvPr/>
        </p:nvSpPr>
        <p:spPr>
          <a:xfrm>
            <a:off x="5815584" y="2734056"/>
            <a:ext cx="3054096" cy="256032"/>
          </a:xfrm>
          <a:prstGeom prst="rect">
            <a:avLst/>
          </a:prstGeom>
          <a:noFill/>
        </p:spPr>
        <p:txBody>
          <a:bodyPr wrap="square"/>
          <a:lstStyle/>
          <a:p>
            <a:pPr algn="l"/>
            <a:r>
              <a:rPr sz="800" b="0" i="0">
                <a:solidFill>
                  <a:srgbClr val="1E293B"/>
                </a:solidFill>
                <a:latin typeface="Calibri"/>
              </a:rPr>
              <a:t>Google Ads + LSA campaigns launch live</a:t>
            </a:r>
          </a:p>
        </p:txBody>
      </p:sp>
      <p:sp>
        <p:nvSpPr>
          <p:cNvPr id="40" name="Rectangle 39"/>
          <p:cNvSpPr/>
          <p:nvPr/>
        </p:nvSpPr>
        <p:spPr>
          <a:xfrm>
            <a:off x="4590288" y="3081528"/>
            <a:ext cx="256032" cy="256032"/>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937760" y="3090672"/>
            <a:ext cx="804672" cy="256032"/>
          </a:xfrm>
          <a:prstGeom prst="rect">
            <a:avLst/>
          </a:prstGeom>
          <a:noFill/>
        </p:spPr>
        <p:txBody>
          <a:bodyPr wrap="square"/>
          <a:lstStyle/>
          <a:p>
            <a:pPr algn="l"/>
            <a:r>
              <a:rPr sz="800" b="1" i="0">
                <a:solidFill>
                  <a:srgbClr val="0D1F3C"/>
                </a:solidFill>
                <a:latin typeface="Calibri"/>
              </a:rPr>
              <a:t>Day 14</a:t>
            </a:r>
          </a:p>
        </p:txBody>
      </p:sp>
      <p:sp>
        <p:nvSpPr>
          <p:cNvPr id="42" name="TextBox 41"/>
          <p:cNvSpPr txBox="1"/>
          <p:nvPr/>
        </p:nvSpPr>
        <p:spPr>
          <a:xfrm>
            <a:off x="5815584" y="3090672"/>
            <a:ext cx="3054096" cy="256032"/>
          </a:xfrm>
          <a:prstGeom prst="rect">
            <a:avLst/>
          </a:prstGeom>
          <a:noFill/>
        </p:spPr>
        <p:txBody>
          <a:bodyPr wrap="square"/>
          <a:lstStyle/>
          <a:p>
            <a:pPr algn="l"/>
            <a:r>
              <a:rPr sz="800" b="0" i="0">
                <a:solidFill>
                  <a:srgbClr val="1E293B"/>
                </a:solidFill>
                <a:latin typeface="Calibri"/>
              </a:rPr>
              <a:t>Website conversion updates go live</a:t>
            </a:r>
          </a:p>
        </p:txBody>
      </p:sp>
      <p:sp>
        <p:nvSpPr>
          <p:cNvPr id="43" name="Rectangle 42"/>
          <p:cNvSpPr/>
          <p:nvPr/>
        </p:nvSpPr>
        <p:spPr>
          <a:xfrm>
            <a:off x="4590288" y="3438144"/>
            <a:ext cx="256032" cy="256032"/>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4937760" y="3447287"/>
            <a:ext cx="804672" cy="256032"/>
          </a:xfrm>
          <a:prstGeom prst="rect">
            <a:avLst/>
          </a:prstGeom>
          <a:noFill/>
        </p:spPr>
        <p:txBody>
          <a:bodyPr wrap="square"/>
          <a:lstStyle/>
          <a:p>
            <a:pPr algn="l"/>
            <a:r>
              <a:rPr sz="800" b="1" i="0">
                <a:solidFill>
                  <a:srgbClr val="0D1F3C"/>
                </a:solidFill>
                <a:latin typeface="Calibri"/>
              </a:rPr>
              <a:t>Week 2</a:t>
            </a:r>
          </a:p>
        </p:txBody>
      </p:sp>
      <p:sp>
        <p:nvSpPr>
          <p:cNvPr id="45" name="TextBox 44"/>
          <p:cNvSpPr txBox="1"/>
          <p:nvPr/>
        </p:nvSpPr>
        <p:spPr>
          <a:xfrm>
            <a:off x="5815584" y="3447287"/>
            <a:ext cx="3054096" cy="256032"/>
          </a:xfrm>
          <a:prstGeom prst="rect">
            <a:avLst/>
          </a:prstGeom>
          <a:noFill/>
        </p:spPr>
        <p:txBody>
          <a:bodyPr wrap="square"/>
          <a:lstStyle/>
          <a:p>
            <a:pPr algn="l"/>
            <a:r>
              <a:rPr sz="800" b="0" i="0">
                <a:solidFill>
                  <a:srgbClr val="1E293B"/>
                </a:solidFill>
                <a:latin typeface="Calibri"/>
              </a:rPr>
              <a:t>Review outreach campaign begins</a:t>
            </a:r>
          </a:p>
        </p:txBody>
      </p:sp>
      <p:sp>
        <p:nvSpPr>
          <p:cNvPr id="46" name="Rectangle 45"/>
          <p:cNvSpPr/>
          <p:nvPr/>
        </p:nvSpPr>
        <p:spPr>
          <a:xfrm>
            <a:off x="4590288" y="3794760"/>
            <a:ext cx="256032" cy="256032"/>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4937760" y="3803904"/>
            <a:ext cx="804672" cy="256032"/>
          </a:xfrm>
          <a:prstGeom prst="rect">
            <a:avLst/>
          </a:prstGeom>
          <a:noFill/>
        </p:spPr>
        <p:txBody>
          <a:bodyPr wrap="square"/>
          <a:lstStyle/>
          <a:p>
            <a:pPr algn="l"/>
            <a:r>
              <a:rPr sz="800" b="1" i="0">
                <a:solidFill>
                  <a:srgbClr val="0D1F3C"/>
                </a:solidFill>
                <a:latin typeface="Calibri"/>
              </a:rPr>
              <a:t>Week 3</a:t>
            </a:r>
          </a:p>
        </p:txBody>
      </p:sp>
      <p:sp>
        <p:nvSpPr>
          <p:cNvPr id="48" name="TextBox 47"/>
          <p:cNvSpPr txBox="1"/>
          <p:nvPr/>
        </p:nvSpPr>
        <p:spPr>
          <a:xfrm>
            <a:off x="5815584" y="3803904"/>
            <a:ext cx="3054096" cy="256032"/>
          </a:xfrm>
          <a:prstGeom prst="rect">
            <a:avLst/>
          </a:prstGeom>
          <a:noFill/>
        </p:spPr>
        <p:txBody>
          <a:bodyPr wrap="square"/>
          <a:lstStyle/>
          <a:p>
            <a:pPr algn="l"/>
            <a:r>
              <a:rPr sz="800" b="0" i="0">
                <a:solidFill>
                  <a:srgbClr val="1E293B"/>
                </a:solidFill>
                <a:latin typeface="Calibri"/>
              </a:rPr>
              <a:t>Directory audit + Avvo completed</a:t>
            </a:r>
          </a:p>
        </p:txBody>
      </p:sp>
      <p:sp>
        <p:nvSpPr>
          <p:cNvPr id="49" name="Rectangle 48"/>
          <p:cNvSpPr/>
          <p:nvPr/>
        </p:nvSpPr>
        <p:spPr>
          <a:xfrm>
            <a:off x="4590288" y="4151376"/>
            <a:ext cx="256032" cy="256032"/>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4937760" y="4160520"/>
            <a:ext cx="804672" cy="256032"/>
          </a:xfrm>
          <a:prstGeom prst="rect">
            <a:avLst/>
          </a:prstGeom>
          <a:noFill/>
        </p:spPr>
        <p:txBody>
          <a:bodyPr wrap="square"/>
          <a:lstStyle/>
          <a:p>
            <a:pPr algn="l"/>
            <a:r>
              <a:rPr sz="800" b="1" i="0">
                <a:solidFill>
                  <a:srgbClr val="0D1F3C"/>
                </a:solidFill>
                <a:latin typeface="Calibri"/>
              </a:rPr>
              <a:t>Month 3</a:t>
            </a:r>
          </a:p>
        </p:txBody>
      </p:sp>
      <p:sp>
        <p:nvSpPr>
          <p:cNvPr id="51" name="TextBox 50"/>
          <p:cNvSpPr txBox="1"/>
          <p:nvPr/>
        </p:nvSpPr>
        <p:spPr>
          <a:xfrm>
            <a:off x="5815584" y="4160520"/>
            <a:ext cx="3054096" cy="256032"/>
          </a:xfrm>
          <a:prstGeom prst="rect">
            <a:avLst/>
          </a:prstGeom>
          <a:noFill/>
        </p:spPr>
        <p:txBody>
          <a:bodyPr wrap="square"/>
          <a:lstStyle/>
          <a:p>
            <a:pPr algn="l"/>
            <a:r>
              <a:rPr sz="800" b="0" i="0">
                <a:solidFill>
                  <a:srgbClr val="1E293B"/>
                </a:solidFill>
                <a:latin typeface="Calibri"/>
              </a:rPr>
              <a:t>75+ reviews target; LSA fully competitive</a:t>
            </a:r>
          </a:p>
        </p:txBody>
      </p:sp>
      <p:sp>
        <p:nvSpPr>
          <p:cNvPr id="52" name="Rectangle 51"/>
          <p:cNvSpPr/>
          <p:nvPr/>
        </p:nvSpPr>
        <p:spPr>
          <a:xfrm>
            <a:off x="0" y="4425696"/>
            <a:ext cx="9144000" cy="402336"/>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274320" y="4425696"/>
            <a:ext cx="8595360" cy="402336"/>
          </a:xfrm>
          <a:prstGeom prst="rect">
            <a:avLst/>
          </a:prstGeom>
          <a:noFill/>
        </p:spPr>
        <p:txBody>
          <a:bodyPr wrap="square"/>
          <a:lstStyle/>
          <a:p>
            <a:pPr algn="ctr"/>
            <a:r>
              <a:rPr sz="900" b="0" i="1">
                <a:solidFill>
                  <a:srgbClr val="8BADD0"/>
                </a:solidFill>
                <a:latin typeface="Calibri"/>
              </a:rPr>
              <a:t>"When the phone rings because the system is working — not because you knew the right people — that is the firm we are building for you."</a:t>
            </a:r>
          </a:p>
        </p:txBody>
      </p:sp>
      <p:sp>
        <p:nvSpPr>
          <p:cNvPr id="54" name="Rectangle 53"/>
          <p:cNvSpPr/>
          <p:nvPr/>
        </p:nvSpPr>
        <p:spPr>
          <a:xfrm>
            <a:off x="0" y="4828032"/>
            <a:ext cx="9144000" cy="320040"/>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5" name="Picture 54" descr="smb_team_logo.png"/>
          <p:cNvPicPr>
            <a:picLocks noChangeAspect="1"/>
          </p:cNvPicPr>
          <p:nvPr/>
        </p:nvPicPr>
        <p:blipFill>
          <a:blip r:embed="rId2"/>
          <a:stretch>
            <a:fillRect/>
          </a:stretch>
        </p:blipFill>
        <p:spPr>
          <a:xfrm>
            <a:off x="201168" y="4837176"/>
            <a:ext cx="1170432" cy="237744"/>
          </a:xfrm>
          <a:prstGeom prst="rect">
            <a:avLst/>
          </a:prstGeom>
        </p:spPr>
      </p:pic>
      <p:sp>
        <p:nvSpPr>
          <p:cNvPr id="56" name="TextBox 55"/>
          <p:cNvSpPr txBox="1"/>
          <p:nvPr/>
        </p:nvSpPr>
        <p:spPr>
          <a:xfrm>
            <a:off x="1609344" y="4837176"/>
            <a:ext cx="5303520" cy="274320"/>
          </a:xfrm>
          <a:prstGeom prst="rect">
            <a:avLst/>
          </a:prstGeom>
          <a:noFill/>
        </p:spPr>
        <p:txBody>
          <a:bodyPr wrap="square"/>
          <a:lstStyle/>
          <a:p>
            <a:pPr algn="l"/>
            <a:r>
              <a:rPr sz="800" b="0" i="0">
                <a:solidFill>
                  <a:srgbClr val="5A7A9A"/>
                </a:solidFill>
                <a:latin typeface="Calibri"/>
              </a:rPr>
              <a:t>CONFIDENTIAL  ·  Prepared by Nick Holderman | SMB Team</a:t>
            </a:r>
          </a:p>
        </p:txBody>
      </p:sp>
      <p:sp>
        <p:nvSpPr>
          <p:cNvPr id="57" name="TextBox 56"/>
          <p:cNvSpPr txBox="1"/>
          <p:nvPr/>
        </p:nvSpPr>
        <p:spPr>
          <a:xfrm>
            <a:off x="8138160" y="4837176"/>
            <a:ext cx="786384" cy="274320"/>
          </a:xfrm>
          <a:prstGeom prst="rect">
            <a:avLst/>
          </a:prstGeom>
          <a:noFill/>
        </p:spPr>
        <p:txBody>
          <a:bodyPr wrap="square"/>
          <a:lstStyle/>
          <a:p>
            <a:pPr algn="r"/>
            <a:r>
              <a:rPr sz="800" b="0" i="0">
                <a:solidFill>
                  <a:srgbClr val="5A7A9A"/>
                </a:solidFill>
                <a:latin typeface="Calibri"/>
              </a:rPr>
              <a:t>3 / 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