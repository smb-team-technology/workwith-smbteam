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fntdata" ContentType="application/x-fontdata"/>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7"/>
    <p:sldId id="257" r:id="rId8"/>
    <p:sldId id="258" r:id="rId9"/>
  </p:sldIdLst>
  <p:sldSz cx="9144000" cy="5143500" type="screen4x3"/>
  <p:notesSz cx="6858000" cy="9144000"/>
  <p:embeddedFontLst>
    <p:embeddedFont>
      <p:font typeface="Poppins"/>
      <p:regular r:id="rIdEmbedFont1"/>
      <p:bold r:id="rIdEmbedFont2"/>
      <p:italic r:id="rIdEmbedFont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EmbedFont1" Type="http://schemas.openxmlformats.org/officeDocument/2006/relationships/font" Target="fonts/font1.fntdata"/><Relationship Id="rIdEmbedFont2" Type="http://schemas.openxmlformats.org/officeDocument/2006/relationships/font" Target="fonts/font2.fntdata"/><Relationship Id="rIdEmbedFont3"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7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84124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41248"/>
            <a:ext cx="9144000" cy="36576"/>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182880"/>
            <a:ext cx="5486400" cy="164592"/>
          </a:xfrm>
          <a:prstGeom prst="rect">
            <a:avLst/>
          </a:prstGeom>
          <a:noFill/>
        </p:spPr>
        <p:txBody>
          <a:bodyPr wrap="square">
            <a:normAutofit/>
          </a:bodyPr>
          <a:lstStyle/>
          <a:p>
            <a:pPr algn="l"/>
            <a:r>
              <a:rPr sz="750" b="1" i="0">
                <a:solidFill>
                  <a:srgbClr val="69CD2B"/>
                </a:solidFill>
                <a:latin typeface="Poppins"/>
              </a:rPr>
              <a:t>LAW FIRM GROWTH AUDIT  ·  KHK FAMILY LAW &amp; DIVORCE</a:t>
            </a:r>
          </a:p>
        </p:txBody>
      </p:sp>
      <p:sp>
        <p:nvSpPr>
          <p:cNvPr id="6" name="TextBox 5"/>
          <p:cNvSpPr txBox="1"/>
          <p:nvPr/>
        </p:nvSpPr>
        <p:spPr>
          <a:xfrm>
            <a:off x="292608" y="365760"/>
            <a:ext cx="6309360" cy="365760"/>
          </a:xfrm>
          <a:prstGeom prst="rect">
            <a:avLst/>
          </a:prstGeom>
          <a:noFill/>
        </p:spPr>
        <p:txBody>
          <a:bodyPr wrap="square">
            <a:normAutofit/>
          </a:bodyPr>
          <a:lstStyle/>
          <a:p>
            <a:pPr algn="l"/>
            <a:r>
              <a:rPr sz="2000" b="1" i="0">
                <a:solidFill>
                  <a:srgbClr val="FFFFFF"/>
                </a:solidFill>
                <a:latin typeface="Poppins"/>
              </a:rPr>
              <a:t>Where KHK Family Law &amp; Divorce Stands Today</a:t>
            </a:r>
          </a:p>
        </p:txBody>
      </p:sp>
      <p:sp>
        <p:nvSpPr>
          <p:cNvPr id="7" name="Rectangle 6"/>
          <p:cNvSpPr/>
          <p:nvPr/>
        </p:nvSpPr>
        <p:spPr>
          <a:xfrm>
            <a:off x="6784848" y="164592"/>
            <a:ext cx="2066543" cy="512064"/>
          </a:xfrm>
          <a:prstGeom prst="rect">
            <a:avLst/>
          </a:prstGeom>
          <a:solidFill>
            <a:srgbClr val="0B4C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31152" y="210312"/>
            <a:ext cx="384048" cy="384048"/>
          </a:xfrm>
          <a:prstGeom prst="rect">
            <a:avLst/>
          </a:prstGeom>
          <a:noFill/>
        </p:spPr>
        <p:txBody>
          <a:bodyPr wrap="square">
            <a:normAutofit/>
          </a:bodyPr>
          <a:lstStyle/>
          <a:p>
            <a:pPr algn="ctr"/>
            <a:r>
              <a:rPr sz="2100" b="1" i="0">
                <a:solidFill>
                  <a:srgbClr val="FFFFFF"/>
                </a:solidFill>
                <a:latin typeface="Poppins"/>
              </a:rPr>
              <a:t>6</a:t>
            </a:r>
          </a:p>
        </p:txBody>
      </p:sp>
      <p:sp>
        <p:nvSpPr>
          <p:cNvPr id="9" name="TextBox 8"/>
          <p:cNvSpPr txBox="1"/>
          <p:nvPr/>
        </p:nvSpPr>
        <p:spPr>
          <a:xfrm>
            <a:off x="7351775" y="274320"/>
            <a:ext cx="1417320" cy="164592"/>
          </a:xfrm>
          <a:prstGeom prst="rect">
            <a:avLst/>
          </a:prstGeom>
          <a:noFill/>
        </p:spPr>
        <p:txBody>
          <a:bodyPr wrap="square">
            <a:normAutofit/>
          </a:bodyPr>
          <a:lstStyle/>
          <a:p>
            <a:pPr algn="l"/>
            <a:r>
              <a:rPr sz="700" b="1" i="0">
                <a:solidFill>
                  <a:srgbClr val="69CD2B"/>
                </a:solidFill>
                <a:latin typeface="Poppins"/>
              </a:rPr>
              <a:t>COMPETITIVE URGENCY</a:t>
            </a:r>
          </a:p>
        </p:txBody>
      </p:sp>
      <p:sp>
        <p:nvSpPr>
          <p:cNvPr id="10" name="TextBox 9"/>
          <p:cNvSpPr txBox="1"/>
          <p:nvPr/>
        </p:nvSpPr>
        <p:spPr>
          <a:xfrm>
            <a:off x="7351775" y="429768"/>
            <a:ext cx="1417320" cy="164592"/>
          </a:xfrm>
          <a:prstGeom prst="rect">
            <a:avLst/>
          </a:prstGeom>
          <a:noFill/>
        </p:spPr>
        <p:txBody>
          <a:bodyPr wrap="square">
            <a:normAutofit/>
          </a:bodyPr>
          <a:lstStyle/>
          <a:p>
            <a:pPr algn="l"/>
            <a:r>
              <a:rPr sz="700" b="0" i="0">
                <a:solidFill>
                  <a:srgbClr val="9CC0D6"/>
                </a:solidFill>
                <a:latin typeface="Poppins"/>
              </a:rPr>
              <a:t>Score out of 10</a:t>
            </a:r>
          </a:p>
        </p:txBody>
      </p:sp>
      <p:sp>
        <p:nvSpPr>
          <p:cNvPr id="11" name="Rectangle 10"/>
          <p:cNvSpPr/>
          <p:nvPr/>
        </p:nvSpPr>
        <p:spPr>
          <a:xfrm>
            <a:off x="274320" y="1005840"/>
            <a:ext cx="2066543" cy="87782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005840"/>
            <a:ext cx="2066543" cy="36576"/>
          </a:xfrm>
          <a:prstGeom prst="rect">
            <a:avLst/>
          </a:prstGeom>
          <a:solidFill>
            <a:srgbClr val="B5770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3" y="1152144"/>
            <a:ext cx="1773936" cy="219456"/>
          </a:xfrm>
          <a:prstGeom prst="rect">
            <a:avLst/>
          </a:prstGeom>
          <a:noFill/>
        </p:spPr>
        <p:txBody>
          <a:bodyPr wrap="square">
            <a:normAutofit/>
          </a:bodyPr>
          <a:lstStyle/>
          <a:p>
            <a:pPr algn="l"/>
            <a:r>
              <a:rPr sz="1200" b="1" i="0">
                <a:solidFill>
                  <a:srgbClr val="1B2A38"/>
                </a:solidFill>
                <a:latin typeface="Poppins"/>
              </a:rPr>
              <a:t>Lead Generation</a:t>
            </a:r>
          </a:p>
        </p:txBody>
      </p:sp>
      <p:sp>
        <p:nvSpPr>
          <p:cNvPr id="14" name="Rounded Rectangle 13"/>
          <p:cNvSpPr/>
          <p:nvPr/>
        </p:nvSpPr>
        <p:spPr>
          <a:xfrm>
            <a:off x="420623" y="1426464"/>
            <a:ext cx="585216" cy="173736"/>
          </a:xfrm>
          <a:prstGeom prst="roundRect">
            <a:avLst/>
          </a:prstGeom>
          <a:solidFill>
            <a:srgbClr val="FDF4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3" y="1426464"/>
            <a:ext cx="585216" cy="173736"/>
          </a:xfrm>
          <a:prstGeom prst="rect">
            <a:avLst/>
          </a:prstGeom>
          <a:noFill/>
        </p:spPr>
        <p:txBody>
          <a:bodyPr wrap="square">
            <a:normAutofit/>
          </a:bodyPr>
          <a:lstStyle/>
          <a:p>
            <a:pPr algn="ctr"/>
            <a:r>
              <a:rPr sz="750" b="1" i="0">
                <a:solidFill>
                  <a:srgbClr val="B5770B"/>
                </a:solidFill>
                <a:latin typeface="Poppins"/>
              </a:rPr>
              <a:t>AMBER</a:t>
            </a:r>
          </a:p>
        </p:txBody>
      </p:sp>
      <p:sp>
        <p:nvSpPr>
          <p:cNvPr id="16" name="TextBox 15"/>
          <p:cNvSpPr txBox="1"/>
          <p:nvPr/>
        </p:nvSpPr>
        <p:spPr>
          <a:xfrm>
            <a:off x="420623" y="1664208"/>
            <a:ext cx="1773936" cy="201168"/>
          </a:xfrm>
          <a:prstGeom prst="rect">
            <a:avLst/>
          </a:prstGeom>
          <a:noFill/>
        </p:spPr>
        <p:txBody>
          <a:bodyPr wrap="square">
            <a:normAutofit/>
          </a:bodyPr>
          <a:lstStyle/>
          <a:p>
            <a:pPr algn="l"/>
            <a:r>
              <a:rPr sz="950" b="0" i="0">
                <a:solidFill>
                  <a:srgbClr val="7C8D9B"/>
                </a:solidFill>
                <a:latin typeface="Poppins"/>
              </a:rPr>
              <a:t>~20 of 40 cases signed a month</a:t>
            </a:r>
          </a:p>
        </p:txBody>
      </p:sp>
      <p:sp>
        <p:nvSpPr>
          <p:cNvPr id="17" name="Rectangle 16"/>
          <p:cNvSpPr/>
          <p:nvPr/>
        </p:nvSpPr>
        <p:spPr>
          <a:xfrm>
            <a:off x="2450592" y="1005840"/>
            <a:ext cx="2066543" cy="87782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50592" y="1005840"/>
            <a:ext cx="2066543" cy="36576"/>
          </a:xfrm>
          <a:prstGeom prst="rect">
            <a:avLst/>
          </a:prstGeom>
          <a:solidFill>
            <a:srgbClr val="B5770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96896" y="1152144"/>
            <a:ext cx="1773936" cy="219456"/>
          </a:xfrm>
          <a:prstGeom prst="rect">
            <a:avLst/>
          </a:prstGeom>
          <a:noFill/>
        </p:spPr>
        <p:txBody>
          <a:bodyPr wrap="square">
            <a:normAutofit/>
          </a:bodyPr>
          <a:lstStyle/>
          <a:p>
            <a:pPr algn="l"/>
            <a:r>
              <a:rPr sz="1200" b="1" i="0">
                <a:solidFill>
                  <a:srgbClr val="1B2A38"/>
                </a:solidFill>
                <a:latin typeface="Poppins"/>
              </a:rPr>
              <a:t>Intake</a:t>
            </a:r>
          </a:p>
        </p:txBody>
      </p:sp>
      <p:sp>
        <p:nvSpPr>
          <p:cNvPr id="20" name="Rounded Rectangle 19"/>
          <p:cNvSpPr/>
          <p:nvPr/>
        </p:nvSpPr>
        <p:spPr>
          <a:xfrm>
            <a:off x="2596896" y="1426464"/>
            <a:ext cx="585216" cy="173736"/>
          </a:xfrm>
          <a:prstGeom prst="roundRect">
            <a:avLst/>
          </a:prstGeom>
          <a:solidFill>
            <a:srgbClr val="FDF4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96896" y="1426464"/>
            <a:ext cx="585216" cy="173736"/>
          </a:xfrm>
          <a:prstGeom prst="rect">
            <a:avLst/>
          </a:prstGeom>
          <a:noFill/>
        </p:spPr>
        <p:txBody>
          <a:bodyPr wrap="square">
            <a:normAutofit/>
          </a:bodyPr>
          <a:lstStyle/>
          <a:p>
            <a:pPr algn="ctr"/>
            <a:r>
              <a:rPr sz="750" b="1" i="0">
                <a:solidFill>
                  <a:srgbClr val="B5770B"/>
                </a:solidFill>
                <a:latin typeface="Poppins"/>
              </a:rPr>
              <a:t>AMBER</a:t>
            </a:r>
          </a:p>
        </p:txBody>
      </p:sp>
      <p:sp>
        <p:nvSpPr>
          <p:cNvPr id="22" name="TextBox 21"/>
          <p:cNvSpPr txBox="1"/>
          <p:nvPr/>
        </p:nvSpPr>
        <p:spPr>
          <a:xfrm>
            <a:off x="2596896" y="1664208"/>
            <a:ext cx="1773936" cy="201168"/>
          </a:xfrm>
          <a:prstGeom prst="rect">
            <a:avLst/>
          </a:prstGeom>
          <a:noFill/>
        </p:spPr>
        <p:txBody>
          <a:bodyPr wrap="square">
            <a:normAutofit/>
          </a:bodyPr>
          <a:lstStyle/>
          <a:p>
            <a:pPr algn="l"/>
            <a:r>
              <a:rPr sz="950" b="0" i="0">
                <a:solidFill>
                  <a:srgbClr val="7C8D9B"/>
                </a:solidFill>
                <a:latin typeface="Poppins"/>
              </a:rPr>
              <a:t>Conversion rate not tracked</a:t>
            </a:r>
          </a:p>
        </p:txBody>
      </p:sp>
      <p:sp>
        <p:nvSpPr>
          <p:cNvPr id="23" name="Rectangle 22"/>
          <p:cNvSpPr/>
          <p:nvPr/>
        </p:nvSpPr>
        <p:spPr>
          <a:xfrm>
            <a:off x="4636008" y="1005840"/>
            <a:ext cx="2066543" cy="87782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36008" y="1005840"/>
            <a:ext cx="2066543" cy="36576"/>
          </a:xfrm>
          <a:prstGeom prst="rect">
            <a:avLst/>
          </a:prstGeom>
          <a:solidFill>
            <a:srgbClr val="B5770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82312" y="1152144"/>
            <a:ext cx="1773936" cy="219456"/>
          </a:xfrm>
          <a:prstGeom prst="rect">
            <a:avLst/>
          </a:prstGeom>
          <a:noFill/>
        </p:spPr>
        <p:txBody>
          <a:bodyPr wrap="square">
            <a:normAutofit/>
          </a:bodyPr>
          <a:lstStyle/>
          <a:p>
            <a:pPr algn="l"/>
            <a:r>
              <a:rPr sz="1200" b="1" i="0">
                <a:solidFill>
                  <a:srgbClr val="1B2A38"/>
                </a:solidFill>
                <a:latin typeface="Poppins"/>
              </a:rPr>
              <a:t>Team</a:t>
            </a:r>
          </a:p>
        </p:txBody>
      </p:sp>
      <p:sp>
        <p:nvSpPr>
          <p:cNvPr id="26" name="Rounded Rectangle 25"/>
          <p:cNvSpPr/>
          <p:nvPr/>
        </p:nvSpPr>
        <p:spPr>
          <a:xfrm>
            <a:off x="4782312" y="1426464"/>
            <a:ext cx="585216" cy="173736"/>
          </a:xfrm>
          <a:prstGeom prst="roundRect">
            <a:avLst/>
          </a:prstGeom>
          <a:solidFill>
            <a:srgbClr val="FDF4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1426464"/>
            <a:ext cx="585216" cy="173736"/>
          </a:xfrm>
          <a:prstGeom prst="rect">
            <a:avLst/>
          </a:prstGeom>
          <a:noFill/>
        </p:spPr>
        <p:txBody>
          <a:bodyPr wrap="square">
            <a:normAutofit/>
          </a:bodyPr>
          <a:lstStyle/>
          <a:p>
            <a:pPr algn="ctr"/>
            <a:r>
              <a:rPr sz="750" b="1" i="0">
                <a:solidFill>
                  <a:srgbClr val="B5770B"/>
                </a:solidFill>
                <a:latin typeface="Poppins"/>
              </a:rPr>
              <a:t>AMBER</a:t>
            </a:r>
          </a:p>
        </p:txBody>
      </p:sp>
      <p:sp>
        <p:nvSpPr>
          <p:cNvPr id="28" name="TextBox 27"/>
          <p:cNvSpPr txBox="1"/>
          <p:nvPr/>
        </p:nvSpPr>
        <p:spPr>
          <a:xfrm>
            <a:off x="4782312" y="1664208"/>
            <a:ext cx="1773936" cy="201168"/>
          </a:xfrm>
          <a:prstGeom prst="rect">
            <a:avLst/>
          </a:prstGeom>
          <a:noFill/>
        </p:spPr>
        <p:txBody>
          <a:bodyPr wrap="square">
            <a:normAutofit/>
          </a:bodyPr>
          <a:lstStyle/>
          <a:p>
            <a:pPr algn="l"/>
            <a:r>
              <a:rPr sz="950" b="0" i="0">
                <a:solidFill>
                  <a:srgbClr val="7C8D9B"/>
                </a:solidFill>
                <a:latin typeface="Poppins"/>
              </a:rPr>
              <a:t>CEO handoff rests on one person</a:t>
            </a:r>
          </a:p>
        </p:txBody>
      </p:sp>
      <p:sp>
        <p:nvSpPr>
          <p:cNvPr id="29" name="Rectangle 28"/>
          <p:cNvSpPr/>
          <p:nvPr/>
        </p:nvSpPr>
        <p:spPr>
          <a:xfrm>
            <a:off x="6812280" y="1005840"/>
            <a:ext cx="2066543" cy="87782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12280" y="1005840"/>
            <a:ext cx="2066543" cy="36576"/>
          </a:xfrm>
          <a:prstGeom prst="rect">
            <a:avLst/>
          </a:prstGeom>
          <a:solidFill>
            <a:srgbClr val="B32D2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58584" y="1152144"/>
            <a:ext cx="1773936" cy="219456"/>
          </a:xfrm>
          <a:prstGeom prst="rect">
            <a:avLst/>
          </a:prstGeom>
          <a:noFill/>
        </p:spPr>
        <p:txBody>
          <a:bodyPr wrap="square">
            <a:normAutofit/>
          </a:bodyPr>
          <a:lstStyle/>
          <a:p>
            <a:pPr algn="l"/>
            <a:r>
              <a:rPr sz="1200" b="1" i="0">
                <a:solidFill>
                  <a:srgbClr val="1B2A38"/>
                </a:solidFill>
                <a:latin typeface="Poppins"/>
              </a:rPr>
              <a:t>Profit Plan</a:t>
            </a:r>
          </a:p>
        </p:txBody>
      </p:sp>
      <p:sp>
        <p:nvSpPr>
          <p:cNvPr id="32" name="Rounded Rectangle 31"/>
          <p:cNvSpPr/>
          <p:nvPr/>
        </p:nvSpPr>
        <p:spPr>
          <a:xfrm>
            <a:off x="6958584" y="1426464"/>
            <a:ext cx="585216" cy="173736"/>
          </a:xfrm>
          <a:prstGeom prst="roundRect">
            <a:avLst/>
          </a:prstGeom>
          <a:solidFill>
            <a:srgbClr val="FB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58584" y="1426464"/>
            <a:ext cx="585216" cy="173736"/>
          </a:xfrm>
          <a:prstGeom prst="rect">
            <a:avLst/>
          </a:prstGeom>
          <a:noFill/>
        </p:spPr>
        <p:txBody>
          <a:bodyPr wrap="square">
            <a:normAutofit/>
          </a:bodyPr>
          <a:lstStyle/>
          <a:p>
            <a:pPr algn="ctr"/>
            <a:r>
              <a:rPr sz="750" b="1" i="0">
                <a:solidFill>
                  <a:srgbClr val="B32D2D"/>
                </a:solidFill>
                <a:latin typeface="Poppins"/>
              </a:rPr>
              <a:t>CRITICAL</a:t>
            </a:r>
          </a:p>
        </p:txBody>
      </p:sp>
      <p:sp>
        <p:nvSpPr>
          <p:cNvPr id="34" name="TextBox 33"/>
          <p:cNvSpPr txBox="1"/>
          <p:nvPr/>
        </p:nvSpPr>
        <p:spPr>
          <a:xfrm>
            <a:off x="6958584" y="1664208"/>
            <a:ext cx="1773936" cy="201168"/>
          </a:xfrm>
          <a:prstGeom prst="rect">
            <a:avLst/>
          </a:prstGeom>
          <a:noFill/>
        </p:spPr>
        <p:txBody>
          <a:bodyPr wrap="square">
            <a:normAutofit/>
          </a:bodyPr>
          <a:lstStyle/>
          <a:p>
            <a:pPr algn="l"/>
            <a:r>
              <a:rPr sz="950" b="0" i="0">
                <a:solidFill>
                  <a:srgbClr val="7C8D9B"/>
                </a:solidFill>
                <a:latin typeface="Poppins"/>
              </a:rPr>
              <a:t>15% net, no profit KPIs</a:t>
            </a:r>
          </a:p>
        </p:txBody>
      </p:sp>
      <p:sp>
        <p:nvSpPr>
          <p:cNvPr id="35" name="TextBox 34"/>
          <p:cNvSpPr txBox="1"/>
          <p:nvPr/>
        </p:nvSpPr>
        <p:spPr>
          <a:xfrm>
            <a:off x="274320" y="2011680"/>
            <a:ext cx="4297680" cy="164592"/>
          </a:xfrm>
          <a:prstGeom prst="rect">
            <a:avLst/>
          </a:prstGeom>
          <a:noFill/>
        </p:spPr>
        <p:txBody>
          <a:bodyPr wrap="square">
            <a:normAutofit/>
          </a:bodyPr>
          <a:lstStyle/>
          <a:p>
            <a:pPr algn="l"/>
            <a:r>
              <a:rPr sz="750" b="1" i="0">
                <a:solidFill>
                  <a:srgbClr val="003A59"/>
                </a:solidFill>
                <a:latin typeface="Poppins"/>
              </a:rPr>
              <a:t>KEY FINDINGS</a:t>
            </a:r>
          </a:p>
        </p:txBody>
      </p:sp>
      <p:sp>
        <p:nvSpPr>
          <p:cNvPr id="36" name="Rectangle 35"/>
          <p:cNvSpPr/>
          <p:nvPr/>
        </p:nvSpPr>
        <p:spPr>
          <a:xfrm>
            <a:off x="274320" y="2267712"/>
            <a:ext cx="4315968" cy="5577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74320" y="2267712"/>
            <a:ext cx="36576" cy="557784"/>
          </a:xfrm>
          <a:prstGeom prst="rect">
            <a:avLst/>
          </a:prstGeom>
          <a:solidFill>
            <a:srgbClr val="B32D2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29768" y="2459736"/>
            <a:ext cx="164592" cy="164592"/>
          </a:xfrm>
          <a:prstGeom prst="roundRect">
            <a:avLst/>
          </a:prstGeom>
          <a:solidFill>
            <a:srgbClr val="B3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469270" y="2499238"/>
            <a:ext cx="85587" cy="85587"/>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69270" y="2499238"/>
            <a:ext cx="85587" cy="85587"/>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85800" y="2386584"/>
            <a:ext cx="3447288" cy="374904"/>
          </a:xfrm>
          <a:prstGeom prst="rect">
            <a:avLst/>
          </a:prstGeom>
          <a:noFill/>
        </p:spPr>
        <p:txBody>
          <a:bodyPr wrap="square">
            <a:normAutofit/>
          </a:bodyPr>
          <a:lstStyle/>
          <a:p>
            <a:pPr algn="l"/>
            <a:r>
              <a:rPr sz="850" b="0" i="0">
                <a:solidFill>
                  <a:srgbClr val="4A5C6B"/>
                </a:solidFill>
                <a:latin typeface="Poppins"/>
              </a:rPr>
              <a:t>Half the 40-case goal is unmet: ads aren't aimed at high-value divorce cases</a:t>
            </a:r>
          </a:p>
        </p:txBody>
      </p:sp>
      <p:sp>
        <p:nvSpPr>
          <p:cNvPr id="42" name="Rectangle 41"/>
          <p:cNvSpPr/>
          <p:nvPr/>
        </p:nvSpPr>
        <p:spPr>
          <a:xfrm>
            <a:off x="274320" y="2889504"/>
            <a:ext cx="4315968" cy="5577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74320" y="2889504"/>
            <a:ext cx="36576" cy="557784"/>
          </a:xfrm>
          <a:prstGeom prst="rect">
            <a:avLst/>
          </a:prstGeom>
          <a:solidFill>
            <a:srgbClr val="B32D2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29768" y="3081528"/>
            <a:ext cx="164592" cy="164592"/>
          </a:xfrm>
          <a:prstGeom prst="roundRect">
            <a:avLst/>
          </a:prstGeom>
          <a:solidFill>
            <a:srgbClr val="B3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469270" y="3121030"/>
            <a:ext cx="85587" cy="85587"/>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69270" y="3121030"/>
            <a:ext cx="85587" cy="85587"/>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85800" y="3008376"/>
            <a:ext cx="3447288" cy="374904"/>
          </a:xfrm>
          <a:prstGeom prst="rect">
            <a:avLst/>
          </a:prstGeom>
          <a:noFill/>
        </p:spPr>
        <p:txBody>
          <a:bodyPr wrap="square">
            <a:normAutofit/>
          </a:bodyPr>
          <a:lstStyle/>
          <a:p>
            <a:pPr algn="l"/>
            <a:r>
              <a:rPr sz="850" b="0" i="0">
                <a:solidFill>
                  <a:srgbClr val="4A5C6B"/>
                </a:solidFill>
                <a:latin typeface="Poppins"/>
              </a:rPr>
              <a:t>Net profit is ~15% on $2M+ revenue, and no P&amp;L guides decisions</a:t>
            </a:r>
          </a:p>
        </p:txBody>
      </p:sp>
      <p:sp>
        <p:nvSpPr>
          <p:cNvPr id="48" name="Rectangle 47"/>
          <p:cNvSpPr/>
          <p:nvPr/>
        </p:nvSpPr>
        <p:spPr>
          <a:xfrm>
            <a:off x="274320" y="3511296"/>
            <a:ext cx="4315968" cy="5577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74320" y="3511296"/>
            <a:ext cx="36576" cy="557784"/>
          </a:xfrm>
          <a:prstGeom prst="rect">
            <a:avLst/>
          </a:prstGeom>
          <a:solidFill>
            <a:srgbClr val="B32D2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29768" y="3703320"/>
            <a:ext cx="164592" cy="164592"/>
          </a:xfrm>
          <a:prstGeom prst="roundRect">
            <a:avLst/>
          </a:prstGeom>
          <a:solidFill>
            <a:srgbClr val="B3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469270" y="3742822"/>
            <a:ext cx="85587" cy="85587"/>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69270" y="3742822"/>
            <a:ext cx="85587" cy="85587"/>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85800" y="3630168"/>
            <a:ext cx="3447288" cy="374904"/>
          </a:xfrm>
          <a:prstGeom prst="rect">
            <a:avLst/>
          </a:prstGeom>
          <a:noFill/>
        </p:spPr>
        <p:txBody>
          <a:bodyPr wrap="square">
            <a:normAutofit/>
          </a:bodyPr>
          <a:lstStyle/>
          <a:p>
            <a:pPr algn="l"/>
            <a:r>
              <a:rPr sz="850" b="0" i="0">
                <a:solidFill>
                  <a:srgbClr val="4A5C6B"/>
                </a:solidFill>
                <a:latin typeface="Poppins"/>
              </a:rPr>
              <a:t>Mobile speed scores 26/100, so searches and paid clicks can be lost</a:t>
            </a:r>
          </a:p>
        </p:txBody>
      </p:sp>
      <p:sp>
        <p:nvSpPr>
          <p:cNvPr id="54" name="Rectangle 53"/>
          <p:cNvSpPr/>
          <p:nvPr/>
        </p:nvSpPr>
        <p:spPr>
          <a:xfrm>
            <a:off x="274320" y="4133087"/>
            <a:ext cx="4315968" cy="5577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74320" y="4133087"/>
            <a:ext cx="36576" cy="557784"/>
          </a:xfrm>
          <a:prstGeom prst="rect">
            <a:avLst/>
          </a:prstGeom>
          <a:solidFill>
            <a:srgbClr val="3F8F1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429768" y="4325112"/>
            <a:ext cx="164592" cy="164592"/>
          </a:xfrm>
          <a:prstGeom prst="roundRect">
            <a:avLst/>
          </a:prstGeom>
          <a:solidFill>
            <a:srgbClr val="3F8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465978" y="4415637"/>
            <a:ext cx="32918" cy="31273"/>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98896" y="4367905"/>
            <a:ext cx="62545" cy="79005"/>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85800" y="4251959"/>
            <a:ext cx="3447288" cy="374904"/>
          </a:xfrm>
          <a:prstGeom prst="rect">
            <a:avLst/>
          </a:prstGeom>
          <a:noFill/>
        </p:spPr>
        <p:txBody>
          <a:bodyPr wrap="square">
            <a:normAutofit/>
          </a:bodyPr>
          <a:lstStyle/>
          <a:p>
            <a:pPr algn="l"/>
            <a:r>
              <a:rPr sz="850" b="0" i="0">
                <a:solidFill>
                  <a:srgbClr val="4A5C6B"/>
                </a:solidFill>
                <a:latin typeface="Poppins"/>
              </a:rPr>
              <a:t>7 attorneys, 9 staff, and an equity-partner plan form a real leadership bench</a:t>
            </a:r>
          </a:p>
        </p:txBody>
      </p:sp>
      <p:sp>
        <p:nvSpPr>
          <p:cNvPr id="60" name="Rectangle 59"/>
          <p:cNvSpPr/>
          <p:nvPr/>
        </p:nvSpPr>
        <p:spPr>
          <a:xfrm>
            <a:off x="4828032" y="2011680"/>
            <a:ext cx="4041648" cy="676656"/>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828032" y="2011680"/>
            <a:ext cx="36576" cy="676656"/>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10912" y="2130552"/>
            <a:ext cx="3675887" cy="146304"/>
          </a:xfrm>
          <a:prstGeom prst="rect">
            <a:avLst/>
          </a:prstGeom>
          <a:noFill/>
        </p:spPr>
        <p:txBody>
          <a:bodyPr wrap="square">
            <a:normAutofit/>
          </a:bodyPr>
          <a:lstStyle/>
          <a:p>
            <a:pPr algn="l"/>
            <a:r>
              <a:rPr sz="750" b="1" i="0">
                <a:solidFill>
                  <a:srgbClr val="69CD2B"/>
                </a:solidFill>
                <a:latin typeface="Poppins"/>
              </a:rPr>
              <a:t>YOU ARE HERE</a:t>
            </a:r>
          </a:p>
        </p:txBody>
      </p:sp>
      <p:sp>
        <p:nvSpPr>
          <p:cNvPr id="63" name="TextBox 62"/>
          <p:cNvSpPr txBox="1"/>
          <p:nvPr/>
        </p:nvSpPr>
        <p:spPr>
          <a:xfrm>
            <a:off x="5010912" y="2322576"/>
            <a:ext cx="3675887" cy="310896"/>
          </a:xfrm>
          <a:prstGeom prst="rect">
            <a:avLst/>
          </a:prstGeom>
          <a:noFill/>
        </p:spPr>
        <p:txBody>
          <a:bodyPr wrap="square">
            <a:normAutofit/>
          </a:bodyPr>
          <a:lstStyle/>
          <a:p>
            <a:pPr algn="l"/>
            <a:r>
              <a:rPr sz="1000" b="1" i="0">
                <a:solidFill>
                  <a:srgbClr val="FFFFFF"/>
                </a:solidFill>
                <a:latin typeface="Poppins"/>
              </a:rPr>
              <a:t>Stage 4: Small Business Manager  →  Goal: Stage 6, Law Firm Owner</a:t>
            </a:r>
          </a:p>
        </p:txBody>
      </p:sp>
      <p:sp>
        <p:nvSpPr>
          <p:cNvPr id="64" name="TextBox 63"/>
          <p:cNvSpPr txBox="1"/>
          <p:nvPr/>
        </p:nvSpPr>
        <p:spPr>
          <a:xfrm>
            <a:off x="4828032" y="2871216"/>
            <a:ext cx="4041648" cy="164592"/>
          </a:xfrm>
          <a:prstGeom prst="rect">
            <a:avLst/>
          </a:prstGeom>
          <a:noFill/>
        </p:spPr>
        <p:txBody>
          <a:bodyPr wrap="square">
            <a:normAutofit/>
          </a:bodyPr>
          <a:lstStyle/>
          <a:p>
            <a:pPr algn="l"/>
            <a:r>
              <a:rPr sz="750" b="1" i="0">
                <a:solidFill>
                  <a:srgbClr val="003A59"/>
                </a:solidFill>
                <a:latin typeface="Poppins"/>
              </a:rPr>
              <a:t>COMPETITOR LANDSCAPE</a:t>
            </a:r>
          </a:p>
        </p:txBody>
      </p:sp>
      <p:sp>
        <p:nvSpPr>
          <p:cNvPr id="65" name="Rectangle 64"/>
          <p:cNvSpPr/>
          <p:nvPr/>
        </p:nvSpPr>
        <p:spPr>
          <a:xfrm>
            <a:off x="4828032" y="3127248"/>
            <a:ext cx="4041648" cy="35661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992624" y="3127248"/>
            <a:ext cx="1627632" cy="356616"/>
          </a:xfrm>
          <a:prstGeom prst="rect">
            <a:avLst/>
          </a:prstGeom>
          <a:noFill/>
        </p:spPr>
        <p:txBody>
          <a:bodyPr wrap="square">
            <a:normAutofit/>
          </a:bodyPr>
          <a:lstStyle/>
          <a:p>
            <a:pPr algn="l"/>
            <a:r>
              <a:rPr sz="850" b="0" i="0">
                <a:solidFill>
                  <a:srgbClr val="1B2A38"/>
                </a:solidFill>
                <a:latin typeface="Poppins"/>
              </a:rPr>
              <a:t>Merel Family Law</a:t>
            </a:r>
          </a:p>
        </p:txBody>
      </p:sp>
      <p:sp>
        <p:nvSpPr>
          <p:cNvPr id="67" name="TextBox 66"/>
          <p:cNvSpPr txBox="1"/>
          <p:nvPr/>
        </p:nvSpPr>
        <p:spPr>
          <a:xfrm>
            <a:off x="6638544" y="3127248"/>
            <a:ext cx="1353312" cy="356616"/>
          </a:xfrm>
          <a:prstGeom prst="rect">
            <a:avLst/>
          </a:prstGeom>
          <a:noFill/>
        </p:spPr>
        <p:txBody>
          <a:bodyPr wrap="square">
            <a:normAutofit/>
          </a:bodyPr>
          <a:lstStyle/>
          <a:p>
            <a:pPr algn="l"/>
            <a:r>
              <a:rPr sz="800" b="0" i="0">
                <a:solidFill>
                  <a:srgbClr val="3F8F1A"/>
                </a:solidFill>
                <a:latin typeface="Poppins"/>
              </a:rPr>
              <a:t>Larger review base</a:t>
            </a:r>
          </a:p>
        </p:txBody>
      </p:sp>
      <p:sp>
        <p:nvSpPr>
          <p:cNvPr id="68" name="TextBox 67"/>
          <p:cNvSpPr txBox="1"/>
          <p:nvPr/>
        </p:nvSpPr>
        <p:spPr>
          <a:xfrm>
            <a:off x="8028431" y="3127248"/>
            <a:ext cx="731520" cy="356616"/>
          </a:xfrm>
          <a:prstGeom prst="rect">
            <a:avLst/>
          </a:prstGeom>
          <a:noFill/>
        </p:spPr>
        <p:txBody>
          <a:bodyPr wrap="square">
            <a:normAutofit/>
          </a:bodyPr>
          <a:lstStyle/>
          <a:p>
            <a:pPr algn="l"/>
            <a:r>
              <a:rPr sz="700" b="0" i="0">
                <a:solidFill>
                  <a:srgbClr val="7C8D9B"/>
                </a:solidFill>
                <a:latin typeface="Poppins"/>
              </a:rPr>
              <a:t>HNW divorce page</a:t>
            </a:r>
          </a:p>
        </p:txBody>
      </p:sp>
      <p:sp>
        <p:nvSpPr>
          <p:cNvPr id="69" name="Rectangle 68"/>
          <p:cNvSpPr/>
          <p:nvPr/>
        </p:nvSpPr>
        <p:spPr>
          <a:xfrm>
            <a:off x="4828032" y="3529584"/>
            <a:ext cx="4041648" cy="35661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992624" y="3529584"/>
            <a:ext cx="1627632" cy="356616"/>
          </a:xfrm>
          <a:prstGeom prst="rect">
            <a:avLst/>
          </a:prstGeom>
          <a:noFill/>
        </p:spPr>
        <p:txBody>
          <a:bodyPr wrap="square">
            <a:normAutofit/>
          </a:bodyPr>
          <a:lstStyle/>
          <a:p>
            <a:pPr algn="l"/>
            <a:r>
              <a:rPr sz="850" b="0" i="0">
                <a:solidFill>
                  <a:srgbClr val="1B2A38"/>
                </a:solidFill>
                <a:latin typeface="Poppins"/>
              </a:rPr>
              <a:t>Arami Law</a:t>
            </a:r>
          </a:p>
        </p:txBody>
      </p:sp>
      <p:sp>
        <p:nvSpPr>
          <p:cNvPr id="71" name="TextBox 70"/>
          <p:cNvSpPr txBox="1"/>
          <p:nvPr/>
        </p:nvSpPr>
        <p:spPr>
          <a:xfrm>
            <a:off x="6638544" y="3529584"/>
            <a:ext cx="1353312" cy="356616"/>
          </a:xfrm>
          <a:prstGeom prst="rect">
            <a:avLst/>
          </a:prstGeom>
          <a:noFill/>
        </p:spPr>
        <p:txBody>
          <a:bodyPr wrap="square">
            <a:normAutofit/>
          </a:bodyPr>
          <a:lstStyle/>
          <a:p>
            <a:pPr algn="l"/>
            <a:r>
              <a:rPr sz="800" b="0" i="0">
                <a:solidFill>
                  <a:srgbClr val="3F8F1A"/>
                </a:solidFill>
                <a:latin typeface="Poppins"/>
              </a:rPr>
              <a:t>Larger review base</a:t>
            </a:r>
          </a:p>
        </p:txBody>
      </p:sp>
      <p:sp>
        <p:nvSpPr>
          <p:cNvPr id="72" name="TextBox 71"/>
          <p:cNvSpPr txBox="1"/>
          <p:nvPr/>
        </p:nvSpPr>
        <p:spPr>
          <a:xfrm>
            <a:off x="8028431" y="3529584"/>
            <a:ext cx="731520" cy="356616"/>
          </a:xfrm>
          <a:prstGeom prst="rect">
            <a:avLst/>
          </a:prstGeom>
          <a:noFill/>
        </p:spPr>
        <p:txBody>
          <a:bodyPr wrap="square">
            <a:normAutofit/>
          </a:bodyPr>
          <a:lstStyle/>
          <a:p>
            <a:pPr algn="l"/>
            <a:r>
              <a:rPr sz="700" b="0" i="0">
                <a:solidFill>
                  <a:srgbClr val="7C8D9B"/>
                </a:solidFill>
                <a:latin typeface="Poppins"/>
              </a:rPr>
              <a:t>Chicago family law</a:t>
            </a:r>
          </a:p>
        </p:txBody>
      </p:sp>
      <p:sp>
        <p:nvSpPr>
          <p:cNvPr id="73" name="Rectangle 72"/>
          <p:cNvSpPr/>
          <p:nvPr/>
        </p:nvSpPr>
        <p:spPr>
          <a:xfrm>
            <a:off x="4828032" y="3931920"/>
            <a:ext cx="4041648" cy="35661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992624" y="3931920"/>
            <a:ext cx="1627632" cy="356616"/>
          </a:xfrm>
          <a:prstGeom prst="rect">
            <a:avLst/>
          </a:prstGeom>
          <a:noFill/>
        </p:spPr>
        <p:txBody>
          <a:bodyPr wrap="square">
            <a:normAutofit/>
          </a:bodyPr>
          <a:lstStyle/>
          <a:p>
            <a:pPr algn="l"/>
            <a:r>
              <a:rPr sz="850" b="0" i="0">
                <a:solidFill>
                  <a:srgbClr val="1B2A38"/>
                </a:solidFill>
                <a:latin typeface="Poppins"/>
              </a:rPr>
              <a:t>STG Divorce Law</a:t>
            </a:r>
          </a:p>
        </p:txBody>
      </p:sp>
      <p:sp>
        <p:nvSpPr>
          <p:cNvPr id="75" name="TextBox 74"/>
          <p:cNvSpPr txBox="1"/>
          <p:nvPr/>
        </p:nvSpPr>
        <p:spPr>
          <a:xfrm>
            <a:off x="6638544" y="3931920"/>
            <a:ext cx="1353312" cy="356616"/>
          </a:xfrm>
          <a:prstGeom prst="rect">
            <a:avLst/>
          </a:prstGeom>
          <a:noFill/>
        </p:spPr>
        <p:txBody>
          <a:bodyPr wrap="square">
            <a:normAutofit/>
          </a:bodyPr>
          <a:lstStyle/>
          <a:p>
            <a:pPr algn="l"/>
            <a:r>
              <a:rPr sz="800" b="0" i="0">
                <a:solidFill>
                  <a:srgbClr val="3F8F1A"/>
                </a:solidFill>
                <a:latin typeface="Poppins"/>
              </a:rPr>
              <a:t>Larger review base</a:t>
            </a:r>
          </a:p>
        </p:txBody>
      </p:sp>
      <p:sp>
        <p:nvSpPr>
          <p:cNvPr id="76" name="TextBox 75"/>
          <p:cNvSpPr txBox="1"/>
          <p:nvPr/>
        </p:nvSpPr>
        <p:spPr>
          <a:xfrm>
            <a:off x="8028431" y="3931920"/>
            <a:ext cx="731520" cy="356616"/>
          </a:xfrm>
          <a:prstGeom prst="rect">
            <a:avLst/>
          </a:prstGeom>
          <a:noFill/>
        </p:spPr>
        <p:txBody>
          <a:bodyPr wrap="square">
            <a:normAutofit/>
          </a:bodyPr>
          <a:lstStyle/>
          <a:p>
            <a:pPr algn="l"/>
            <a:r>
              <a:rPr sz="700" b="0" i="0">
                <a:solidFill>
                  <a:srgbClr val="7C8D9B"/>
                </a:solidFill>
                <a:latin typeface="Poppins"/>
              </a:rPr>
              <a:t>Downtown + suburbs</a:t>
            </a:r>
          </a:p>
        </p:txBody>
      </p:sp>
      <p:sp>
        <p:nvSpPr>
          <p:cNvPr id="77" name="Rectangle 76"/>
          <p:cNvSpPr/>
          <p:nvPr/>
        </p:nvSpPr>
        <p:spPr>
          <a:xfrm>
            <a:off x="4828032" y="4334256"/>
            <a:ext cx="4041648" cy="356616"/>
          </a:xfrm>
          <a:prstGeom prst="rect">
            <a:avLst/>
          </a:prstGeom>
          <a:solidFill>
            <a:srgbClr val="FBEEE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828032" y="4334256"/>
            <a:ext cx="36576" cy="356616"/>
          </a:xfrm>
          <a:prstGeom prst="rect">
            <a:avLst/>
          </a:prstGeom>
          <a:solidFill>
            <a:srgbClr val="B32D2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992624" y="4334256"/>
            <a:ext cx="1627632" cy="356616"/>
          </a:xfrm>
          <a:prstGeom prst="rect">
            <a:avLst/>
          </a:prstGeom>
          <a:noFill/>
        </p:spPr>
        <p:txBody>
          <a:bodyPr wrap="square">
            <a:normAutofit/>
          </a:bodyPr>
          <a:lstStyle/>
          <a:p>
            <a:pPr algn="l"/>
            <a:r>
              <a:rPr sz="850" b="1" i="0">
                <a:solidFill>
                  <a:srgbClr val="B32D2D"/>
                </a:solidFill>
                <a:latin typeface="Poppins"/>
              </a:rPr>
              <a:t>KHK Family Law &amp; Divorce</a:t>
            </a:r>
          </a:p>
        </p:txBody>
      </p:sp>
      <p:sp>
        <p:nvSpPr>
          <p:cNvPr id="80" name="TextBox 79"/>
          <p:cNvSpPr txBox="1"/>
          <p:nvPr/>
        </p:nvSpPr>
        <p:spPr>
          <a:xfrm>
            <a:off x="6638544" y="4334256"/>
            <a:ext cx="1353312" cy="356616"/>
          </a:xfrm>
          <a:prstGeom prst="rect">
            <a:avLst/>
          </a:prstGeom>
          <a:noFill/>
        </p:spPr>
        <p:txBody>
          <a:bodyPr wrap="square">
            <a:normAutofit/>
          </a:bodyPr>
          <a:lstStyle/>
          <a:p>
            <a:pPr algn="l"/>
            <a:r>
              <a:rPr sz="800" b="1" i="0">
                <a:solidFill>
                  <a:srgbClr val="B32D2D"/>
                </a:solidFill>
                <a:latin typeface="Poppins"/>
              </a:rPr>
              <a:t>Smaller review base</a:t>
            </a:r>
          </a:p>
        </p:txBody>
      </p:sp>
      <p:sp>
        <p:nvSpPr>
          <p:cNvPr id="81" name="TextBox 80"/>
          <p:cNvSpPr txBox="1"/>
          <p:nvPr/>
        </p:nvSpPr>
        <p:spPr>
          <a:xfrm>
            <a:off x="8028431" y="4334256"/>
            <a:ext cx="731520" cy="356616"/>
          </a:xfrm>
          <a:prstGeom prst="rect">
            <a:avLst/>
          </a:prstGeom>
          <a:noFill/>
        </p:spPr>
        <p:txBody>
          <a:bodyPr wrap="square">
            <a:normAutofit/>
          </a:bodyPr>
          <a:lstStyle/>
          <a:p>
            <a:pPr algn="l"/>
            <a:r>
              <a:rPr sz="700" b="0" i="0">
                <a:solidFill>
                  <a:srgbClr val="7C8D9B"/>
                </a:solidFill>
                <a:latin typeface="Poppins"/>
              </a:rPr>
              <a:t>← You are here</a:t>
            </a:r>
          </a:p>
        </p:txBody>
      </p:sp>
      <p:sp>
        <p:nvSpPr>
          <p:cNvPr id="82" name="Rectangle 81"/>
          <p:cNvSpPr/>
          <p:nvPr/>
        </p:nvSpPr>
        <p:spPr>
          <a:xfrm>
            <a:off x="0" y="4818888"/>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417320" y="4892040"/>
            <a:ext cx="4937760" cy="182880"/>
          </a:xfrm>
          <a:prstGeom prst="rect">
            <a:avLst/>
          </a:prstGeom>
          <a:noFill/>
        </p:spPr>
        <p:txBody>
          <a:bodyPr wrap="square">
            <a:normAutofit/>
          </a:bodyPr>
          <a:lstStyle/>
          <a:p>
            <a:pPr algn="l"/>
            <a:r>
              <a:rPr sz="700" b="0" i="0">
                <a:solidFill>
                  <a:srgbClr val="8FB2C6"/>
                </a:solidFill>
                <a:latin typeface="Poppins"/>
              </a:rPr>
              <a:t>CONFIDENTIAL  ·  PREPARED BY MICHAEL KOPP | SMB TEAM</a:t>
            </a:r>
          </a:p>
        </p:txBody>
      </p:sp>
      <p:sp>
        <p:nvSpPr>
          <p:cNvPr id="84" name="TextBox 83"/>
          <p:cNvSpPr txBox="1"/>
          <p:nvPr/>
        </p:nvSpPr>
        <p:spPr>
          <a:xfrm>
            <a:off x="7680960" y="4892040"/>
            <a:ext cx="1188720" cy="182880"/>
          </a:xfrm>
          <a:prstGeom prst="rect">
            <a:avLst/>
          </a:prstGeom>
          <a:noFill/>
        </p:spPr>
        <p:txBody>
          <a:bodyPr wrap="square">
            <a:normAutofit/>
          </a:bodyPr>
          <a:lstStyle/>
          <a:p>
            <a:pPr algn="r"/>
            <a:r>
              <a:rPr sz="700" b="0" i="0">
                <a:solidFill>
                  <a:srgbClr val="8FB2C6"/>
                </a:solidFill>
                <a:latin typeface="Poppins"/>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7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84124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41248"/>
            <a:ext cx="9144000" cy="36576"/>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182880"/>
            <a:ext cx="5486400" cy="164592"/>
          </a:xfrm>
          <a:prstGeom prst="rect">
            <a:avLst/>
          </a:prstGeom>
          <a:noFill/>
        </p:spPr>
        <p:txBody>
          <a:bodyPr wrap="square">
            <a:normAutofit/>
          </a:bodyPr>
          <a:lstStyle/>
          <a:p>
            <a:pPr algn="l"/>
            <a:r>
              <a:rPr sz="750" b="1" i="0">
                <a:solidFill>
                  <a:srgbClr val="69CD2B"/>
                </a:solidFill>
                <a:latin typeface="Poppins"/>
              </a:rPr>
              <a:t>LAW FIRM GROWTH AUDIT  ·  KHK FAMILY LAW &amp; DIVORCE</a:t>
            </a:r>
          </a:p>
        </p:txBody>
      </p:sp>
      <p:sp>
        <p:nvSpPr>
          <p:cNvPr id="6" name="TextBox 5"/>
          <p:cNvSpPr txBox="1"/>
          <p:nvPr/>
        </p:nvSpPr>
        <p:spPr>
          <a:xfrm>
            <a:off x="292608" y="365760"/>
            <a:ext cx="8503920" cy="365760"/>
          </a:xfrm>
          <a:prstGeom prst="rect">
            <a:avLst/>
          </a:prstGeom>
          <a:noFill/>
        </p:spPr>
        <p:txBody>
          <a:bodyPr wrap="square">
            <a:normAutofit/>
          </a:bodyPr>
          <a:lstStyle/>
          <a:p>
            <a:pPr algn="l"/>
            <a:r>
              <a:rPr sz="2000" b="1" i="0">
                <a:solidFill>
                  <a:srgbClr val="FFFFFF"/>
                </a:solidFill>
                <a:latin typeface="Poppins"/>
              </a:rPr>
              <a:t>Your Growth Plan: 3 Priorities to Reach 40 Cases a Month</a:t>
            </a:r>
          </a:p>
        </p:txBody>
      </p:sp>
      <p:sp>
        <p:nvSpPr>
          <p:cNvPr id="7" name="Rectangle 6"/>
          <p:cNvSpPr/>
          <p:nvPr/>
        </p:nvSpPr>
        <p:spPr>
          <a:xfrm>
            <a:off x="274320" y="1005840"/>
            <a:ext cx="2212848" cy="228600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05840"/>
            <a:ext cx="2212848" cy="36576"/>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70432"/>
            <a:ext cx="1847088" cy="146304"/>
          </a:xfrm>
          <a:prstGeom prst="rect">
            <a:avLst/>
          </a:prstGeom>
          <a:noFill/>
        </p:spPr>
        <p:txBody>
          <a:bodyPr wrap="square">
            <a:normAutofit/>
          </a:bodyPr>
          <a:lstStyle/>
          <a:p>
            <a:pPr algn="l"/>
            <a:r>
              <a:rPr sz="750" b="1" i="0">
                <a:solidFill>
                  <a:srgbClr val="69CD2B"/>
                </a:solidFill>
                <a:latin typeface="Poppins"/>
              </a:rPr>
              <a:t>THE SMB TEAM MODEL</a:t>
            </a:r>
          </a:p>
        </p:txBody>
      </p:sp>
      <p:sp>
        <p:nvSpPr>
          <p:cNvPr id="10" name="TextBox 9"/>
          <p:cNvSpPr txBox="1"/>
          <p:nvPr/>
        </p:nvSpPr>
        <p:spPr>
          <a:xfrm>
            <a:off x="457200" y="1426464"/>
            <a:ext cx="1847088" cy="1737360"/>
          </a:xfrm>
          <a:prstGeom prst="rect">
            <a:avLst/>
          </a:prstGeom>
          <a:noFill/>
        </p:spPr>
        <p:txBody>
          <a:bodyPr wrap="square">
            <a:normAutofit/>
          </a:bodyPr>
          <a:lstStyle/>
          <a:p>
            <a:pPr algn="l"/>
            <a:r>
              <a:rPr sz="850" b="0" i="0">
                <a:solidFill>
                  <a:srgbClr val="B8CDDD"/>
                </a:solidFill>
                <a:latin typeface="Poppins"/>
              </a:rPr>
              <a:t>Growth stalls unless lead flow, intake, team, and profit all work together. When all four pillars work, Matthew can finally lead as CEO and give his energy to ending attorney burnout.</a:t>
            </a:r>
          </a:p>
        </p:txBody>
      </p:sp>
      <p:sp>
        <p:nvSpPr>
          <p:cNvPr id="11" name="Rectangle 10"/>
          <p:cNvSpPr/>
          <p:nvPr/>
        </p:nvSpPr>
        <p:spPr>
          <a:xfrm>
            <a:off x="274320" y="3456432"/>
            <a:ext cx="2212848" cy="1124712"/>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621024"/>
            <a:ext cx="1847088" cy="475488"/>
          </a:xfrm>
          <a:prstGeom prst="rect">
            <a:avLst/>
          </a:prstGeom>
          <a:noFill/>
        </p:spPr>
        <p:txBody>
          <a:bodyPr wrap="square">
            <a:normAutofit/>
          </a:bodyPr>
          <a:lstStyle/>
          <a:p>
            <a:pPr algn="l"/>
            <a:r>
              <a:rPr sz="1200" b="1" i="0">
                <a:solidFill>
                  <a:srgbClr val="143306"/>
                </a:solidFill>
                <a:latin typeface="Poppins"/>
              </a:rPr>
              <a:t>$2M → $10M revenue</a:t>
            </a:r>
          </a:p>
        </p:txBody>
      </p:sp>
      <p:sp>
        <p:nvSpPr>
          <p:cNvPr id="13" name="TextBox 12"/>
          <p:cNvSpPr txBox="1"/>
          <p:nvPr/>
        </p:nvSpPr>
        <p:spPr>
          <a:xfrm>
            <a:off x="457200" y="4133087"/>
            <a:ext cx="1847088" cy="310896"/>
          </a:xfrm>
          <a:prstGeom prst="rect">
            <a:avLst/>
          </a:prstGeom>
          <a:noFill/>
        </p:spPr>
        <p:txBody>
          <a:bodyPr wrap="square">
            <a:normAutofit/>
          </a:bodyPr>
          <a:lstStyle/>
          <a:p>
            <a:pPr algn="l"/>
            <a:r>
              <a:rPr sz="850" b="0" i="0">
                <a:solidFill>
                  <a:srgbClr val="1F470C"/>
                </a:solidFill>
                <a:latin typeface="Poppins"/>
              </a:rPr>
              <a:t>Lead as CEO and champion your mission</a:t>
            </a:r>
          </a:p>
        </p:txBody>
      </p:sp>
      <p:sp>
        <p:nvSpPr>
          <p:cNvPr id="14" name="Rectangle 13"/>
          <p:cNvSpPr/>
          <p:nvPr/>
        </p:nvSpPr>
        <p:spPr>
          <a:xfrm>
            <a:off x="2670048" y="1005840"/>
            <a:ext cx="2066543" cy="84124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1097280"/>
            <a:ext cx="457200" cy="219456"/>
          </a:xfrm>
          <a:prstGeom prst="rect">
            <a:avLst/>
          </a:prstGeom>
          <a:noFill/>
        </p:spPr>
        <p:txBody>
          <a:bodyPr wrap="square">
            <a:normAutofit/>
          </a:bodyPr>
          <a:lstStyle/>
          <a:p>
            <a:pPr algn="l"/>
            <a:r>
              <a:rPr sz="1300" b="1" i="0">
                <a:solidFill>
                  <a:srgbClr val="FFFFFF"/>
                </a:solidFill>
                <a:latin typeface="Poppins"/>
              </a:rPr>
              <a:t>01</a:t>
            </a:r>
          </a:p>
        </p:txBody>
      </p:sp>
      <p:sp>
        <p:nvSpPr>
          <p:cNvPr id="16" name="TextBox 15"/>
          <p:cNvSpPr txBox="1"/>
          <p:nvPr/>
        </p:nvSpPr>
        <p:spPr>
          <a:xfrm>
            <a:off x="2834640" y="1316736"/>
            <a:ext cx="1828800" cy="219456"/>
          </a:xfrm>
          <a:prstGeom prst="rect">
            <a:avLst/>
          </a:prstGeom>
          <a:noFill/>
        </p:spPr>
        <p:txBody>
          <a:bodyPr wrap="square">
            <a:normAutofit/>
          </a:bodyPr>
          <a:lstStyle/>
          <a:p>
            <a:pPr algn="l"/>
            <a:r>
              <a:rPr sz="1400" b="1" i="0">
                <a:solidFill>
                  <a:srgbClr val="FFFFFF"/>
                </a:solidFill>
                <a:latin typeface="Poppins"/>
              </a:rPr>
              <a:t>Build the</a:t>
            </a:r>
          </a:p>
        </p:txBody>
      </p:sp>
      <p:sp>
        <p:nvSpPr>
          <p:cNvPr id="17" name="TextBox 16"/>
          <p:cNvSpPr txBox="1"/>
          <p:nvPr/>
        </p:nvSpPr>
        <p:spPr>
          <a:xfrm>
            <a:off x="2834640" y="1536192"/>
            <a:ext cx="1828800" cy="219456"/>
          </a:xfrm>
          <a:prstGeom prst="rect">
            <a:avLst/>
          </a:prstGeom>
          <a:noFill/>
        </p:spPr>
        <p:txBody>
          <a:bodyPr wrap="square">
            <a:normAutofit/>
          </a:bodyPr>
          <a:lstStyle/>
          <a:p>
            <a:pPr algn="l"/>
            <a:r>
              <a:rPr sz="1400" b="1" i="0">
                <a:solidFill>
                  <a:srgbClr val="FFFFFF"/>
                </a:solidFill>
                <a:latin typeface="Poppins"/>
              </a:rPr>
              <a:t>Marketing Engine</a:t>
            </a:r>
          </a:p>
        </p:txBody>
      </p:sp>
      <p:sp>
        <p:nvSpPr>
          <p:cNvPr id="18" name="Rectangle 17"/>
          <p:cNvSpPr/>
          <p:nvPr/>
        </p:nvSpPr>
        <p:spPr>
          <a:xfrm>
            <a:off x="2670048" y="1865376"/>
            <a:ext cx="2066543" cy="512064"/>
          </a:xfrm>
          <a:prstGeom prst="rect">
            <a:avLst/>
          </a:prstGeom>
          <a:solidFill>
            <a:srgbClr val="ECF5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16352" y="2093976"/>
            <a:ext cx="64008" cy="6400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1965960"/>
            <a:ext cx="1609344" cy="365760"/>
          </a:xfrm>
          <a:prstGeom prst="rect">
            <a:avLst/>
          </a:prstGeom>
          <a:noFill/>
        </p:spPr>
        <p:txBody>
          <a:bodyPr wrap="square">
            <a:normAutofit/>
          </a:bodyPr>
          <a:lstStyle/>
          <a:p>
            <a:pPr algn="l"/>
            <a:r>
              <a:rPr sz="800" b="0" i="0">
                <a:solidFill>
                  <a:srgbClr val="1B2A38"/>
                </a:solidFill>
                <a:latin typeface="Poppins"/>
              </a:rPr>
              <a:t>Target high-net-worth divorce in Cook, Lake, DuPage</a:t>
            </a:r>
          </a:p>
        </p:txBody>
      </p:sp>
      <p:sp>
        <p:nvSpPr>
          <p:cNvPr id="21" name="Rectangle 20"/>
          <p:cNvSpPr/>
          <p:nvPr/>
        </p:nvSpPr>
        <p:spPr>
          <a:xfrm>
            <a:off x="2670048" y="2423160"/>
            <a:ext cx="2066543" cy="51206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16352" y="2651760"/>
            <a:ext cx="64008" cy="6400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71800" y="2523744"/>
            <a:ext cx="1609344" cy="365760"/>
          </a:xfrm>
          <a:prstGeom prst="rect">
            <a:avLst/>
          </a:prstGeom>
          <a:noFill/>
        </p:spPr>
        <p:txBody>
          <a:bodyPr wrap="square">
            <a:normAutofit/>
          </a:bodyPr>
          <a:lstStyle/>
          <a:p>
            <a:pPr algn="l"/>
            <a:r>
              <a:rPr sz="800" b="0" i="0">
                <a:solidFill>
                  <a:srgbClr val="1B2A38"/>
                </a:solidFill>
                <a:latin typeface="Poppins"/>
              </a:rPr>
              <a:t>Run Google, LSA, and Meta toward 40 cases a month</a:t>
            </a:r>
          </a:p>
        </p:txBody>
      </p:sp>
      <p:sp>
        <p:nvSpPr>
          <p:cNvPr id="24" name="Rectangle 23"/>
          <p:cNvSpPr/>
          <p:nvPr/>
        </p:nvSpPr>
        <p:spPr>
          <a:xfrm>
            <a:off x="2670048" y="2971800"/>
            <a:ext cx="2066543" cy="512064"/>
          </a:xfrm>
          <a:prstGeom prst="rect">
            <a:avLst/>
          </a:prstGeom>
          <a:solidFill>
            <a:srgbClr val="ECF5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816352" y="3200400"/>
            <a:ext cx="64008" cy="6400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71800" y="3072384"/>
            <a:ext cx="1609344" cy="365760"/>
          </a:xfrm>
          <a:prstGeom prst="rect">
            <a:avLst/>
          </a:prstGeom>
          <a:noFill/>
        </p:spPr>
        <p:txBody>
          <a:bodyPr wrap="square">
            <a:normAutofit/>
          </a:bodyPr>
          <a:lstStyle/>
          <a:p>
            <a:pPr algn="l"/>
            <a:r>
              <a:rPr sz="800" b="0" i="0">
                <a:solidFill>
                  <a:srgbClr val="1B2A38"/>
                </a:solidFill>
                <a:latin typeface="Poppins"/>
              </a:rPr>
              <a:t>Fix the 26/100 mobile speed behind every click</a:t>
            </a:r>
          </a:p>
        </p:txBody>
      </p:sp>
      <p:sp>
        <p:nvSpPr>
          <p:cNvPr id="27" name="Rectangle 26"/>
          <p:cNvSpPr/>
          <p:nvPr/>
        </p:nvSpPr>
        <p:spPr>
          <a:xfrm>
            <a:off x="2670048" y="3520440"/>
            <a:ext cx="2066543" cy="51206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816352" y="3749039"/>
            <a:ext cx="64008" cy="6400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71800" y="3621024"/>
            <a:ext cx="1609344" cy="365760"/>
          </a:xfrm>
          <a:prstGeom prst="rect">
            <a:avLst/>
          </a:prstGeom>
          <a:noFill/>
        </p:spPr>
        <p:txBody>
          <a:bodyPr wrap="square">
            <a:normAutofit/>
          </a:bodyPr>
          <a:lstStyle/>
          <a:p>
            <a:pPr algn="l"/>
            <a:r>
              <a:rPr sz="800" b="0" i="0">
                <a:solidFill>
                  <a:srgbClr val="1B2A38"/>
                </a:solidFill>
                <a:latin typeface="Poppins"/>
              </a:rPr>
              <a:t>Rebuild review flow and unify the firm name online</a:t>
            </a:r>
          </a:p>
        </p:txBody>
      </p:sp>
      <p:sp>
        <p:nvSpPr>
          <p:cNvPr id="30" name="Rectangle 29"/>
          <p:cNvSpPr/>
          <p:nvPr/>
        </p:nvSpPr>
        <p:spPr>
          <a:xfrm>
            <a:off x="2670048" y="4078224"/>
            <a:ext cx="2066543" cy="512064"/>
          </a:xfrm>
          <a:prstGeom prst="rect">
            <a:avLst/>
          </a:prstGeom>
          <a:solidFill>
            <a:srgbClr val="ECF5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816352" y="4306824"/>
            <a:ext cx="64008" cy="6400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71800" y="4178808"/>
            <a:ext cx="1609344" cy="365760"/>
          </a:xfrm>
          <a:prstGeom prst="rect">
            <a:avLst/>
          </a:prstGeom>
          <a:noFill/>
        </p:spPr>
        <p:txBody>
          <a:bodyPr wrap="square">
            <a:normAutofit/>
          </a:bodyPr>
          <a:lstStyle/>
          <a:p>
            <a:pPr algn="l"/>
            <a:r>
              <a:rPr sz="800" b="0" i="0">
                <a:solidFill>
                  <a:srgbClr val="1B2A38"/>
                </a:solidFill>
                <a:latin typeface="Poppins"/>
              </a:rPr>
              <a:t>Turn paid channels into a pipeline that runs itself</a:t>
            </a:r>
          </a:p>
        </p:txBody>
      </p:sp>
      <p:sp>
        <p:nvSpPr>
          <p:cNvPr id="33" name="Rectangle 32"/>
          <p:cNvSpPr/>
          <p:nvPr/>
        </p:nvSpPr>
        <p:spPr>
          <a:xfrm>
            <a:off x="4846320" y="1005840"/>
            <a:ext cx="2066543" cy="84124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10912" y="1097280"/>
            <a:ext cx="457200" cy="219456"/>
          </a:xfrm>
          <a:prstGeom prst="rect">
            <a:avLst/>
          </a:prstGeom>
          <a:noFill/>
        </p:spPr>
        <p:txBody>
          <a:bodyPr wrap="square">
            <a:normAutofit/>
          </a:bodyPr>
          <a:lstStyle/>
          <a:p>
            <a:pPr algn="l"/>
            <a:r>
              <a:rPr sz="1300" b="1" i="0">
                <a:solidFill>
                  <a:srgbClr val="143306"/>
                </a:solidFill>
                <a:latin typeface="Poppins"/>
              </a:rPr>
              <a:t>02</a:t>
            </a:r>
          </a:p>
        </p:txBody>
      </p:sp>
      <p:sp>
        <p:nvSpPr>
          <p:cNvPr id="35" name="TextBox 34"/>
          <p:cNvSpPr txBox="1"/>
          <p:nvPr/>
        </p:nvSpPr>
        <p:spPr>
          <a:xfrm>
            <a:off x="5010912" y="1316736"/>
            <a:ext cx="1828800" cy="219456"/>
          </a:xfrm>
          <a:prstGeom prst="rect">
            <a:avLst/>
          </a:prstGeom>
          <a:noFill/>
        </p:spPr>
        <p:txBody>
          <a:bodyPr wrap="square">
            <a:normAutofit/>
          </a:bodyPr>
          <a:lstStyle/>
          <a:p>
            <a:pPr algn="l"/>
            <a:r>
              <a:rPr sz="1400" b="1" i="0">
                <a:solidFill>
                  <a:srgbClr val="143306"/>
                </a:solidFill>
                <a:latin typeface="Poppins"/>
              </a:rPr>
              <a:t>Fix Intake &amp;</a:t>
            </a:r>
          </a:p>
        </p:txBody>
      </p:sp>
      <p:sp>
        <p:nvSpPr>
          <p:cNvPr id="36" name="TextBox 35"/>
          <p:cNvSpPr txBox="1"/>
          <p:nvPr/>
        </p:nvSpPr>
        <p:spPr>
          <a:xfrm>
            <a:off x="5010912" y="1536192"/>
            <a:ext cx="1828800" cy="219456"/>
          </a:xfrm>
          <a:prstGeom prst="rect">
            <a:avLst/>
          </a:prstGeom>
          <a:noFill/>
        </p:spPr>
        <p:txBody>
          <a:bodyPr wrap="square">
            <a:normAutofit/>
          </a:bodyPr>
          <a:lstStyle/>
          <a:p>
            <a:pPr algn="l"/>
            <a:r>
              <a:rPr sz="1400" b="1" i="0">
                <a:solidFill>
                  <a:srgbClr val="143306"/>
                </a:solidFill>
                <a:latin typeface="Poppins"/>
              </a:rPr>
              <a:t>Stop Losing Cases</a:t>
            </a:r>
          </a:p>
        </p:txBody>
      </p:sp>
      <p:sp>
        <p:nvSpPr>
          <p:cNvPr id="37" name="Rectangle 36"/>
          <p:cNvSpPr/>
          <p:nvPr/>
        </p:nvSpPr>
        <p:spPr>
          <a:xfrm>
            <a:off x="4846320" y="1865376"/>
            <a:ext cx="2066543" cy="512064"/>
          </a:xfrm>
          <a:prstGeom prst="rect">
            <a:avLst/>
          </a:prstGeom>
          <a:solidFill>
            <a:srgbClr val="ECF7E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992624" y="2093976"/>
            <a:ext cx="64008" cy="6400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48072" y="1965960"/>
            <a:ext cx="1609344" cy="365760"/>
          </a:xfrm>
          <a:prstGeom prst="rect">
            <a:avLst/>
          </a:prstGeom>
          <a:noFill/>
        </p:spPr>
        <p:txBody>
          <a:bodyPr wrap="square">
            <a:normAutofit/>
          </a:bodyPr>
          <a:lstStyle/>
          <a:p>
            <a:pPr algn="l"/>
            <a:r>
              <a:rPr sz="800" b="0" i="0">
                <a:solidFill>
                  <a:srgbClr val="1B2A38"/>
                </a:solidFill>
                <a:latin typeface="Poppins"/>
              </a:rPr>
              <a:t>Track every inquiry from first call to signed case</a:t>
            </a:r>
          </a:p>
        </p:txBody>
      </p:sp>
      <p:sp>
        <p:nvSpPr>
          <p:cNvPr id="40" name="Rectangle 39"/>
          <p:cNvSpPr/>
          <p:nvPr/>
        </p:nvSpPr>
        <p:spPr>
          <a:xfrm>
            <a:off x="4846320" y="2423160"/>
            <a:ext cx="2066543" cy="51206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992624" y="2651760"/>
            <a:ext cx="64008" cy="6400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48072" y="2523744"/>
            <a:ext cx="1609344" cy="365760"/>
          </a:xfrm>
          <a:prstGeom prst="rect">
            <a:avLst/>
          </a:prstGeom>
          <a:noFill/>
        </p:spPr>
        <p:txBody>
          <a:bodyPr wrap="square">
            <a:normAutofit/>
          </a:bodyPr>
          <a:lstStyle/>
          <a:p>
            <a:pPr algn="l"/>
            <a:r>
              <a:rPr sz="800" b="0" i="0">
                <a:solidFill>
                  <a:srgbClr val="1B2A38"/>
                </a:solidFill>
                <a:latin typeface="Poppins"/>
              </a:rPr>
              <a:t>Measure conversion by Google, LSA, form, Calendly</a:t>
            </a:r>
          </a:p>
        </p:txBody>
      </p:sp>
      <p:sp>
        <p:nvSpPr>
          <p:cNvPr id="43" name="Rectangle 42"/>
          <p:cNvSpPr/>
          <p:nvPr/>
        </p:nvSpPr>
        <p:spPr>
          <a:xfrm>
            <a:off x="4846320" y="2971800"/>
            <a:ext cx="2066543" cy="512064"/>
          </a:xfrm>
          <a:prstGeom prst="rect">
            <a:avLst/>
          </a:prstGeom>
          <a:solidFill>
            <a:srgbClr val="ECF7E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992624" y="3200400"/>
            <a:ext cx="64008" cy="6400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48072" y="3072384"/>
            <a:ext cx="1609344" cy="365760"/>
          </a:xfrm>
          <a:prstGeom prst="rect">
            <a:avLst/>
          </a:prstGeom>
          <a:noFill/>
        </p:spPr>
        <p:txBody>
          <a:bodyPr wrap="square">
            <a:normAutofit/>
          </a:bodyPr>
          <a:lstStyle/>
          <a:p>
            <a:pPr algn="l"/>
            <a:r>
              <a:rPr sz="800" b="0" i="0">
                <a:solidFill>
                  <a:srgbClr val="1B2A38"/>
                </a:solidFill>
                <a:latin typeface="Poppins"/>
              </a:rPr>
              <a:t>Make booking a free evaluation a one-step path</a:t>
            </a:r>
          </a:p>
        </p:txBody>
      </p:sp>
      <p:sp>
        <p:nvSpPr>
          <p:cNvPr id="46" name="Rectangle 45"/>
          <p:cNvSpPr/>
          <p:nvPr/>
        </p:nvSpPr>
        <p:spPr>
          <a:xfrm>
            <a:off x="4846320" y="3520440"/>
            <a:ext cx="2066543" cy="51206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992624" y="3749039"/>
            <a:ext cx="64008" cy="6400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48072" y="3621024"/>
            <a:ext cx="1609344" cy="365760"/>
          </a:xfrm>
          <a:prstGeom prst="rect">
            <a:avLst/>
          </a:prstGeom>
          <a:noFill/>
        </p:spPr>
        <p:txBody>
          <a:bodyPr wrap="square">
            <a:normAutofit/>
          </a:bodyPr>
          <a:lstStyle/>
          <a:p>
            <a:pPr algn="l"/>
            <a:r>
              <a:rPr sz="800" b="0" i="0">
                <a:solidFill>
                  <a:srgbClr val="1B2A38"/>
                </a:solidFill>
                <a:latin typeface="Poppins"/>
              </a:rPr>
              <a:t>Build lead tracking into the Practice Panther move</a:t>
            </a:r>
          </a:p>
        </p:txBody>
      </p:sp>
      <p:sp>
        <p:nvSpPr>
          <p:cNvPr id="49" name="Rectangle 48"/>
          <p:cNvSpPr/>
          <p:nvPr/>
        </p:nvSpPr>
        <p:spPr>
          <a:xfrm>
            <a:off x="4846320" y="4078224"/>
            <a:ext cx="2066543" cy="512064"/>
          </a:xfrm>
          <a:prstGeom prst="rect">
            <a:avLst/>
          </a:prstGeom>
          <a:solidFill>
            <a:srgbClr val="ECF7E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992624" y="4306824"/>
            <a:ext cx="64008" cy="6400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48072" y="4178808"/>
            <a:ext cx="1609344" cy="365760"/>
          </a:xfrm>
          <a:prstGeom prst="rect">
            <a:avLst/>
          </a:prstGeom>
          <a:noFill/>
        </p:spPr>
        <p:txBody>
          <a:bodyPr wrap="square">
            <a:normAutofit/>
          </a:bodyPr>
          <a:lstStyle/>
          <a:p>
            <a:pPr algn="l"/>
            <a:r>
              <a:rPr sz="800" b="0" i="0">
                <a:solidFill>
                  <a:srgbClr val="1B2A38"/>
                </a:solidFill>
                <a:latin typeface="Poppins"/>
              </a:rPr>
              <a:t>Handle double the cases without doubling your hours</a:t>
            </a:r>
          </a:p>
        </p:txBody>
      </p:sp>
      <p:sp>
        <p:nvSpPr>
          <p:cNvPr id="52" name="Rectangle 51"/>
          <p:cNvSpPr/>
          <p:nvPr/>
        </p:nvSpPr>
        <p:spPr>
          <a:xfrm>
            <a:off x="7022592" y="1005840"/>
            <a:ext cx="2066543" cy="84124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87183" y="1097280"/>
            <a:ext cx="457200" cy="219456"/>
          </a:xfrm>
          <a:prstGeom prst="rect">
            <a:avLst/>
          </a:prstGeom>
          <a:noFill/>
        </p:spPr>
        <p:txBody>
          <a:bodyPr wrap="square">
            <a:normAutofit/>
          </a:bodyPr>
          <a:lstStyle/>
          <a:p>
            <a:pPr algn="l"/>
            <a:r>
              <a:rPr sz="1300" b="1" i="0">
                <a:solidFill>
                  <a:srgbClr val="FFFFFF"/>
                </a:solidFill>
                <a:latin typeface="Poppins"/>
              </a:rPr>
              <a:t>03</a:t>
            </a:r>
          </a:p>
        </p:txBody>
      </p:sp>
      <p:sp>
        <p:nvSpPr>
          <p:cNvPr id="54" name="TextBox 53"/>
          <p:cNvSpPr txBox="1"/>
          <p:nvPr/>
        </p:nvSpPr>
        <p:spPr>
          <a:xfrm>
            <a:off x="7187183" y="1316736"/>
            <a:ext cx="1828800" cy="219456"/>
          </a:xfrm>
          <a:prstGeom prst="rect">
            <a:avLst/>
          </a:prstGeom>
          <a:noFill/>
        </p:spPr>
        <p:txBody>
          <a:bodyPr wrap="square">
            <a:normAutofit/>
          </a:bodyPr>
          <a:lstStyle/>
          <a:p>
            <a:pPr algn="l"/>
            <a:r>
              <a:rPr sz="1400" b="1" i="0">
                <a:solidFill>
                  <a:srgbClr val="FFFFFF"/>
                </a:solidFill>
                <a:latin typeface="Poppins"/>
              </a:rPr>
              <a:t>Install Team &amp;</a:t>
            </a:r>
          </a:p>
        </p:txBody>
      </p:sp>
      <p:sp>
        <p:nvSpPr>
          <p:cNvPr id="55" name="TextBox 54"/>
          <p:cNvSpPr txBox="1"/>
          <p:nvPr/>
        </p:nvSpPr>
        <p:spPr>
          <a:xfrm>
            <a:off x="7187183" y="1536192"/>
            <a:ext cx="1828800" cy="219456"/>
          </a:xfrm>
          <a:prstGeom prst="rect">
            <a:avLst/>
          </a:prstGeom>
          <a:noFill/>
        </p:spPr>
        <p:txBody>
          <a:bodyPr wrap="square">
            <a:normAutofit/>
          </a:bodyPr>
          <a:lstStyle/>
          <a:p>
            <a:pPr algn="l"/>
            <a:r>
              <a:rPr sz="1400" b="1" i="0">
                <a:solidFill>
                  <a:srgbClr val="FFFFFF"/>
                </a:solidFill>
                <a:latin typeface="Poppins"/>
              </a:rPr>
              <a:t>Profit Systems</a:t>
            </a:r>
          </a:p>
        </p:txBody>
      </p:sp>
      <p:sp>
        <p:nvSpPr>
          <p:cNvPr id="56" name="Rectangle 55"/>
          <p:cNvSpPr/>
          <p:nvPr/>
        </p:nvSpPr>
        <p:spPr>
          <a:xfrm>
            <a:off x="7022592" y="1865376"/>
            <a:ext cx="2066543" cy="512064"/>
          </a:xfrm>
          <a:prstGeom prst="rect">
            <a:avLst/>
          </a:prstGeom>
          <a:solidFill>
            <a:srgbClr val="EEF2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168896" y="2093976"/>
            <a:ext cx="64008" cy="6400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324344" y="1965960"/>
            <a:ext cx="1609344" cy="365760"/>
          </a:xfrm>
          <a:prstGeom prst="rect">
            <a:avLst/>
          </a:prstGeom>
          <a:noFill/>
        </p:spPr>
        <p:txBody>
          <a:bodyPr wrap="square">
            <a:normAutofit/>
          </a:bodyPr>
          <a:lstStyle/>
          <a:p>
            <a:pPr algn="l"/>
            <a:r>
              <a:rPr sz="800" b="0" i="0">
                <a:solidFill>
                  <a:srgbClr val="1B2A38"/>
                </a:solidFill>
                <a:latin typeface="Poppins"/>
              </a:rPr>
              <a:t>Monthly profit dashboard by case type and attorney</a:t>
            </a:r>
          </a:p>
        </p:txBody>
      </p:sp>
      <p:sp>
        <p:nvSpPr>
          <p:cNvPr id="59" name="Rectangle 58"/>
          <p:cNvSpPr/>
          <p:nvPr/>
        </p:nvSpPr>
        <p:spPr>
          <a:xfrm>
            <a:off x="7022592" y="2423160"/>
            <a:ext cx="2066543" cy="51206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168896" y="2651760"/>
            <a:ext cx="64008" cy="6400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24344" y="2523744"/>
            <a:ext cx="1609344" cy="365760"/>
          </a:xfrm>
          <a:prstGeom prst="rect">
            <a:avLst/>
          </a:prstGeom>
          <a:noFill/>
        </p:spPr>
        <p:txBody>
          <a:bodyPr wrap="square">
            <a:normAutofit/>
          </a:bodyPr>
          <a:lstStyle/>
          <a:p>
            <a:pPr algn="l"/>
            <a:r>
              <a:rPr sz="800" b="0" i="0">
                <a:solidFill>
                  <a:srgbClr val="1B2A38"/>
                </a:solidFill>
                <a:latin typeface="Poppins"/>
              </a:rPr>
              <a:t>KPI scorecards for every attorney and role</a:t>
            </a:r>
          </a:p>
        </p:txBody>
      </p:sp>
      <p:sp>
        <p:nvSpPr>
          <p:cNvPr id="62" name="Rectangle 61"/>
          <p:cNvSpPr/>
          <p:nvPr/>
        </p:nvSpPr>
        <p:spPr>
          <a:xfrm>
            <a:off x="7022592" y="2971800"/>
            <a:ext cx="2066543" cy="512064"/>
          </a:xfrm>
          <a:prstGeom prst="rect">
            <a:avLst/>
          </a:prstGeom>
          <a:solidFill>
            <a:srgbClr val="EEF2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168896" y="3200400"/>
            <a:ext cx="64008" cy="6400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324344" y="3072384"/>
            <a:ext cx="1609344" cy="365760"/>
          </a:xfrm>
          <a:prstGeom prst="rect">
            <a:avLst/>
          </a:prstGeom>
          <a:noFill/>
        </p:spPr>
        <p:txBody>
          <a:bodyPr wrap="square">
            <a:normAutofit/>
          </a:bodyPr>
          <a:lstStyle/>
          <a:p>
            <a:pPr algn="l"/>
            <a:r>
              <a:rPr sz="800" b="0" i="0">
                <a:solidFill>
                  <a:srgbClr val="1B2A38"/>
                </a:solidFill>
                <a:latin typeface="Poppins"/>
              </a:rPr>
              <a:t>Weekly leadership rhythm for the incoming partner</a:t>
            </a:r>
          </a:p>
        </p:txBody>
      </p:sp>
      <p:sp>
        <p:nvSpPr>
          <p:cNvPr id="65" name="Rectangle 64"/>
          <p:cNvSpPr/>
          <p:nvPr/>
        </p:nvSpPr>
        <p:spPr>
          <a:xfrm>
            <a:off x="7022592" y="3520440"/>
            <a:ext cx="2066543" cy="51206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168896" y="3749039"/>
            <a:ext cx="64008" cy="6400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324344" y="3621024"/>
            <a:ext cx="1609344" cy="365760"/>
          </a:xfrm>
          <a:prstGeom prst="rect">
            <a:avLst/>
          </a:prstGeom>
          <a:noFill/>
        </p:spPr>
        <p:txBody>
          <a:bodyPr wrap="square">
            <a:normAutofit/>
          </a:bodyPr>
          <a:lstStyle/>
          <a:p>
            <a:pPr algn="l"/>
            <a:r>
              <a:rPr sz="800" b="0" i="0">
                <a:solidFill>
                  <a:srgbClr val="1B2A38"/>
                </a:solidFill>
                <a:latin typeface="Poppins"/>
              </a:rPr>
              <a:t>Plan the path from 15% to 20–30% net profit</a:t>
            </a:r>
          </a:p>
        </p:txBody>
      </p:sp>
      <p:sp>
        <p:nvSpPr>
          <p:cNvPr id="68" name="Rectangle 67"/>
          <p:cNvSpPr/>
          <p:nvPr/>
        </p:nvSpPr>
        <p:spPr>
          <a:xfrm>
            <a:off x="7022592" y="4078224"/>
            <a:ext cx="2066543" cy="512064"/>
          </a:xfrm>
          <a:prstGeom prst="rect">
            <a:avLst/>
          </a:prstGeom>
          <a:solidFill>
            <a:srgbClr val="EEF2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168896" y="4306824"/>
            <a:ext cx="64008" cy="6400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324344" y="4178808"/>
            <a:ext cx="1609344" cy="365760"/>
          </a:xfrm>
          <a:prstGeom prst="rect">
            <a:avLst/>
          </a:prstGeom>
          <a:noFill/>
        </p:spPr>
        <p:txBody>
          <a:bodyPr wrap="square">
            <a:normAutofit/>
          </a:bodyPr>
          <a:lstStyle/>
          <a:p>
            <a:pPr algn="l"/>
            <a:r>
              <a:rPr sz="800" b="0" i="0">
                <a:solidFill>
                  <a:srgbClr val="1B2A38"/>
                </a:solidFill>
                <a:latin typeface="Poppins"/>
              </a:rPr>
              <a:t>Hand off daily management and step into CEO</a:t>
            </a:r>
          </a:p>
        </p:txBody>
      </p:sp>
      <p:sp>
        <p:nvSpPr>
          <p:cNvPr id="71" name="Rectangle 70"/>
          <p:cNvSpPr/>
          <p:nvPr/>
        </p:nvSpPr>
        <p:spPr>
          <a:xfrm>
            <a:off x="0" y="4818888"/>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417320" y="4892040"/>
            <a:ext cx="4937760" cy="182880"/>
          </a:xfrm>
          <a:prstGeom prst="rect">
            <a:avLst/>
          </a:prstGeom>
          <a:noFill/>
        </p:spPr>
        <p:txBody>
          <a:bodyPr wrap="square">
            <a:normAutofit/>
          </a:bodyPr>
          <a:lstStyle/>
          <a:p>
            <a:pPr algn="l"/>
            <a:r>
              <a:rPr sz="700" b="0" i="0">
                <a:solidFill>
                  <a:srgbClr val="8FB2C6"/>
                </a:solidFill>
                <a:latin typeface="Poppins"/>
              </a:rPr>
              <a:t>CONFIDENTIAL  ·  PREPARED BY MICHAEL KOPP | SMB TEAM</a:t>
            </a:r>
          </a:p>
        </p:txBody>
      </p:sp>
      <p:sp>
        <p:nvSpPr>
          <p:cNvPr id="73" name="TextBox 72"/>
          <p:cNvSpPr txBox="1"/>
          <p:nvPr/>
        </p:nvSpPr>
        <p:spPr>
          <a:xfrm>
            <a:off x="7680960" y="4892040"/>
            <a:ext cx="1188720" cy="182880"/>
          </a:xfrm>
          <a:prstGeom prst="rect">
            <a:avLst/>
          </a:prstGeom>
          <a:noFill/>
        </p:spPr>
        <p:txBody>
          <a:bodyPr wrap="square">
            <a:normAutofit/>
          </a:bodyPr>
          <a:lstStyle/>
          <a:p>
            <a:pPr algn="r"/>
            <a:r>
              <a:rPr sz="700" b="0" i="0">
                <a:solidFill>
                  <a:srgbClr val="8FB2C6"/>
                </a:solidFill>
                <a:latin typeface="Poppins"/>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F7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84124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41248"/>
            <a:ext cx="9144000" cy="36576"/>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182880"/>
            <a:ext cx="5486400" cy="164592"/>
          </a:xfrm>
          <a:prstGeom prst="rect">
            <a:avLst/>
          </a:prstGeom>
          <a:noFill/>
        </p:spPr>
        <p:txBody>
          <a:bodyPr wrap="square">
            <a:normAutofit/>
          </a:bodyPr>
          <a:lstStyle/>
          <a:p>
            <a:pPr algn="l"/>
            <a:r>
              <a:rPr sz="750" b="1" i="0">
                <a:solidFill>
                  <a:srgbClr val="69CD2B"/>
                </a:solidFill>
                <a:latin typeface="Poppins"/>
              </a:rPr>
              <a:t>LAW FIRM GROWTH AUDIT  ·  KHK FAMILY LAW &amp; DIVORCE</a:t>
            </a:r>
          </a:p>
        </p:txBody>
      </p:sp>
      <p:sp>
        <p:nvSpPr>
          <p:cNvPr id="6" name="TextBox 5"/>
          <p:cNvSpPr txBox="1"/>
          <p:nvPr/>
        </p:nvSpPr>
        <p:spPr>
          <a:xfrm>
            <a:off x="292608" y="365760"/>
            <a:ext cx="8503920" cy="365760"/>
          </a:xfrm>
          <a:prstGeom prst="rect">
            <a:avLst/>
          </a:prstGeom>
          <a:noFill/>
        </p:spPr>
        <p:txBody>
          <a:bodyPr wrap="square">
            <a:normAutofit/>
          </a:bodyPr>
          <a:lstStyle/>
          <a:p>
            <a:pPr algn="l"/>
            <a:r>
              <a:rPr sz="2000" b="1" i="0">
                <a:solidFill>
                  <a:srgbClr val="FFFFFF"/>
                </a:solidFill>
                <a:latin typeface="Poppins"/>
              </a:rPr>
              <a:t>Your Investment &amp; What Happens Next</a:t>
            </a:r>
          </a:p>
        </p:txBody>
      </p:sp>
      <p:sp>
        <p:nvSpPr>
          <p:cNvPr id="7" name="Rectangle 6"/>
          <p:cNvSpPr/>
          <p:nvPr/>
        </p:nvSpPr>
        <p:spPr>
          <a:xfrm>
            <a:off x="274320" y="1005840"/>
            <a:ext cx="4041648" cy="9601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05840"/>
            <a:ext cx="36576" cy="96012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1143000"/>
            <a:ext cx="3584448" cy="146304"/>
          </a:xfrm>
          <a:prstGeom prst="rect">
            <a:avLst/>
          </a:prstGeom>
          <a:noFill/>
        </p:spPr>
        <p:txBody>
          <a:bodyPr wrap="square">
            <a:normAutofit/>
          </a:bodyPr>
          <a:lstStyle/>
          <a:p>
            <a:pPr algn="l"/>
            <a:r>
              <a:rPr sz="750" b="1" i="0">
                <a:solidFill>
                  <a:srgbClr val="0091C9"/>
                </a:solidFill>
                <a:latin typeface="Poppins"/>
              </a:rPr>
              <a:t>FRACTIONAL CFO ADVISOR</a:t>
            </a:r>
          </a:p>
        </p:txBody>
      </p:sp>
      <p:sp>
        <p:nvSpPr>
          <p:cNvPr id="10" name="TextBox 9"/>
          <p:cNvSpPr txBox="1"/>
          <p:nvPr/>
        </p:nvSpPr>
        <p:spPr>
          <a:xfrm>
            <a:off x="512064" y="1335024"/>
            <a:ext cx="1737360" cy="402336"/>
          </a:xfrm>
          <a:prstGeom prst="rect">
            <a:avLst/>
          </a:prstGeom>
          <a:noFill/>
        </p:spPr>
        <p:txBody>
          <a:bodyPr wrap="square">
            <a:normAutofit/>
          </a:bodyPr>
          <a:lstStyle/>
          <a:p>
            <a:pPr algn="l"/>
            <a:r>
              <a:rPr sz="3000" b="1" i="0">
                <a:solidFill>
                  <a:srgbClr val="003A59"/>
                </a:solidFill>
                <a:latin typeface="Poppins"/>
              </a:rPr>
              <a:t>$3,297</a:t>
            </a:r>
          </a:p>
        </p:txBody>
      </p:sp>
      <p:sp>
        <p:nvSpPr>
          <p:cNvPr id="11" name="TextBox 10"/>
          <p:cNvSpPr txBox="1"/>
          <p:nvPr/>
        </p:nvSpPr>
        <p:spPr>
          <a:xfrm>
            <a:off x="1920240" y="1536192"/>
            <a:ext cx="365760" cy="182880"/>
          </a:xfrm>
          <a:prstGeom prst="rect">
            <a:avLst/>
          </a:prstGeom>
          <a:noFill/>
        </p:spPr>
        <p:txBody>
          <a:bodyPr wrap="square">
            <a:normAutofit/>
          </a:bodyPr>
          <a:lstStyle/>
          <a:p>
            <a:pPr algn="l"/>
            <a:r>
              <a:rPr sz="1000" b="0" i="0">
                <a:solidFill>
                  <a:srgbClr val="7C8D9B"/>
                </a:solidFill>
                <a:latin typeface="Poppins"/>
              </a:rPr>
              <a:t>/mo</a:t>
            </a:r>
          </a:p>
        </p:txBody>
      </p:sp>
      <p:sp>
        <p:nvSpPr>
          <p:cNvPr id="12" name="TextBox 11"/>
          <p:cNvSpPr txBox="1"/>
          <p:nvPr/>
        </p:nvSpPr>
        <p:spPr>
          <a:xfrm>
            <a:off x="2926080" y="1536192"/>
            <a:ext cx="1005840" cy="182880"/>
          </a:xfrm>
          <a:prstGeom prst="rect">
            <a:avLst/>
          </a:prstGeom>
          <a:noFill/>
        </p:spPr>
        <p:txBody>
          <a:bodyPr wrap="square">
            <a:normAutofit/>
          </a:bodyPr>
          <a:lstStyle/>
          <a:p>
            <a:pPr algn="r"/>
            <a:r>
              <a:rPr sz="1000" b="0" i="0">
                <a:solidFill>
                  <a:srgbClr val="7C8D9B"/>
                </a:solidFill>
                <a:latin typeface="Poppins"/>
              </a:rPr>
              <a:t>$3,797/mo</a:t>
            </a:r>
          </a:p>
        </p:txBody>
      </p:sp>
      <p:sp>
        <p:nvSpPr>
          <p:cNvPr id="13" name="TextBox 12"/>
          <p:cNvSpPr txBox="1"/>
          <p:nvPr/>
        </p:nvSpPr>
        <p:spPr>
          <a:xfrm>
            <a:off x="512064" y="1783080"/>
            <a:ext cx="3584448" cy="164592"/>
          </a:xfrm>
          <a:prstGeom prst="rect">
            <a:avLst/>
          </a:prstGeom>
          <a:noFill/>
        </p:spPr>
        <p:txBody>
          <a:bodyPr wrap="square">
            <a:normAutofit/>
          </a:bodyPr>
          <a:lstStyle/>
          <a:p>
            <a:pPr algn="l"/>
            <a:r>
              <a:rPr sz="850" b="0" i="0">
                <a:solidFill>
                  <a:srgbClr val="7C8D9B"/>
                </a:solidFill>
                <a:latin typeface="Poppins"/>
              </a:rPr>
              <a:t>Profit dashboard · KPI scorecards · Group coaching</a:t>
            </a:r>
          </a:p>
        </p:txBody>
      </p:sp>
      <p:sp>
        <p:nvSpPr>
          <p:cNvPr id="14" name="Rectangle 13"/>
          <p:cNvSpPr/>
          <p:nvPr/>
        </p:nvSpPr>
        <p:spPr>
          <a:xfrm>
            <a:off x="274320" y="2057400"/>
            <a:ext cx="4041648" cy="9601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057400"/>
            <a:ext cx="36576"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2194560"/>
            <a:ext cx="3584448" cy="146304"/>
          </a:xfrm>
          <a:prstGeom prst="rect">
            <a:avLst/>
          </a:prstGeom>
          <a:noFill/>
        </p:spPr>
        <p:txBody>
          <a:bodyPr wrap="square">
            <a:normAutofit/>
          </a:bodyPr>
          <a:lstStyle/>
          <a:p>
            <a:pPr algn="l"/>
            <a:r>
              <a:rPr sz="750" b="1" i="0">
                <a:solidFill>
                  <a:srgbClr val="003A59"/>
                </a:solidFill>
                <a:latin typeface="Poppins"/>
              </a:rPr>
              <a:t>PAID ADS STARTER</a:t>
            </a:r>
          </a:p>
        </p:txBody>
      </p:sp>
      <p:sp>
        <p:nvSpPr>
          <p:cNvPr id="17" name="TextBox 16"/>
          <p:cNvSpPr txBox="1"/>
          <p:nvPr/>
        </p:nvSpPr>
        <p:spPr>
          <a:xfrm>
            <a:off x="512064" y="2386584"/>
            <a:ext cx="1737360" cy="402336"/>
          </a:xfrm>
          <a:prstGeom prst="rect">
            <a:avLst/>
          </a:prstGeom>
          <a:noFill/>
        </p:spPr>
        <p:txBody>
          <a:bodyPr wrap="square">
            <a:normAutofit/>
          </a:bodyPr>
          <a:lstStyle/>
          <a:p>
            <a:pPr algn="l"/>
            <a:r>
              <a:rPr sz="3000" b="1" i="0">
                <a:solidFill>
                  <a:srgbClr val="003A59"/>
                </a:solidFill>
                <a:latin typeface="Poppins"/>
              </a:rPr>
              <a:t>$2,497</a:t>
            </a:r>
          </a:p>
        </p:txBody>
      </p:sp>
      <p:sp>
        <p:nvSpPr>
          <p:cNvPr id="18" name="TextBox 17"/>
          <p:cNvSpPr txBox="1"/>
          <p:nvPr/>
        </p:nvSpPr>
        <p:spPr>
          <a:xfrm>
            <a:off x="1920240" y="2587752"/>
            <a:ext cx="365760" cy="182880"/>
          </a:xfrm>
          <a:prstGeom prst="rect">
            <a:avLst/>
          </a:prstGeom>
          <a:noFill/>
        </p:spPr>
        <p:txBody>
          <a:bodyPr wrap="square">
            <a:normAutofit/>
          </a:bodyPr>
          <a:lstStyle/>
          <a:p>
            <a:pPr algn="l"/>
            <a:r>
              <a:rPr sz="1000" b="0" i="0">
                <a:solidFill>
                  <a:srgbClr val="7C8D9B"/>
                </a:solidFill>
                <a:latin typeface="Poppins"/>
              </a:rPr>
              <a:t>/mo</a:t>
            </a:r>
          </a:p>
        </p:txBody>
      </p:sp>
      <p:sp>
        <p:nvSpPr>
          <p:cNvPr id="19" name="TextBox 18"/>
          <p:cNvSpPr txBox="1"/>
          <p:nvPr/>
        </p:nvSpPr>
        <p:spPr>
          <a:xfrm>
            <a:off x="2926080" y="2587752"/>
            <a:ext cx="1005840" cy="182880"/>
          </a:xfrm>
          <a:prstGeom prst="rect">
            <a:avLst/>
          </a:prstGeom>
          <a:noFill/>
        </p:spPr>
        <p:txBody>
          <a:bodyPr wrap="square">
            <a:normAutofit/>
          </a:bodyPr>
          <a:lstStyle/>
          <a:p>
            <a:pPr algn="r"/>
            <a:r>
              <a:rPr sz="1000" b="0" i="0">
                <a:solidFill>
                  <a:srgbClr val="7C8D9B"/>
                </a:solidFill>
                <a:latin typeface="Poppins"/>
              </a:rPr>
              <a:t>$3,497/mo</a:t>
            </a:r>
          </a:p>
        </p:txBody>
      </p:sp>
      <p:sp>
        <p:nvSpPr>
          <p:cNvPr id="20" name="TextBox 19"/>
          <p:cNvSpPr txBox="1"/>
          <p:nvPr/>
        </p:nvSpPr>
        <p:spPr>
          <a:xfrm>
            <a:off x="512064" y="2834640"/>
            <a:ext cx="3584448" cy="164592"/>
          </a:xfrm>
          <a:prstGeom prst="rect">
            <a:avLst/>
          </a:prstGeom>
          <a:noFill/>
        </p:spPr>
        <p:txBody>
          <a:bodyPr wrap="square">
            <a:normAutofit/>
          </a:bodyPr>
          <a:lstStyle/>
          <a:p>
            <a:pPr algn="l"/>
            <a:r>
              <a:rPr sz="850" b="0" i="0">
                <a:solidFill>
                  <a:srgbClr val="7C8D9B"/>
                </a:solidFill>
                <a:latin typeface="Poppins"/>
              </a:rPr>
              <a:t>Google Ads · LSA · Meta Ads · Monthly reporting</a:t>
            </a:r>
          </a:p>
        </p:txBody>
      </p:sp>
      <p:sp>
        <p:nvSpPr>
          <p:cNvPr id="21" name="Rectangle 20"/>
          <p:cNvSpPr/>
          <p:nvPr/>
        </p:nvSpPr>
        <p:spPr>
          <a:xfrm>
            <a:off x="274320" y="3108960"/>
            <a:ext cx="4041648" cy="65836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4320" y="3108960"/>
            <a:ext cx="36576" cy="65836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 y="3246120"/>
            <a:ext cx="1554480" cy="146304"/>
          </a:xfrm>
          <a:prstGeom prst="rect">
            <a:avLst/>
          </a:prstGeom>
          <a:noFill/>
        </p:spPr>
        <p:txBody>
          <a:bodyPr wrap="square">
            <a:normAutofit/>
          </a:bodyPr>
          <a:lstStyle/>
          <a:p>
            <a:pPr algn="l"/>
            <a:r>
              <a:rPr sz="750" b="1" i="0">
                <a:solidFill>
                  <a:srgbClr val="69CD2B"/>
                </a:solidFill>
                <a:latin typeface="Poppins"/>
              </a:rPr>
              <a:t>BUNDLE TOTAL</a:t>
            </a:r>
          </a:p>
        </p:txBody>
      </p:sp>
      <p:sp>
        <p:nvSpPr>
          <p:cNvPr id="24" name="TextBox 23"/>
          <p:cNvSpPr txBox="1"/>
          <p:nvPr/>
        </p:nvSpPr>
        <p:spPr>
          <a:xfrm>
            <a:off x="512064" y="3429000"/>
            <a:ext cx="2011680" cy="274320"/>
          </a:xfrm>
          <a:prstGeom prst="rect">
            <a:avLst/>
          </a:prstGeom>
          <a:noFill/>
        </p:spPr>
        <p:txBody>
          <a:bodyPr wrap="square">
            <a:normAutofit/>
          </a:bodyPr>
          <a:lstStyle/>
          <a:p>
            <a:pPr algn="l"/>
            <a:r>
              <a:rPr sz="1700" b="1" i="0">
                <a:solidFill>
                  <a:srgbClr val="FFFFFF"/>
                </a:solidFill>
                <a:latin typeface="Poppins"/>
              </a:rPr>
              <a:t>$5,794 / mo</a:t>
            </a:r>
          </a:p>
        </p:txBody>
      </p:sp>
      <p:sp>
        <p:nvSpPr>
          <p:cNvPr id="25" name="TextBox 24"/>
          <p:cNvSpPr txBox="1"/>
          <p:nvPr/>
        </p:nvSpPr>
        <p:spPr>
          <a:xfrm>
            <a:off x="2651760" y="3493008"/>
            <a:ext cx="1463040" cy="182880"/>
          </a:xfrm>
          <a:prstGeom prst="rect">
            <a:avLst/>
          </a:prstGeom>
          <a:noFill/>
        </p:spPr>
        <p:txBody>
          <a:bodyPr wrap="square">
            <a:normAutofit/>
          </a:bodyPr>
          <a:lstStyle/>
          <a:p>
            <a:pPr algn="r"/>
            <a:r>
              <a:rPr sz="850" b="0" i="0">
                <a:solidFill>
                  <a:srgbClr val="A9D68C"/>
                </a:solidFill>
                <a:latin typeface="Poppins"/>
              </a:rPr>
              <a:t>Save $1,500/mo by bundling</a:t>
            </a:r>
          </a:p>
        </p:txBody>
      </p:sp>
      <p:sp>
        <p:nvSpPr>
          <p:cNvPr id="26" name="Rectangle 25"/>
          <p:cNvSpPr/>
          <p:nvPr/>
        </p:nvSpPr>
        <p:spPr>
          <a:xfrm>
            <a:off x="274320" y="3858768"/>
            <a:ext cx="4041648" cy="384048"/>
          </a:xfrm>
          <a:prstGeom prst="rect">
            <a:avLst/>
          </a:prstGeom>
          <a:solidFill>
            <a:srgbClr val="EEF2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858768"/>
            <a:ext cx="3675887" cy="384048"/>
          </a:xfrm>
          <a:prstGeom prst="rect">
            <a:avLst/>
          </a:prstGeom>
          <a:noFill/>
        </p:spPr>
        <p:txBody>
          <a:bodyPr wrap="square">
            <a:normAutofit/>
          </a:bodyPr>
          <a:lstStyle/>
          <a:p>
            <a:pPr algn="l"/>
            <a:r>
              <a:rPr sz="800" b="0" i="0">
                <a:solidFill>
                  <a:srgbClr val="4A5C6B"/>
                </a:solidFill>
                <a:latin typeface="Poppins"/>
              </a:rPr>
              <a:t>+ Recommended ad spend: $15,000–$23,000/mo — to win high-value divorce cases in Cook, Lake &amp; DuPage</a:t>
            </a:r>
          </a:p>
        </p:txBody>
      </p:sp>
      <p:sp>
        <p:nvSpPr>
          <p:cNvPr id="28" name="Rectangle 27"/>
          <p:cNvSpPr/>
          <p:nvPr/>
        </p:nvSpPr>
        <p:spPr>
          <a:xfrm>
            <a:off x="4572000" y="1005840"/>
            <a:ext cx="4297680" cy="1298448"/>
          </a:xfrm>
          <a:prstGeom prst="rect">
            <a:avLst/>
          </a:prstGeom>
          <a:solidFill>
            <a:srgbClr val="F0FAF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1152144"/>
            <a:ext cx="3895344" cy="146304"/>
          </a:xfrm>
          <a:prstGeom prst="rect">
            <a:avLst/>
          </a:prstGeom>
          <a:noFill/>
        </p:spPr>
        <p:txBody>
          <a:bodyPr wrap="square">
            <a:normAutofit/>
          </a:bodyPr>
          <a:lstStyle/>
          <a:p>
            <a:pPr algn="l"/>
            <a:r>
              <a:rPr sz="750" b="1" i="0">
                <a:solidFill>
                  <a:srgbClr val="0B6B4A"/>
                </a:solidFill>
                <a:latin typeface="Poppins"/>
              </a:rPr>
              <a:t>PROJECTED RETURN ON AD SPEND</a:t>
            </a:r>
          </a:p>
        </p:txBody>
      </p:sp>
      <p:sp>
        <p:nvSpPr>
          <p:cNvPr id="30" name="TextBox 29"/>
          <p:cNvSpPr txBox="1"/>
          <p:nvPr/>
        </p:nvSpPr>
        <p:spPr>
          <a:xfrm>
            <a:off x="4773168" y="1444752"/>
            <a:ext cx="1783080" cy="164592"/>
          </a:xfrm>
          <a:prstGeom prst="rect">
            <a:avLst/>
          </a:prstGeom>
          <a:noFill/>
        </p:spPr>
        <p:txBody>
          <a:bodyPr wrap="square">
            <a:normAutofit/>
          </a:bodyPr>
          <a:lstStyle/>
          <a:p>
            <a:pPr algn="l"/>
            <a:r>
              <a:rPr sz="850" b="1" i="0">
                <a:solidFill>
                  <a:srgbClr val="1B2A38"/>
                </a:solidFill>
                <a:latin typeface="Poppins"/>
              </a:rPr>
              <a:t>Average case value:</a:t>
            </a:r>
          </a:p>
        </p:txBody>
      </p:sp>
      <p:sp>
        <p:nvSpPr>
          <p:cNvPr id="31" name="TextBox 30"/>
          <p:cNvSpPr txBox="1"/>
          <p:nvPr/>
        </p:nvSpPr>
        <p:spPr>
          <a:xfrm>
            <a:off x="6629400" y="1444752"/>
            <a:ext cx="2103120" cy="164592"/>
          </a:xfrm>
          <a:prstGeom prst="rect">
            <a:avLst/>
          </a:prstGeom>
          <a:noFill/>
        </p:spPr>
        <p:txBody>
          <a:bodyPr wrap="square">
            <a:normAutofit/>
          </a:bodyPr>
          <a:lstStyle/>
          <a:p>
            <a:pPr algn="l"/>
            <a:r>
              <a:rPr sz="850" b="0" i="0">
                <a:solidFill>
                  <a:srgbClr val="0B6B4A"/>
                </a:solidFill>
                <a:latin typeface="Poppins"/>
              </a:rPr>
              <a:t>$3,000–$5,000 (est.)</a:t>
            </a:r>
          </a:p>
        </p:txBody>
      </p:sp>
      <p:sp>
        <p:nvSpPr>
          <p:cNvPr id="32" name="Rectangle 31"/>
          <p:cNvSpPr/>
          <p:nvPr/>
        </p:nvSpPr>
        <p:spPr>
          <a:xfrm>
            <a:off x="4700016" y="1673352"/>
            <a:ext cx="4041648" cy="256032"/>
          </a:xfrm>
          <a:prstGeom prst="rect">
            <a:avLst/>
          </a:prstGeom>
          <a:solidFill>
            <a:srgbClr val="E2F3E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73168" y="1737360"/>
            <a:ext cx="1783080" cy="164592"/>
          </a:xfrm>
          <a:prstGeom prst="rect">
            <a:avLst/>
          </a:prstGeom>
          <a:noFill/>
        </p:spPr>
        <p:txBody>
          <a:bodyPr wrap="square">
            <a:normAutofit/>
          </a:bodyPr>
          <a:lstStyle/>
          <a:p>
            <a:pPr algn="l"/>
            <a:r>
              <a:rPr sz="850" b="1" i="0">
                <a:solidFill>
                  <a:srgbClr val="1B2A38"/>
                </a:solidFill>
                <a:latin typeface="Poppins"/>
              </a:rPr>
              <a:t>Conservative  (~22 cases/mo):</a:t>
            </a:r>
          </a:p>
        </p:txBody>
      </p:sp>
      <p:sp>
        <p:nvSpPr>
          <p:cNvPr id="34" name="TextBox 33"/>
          <p:cNvSpPr txBox="1"/>
          <p:nvPr/>
        </p:nvSpPr>
        <p:spPr>
          <a:xfrm>
            <a:off x="6629400" y="1737360"/>
            <a:ext cx="2103120" cy="164592"/>
          </a:xfrm>
          <a:prstGeom prst="rect">
            <a:avLst/>
          </a:prstGeom>
          <a:noFill/>
        </p:spPr>
        <p:txBody>
          <a:bodyPr wrap="square">
            <a:normAutofit/>
          </a:bodyPr>
          <a:lstStyle/>
          <a:p>
            <a:pPr algn="l"/>
            <a:r>
              <a:rPr sz="850" b="1" i="0">
                <a:solidFill>
                  <a:srgbClr val="0B6B4A"/>
                </a:solidFill>
                <a:latin typeface="Poppins"/>
              </a:rPr>
              <a:t>~$88,000 revenue · 5.9× ROAS</a:t>
            </a:r>
          </a:p>
        </p:txBody>
      </p:sp>
      <p:sp>
        <p:nvSpPr>
          <p:cNvPr id="35" name="TextBox 34"/>
          <p:cNvSpPr txBox="1"/>
          <p:nvPr/>
        </p:nvSpPr>
        <p:spPr>
          <a:xfrm>
            <a:off x="4773168" y="2020824"/>
            <a:ext cx="1783080" cy="164592"/>
          </a:xfrm>
          <a:prstGeom prst="rect">
            <a:avLst/>
          </a:prstGeom>
          <a:noFill/>
        </p:spPr>
        <p:txBody>
          <a:bodyPr wrap="square">
            <a:normAutofit/>
          </a:bodyPr>
          <a:lstStyle/>
          <a:p>
            <a:pPr algn="l"/>
            <a:r>
              <a:rPr sz="850" b="1" i="0">
                <a:solidFill>
                  <a:srgbClr val="1B2A38"/>
                </a:solidFill>
                <a:latin typeface="Poppins"/>
              </a:rPr>
              <a:t>Aggressive  (~40 cases/mo):</a:t>
            </a:r>
          </a:p>
        </p:txBody>
      </p:sp>
      <p:sp>
        <p:nvSpPr>
          <p:cNvPr id="36" name="TextBox 35"/>
          <p:cNvSpPr txBox="1"/>
          <p:nvPr/>
        </p:nvSpPr>
        <p:spPr>
          <a:xfrm>
            <a:off x="6629400" y="2020824"/>
            <a:ext cx="2103120" cy="164592"/>
          </a:xfrm>
          <a:prstGeom prst="rect">
            <a:avLst/>
          </a:prstGeom>
          <a:noFill/>
        </p:spPr>
        <p:txBody>
          <a:bodyPr wrap="square">
            <a:normAutofit/>
          </a:bodyPr>
          <a:lstStyle/>
          <a:p>
            <a:pPr algn="l"/>
            <a:r>
              <a:rPr sz="850" b="1" i="0">
                <a:solidFill>
                  <a:srgbClr val="0B6B4A"/>
                </a:solidFill>
                <a:latin typeface="Poppins"/>
              </a:rPr>
              <a:t>~$160,000 revenue · 7.0× ROAS</a:t>
            </a:r>
          </a:p>
        </p:txBody>
      </p:sp>
      <p:sp>
        <p:nvSpPr>
          <p:cNvPr id="37" name="TextBox 36"/>
          <p:cNvSpPr txBox="1"/>
          <p:nvPr/>
        </p:nvSpPr>
        <p:spPr>
          <a:xfrm>
            <a:off x="4572000" y="2487168"/>
            <a:ext cx="4297680" cy="164592"/>
          </a:xfrm>
          <a:prstGeom prst="rect">
            <a:avLst/>
          </a:prstGeom>
          <a:noFill/>
        </p:spPr>
        <p:txBody>
          <a:bodyPr wrap="square">
            <a:normAutofit/>
          </a:bodyPr>
          <a:lstStyle/>
          <a:p>
            <a:pPr algn="l"/>
            <a:r>
              <a:rPr sz="750" b="1" i="0">
                <a:solidFill>
                  <a:srgbClr val="003A59"/>
                </a:solidFill>
                <a:latin typeface="Poppins"/>
              </a:rPr>
              <a:t>WHAT HAPPENS IN THE FIRST 90 DAYS</a:t>
            </a:r>
          </a:p>
        </p:txBody>
      </p:sp>
      <p:sp>
        <p:nvSpPr>
          <p:cNvPr id="38" name="Rectangle 37"/>
          <p:cNvSpPr/>
          <p:nvPr/>
        </p:nvSpPr>
        <p:spPr>
          <a:xfrm>
            <a:off x="4572000" y="2734056"/>
            <a:ext cx="4297680" cy="265176"/>
          </a:xfrm>
          <a:prstGeom prst="rect">
            <a:avLst/>
          </a:prstGeom>
          <a:solidFill>
            <a:srgbClr val="EEF2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700016" y="2816352"/>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01184" y="2784348"/>
            <a:ext cx="868680" cy="164592"/>
          </a:xfrm>
          <a:prstGeom prst="rect">
            <a:avLst/>
          </a:prstGeom>
          <a:noFill/>
        </p:spPr>
        <p:txBody>
          <a:bodyPr wrap="square">
            <a:normAutofit/>
          </a:bodyPr>
          <a:lstStyle/>
          <a:p>
            <a:pPr algn="l"/>
            <a:r>
              <a:rPr sz="800" b="1" i="0">
                <a:solidFill>
                  <a:srgbClr val="003A59"/>
                </a:solidFill>
                <a:latin typeface="Poppins"/>
              </a:rPr>
              <a:t>Days 1–7</a:t>
            </a:r>
          </a:p>
        </p:txBody>
      </p:sp>
      <p:sp>
        <p:nvSpPr>
          <p:cNvPr id="41" name="TextBox 40"/>
          <p:cNvSpPr txBox="1"/>
          <p:nvPr/>
        </p:nvSpPr>
        <p:spPr>
          <a:xfrm>
            <a:off x="5815584" y="2784348"/>
            <a:ext cx="2926080" cy="164592"/>
          </a:xfrm>
          <a:prstGeom prst="rect">
            <a:avLst/>
          </a:prstGeom>
          <a:noFill/>
        </p:spPr>
        <p:txBody>
          <a:bodyPr wrap="square">
            <a:normAutofit/>
          </a:bodyPr>
          <a:lstStyle/>
          <a:p>
            <a:pPr algn="l"/>
            <a:r>
              <a:rPr sz="800" b="0" i="0">
                <a:solidFill>
                  <a:srgbClr val="4A5C6B"/>
                </a:solidFill>
                <a:latin typeface="Poppins"/>
              </a:rPr>
              <a:t>Checklist, platform access, CFO kickoff, welcome</a:t>
            </a:r>
          </a:p>
        </p:txBody>
      </p:sp>
      <p:sp>
        <p:nvSpPr>
          <p:cNvPr id="42" name="Rectangle 41"/>
          <p:cNvSpPr/>
          <p:nvPr/>
        </p:nvSpPr>
        <p:spPr>
          <a:xfrm>
            <a:off x="4572000" y="3081528"/>
            <a:ext cx="4297680" cy="26517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00016" y="3163824"/>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01184" y="3131820"/>
            <a:ext cx="868680" cy="164592"/>
          </a:xfrm>
          <a:prstGeom prst="rect">
            <a:avLst/>
          </a:prstGeom>
          <a:noFill/>
        </p:spPr>
        <p:txBody>
          <a:bodyPr wrap="square">
            <a:normAutofit/>
          </a:bodyPr>
          <a:lstStyle/>
          <a:p>
            <a:pPr algn="l"/>
            <a:r>
              <a:rPr sz="800" b="1" i="0">
                <a:solidFill>
                  <a:srgbClr val="003A59"/>
                </a:solidFill>
                <a:latin typeface="Poppins"/>
              </a:rPr>
              <a:t>Days 8–14</a:t>
            </a:r>
          </a:p>
        </p:txBody>
      </p:sp>
      <p:sp>
        <p:nvSpPr>
          <p:cNvPr id="45" name="TextBox 44"/>
          <p:cNvSpPr txBox="1"/>
          <p:nvPr/>
        </p:nvSpPr>
        <p:spPr>
          <a:xfrm>
            <a:off x="5815584" y="3131820"/>
            <a:ext cx="2926080" cy="164592"/>
          </a:xfrm>
          <a:prstGeom prst="rect">
            <a:avLst/>
          </a:prstGeom>
          <a:noFill/>
        </p:spPr>
        <p:txBody>
          <a:bodyPr wrap="square">
            <a:normAutofit/>
          </a:bodyPr>
          <a:lstStyle/>
          <a:p>
            <a:pPr algn="l"/>
            <a:r>
              <a:rPr sz="800" b="0" i="0">
                <a:solidFill>
                  <a:srgbClr val="4A5C6B"/>
                </a:solidFill>
                <a:latin typeface="Poppins"/>
              </a:rPr>
              <a:t>Strategy Call with full team + 3 budget options</a:t>
            </a:r>
          </a:p>
        </p:txBody>
      </p:sp>
      <p:sp>
        <p:nvSpPr>
          <p:cNvPr id="46" name="Rectangle 45"/>
          <p:cNvSpPr/>
          <p:nvPr/>
        </p:nvSpPr>
        <p:spPr>
          <a:xfrm>
            <a:off x="4572000" y="3429000"/>
            <a:ext cx="4297680" cy="265176"/>
          </a:xfrm>
          <a:prstGeom prst="rect">
            <a:avLst/>
          </a:prstGeom>
          <a:solidFill>
            <a:srgbClr val="EEF2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700016" y="3511296"/>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901184" y="3479292"/>
            <a:ext cx="868680" cy="164592"/>
          </a:xfrm>
          <a:prstGeom prst="rect">
            <a:avLst/>
          </a:prstGeom>
          <a:noFill/>
        </p:spPr>
        <p:txBody>
          <a:bodyPr wrap="square">
            <a:normAutofit/>
          </a:bodyPr>
          <a:lstStyle/>
          <a:p>
            <a:pPr algn="l"/>
            <a:r>
              <a:rPr sz="800" b="1" i="0">
                <a:solidFill>
                  <a:srgbClr val="003A59"/>
                </a:solidFill>
                <a:latin typeface="Poppins"/>
              </a:rPr>
              <a:t>Days 15–30</a:t>
            </a:r>
          </a:p>
        </p:txBody>
      </p:sp>
      <p:sp>
        <p:nvSpPr>
          <p:cNvPr id="49" name="TextBox 48"/>
          <p:cNvSpPr txBox="1"/>
          <p:nvPr/>
        </p:nvSpPr>
        <p:spPr>
          <a:xfrm>
            <a:off x="5815584" y="3479292"/>
            <a:ext cx="2926080" cy="164592"/>
          </a:xfrm>
          <a:prstGeom prst="rect">
            <a:avLst/>
          </a:prstGeom>
          <a:noFill/>
        </p:spPr>
        <p:txBody>
          <a:bodyPr wrap="square">
            <a:normAutofit/>
          </a:bodyPr>
          <a:lstStyle/>
          <a:p>
            <a:pPr algn="l"/>
            <a:r>
              <a:rPr sz="800" b="0" i="0">
                <a:solidFill>
                  <a:srgbClr val="4A5C6B"/>
                </a:solidFill>
                <a:latin typeface="Poppins"/>
              </a:rPr>
              <a:t>Campaign builds begin + homepage design delivered</a:t>
            </a:r>
          </a:p>
        </p:txBody>
      </p:sp>
      <p:sp>
        <p:nvSpPr>
          <p:cNvPr id="50" name="Rectangle 49"/>
          <p:cNvSpPr/>
          <p:nvPr/>
        </p:nvSpPr>
        <p:spPr>
          <a:xfrm>
            <a:off x="4572000" y="3776472"/>
            <a:ext cx="4297680" cy="26517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700016" y="3858768"/>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901184" y="3826763"/>
            <a:ext cx="868680" cy="164592"/>
          </a:xfrm>
          <a:prstGeom prst="rect">
            <a:avLst/>
          </a:prstGeom>
          <a:noFill/>
        </p:spPr>
        <p:txBody>
          <a:bodyPr wrap="square">
            <a:normAutofit/>
          </a:bodyPr>
          <a:lstStyle/>
          <a:p>
            <a:pPr algn="l"/>
            <a:r>
              <a:rPr sz="800" b="1" i="0">
                <a:solidFill>
                  <a:srgbClr val="003A59"/>
                </a:solidFill>
                <a:latin typeface="Poppins"/>
              </a:rPr>
              <a:t>Days 30–90+</a:t>
            </a:r>
          </a:p>
        </p:txBody>
      </p:sp>
      <p:sp>
        <p:nvSpPr>
          <p:cNvPr id="53" name="TextBox 52"/>
          <p:cNvSpPr txBox="1"/>
          <p:nvPr/>
        </p:nvSpPr>
        <p:spPr>
          <a:xfrm>
            <a:off x="5815584" y="3826763"/>
            <a:ext cx="2926080" cy="164592"/>
          </a:xfrm>
          <a:prstGeom prst="rect">
            <a:avLst/>
          </a:prstGeom>
          <a:noFill/>
        </p:spPr>
        <p:txBody>
          <a:bodyPr wrap="square">
            <a:normAutofit/>
          </a:bodyPr>
          <a:lstStyle/>
          <a:p>
            <a:pPr algn="l"/>
            <a:r>
              <a:rPr sz="800" b="0" i="0">
                <a:solidFill>
                  <a:srgbClr val="4A5C6B"/>
                </a:solidFill>
                <a:latin typeface="Poppins"/>
              </a:rPr>
              <a:t>Monthly reporting, check-ins &amp; optimization</a:t>
            </a:r>
          </a:p>
        </p:txBody>
      </p:sp>
      <p:sp>
        <p:nvSpPr>
          <p:cNvPr id="54" name="Rectangle 53"/>
          <p:cNvSpPr/>
          <p:nvPr/>
        </p:nvSpPr>
        <p:spPr>
          <a:xfrm>
            <a:off x="0" y="4261104"/>
            <a:ext cx="9144000" cy="557784"/>
          </a:xfrm>
          <a:prstGeom prst="rect">
            <a:avLst/>
          </a:prstGeom>
          <a:solidFill>
            <a:srgbClr val="002A4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4261104"/>
            <a:ext cx="9144000" cy="1828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0080" y="4407408"/>
            <a:ext cx="7863840" cy="310896"/>
          </a:xfrm>
          <a:prstGeom prst="rect">
            <a:avLst/>
          </a:prstGeom>
          <a:noFill/>
        </p:spPr>
        <p:txBody>
          <a:bodyPr wrap="square">
            <a:normAutofit/>
          </a:bodyPr>
          <a:lstStyle/>
          <a:p>
            <a:pPr algn="ctr"/>
            <a:r>
              <a:rPr sz="950" b="0" i="0">
                <a:solidFill>
                  <a:srgbClr val="C2D8E6"/>
                </a:solidFill>
                <a:latin typeface="Poppins"/>
              </a:rPr>
              <a:t>"A firm that runs without me, so I can lead from the CEO chair and put my energy into ending attorney burnout."</a:t>
            </a:r>
          </a:p>
        </p:txBody>
      </p:sp>
      <p:sp>
        <p:nvSpPr>
          <p:cNvPr id="57" name="Rectangle 56"/>
          <p:cNvSpPr/>
          <p:nvPr/>
        </p:nvSpPr>
        <p:spPr>
          <a:xfrm>
            <a:off x="0" y="4818888"/>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417320" y="4892040"/>
            <a:ext cx="4937760" cy="182880"/>
          </a:xfrm>
          <a:prstGeom prst="rect">
            <a:avLst/>
          </a:prstGeom>
          <a:noFill/>
        </p:spPr>
        <p:txBody>
          <a:bodyPr wrap="square">
            <a:normAutofit/>
          </a:bodyPr>
          <a:lstStyle/>
          <a:p>
            <a:pPr algn="l"/>
            <a:r>
              <a:rPr sz="700" b="0" i="0">
                <a:solidFill>
                  <a:srgbClr val="8FB2C6"/>
                </a:solidFill>
                <a:latin typeface="Poppins"/>
              </a:rPr>
              <a:t>CONFIDENTIAL  ·  PREPARED BY MICHAEL KOPP | SMB TEAM</a:t>
            </a:r>
          </a:p>
        </p:txBody>
      </p:sp>
      <p:sp>
        <p:nvSpPr>
          <p:cNvPr id="59" name="TextBox 58"/>
          <p:cNvSpPr txBox="1"/>
          <p:nvPr/>
        </p:nvSpPr>
        <p:spPr>
          <a:xfrm>
            <a:off x="7680960" y="4892040"/>
            <a:ext cx="1188720" cy="182880"/>
          </a:xfrm>
          <a:prstGeom prst="rect">
            <a:avLst/>
          </a:prstGeom>
          <a:noFill/>
        </p:spPr>
        <p:txBody>
          <a:bodyPr wrap="square">
            <a:normAutofit/>
          </a:bodyPr>
          <a:lstStyle/>
          <a:p>
            <a:pPr algn="r"/>
            <a:r>
              <a:rPr sz="700" b="0" i="0">
                <a:solidFill>
                  <a:srgbClr val="8FB2C6"/>
                </a:solidFill>
                <a:latin typeface="Poppins"/>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