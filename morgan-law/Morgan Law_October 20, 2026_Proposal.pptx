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embeddedFontLst>
    <p:embeddedFont>
      <p:font typeface="Poppins"/>
      <p:regular r:id="rIdEmbedFont1"/>
      <p:bold r:id="rIdEmbedFont2"/>
      <p:italic r:id="rIdEmbedFont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EmbedFont1" Type="http://schemas.openxmlformats.org/officeDocument/2006/relationships/font" Target="fonts/font1.fntdata"/><Relationship Id="rIdEmbedFont2" Type="http://schemas.openxmlformats.org/officeDocument/2006/relationships/font" Target="fonts/font2.fntdata"/><Relationship Id="rIdEmbedFont3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MORGAN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Where Morgan Law Stands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87552"/>
            <a:ext cx="4572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WHAT YOU TOLD US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07008"/>
            <a:ext cx="4572000" cy="18836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07008"/>
            <a:ext cx="45720" cy="188366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4297680" cy="17556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7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100"/>
              </a:spcBef>
            </a:pPr>
            <a:r>
              <a:rPr sz="1100" b="0" i="1">
                <a:solidFill>
                  <a:srgbClr val="003A59"/>
                </a:solidFill>
                <a:latin typeface="Poppins"/>
              </a:rPr>
              <a:t>“Mostly just referrals and things.”</a:t>
            </a:r>
          </a:p>
          <a:p>
            <a:pPr>
              <a:spcBef>
                <a:spcPts val="900"/>
              </a:spcBef>
            </a:pPr>
            <a:r>
              <a:rPr sz="7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100"/>
              </a:spcBef>
            </a:pPr>
            <a:r>
              <a:rPr sz="1100" b="0" i="1">
                <a:solidFill>
                  <a:srgbClr val="003A59"/>
                </a:solidFill>
                <a:latin typeface="Poppins"/>
              </a:rPr>
              <a:t>“Landing page issue. The site blocks crawler access in robots.txt.”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987552"/>
            <a:ext cx="38404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WHERE YOU ARE TODAY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207008"/>
            <a:ext cx="3840480" cy="188366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TODAY  ·  STAGE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Solo Practitioner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50" b="1" i="0">
                <a:solidFill>
                  <a:srgbClr val="69CD2B"/>
                </a:solidFill>
                <a:latin typeface="Poppins"/>
              </a:rPr>
              <a:t>GOAL  ·  STAGE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Poppins"/>
              </a:rPr>
              <a:t>Law Firm Owner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2754172"/>
            <a:ext cx="651052" cy="190195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A9D68C"/>
                </a:solidFill>
                <a:latin typeface="Poppins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17996" y="2563977"/>
            <a:ext cx="651052" cy="380390"/>
          </a:xfrm>
          <a:prstGeom prst="rect">
            <a:avLst/>
          </a:prstGeom>
          <a:solidFill>
            <a:srgbClr val="69C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17996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143306"/>
                </a:solidFill>
                <a:latin typeface="Poppins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3913" y="2373782"/>
            <a:ext cx="651052" cy="570585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3913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9CC0D6"/>
                </a:solidFill>
                <a:latin typeface="Poppi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29830" y="2183587"/>
            <a:ext cx="651052" cy="760780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2983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9CC0D6"/>
                </a:solidFill>
                <a:latin typeface="Poppins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35747" y="1993392"/>
            <a:ext cx="651052" cy="950975"/>
          </a:xfrm>
          <a:prstGeom prst="rect">
            <a:avLst/>
          </a:prstGeom>
          <a:solidFill>
            <a:srgbClr val="003A59"/>
          </a:solidFill>
          <a:ln w="19050">
            <a:solidFill>
              <a:srgbClr val="69C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35747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69CD2B"/>
                </a:solidFill>
                <a:latin typeface="Poppin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3200400"/>
            <a:ext cx="36576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YOUR KEY GAPS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419856"/>
            <a:ext cx="8595360" cy="12435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377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LEAD GENERATION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Referrals alone cap growth, and a crawler block stops ChatGPT Ads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13944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358895" y="3602736"/>
            <a:ext cx="256032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0403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INTAKE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0403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No intake process or after-hours plan yet for 10 to 15 cases a month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0456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22401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69151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PROFIT PLAN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69151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No tracking of cost per signed case by channel to guide spend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DANIEL LOWE | SMB TEAM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MORGAN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Growth Plan: 3 Priorities to Reach 10 to 15 Cases/Month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Build the Marketing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Engine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Fix the crawler block so ChatGPT Ads can run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Rebuild the site for ads and AI search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Add Nampa and Canyon County market pages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Run managed Google Search and LSA campaigns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Win new cases without waiting on referrals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9544" y="1005840"/>
            <a:ext cx="2724912" cy="87782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92424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143306"/>
                </a:solidFill>
                <a:latin typeface="Poppins"/>
              </a:rPr>
              <a:t>PRIORITY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2424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Fix Intake &amp;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2424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Stop Losing Cases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9544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Put a form and click-to-call above the fold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Use one tracked phone number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Write an intake script and follow-up routine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Plan after-hours coverage for new inquiries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Be ready before 10 to 15 cases arrive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Install Team &amp;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Profit Systems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2783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Track cost per signed case by channel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Define roles and first hires before volume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Build a profit plan, not just more cases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Build a firm that carries you for 20 years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DANIEL LOWE | SMB TEAM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MORGAN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36576" cy="96012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115568"/>
            <a:ext cx="362102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91C9"/>
                </a:solidFill>
                <a:latin typeface="Poppins"/>
              </a:rPr>
              <a:t>FULL SERVICE MARKETING ESSENTIALS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252728"/>
            <a:ext cx="23774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$3,797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1174" y="1519428"/>
            <a:ext cx="45720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91461" y="1519428"/>
            <a:ext cx="1933067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>No bundle discount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1737360"/>
            <a:ext cx="36210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Website · Google Search · LSA · Retargeting · GBP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108960"/>
            <a:ext cx="4041648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108960"/>
            <a:ext cx="36576" cy="65836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3200400"/>
            <a:ext cx="15544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BUNDLE TOTAL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3346704"/>
            <a:ext cx="21945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oppins"/>
              </a:rPr>
              <a:t>$3,797 / 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48891" y="3460051"/>
            <a:ext cx="22756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50" b="0" i="0">
                <a:solidFill>
                  <a:srgbClr val="A9D68C"/>
                </a:solidFill>
                <a:latin typeface="Poppins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858768"/>
            <a:ext cx="4041648" cy="384048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858768"/>
            <a:ext cx="3675887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+ Recommended ad spend: $7,500/mo — to turn high-intent auto accident searches into signed cases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1005840"/>
            <a:ext cx="4297680" cy="1298448"/>
          </a:xfrm>
          <a:prstGeom prst="rect">
            <a:avLst/>
          </a:prstGeom>
          <a:solidFill>
            <a:srgbClr val="F0FAF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1152144"/>
            <a:ext cx="3895344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B6B4A"/>
                </a:solidFill>
                <a:latin typeface="Poppins"/>
              </a:rPr>
              <a:t>PROJECTED RETURN ON AD SPEND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73168" y="1444752"/>
            <a:ext cx="17830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1" i="0">
                <a:solidFill>
                  <a:srgbClr val="1B2A38"/>
                </a:solidFill>
                <a:latin typeface="Poppins"/>
              </a:rPr>
              <a:t>Average case value: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1444752"/>
            <a:ext cx="21031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0B6B4A"/>
                </a:solidFill>
                <a:latin typeface="Poppins"/>
              </a:rPr>
              <a:t>$5,000–$8,000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0016" y="1673352"/>
            <a:ext cx="4041648" cy="256032"/>
          </a:xfrm>
          <a:prstGeom prst="rect">
            <a:avLst/>
          </a:prstGeom>
          <a:solidFill>
            <a:srgbClr val="E2F3E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73168" y="1737360"/>
            <a:ext cx="17830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1B2A38"/>
                </a:solidFill>
                <a:latin typeface="Poppins"/>
              </a:rPr>
              <a:t>Conservative  (4 cases/mo):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1737360"/>
            <a:ext cx="21031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1" i="0">
                <a:solidFill>
                  <a:srgbClr val="0B6B4A"/>
                </a:solidFill>
                <a:latin typeface="Poppins"/>
              </a:rPr>
              <a:t>$25,600 revenue · 3.4× ROAS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73168" y="2020824"/>
            <a:ext cx="17830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1" i="0">
                <a:solidFill>
                  <a:srgbClr val="1B2A38"/>
                </a:solidFill>
                <a:latin typeface="Poppins"/>
              </a:rPr>
              <a:t>Aggressive  (5 cases/mo):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2020824"/>
            <a:ext cx="21031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1" i="0">
                <a:solidFill>
                  <a:srgbClr val="0B6B4A"/>
                </a:solidFill>
                <a:latin typeface="Poppins"/>
              </a:rPr>
              <a:t>$30,800 revenue · 4.1× ROAS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2487168"/>
            <a:ext cx="42976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HOW THIS PLAN ADDRESSES 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2734056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00016" y="2816352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2734056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10–15 cases/mo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2734056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Managed Google Search, LSA, retargeting, new site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3081528"/>
            <a:ext cx="4297680" cy="2651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700016" y="3163824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0" y="3081528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Mostly referrals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3081528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Local pages, Google profile, and directory cleanup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3429000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700016" y="3511296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46320" y="3429000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ChatGPT block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3429000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New site built for ad platforms and AI crawlers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4261104"/>
            <a:ext cx="9144000" cy="557784"/>
          </a:xfrm>
          <a:prstGeom prst="rect">
            <a:avLst/>
          </a:prstGeom>
          <a:solidFill>
            <a:srgbClr val="002A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4261104"/>
            <a:ext cx="9144000" cy="1828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4297680"/>
            <a:ext cx="7863840" cy="4937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50" b="0" i="0">
                <a:solidFill>
                  <a:srgbClr val="C2D8E6"/>
                </a:solidFill>
                <a:latin typeface="Poppins"/>
              </a:rPr>
              <a:t>"A firm that provides for my family for the next 20 years — and I'm the number one guy people call."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DANIEL LOWE | SMB TEAM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