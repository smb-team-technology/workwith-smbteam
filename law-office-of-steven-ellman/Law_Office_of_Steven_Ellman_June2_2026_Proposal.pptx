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LAW OFFICE OF STEVEN ELLMAN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Where Law Office of Steven Ellman Stands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46304" cy="3867912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1005840"/>
            <a:ext cx="1298448" cy="841248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298448" cy="56692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572768"/>
            <a:ext cx="1298448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600" b="1" i="0">
                <a:solidFill>
                  <a:srgbClr val="FFFFFF"/>
                </a:solidFill>
                <a:latin typeface="Calibri"/>
              </a:rPr>
              <a:t>COMPETITIVE URGENCY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2496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2496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Lead Generation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AMBER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paid ads on any channel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2032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42032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6896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Intake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96896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AMBER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6896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after-hours coverage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56432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432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CRITICAL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Solo attorney, no structure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61104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5968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Profit 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AMBER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profit plan in place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" y="1956816"/>
            <a:ext cx="48463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KEY FINDINGS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2212848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386584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2368296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2286000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Competitors own Google Ads &amp; LSA in Burlington Co. — this firm has zero paid presence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834640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3008376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990088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2907792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Baxter now leads in reviews (144 vs. 120) and holds top Burlington Co. DWI positions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3456432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630168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611879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3529584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NAP mismatch (715 vs. 617 Stokes Rd) suppresses local pack rankings firm has earned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" y="4078224"/>
            <a:ext cx="4846320" cy="566928"/>
          </a:xfrm>
          <a:prstGeom prst="rect">
            <a:avLst/>
          </a:prstGeom>
          <a:solidFill>
            <a:srgbClr val="0C281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4251960"/>
            <a:ext cx="219456" cy="219456"/>
          </a:xfrm>
          <a:prstGeom prst="rect">
            <a:avLst/>
          </a:prstGeom>
          <a:solidFill>
            <a:srgbClr val="16A3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4233672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" y="4151376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86EFAC"/>
                </a:solidFill>
                <a:latin typeface="Calibri"/>
              </a:rPr>
              <a:t>4.9-star Google profile with 120 reviews — the strongest foundation in this market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960120"/>
            <a:ext cx="3886200" cy="386791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257800" y="1024128"/>
            <a:ext cx="3886200" cy="694944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57800" y="1024128"/>
            <a:ext cx="128016" cy="694944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0" y="1042415"/>
            <a:ext cx="3474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YOU ARE HERE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1243584"/>
            <a:ext cx="347472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Stage 4: Small Business Manager  →  Goal: Stage 6, Law Firm Owner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94960" y="1920240"/>
            <a:ext cx="35661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COMPETITOR LANDSCAPE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57800" y="2176272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13248" y="2221991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Law Offices of Christopher Baxter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0336" y="2221991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144 reviews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93024" y="2240279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5.0 ★ · Moorestown, 4 mi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2523744"/>
            <a:ext cx="3886200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13248" y="2569463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Levow DWI Law, P.C.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0336" y="2569463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100 reviews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93024" y="2587751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5.0 ★ · Statewide DWI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57800" y="2871216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13248" y="2916936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Rosenberg Perry &amp; Associates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60336" y="2916936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325 reviews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93024" y="2935224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5.0 ★ · Burlington Co. seat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57800" y="3218688"/>
            <a:ext cx="3886200" cy="310896"/>
          </a:xfrm>
          <a:prstGeom prst="rect">
            <a:avLst/>
          </a:prstGeom>
          <a:solidFill>
            <a:srgbClr val="FFF0F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257800" y="3218688"/>
            <a:ext cx="91440" cy="31089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13248" y="3264408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Law Office of Steven Ellman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60336" y="3264408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C0392B"/>
                </a:solidFill>
                <a:latin typeface="Calibri"/>
              </a:rPr>
              <a:t>120 reviews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93024" y="3282696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← You are here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Nick Holderman | SMB Team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LAW OFFICE OF STEVEN ELLMAN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Growth Plan: 3 Priorities to Reach $50,000/Month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024128"/>
            <a:ext cx="2487168" cy="363931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42415"/>
            <a:ext cx="2487168" cy="1828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1097280"/>
            <a:ext cx="226771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THE SMB TEAM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35024"/>
            <a:ext cx="2267712" cy="15727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A8BFDA"/>
                </a:solidFill>
                <a:latin typeface="Calibri"/>
              </a:rPr>
              <a:t>Lead Generation, Intake, Self-Managing Team, and Profit Plan — all four must work together. When the system is built, Steven can focus on defending clients while the firm feeds itself.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2999232"/>
            <a:ext cx="2487168" cy="74980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30175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D1F3C"/>
                </a:solidFill>
                <a:latin typeface="Calibri"/>
              </a:rPr>
              <a:t>$300K → $600K+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3291840"/>
            <a:ext cx="22860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D1F3C"/>
                </a:solidFill>
                <a:latin typeface="Calibri"/>
              </a:rPr>
              <a:t>Cases come in. Law gets done.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16352" y="1024128"/>
            <a:ext cx="2048256" cy="84124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Build the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Marketing Engine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1865376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07792" y="2084832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54096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Turn Google into a DUI case pipeline without you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16352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07792" y="2688336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4096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Get LSA live before Baxter claims all the slots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16352" y="3072384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7792" y="3291839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54096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Fix NAP across BBB and Martindale — unlock 3-pack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6352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3895344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Launch retargeting — follow prospects after they visit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16352" y="4279392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07792" y="4498848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54096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Fix Avvo profile and expand FindLaw presence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0" y="1024128"/>
            <a:ext cx="2048256" cy="841248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47488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7488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Fix Intake &amp;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Stop Losing Cases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0" y="1865376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0" y="2084832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75504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Cover Thu–Sat nights when DUI arrests happen most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0" y="2688336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75504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Set a 5-minute form response standard — win early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37760" y="3072384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3291839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75504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Document intake script so staff handles it, not you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760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0" y="3895344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75504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Track form-to-consult conversion from week one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37760" y="4279392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0" y="4498848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75504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follow-up sequence for leads who don't sign fast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59168" y="1024128"/>
            <a:ext cx="2048256" cy="84124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68896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68896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Install Team &amp;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8896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Profit Systems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168" y="1865376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150607" y="2084832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96912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Document ops so the firm moves when you're in court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059168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7" y="2688336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96912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Define roles: admin handles admin, you do the law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168" y="3072384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7" y="3291839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96912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cost-per-case metric — measure every ad dollar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9168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150607" y="3895344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96912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Profit plan: know what you keep, not just revenue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168" y="4279392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50607" y="4498848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96912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Phase 2: intake coordinator scales capacity with you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Nick Holderman | SMB Team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LAW OFFICE OF STEVEN ELLMAN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Investment &amp; What Happens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1024128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" y="1024128"/>
            <a:ext cx="182880" cy="102412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1D4ED8"/>
                </a:solidFill>
                <a:latin typeface="Calibri"/>
              </a:rPr>
              <a:t>FULL SERVICE MARKETING ESSENTIALS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298448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$3,397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5376" y="1408176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1426464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322576" y="1527048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792224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Google Ads · LSA · Local SEO · Website Optimization · Reporting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" y="2139696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" y="2139696"/>
            <a:ext cx="182880" cy="102412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2231136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D28D9"/>
                </a:solidFill>
                <a:latin typeface="Calibri"/>
              </a:rPr>
              <a:t>ELITE COACH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2414015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$2,600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2523744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22576" y="2542032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$3,497/mo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642615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2907791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Weekly coaching · Masterminds · Intake framework · Workshops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" y="3255264"/>
            <a:ext cx="4133087" cy="658368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291840"/>
            <a:ext cx="1645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7CA0C0"/>
                </a:solidFill>
                <a:latin typeface="Calibri"/>
              </a:rPr>
              <a:t>BUNDLE TOTAL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3493008"/>
            <a:ext cx="21945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5C400"/>
                </a:solidFill>
                <a:latin typeface="Calibri"/>
              </a:rPr>
              <a:t>$5,997 / 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3493008"/>
            <a:ext cx="17373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7CA0C0"/>
                </a:solidFill>
                <a:latin typeface="Calibri"/>
              </a:rPr>
              <a:t>Save $897/mo by bundling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" y="3968496"/>
            <a:ext cx="4133087" cy="402336"/>
          </a:xfrm>
          <a:prstGeom prst="rect">
            <a:avLst/>
          </a:prstGeom>
          <a:solidFill>
            <a:srgbClr val="EEF2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3995928"/>
            <a:ext cx="3931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+ Recommended ad spend: $4,000–$5,500/mo paid directly to Google/LSA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35424" y="1024128"/>
            <a:ext cx="4407408" cy="1316736"/>
          </a:xfrm>
          <a:prstGeom prst="rect">
            <a:avLst/>
          </a:prstGeom>
          <a:solidFill>
            <a:srgbClr val="ECFD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0016" y="1078992"/>
            <a:ext cx="4133087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65F46"/>
                </a:solidFill>
                <a:latin typeface="Calibri"/>
              </a:rPr>
              <a:t>PROJECTED RETURN ON AD SPEND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0016" y="1335024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Average case value: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1335024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65F46"/>
                </a:solidFill>
                <a:latin typeface="Calibri"/>
              </a:rPr>
              <a:t>$4,500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1609344"/>
            <a:ext cx="4187952" cy="310896"/>
          </a:xfrm>
          <a:prstGeom prst="rect">
            <a:avLst/>
          </a:prstGeom>
          <a:solidFill>
            <a:srgbClr val="D1FA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0016" y="1645920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Conservative  (~3 cases/mo):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9984" y="1645920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~$13,500 revenue · ~3.4× ROAS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0016" y="1956816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Aggressive  (~5 cases/mo):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9984" y="1956816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~$22,500 revenue · ~4.1× ROAS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35424" y="2468880"/>
            <a:ext cx="4407408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WHAT HAPPENS IN THE FIRST 90 DAYS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90288" y="2724912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37760" y="2734056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15584" y="2734056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Google Ads + LSA campaigns go live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90288" y="3081528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37760" y="3090672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3090672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NAP corrected across BBB, Martindale, all dirs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90288" y="3438144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37760" y="3447287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15584" y="3447287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Intake protocol + after-hours coverage defined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90288" y="3794760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37760" y="3803904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15584" y="3803904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Website audit complete — priority fixes live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90288" y="4151376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37760" y="4160520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Month 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15584" y="4160520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Coach reviews KPIs; Phase 2 roadmap confirmed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425696"/>
            <a:ext cx="9144000" cy="402336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4320" y="4425696"/>
            <a:ext cx="8595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 i="1">
                <a:solidFill>
                  <a:srgbClr val="8BADD0"/>
                </a:solidFill>
                <a:latin typeface="Calibri"/>
              </a:rPr>
              <a:t>"The leads exist — Christopher Baxter and Levow are capturing them right now while this firm's paid presence sits empty."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Nick Holderman | SMB Team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